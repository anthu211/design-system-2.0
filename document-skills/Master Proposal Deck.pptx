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76.xml" ContentType="application/vnd.openxmlformats-officedocument.customXmlProperties+xml"/>
  <Override PartName="/customXml/itemProps77.xml" ContentType="application/vnd.openxmlformats-officedocument.customXmlProperties+xml"/>
  <Override PartName="/customXml/itemProps78.xml" ContentType="application/vnd.openxmlformats-officedocument.customXmlProperties+xml"/>
  <Override PartName="/customXml/itemProps79.xml" ContentType="application/vnd.openxmlformats-officedocument.customXmlProperties+xml"/>
  <Override PartName="/customXml/itemProps80.xml" ContentType="application/vnd.openxmlformats-officedocument.customXmlProperties+xml"/>
  <Override PartName="/customXml/itemProps81.xml" ContentType="application/vnd.openxmlformats-officedocument.customXmlProperties+xml"/>
  <Override PartName="/customXml/itemProps82.xml" ContentType="application/vnd.openxmlformats-officedocument.customXmlProperties+xml"/>
  <Override PartName="/customXml/itemProps83.xml" ContentType="application/vnd.openxmlformats-officedocument.customXmlProperties+xml"/>
  <Override PartName="/customXml/itemProps84.xml" ContentType="application/vnd.openxmlformats-officedocument.customXmlProperties+xml"/>
  <Override PartName="/customXml/itemProps85.xml" ContentType="application/vnd.openxmlformats-officedocument.customXmlProperties+xml"/>
  <Override PartName="/customXml/itemProps86.xml" ContentType="application/vnd.openxmlformats-officedocument.customXmlProperties+xml"/>
  <Override PartName="/customXml/itemProps87.xml" ContentType="application/vnd.openxmlformats-officedocument.customXmlProperties+xml"/>
  <Override PartName="/customXml/itemProps88.xml" ContentType="application/vnd.openxmlformats-officedocument.customXmlProperties+xml"/>
  <Override PartName="/customXml/itemProps89.xml" ContentType="application/vnd.openxmlformats-officedocument.customXmlProperties+xml"/>
  <Override PartName="/customXml/itemProps90.xml" ContentType="application/vnd.openxmlformats-officedocument.customXmlProperties+xml"/>
  <Override PartName="/customXml/itemProps91.xml" ContentType="application/vnd.openxmlformats-officedocument.customXmlProperties+xml"/>
  <Override PartName="/customXml/itemProps92.xml" ContentType="application/vnd.openxmlformats-officedocument.customXmlProperties+xml"/>
  <Override PartName="/customXml/itemProps93.xml" ContentType="application/vnd.openxmlformats-officedocument.customXmlProperties+xml"/>
  <Override PartName="/customXml/itemProps94.xml" ContentType="application/vnd.openxmlformats-officedocument.customXmlProperties+xml"/>
  <Override PartName="/customXml/itemProps95.xml" ContentType="application/vnd.openxmlformats-officedocument.customXmlProperties+xml"/>
  <Override PartName="/customXml/itemProps96.xml" ContentType="application/vnd.openxmlformats-officedocument.customXmlProperties+xml"/>
  <Override PartName="/customXml/itemProps97.xml" ContentType="application/vnd.openxmlformats-officedocument.customXmlProperties+xml"/>
  <Override PartName="/customXml/itemProps98.xml" ContentType="application/vnd.openxmlformats-officedocument.customXmlProperties+xml"/>
  <Override PartName="/customXml/itemProps99.xml" ContentType="application/vnd.openxmlformats-officedocument.customXmlProperties+xml"/>
  <Override PartName="/customXml/itemProps100.xml" ContentType="application/vnd.openxmlformats-officedocument.customXmlProperties+xml"/>
  <Override PartName="/customXml/itemProps101.xml" ContentType="application/vnd.openxmlformats-officedocument.customXmlProperties+xml"/>
  <Override PartName="/customXml/itemProps102.xml" ContentType="application/vnd.openxmlformats-officedocument.customXmlProperties+xml"/>
  <Override PartName="/customXml/itemProps103.xml" ContentType="application/vnd.openxmlformats-officedocument.customXmlProperties+xml"/>
  <Override PartName="/customXml/itemProps104.xml" ContentType="application/vnd.openxmlformats-officedocument.customXmlProperties+xml"/>
  <Override PartName="/customXml/itemProps105.xml" ContentType="application/vnd.openxmlformats-officedocument.customXmlProperties+xml"/>
  <Override PartName="/customXml/itemProps106.xml" ContentType="application/vnd.openxmlformats-officedocument.customXmlProperties+xml"/>
  <Override PartName="/customXml/itemProps107.xml" ContentType="application/vnd.openxmlformats-officedocument.customXmlProperties+xml"/>
  <Override PartName="/customXml/itemProps108.xml" ContentType="application/vnd.openxmlformats-officedocument.customXmlProperties+xml"/>
  <Override PartName="/customXml/itemProps109.xml" ContentType="application/vnd.openxmlformats-officedocument.customXmlProperties+xml"/>
  <Override PartName="/customXml/itemProps110.xml" ContentType="application/vnd.openxmlformats-officedocument.customXmlProperties+xml"/>
  <Override PartName="/customXml/itemProps111.xml" ContentType="application/vnd.openxmlformats-officedocument.customXmlProperties+xml"/>
  <Override PartName="/customXml/itemProps112.xml" ContentType="application/vnd.openxmlformats-officedocument.customXmlProperties+xml"/>
  <Override PartName="/customXml/itemProps113.xml" ContentType="application/vnd.openxmlformats-officedocument.customXmlProperties+xml"/>
  <Override PartName="/customXml/itemProps114.xml" ContentType="application/vnd.openxmlformats-officedocument.customXmlProperties+xml"/>
  <Override PartName="/customXml/itemProps115.xml" ContentType="application/vnd.openxmlformats-officedocument.customXmlProperties+xml"/>
  <Override PartName="/customXml/itemProps116.xml" ContentType="application/vnd.openxmlformats-officedocument.customXmlProperties+xml"/>
  <Override PartName="/customXml/itemProps117.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45.xml" ContentType="application/vnd.openxmlformats-officedocument.presentationml.tags+xml"/>
  <Override PartName="/ppt/notesSlides/notesSlide1.xml" ContentType="application/vnd.openxmlformats-officedocument.presentationml.notesSlide+xml"/>
  <Override PartName="/ppt/tags/tag46.xml" ContentType="application/vnd.openxmlformats-officedocument.presentationml.tags+xml"/>
  <Override PartName="/ppt/notesSlides/notesSlide2.xml" ContentType="application/vnd.openxmlformats-officedocument.presentationml.notesSlide+xml"/>
  <Override PartName="/ppt/tags/tag47.xml" ContentType="application/vnd.openxmlformats-officedocument.presentationml.tags+xml"/>
  <Override PartName="/ppt/notesSlides/notesSlide3.xml" ContentType="application/vnd.openxmlformats-officedocument.presentationml.notesSlide+xml"/>
  <Override PartName="/ppt/tags/tag48.xml" ContentType="application/vnd.openxmlformats-officedocument.presentationml.tags+xml"/>
  <Override PartName="/ppt/notesSlides/notesSlide4.xml" ContentType="application/vnd.openxmlformats-officedocument.presentationml.notesSlide+xml"/>
  <Override PartName="/ppt/tags/tag49.xml" ContentType="application/vnd.openxmlformats-officedocument.presentationml.tags+xml"/>
  <Override PartName="/ppt/notesSlides/notesSlide5.xml" ContentType="application/vnd.openxmlformats-officedocument.presentationml.notesSlide+xml"/>
  <Override PartName="/ppt/tags/tag50.xml" ContentType="application/vnd.openxmlformats-officedocument.presentationml.tags+xml"/>
  <Override PartName="/ppt/notesSlides/notesSlide6.xml" ContentType="application/vnd.openxmlformats-officedocument.presentationml.notesSlide+xml"/>
  <Override PartName="/ppt/tags/tag51.xml" ContentType="application/vnd.openxmlformats-officedocument.presentationml.tags+xml"/>
  <Override PartName="/ppt/notesSlides/notesSlide7.xml" ContentType="application/vnd.openxmlformats-officedocument.presentationml.notesSlide+xml"/>
  <Override PartName="/ppt/tags/tag52.xml" ContentType="application/vnd.openxmlformats-officedocument.presentationml.tags+xml"/>
  <Override PartName="/ppt/notesSlides/notesSlide8.xml" ContentType="application/vnd.openxmlformats-officedocument.presentationml.notesSlide+xml"/>
  <Override PartName="/ppt/tags/tag53.xml" ContentType="application/vnd.openxmlformats-officedocument.presentationml.tags+xml"/>
  <Override PartName="/ppt/notesSlides/notesSlide9.xml" ContentType="application/vnd.openxmlformats-officedocument.presentationml.notesSlide+xml"/>
  <Override PartName="/ppt/tags/tag54.xml" ContentType="application/vnd.openxmlformats-officedocument.presentationml.tags+xml"/>
  <Override PartName="/ppt/notesSlides/notesSlide10.xml" ContentType="application/vnd.openxmlformats-officedocument.presentationml.notesSlide+xml"/>
  <Override PartName="/ppt/tags/tag55.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56.xml" ContentType="application/vnd.openxmlformats-officedocument.presentationml.tags+xml"/>
  <Override PartName="/ppt/notesSlides/notesSlide13.xml" ContentType="application/vnd.openxmlformats-officedocument.presentationml.notesSlide+xml"/>
  <Override PartName="/ppt/tags/tag57.xml" ContentType="application/vnd.openxmlformats-officedocument.presentationml.tags+xml"/>
  <Override PartName="/ppt/notesSlides/notesSlide14.xml" ContentType="application/vnd.openxmlformats-officedocument.presentationml.notesSlide+xml"/>
  <Override PartName="/ppt/tags/tag58.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59.xml" ContentType="application/vnd.openxmlformats-officedocument.presentationml.tags+xml"/>
  <Override PartName="/ppt/notesSlides/notesSlide17.xml" ContentType="application/vnd.openxmlformats-officedocument.presentationml.notesSlide+xml"/>
  <Override PartName="/ppt/tags/tag60.xml" ContentType="application/vnd.openxmlformats-officedocument.presentationml.tags+xml"/>
  <Override PartName="/ppt/notesSlides/notesSlide18.xml" ContentType="application/vnd.openxmlformats-officedocument.presentationml.notesSlide+xml"/>
  <Override PartName="/ppt/tags/tag61.xml" ContentType="application/vnd.openxmlformats-officedocument.presentationml.tags+xml"/>
  <Override PartName="/ppt/notesSlides/notesSlide19.xml" ContentType="application/vnd.openxmlformats-officedocument.presentationml.notesSlide+xml"/>
  <Override PartName="/ppt/tags/tag62.xml" ContentType="application/vnd.openxmlformats-officedocument.presentationml.tags+xml"/>
  <Override PartName="/ppt/notesSlides/notesSlide20.xml" ContentType="application/vnd.openxmlformats-officedocument.presentationml.notesSlide+xml"/>
  <Override PartName="/ppt/tags/tag63.xml" ContentType="application/vnd.openxmlformats-officedocument.presentationml.tags+xml"/>
  <Override PartName="/ppt/notesSlides/notesSlide21.xml" ContentType="application/vnd.openxmlformats-officedocument.presentationml.notesSlide+xml"/>
  <Override PartName="/ppt/tags/tag64.xml" ContentType="application/vnd.openxmlformats-officedocument.presentationml.tags+xml"/>
  <Override PartName="/ppt/notesSlides/notesSlide22.xml" ContentType="application/vnd.openxmlformats-officedocument.presentationml.notesSlide+xml"/>
  <Override PartName="/ppt/tags/tag65.xml" ContentType="application/vnd.openxmlformats-officedocument.presentationml.tags+xml"/>
  <Override PartName="/ppt/notesSlides/notesSlide23.xml" ContentType="application/vnd.openxmlformats-officedocument.presentationml.notesSlide+xml"/>
  <Override PartName="/ppt/tags/tag66.xml" ContentType="application/vnd.openxmlformats-officedocument.presentationml.tags+xml"/>
  <Override PartName="/ppt/notesSlides/notesSlide24.xml" ContentType="application/vnd.openxmlformats-officedocument.presentationml.notesSlide+xml"/>
  <Override PartName="/ppt/tags/tag67.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embedTrueTypeFonts="1" saveSubsetFonts="1" autoCompressPictures="0">
  <p:sldMasterIdLst>
    <p:sldMasterId id="2147483652" r:id="rId118"/>
    <p:sldMasterId id="2147483678" r:id="rId119"/>
  </p:sldMasterIdLst>
  <p:notesMasterIdLst>
    <p:notesMasterId r:id="rId176"/>
  </p:notesMasterIdLst>
  <p:handoutMasterIdLst>
    <p:handoutMasterId r:id="rId177"/>
  </p:handoutMasterIdLst>
  <p:sldIdLst>
    <p:sldId id="2147482602" r:id="rId120"/>
    <p:sldId id="2147482487" r:id="rId121"/>
    <p:sldId id="2147482603" r:id="rId122"/>
    <p:sldId id="2147482604" r:id="rId123"/>
    <p:sldId id="2147482501" r:id="rId124"/>
    <p:sldId id="2147482589" r:id="rId125"/>
    <p:sldId id="2147482555" r:id="rId126"/>
    <p:sldId id="2147482605" r:id="rId127"/>
    <p:sldId id="2147482564" r:id="rId128"/>
    <p:sldId id="2147482483" r:id="rId129"/>
    <p:sldId id="2147482505" r:id="rId130"/>
    <p:sldId id="2147482622" r:id="rId131"/>
    <p:sldId id="2147482583" r:id="rId132"/>
    <p:sldId id="2147482599" r:id="rId133"/>
    <p:sldId id="2147482601" r:id="rId134"/>
    <p:sldId id="2147482626" r:id="rId135"/>
    <p:sldId id="2147482624" r:id="rId136"/>
    <p:sldId id="2147482587" r:id="rId137"/>
    <p:sldId id="2147482620" r:id="rId138"/>
    <p:sldId id="2147482634" r:id="rId139"/>
    <p:sldId id="2147482614" r:id="rId140"/>
    <p:sldId id="2147482615" r:id="rId141"/>
    <p:sldId id="2147482616" r:id="rId142"/>
    <p:sldId id="2147482617" r:id="rId143"/>
    <p:sldId id="2147482618" r:id="rId144"/>
    <p:sldId id="2147482619" r:id="rId145"/>
    <p:sldId id="2147482597" r:id="rId146"/>
    <p:sldId id="2134807744" r:id="rId147"/>
    <p:sldId id="2134807778" r:id="rId148"/>
    <p:sldId id="2134807743" r:id="rId149"/>
    <p:sldId id="2134807739" r:id="rId150"/>
    <p:sldId id="2134807777" r:id="rId151"/>
    <p:sldId id="2147482628" r:id="rId152"/>
    <p:sldId id="2147482630" r:id="rId153"/>
    <p:sldId id="2147482629" r:id="rId154"/>
    <p:sldId id="2147482635" r:id="rId155"/>
    <p:sldId id="2147482631" r:id="rId156"/>
    <p:sldId id="2147482556" r:id="rId157"/>
    <p:sldId id="2134807619" r:id="rId158"/>
    <p:sldId id="2147482557" r:id="rId159"/>
    <p:sldId id="2134807614" r:id="rId160"/>
    <p:sldId id="2134807617" r:id="rId161"/>
    <p:sldId id="2147482558" r:id="rId162"/>
    <p:sldId id="2147482590" r:id="rId163"/>
    <p:sldId id="2147482580" r:id="rId164"/>
    <p:sldId id="2147482627" r:id="rId165"/>
    <p:sldId id="2134807879" r:id="rId166"/>
    <p:sldId id="2134807889" r:id="rId167"/>
    <p:sldId id="2134807898" r:id="rId168"/>
    <p:sldId id="2134807853" r:id="rId169"/>
    <p:sldId id="2134807884" r:id="rId170"/>
    <p:sldId id="2134807903" r:id="rId171"/>
    <p:sldId id="2147482636" r:id="rId172"/>
    <p:sldId id="2134807908" r:id="rId173"/>
    <p:sldId id="2134807915" r:id="rId174"/>
    <p:sldId id="2134807905" r:id="rId175"/>
  </p:sldIdLst>
  <p:sldSz cx="12192000" cy="6858000"/>
  <p:notesSz cx="7023100" cy="9309100"/>
  <p:embeddedFontLst>
    <p:embeddedFont>
      <p:font typeface="Aptos Light" panose="020B0004020202020204" pitchFamily="34" charset="0"/>
      <p:regular r:id="rId178"/>
      <p:italic r:id="rId179"/>
    </p:embeddedFont>
    <p:embeddedFont>
      <p:font typeface="Montserrat" panose="00000500000000000000" pitchFamily="2" charset="0"/>
      <p:regular r:id="rId180"/>
      <p:bold r:id="rId181"/>
      <p:italic r:id="rId182"/>
      <p:boldItalic r:id="rId183"/>
    </p:embeddedFont>
    <p:embeddedFont>
      <p:font typeface="Open Sans" panose="020B0606030504020204" pitchFamily="34" charset="0"/>
      <p:regular r:id="rId184"/>
      <p:bold r:id="rId185"/>
      <p:italic r:id="rId186"/>
      <p:boldItalic r:id="rId187"/>
    </p:embeddedFont>
  </p:embeddedFontLst>
  <p:custDataLst>
    <p:tags r:id="rId18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SLIDE" id="{27BE9ABF-6679-432E-87D4-5B06DBAA6EC9}">
          <p14:sldIdLst>
            <p14:sldId id="2147482602"/>
          </p14:sldIdLst>
        </p14:section>
        <p14:section name="COMPANY OVERVIEW" id="{BF4B61ED-EA0B-42B7-AE5E-28101796E177}">
          <p14:sldIdLst>
            <p14:sldId id="2147482487"/>
          </p14:sldIdLst>
        </p14:section>
        <p14:section name="PROBLEM AND SOLUTION FRAMING" id="{7B9E0BCA-4F73-42CE-8B43-4D2455BC72B4}">
          <p14:sldIdLst>
            <p14:sldId id="2147482603"/>
            <p14:sldId id="2147482604"/>
          </p14:sldIdLst>
        </p14:section>
        <p14:section name="PLATFORM FOUNDATION/OVERVIEW" id="{B0156FD1-A851-4800-B35B-08F8B44AFF43}">
          <p14:sldIdLst>
            <p14:sldId id="2147482501"/>
            <p14:sldId id="2147482589"/>
            <p14:sldId id="2147482555"/>
          </p14:sldIdLst>
        </p14:section>
        <p14:section name="PLATFORM ARCHITECTUTRE" id="{569C8C29-F07A-46C6-AFBA-0DA7ABC3C9D2}">
          <p14:sldIdLst>
            <p14:sldId id="2147482605"/>
            <p14:sldId id="2147482564"/>
          </p14:sldIdLst>
        </p14:section>
        <p14:section name="EXPOSURE MANAGEMENT" id="{F22C5CDF-B7D0-4020-8174-7EF42E1D4858}">
          <p14:sldIdLst>
            <p14:sldId id="2147482483"/>
            <p14:sldId id="2147482505"/>
          </p14:sldIdLst>
        </p14:section>
        <p14:section name="ENGAGEMENT MODELS" id="{B30D72A8-5857-43BE-BA8E-AE61519A0766}">
          <p14:sldIdLst>
            <p14:sldId id="2147482622"/>
          </p14:sldIdLst>
        </p14:section>
        <p14:section name="PILOT" id="{D5837AAB-49E4-44FC-8370-817F6BAB96C6}">
          <p14:sldIdLst>
            <p14:sldId id="2147482583"/>
            <p14:sldId id="2147482599"/>
            <p14:sldId id="2147482601"/>
            <p14:sldId id="2147482626"/>
            <p14:sldId id="2147482624"/>
          </p14:sldIdLst>
        </p14:section>
        <p14:section name="USE CASES" id="{ED5D835B-1368-49E4-9F1D-75001E2F9AC7}">
          <p14:sldIdLst>
            <p14:sldId id="2147482587"/>
            <p14:sldId id="2147482620"/>
            <p14:sldId id="2147482634"/>
            <p14:sldId id="2147482614"/>
            <p14:sldId id="2147482615"/>
            <p14:sldId id="2147482616"/>
            <p14:sldId id="2147482617"/>
            <p14:sldId id="2147482618"/>
            <p14:sldId id="2147482619"/>
          </p14:sldIdLst>
        </p14:section>
        <p14:section name="DATA SOURCES" id="{A9F7ACE4-EAB6-4077-9E1E-3E2E04DBCBEC}">
          <p14:sldIdLst>
            <p14:sldId id="2147482597"/>
          </p14:sldIdLst>
        </p14:section>
        <p14:section name="CASE STUDIES" id="{0D975474-7495-4B37-AF3B-C0339AF7CB33}">
          <p14:sldIdLst>
            <p14:sldId id="2134807744"/>
            <p14:sldId id="2134807778"/>
            <p14:sldId id="2134807743"/>
            <p14:sldId id="2134807739"/>
            <p14:sldId id="2134807777"/>
          </p14:sldIdLst>
        </p14:section>
        <p14:section name="-- TO BE ORGANISED BELOW HERE --" id="{0ECAF46A-0AE9-4209-A45A-07A84B6CBD3B}">
          <p14:sldIdLst>
            <p14:sldId id="2147482628"/>
            <p14:sldId id="2147482630"/>
            <p14:sldId id="2147482629"/>
            <p14:sldId id="2147482635"/>
            <p14:sldId id="2147482631"/>
            <p14:sldId id="2147482556"/>
            <p14:sldId id="2134807619"/>
            <p14:sldId id="2147482557"/>
            <p14:sldId id="2134807614"/>
            <p14:sldId id="2134807617"/>
            <p14:sldId id="2147482558"/>
            <p14:sldId id="2147482590"/>
            <p14:sldId id="2147482580"/>
            <p14:sldId id="2147482627"/>
            <p14:sldId id="2134807879"/>
            <p14:sldId id="2134807889"/>
            <p14:sldId id="2134807898"/>
            <p14:sldId id="2134807853"/>
            <p14:sldId id="2134807884"/>
            <p14:sldId id="2134807903"/>
            <p14:sldId id="2147482636"/>
            <p14:sldId id="2134807908"/>
            <p14:sldId id="2134807915"/>
            <p14:sldId id="2134807905"/>
          </p14:sldIdLst>
        </p14:section>
      </p14:sectionLst>
    </p:ext>
    <p:ext uri="{EFAFB233-063F-42B5-8137-9DF3F51BA10A}">
      <p15:sldGuideLst xmlns:p15="http://schemas.microsoft.com/office/powerpoint/2012/main">
        <p15:guide id="7" pos="264" userDrawn="1">
          <p15:clr>
            <a:srgbClr val="A4A3A4"/>
          </p15:clr>
        </p15:guide>
        <p15:guide id="9" orient="horz" pos="3792" userDrawn="1">
          <p15:clr>
            <a:srgbClr val="A4A3A4"/>
          </p15:clr>
        </p15:guide>
        <p15:guide id="12" orient="horz" pos="218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C6051B1F-B133-8B0C-EAC8-79FBFEB404E4}" name="Joyce, Tommy" initials="TJ" userId="S::tjoyce@agcpartners.com::cde22a37-c3a9-4799-bc62-9537c24b6ce2" providerId="AD"/>
  <p188:author id="{82A2E038-8139-D384-E240-D5BE7C576414}" name="Lija Mohan" initials="LM" userId="S::lija.mohan@prevalent.ai::0f22d6fd-3274-4bbe-a217-e75477290a9c" providerId="AD"/>
  <p188:author id="{EFA9273A-F862-A2FC-55DA-287F682A24F8}" name="Sam Weeks" initials="SW" userId="S::sam.weeks@prevalent.ai::8b569cff-cd1f-4995-82d7-024098bdea28" providerId="AD"/>
  <p188:author id="{E8C8683D-9B75-6CF3-63C5-230C7C25F186}" name="Paul Stokes" initials="PS" userId="S::Paul.Stokes@prevalent.ai::e5f08a93-7fa1-4bfb-b732-923168dfa3a0" providerId="AD"/>
  <p188:author id="{0233BB61-4243-EA59-E44B-D5A94C02B64E}" name="Howe, Nick" initials="NH" userId="S::nhowe@agcpartners.com::e3fca794-5ebc-4119-8d56-80e25a08b559" providerId="AD"/>
  <p188:author id="{BC3C8B90-601E-7E9C-B283-F0E75C6F7C57}" name="Tom Ward" initials="TW" userId="S::tom.ward@prevalent.ai::53500bc5-b7a2-462c-afa8-2492f71c1514" providerId="AD"/>
  <p188:author id="{2E29B691-53A3-449A-BCB9-849B7DF305BA}" name="Namith Cholappurath" initials="NC" userId="S::namith.c@prevalent.ai::e654d2b3-5914-4963-95e6-b854081640bd" providerId="AD"/>
  <p188:author id="{A8A9079F-B428-46DE-47D9-CEEB58F01822}" name="Gray, Harrison" initials="HG" userId="S::hgray@agcpartners.com::69f1f801-c2d5-4efa-8b18-4db48f8dc895" providerId="AD"/>
  <p188:author id="{E8C102B4-2780-A5AD-5E83-4052F6B7F8E3}" name="Kussmaul, Maria Lewis" initials="ML" userId="S::mkussmaul@agcpartners.com::a1cbd104-db5b-480d-b09a-20e925555cd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D18E"/>
    <a:srgbClr val="F2F2F2"/>
    <a:srgbClr val="6360D8"/>
    <a:srgbClr val="F1F1FF"/>
    <a:srgbClr val="A6A6A6"/>
    <a:srgbClr val="D7D6F2"/>
    <a:srgbClr val="595959"/>
    <a:srgbClr val="FFFFFF"/>
    <a:srgbClr val="060B25"/>
    <a:srgbClr val="A7D4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B69A15-2FFB-4F88-BB7A-8665356CBCDD}" v="1" dt="2026-05-27T12:54:25.779"/>
    <p1510:client id="{5109BEF5-FB6A-2E4E-7BA3-CC6132004E1D}" v="22" dt="2026-05-27T13:10:30.192"/>
    <p1510:client id="{95C04E05-DE10-31AC-B30A-F506F01EE82B}" v="18" dt="2026-05-27T12:44:12.7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8984" autoAdjust="0"/>
  </p:normalViewPr>
  <p:slideViewPr>
    <p:cSldViewPr snapToGrid="0">
      <p:cViewPr varScale="1">
        <p:scale>
          <a:sx n="84" d="100"/>
          <a:sy n="84" d="100"/>
        </p:scale>
        <p:origin x="1512" y="78"/>
      </p:cViewPr>
      <p:guideLst>
        <p:guide pos="264"/>
        <p:guide orient="horz" pos="3792"/>
        <p:guide orient="horz" pos="218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customXml" Target="../customXml/item117.xml"/><Relationship Id="rId21" Type="http://schemas.openxmlformats.org/officeDocument/2006/relationships/customXml" Target="../customXml/item21.xml"/><Relationship Id="rId42" Type="http://schemas.openxmlformats.org/officeDocument/2006/relationships/customXml" Target="../customXml/item42.xml"/><Relationship Id="rId63" Type="http://schemas.openxmlformats.org/officeDocument/2006/relationships/customXml" Target="../customXml/item63.xml"/><Relationship Id="rId84" Type="http://schemas.openxmlformats.org/officeDocument/2006/relationships/customXml" Target="../customXml/item84.xml"/><Relationship Id="rId138" Type="http://schemas.openxmlformats.org/officeDocument/2006/relationships/slide" Target="slides/slide19.xml"/><Relationship Id="rId159" Type="http://schemas.openxmlformats.org/officeDocument/2006/relationships/slide" Target="slides/slide40.xml"/><Relationship Id="rId170" Type="http://schemas.openxmlformats.org/officeDocument/2006/relationships/slide" Target="slides/slide51.xml"/><Relationship Id="rId191" Type="http://schemas.openxmlformats.org/officeDocument/2006/relationships/viewProps" Target="viewProps.xml"/><Relationship Id="rId107" Type="http://schemas.openxmlformats.org/officeDocument/2006/relationships/customXml" Target="../customXml/item107.xml"/><Relationship Id="rId11" Type="http://schemas.openxmlformats.org/officeDocument/2006/relationships/customXml" Target="../customXml/item11.xml"/><Relationship Id="rId32" Type="http://schemas.openxmlformats.org/officeDocument/2006/relationships/customXml" Target="../customXml/item32.xml"/><Relationship Id="rId53" Type="http://schemas.openxmlformats.org/officeDocument/2006/relationships/customXml" Target="../customXml/item53.xml"/><Relationship Id="rId74" Type="http://schemas.openxmlformats.org/officeDocument/2006/relationships/customXml" Target="../customXml/item74.xml"/><Relationship Id="rId128" Type="http://schemas.openxmlformats.org/officeDocument/2006/relationships/slide" Target="slides/slide9.xml"/><Relationship Id="rId149" Type="http://schemas.openxmlformats.org/officeDocument/2006/relationships/slide" Target="slides/slide30.xml"/><Relationship Id="rId5" Type="http://schemas.openxmlformats.org/officeDocument/2006/relationships/customXml" Target="../customXml/item5.xml"/><Relationship Id="rId95" Type="http://schemas.openxmlformats.org/officeDocument/2006/relationships/customXml" Target="../customXml/item95.xml"/><Relationship Id="rId160" Type="http://schemas.openxmlformats.org/officeDocument/2006/relationships/slide" Target="slides/slide41.xml"/><Relationship Id="rId181" Type="http://schemas.openxmlformats.org/officeDocument/2006/relationships/font" Target="fonts/font4.fntdata"/><Relationship Id="rId22" Type="http://schemas.openxmlformats.org/officeDocument/2006/relationships/customXml" Target="../customXml/item22.xml"/><Relationship Id="rId43" Type="http://schemas.openxmlformats.org/officeDocument/2006/relationships/customXml" Target="../customXml/item43.xml"/><Relationship Id="rId64" Type="http://schemas.openxmlformats.org/officeDocument/2006/relationships/customXml" Target="../customXml/item64.xml"/><Relationship Id="rId118" Type="http://schemas.openxmlformats.org/officeDocument/2006/relationships/slideMaster" Target="slideMasters/slideMaster1.xml"/><Relationship Id="rId139" Type="http://schemas.openxmlformats.org/officeDocument/2006/relationships/slide" Target="slides/slide20.xml"/><Relationship Id="rId85" Type="http://schemas.openxmlformats.org/officeDocument/2006/relationships/customXml" Target="../customXml/item85.xml"/><Relationship Id="rId150" Type="http://schemas.openxmlformats.org/officeDocument/2006/relationships/slide" Target="slides/slide31.xml"/><Relationship Id="rId171" Type="http://schemas.openxmlformats.org/officeDocument/2006/relationships/slide" Target="slides/slide52.xml"/><Relationship Id="rId192" Type="http://schemas.openxmlformats.org/officeDocument/2006/relationships/theme" Target="theme/theme1.xml"/><Relationship Id="rId12" Type="http://schemas.openxmlformats.org/officeDocument/2006/relationships/customXml" Target="../customXml/item12.xml"/><Relationship Id="rId33" Type="http://schemas.openxmlformats.org/officeDocument/2006/relationships/customXml" Target="../customXml/item33.xml"/><Relationship Id="rId108" Type="http://schemas.openxmlformats.org/officeDocument/2006/relationships/customXml" Target="../customXml/item108.xml"/><Relationship Id="rId129" Type="http://schemas.openxmlformats.org/officeDocument/2006/relationships/slide" Target="slides/slide10.xml"/><Relationship Id="rId54" Type="http://schemas.openxmlformats.org/officeDocument/2006/relationships/customXml" Target="../customXml/item54.xml"/><Relationship Id="rId75" Type="http://schemas.openxmlformats.org/officeDocument/2006/relationships/customXml" Target="../customXml/item75.xml"/><Relationship Id="rId96" Type="http://schemas.openxmlformats.org/officeDocument/2006/relationships/customXml" Target="../customXml/item96.xml"/><Relationship Id="rId140" Type="http://schemas.openxmlformats.org/officeDocument/2006/relationships/slide" Target="slides/slide21.xml"/><Relationship Id="rId161" Type="http://schemas.openxmlformats.org/officeDocument/2006/relationships/slide" Target="slides/slide42.xml"/><Relationship Id="rId182" Type="http://schemas.openxmlformats.org/officeDocument/2006/relationships/font" Target="fonts/font5.fntdata"/><Relationship Id="rId6" Type="http://schemas.openxmlformats.org/officeDocument/2006/relationships/customXml" Target="../customXml/item6.xml"/><Relationship Id="rId23" Type="http://schemas.openxmlformats.org/officeDocument/2006/relationships/customXml" Target="../customXml/item23.xml"/><Relationship Id="rId119" Type="http://schemas.openxmlformats.org/officeDocument/2006/relationships/slideMaster" Target="slideMasters/slideMaster2.xml"/><Relationship Id="rId44" Type="http://schemas.openxmlformats.org/officeDocument/2006/relationships/customXml" Target="../customXml/item44.xml"/><Relationship Id="rId65" Type="http://schemas.openxmlformats.org/officeDocument/2006/relationships/customXml" Target="../customXml/item65.xml"/><Relationship Id="rId86" Type="http://schemas.openxmlformats.org/officeDocument/2006/relationships/customXml" Target="../customXml/item86.xml"/><Relationship Id="rId130" Type="http://schemas.openxmlformats.org/officeDocument/2006/relationships/slide" Target="slides/slide11.xml"/><Relationship Id="rId151" Type="http://schemas.openxmlformats.org/officeDocument/2006/relationships/slide" Target="slides/slide32.xml"/><Relationship Id="rId172" Type="http://schemas.openxmlformats.org/officeDocument/2006/relationships/slide" Target="slides/slide53.xml"/><Relationship Id="rId193" Type="http://schemas.openxmlformats.org/officeDocument/2006/relationships/tableStyles" Target="tableStyles.xml"/><Relationship Id="rId13" Type="http://schemas.openxmlformats.org/officeDocument/2006/relationships/customXml" Target="../customXml/item13.xml"/><Relationship Id="rId109" Type="http://schemas.openxmlformats.org/officeDocument/2006/relationships/customXml" Target="../customXml/item109.xml"/><Relationship Id="rId34" Type="http://schemas.openxmlformats.org/officeDocument/2006/relationships/customXml" Target="../customXml/item34.xml"/><Relationship Id="rId50" Type="http://schemas.openxmlformats.org/officeDocument/2006/relationships/customXml" Target="../customXml/item50.xml"/><Relationship Id="rId55" Type="http://schemas.openxmlformats.org/officeDocument/2006/relationships/customXml" Target="../customXml/item55.xml"/><Relationship Id="rId76" Type="http://schemas.openxmlformats.org/officeDocument/2006/relationships/customXml" Target="../customXml/item76.xml"/><Relationship Id="rId97" Type="http://schemas.openxmlformats.org/officeDocument/2006/relationships/customXml" Target="../customXml/item97.xml"/><Relationship Id="rId104" Type="http://schemas.openxmlformats.org/officeDocument/2006/relationships/customXml" Target="../customXml/item104.xml"/><Relationship Id="rId120" Type="http://schemas.openxmlformats.org/officeDocument/2006/relationships/slide" Target="slides/slide1.xml"/><Relationship Id="rId125" Type="http://schemas.openxmlformats.org/officeDocument/2006/relationships/slide" Target="slides/slide6.xml"/><Relationship Id="rId141" Type="http://schemas.openxmlformats.org/officeDocument/2006/relationships/slide" Target="slides/slide22.xml"/><Relationship Id="rId146" Type="http://schemas.openxmlformats.org/officeDocument/2006/relationships/slide" Target="slides/slide27.xml"/><Relationship Id="rId167" Type="http://schemas.openxmlformats.org/officeDocument/2006/relationships/slide" Target="slides/slide48.xml"/><Relationship Id="rId188" Type="http://schemas.openxmlformats.org/officeDocument/2006/relationships/tags" Target="tags/tag1.xml"/><Relationship Id="rId7" Type="http://schemas.openxmlformats.org/officeDocument/2006/relationships/customXml" Target="../customXml/item7.xml"/><Relationship Id="rId71" Type="http://schemas.openxmlformats.org/officeDocument/2006/relationships/customXml" Target="../customXml/item71.xml"/><Relationship Id="rId92" Type="http://schemas.openxmlformats.org/officeDocument/2006/relationships/customXml" Target="../customXml/item92.xml"/><Relationship Id="rId162" Type="http://schemas.openxmlformats.org/officeDocument/2006/relationships/slide" Target="slides/slide43.xml"/><Relationship Id="rId183" Type="http://schemas.openxmlformats.org/officeDocument/2006/relationships/font" Target="fonts/font6.fntdata"/><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customXml" Target="../customXml/item45.xml"/><Relationship Id="rId66" Type="http://schemas.openxmlformats.org/officeDocument/2006/relationships/customXml" Target="../customXml/item66.xml"/><Relationship Id="rId87" Type="http://schemas.openxmlformats.org/officeDocument/2006/relationships/customXml" Target="../customXml/item87.xml"/><Relationship Id="rId110" Type="http://schemas.openxmlformats.org/officeDocument/2006/relationships/customXml" Target="../customXml/item110.xml"/><Relationship Id="rId115" Type="http://schemas.openxmlformats.org/officeDocument/2006/relationships/customXml" Target="../customXml/item115.xml"/><Relationship Id="rId131" Type="http://schemas.openxmlformats.org/officeDocument/2006/relationships/slide" Target="slides/slide12.xml"/><Relationship Id="rId136" Type="http://schemas.openxmlformats.org/officeDocument/2006/relationships/slide" Target="slides/slide17.xml"/><Relationship Id="rId157" Type="http://schemas.openxmlformats.org/officeDocument/2006/relationships/slide" Target="slides/slide38.xml"/><Relationship Id="rId178" Type="http://schemas.openxmlformats.org/officeDocument/2006/relationships/font" Target="fonts/font1.fntdata"/><Relationship Id="rId61" Type="http://schemas.openxmlformats.org/officeDocument/2006/relationships/customXml" Target="../customXml/item61.xml"/><Relationship Id="rId82" Type="http://schemas.openxmlformats.org/officeDocument/2006/relationships/customXml" Target="../customXml/item82.xml"/><Relationship Id="rId152" Type="http://schemas.openxmlformats.org/officeDocument/2006/relationships/slide" Target="slides/slide33.xml"/><Relationship Id="rId173" Type="http://schemas.openxmlformats.org/officeDocument/2006/relationships/slide" Target="slides/slide54.xml"/><Relationship Id="rId194" Type="http://schemas.microsoft.com/office/2015/10/relationships/revisionInfo" Target="revisionInfo.xml"/><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customXml" Target="../customXml/item35.xml"/><Relationship Id="rId56" Type="http://schemas.openxmlformats.org/officeDocument/2006/relationships/customXml" Target="../customXml/item56.xml"/><Relationship Id="rId77" Type="http://schemas.openxmlformats.org/officeDocument/2006/relationships/customXml" Target="../customXml/item77.xml"/><Relationship Id="rId100" Type="http://schemas.openxmlformats.org/officeDocument/2006/relationships/customXml" Target="../customXml/item100.xml"/><Relationship Id="rId105" Type="http://schemas.openxmlformats.org/officeDocument/2006/relationships/customXml" Target="../customXml/item105.xml"/><Relationship Id="rId126" Type="http://schemas.openxmlformats.org/officeDocument/2006/relationships/slide" Target="slides/slide7.xml"/><Relationship Id="rId147" Type="http://schemas.openxmlformats.org/officeDocument/2006/relationships/slide" Target="slides/slide28.xml"/><Relationship Id="rId168" Type="http://schemas.openxmlformats.org/officeDocument/2006/relationships/slide" Target="slides/slide49.xml"/><Relationship Id="rId8" Type="http://schemas.openxmlformats.org/officeDocument/2006/relationships/customXml" Target="../customXml/item8.xml"/><Relationship Id="rId51" Type="http://schemas.openxmlformats.org/officeDocument/2006/relationships/customXml" Target="../customXml/item51.xml"/><Relationship Id="rId72" Type="http://schemas.openxmlformats.org/officeDocument/2006/relationships/customXml" Target="../customXml/item72.xml"/><Relationship Id="rId93" Type="http://schemas.openxmlformats.org/officeDocument/2006/relationships/customXml" Target="../customXml/item93.xml"/><Relationship Id="rId98" Type="http://schemas.openxmlformats.org/officeDocument/2006/relationships/customXml" Target="../customXml/item98.xml"/><Relationship Id="rId121" Type="http://schemas.openxmlformats.org/officeDocument/2006/relationships/slide" Target="slides/slide2.xml"/><Relationship Id="rId142" Type="http://schemas.openxmlformats.org/officeDocument/2006/relationships/slide" Target="slides/slide23.xml"/><Relationship Id="rId163" Type="http://schemas.openxmlformats.org/officeDocument/2006/relationships/slide" Target="slides/slide44.xml"/><Relationship Id="rId184" Type="http://schemas.openxmlformats.org/officeDocument/2006/relationships/font" Target="fonts/font7.fntdata"/><Relationship Id="rId189" Type="http://schemas.openxmlformats.org/officeDocument/2006/relationships/commentAuthors" Target="commentAuthors.xml"/><Relationship Id="rId3" Type="http://schemas.openxmlformats.org/officeDocument/2006/relationships/customXml" Target="../customXml/item3.xml"/><Relationship Id="rId25" Type="http://schemas.openxmlformats.org/officeDocument/2006/relationships/customXml" Target="../customXml/item25.xml"/><Relationship Id="rId46" Type="http://schemas.openxmlformats.org/officeDocument/2006/relationships/customXml" Target="../customXml/item46.xml"/><Relationship Id="rId67" Type="http://schemas.openxmlformats.org/officeDocument/2006/relationships/customXml" Target="../customXml/item67.xml"/><Relationship Id="rId116" Type="http://schemas.openxmlformats.org/officeDocument/2006/relationships/customXml" Target="../customXml/item116.xml"/><Relationship Id="rId137" Type="http://schemas.openxmlformats.org/officeDocument/2006/relationships/slide" Target="slides/slide18.xml"/><Relationship Id="rId158" Type="http://schemas.openxmlformats.org/officeDocument/2006/relationships/slide" Target="slides/slide39.xml"/><Relationship Id="rId20" Type="http://schemas.openxmlformats.org/officeDocument/2006/relationships/customXml" Target="../customXml/item20.xml"/><Relationship Id="rId41" Type="http://schemas.openxmlformats.org/officeDocument/2006/relationships/customXml" Target="../customXml/item41.xml"/><Relationship Id="rId62" Type="http://schemas.openxmlformats.org/officeDocument/2006/relationships/customXml" Target="../customXml/item62.xml"/><Relationship Id="rId83" Type="http://schemas.openxmlformats.org/officeDocument/2006/relationships/customXml" Target="../customXml/item83.xml"/><Relationship Id="rId88" Type="http://schemas.openxmlformats.org/officeDocument/2006/relationships/customXml" Target="../customXml/item88.xml"/><Relationship Id="rId111" Type="http://schemas.openxmlformats.org/officeDocument/2006/relationships/customXml" Target="../customXml/item111.xml"/><Relationship Id="rId132" Type="http://schemas.openxmlformats.org/officeDocument/2006/relationships/slide" Target="slides/slide13.xml"/><Relationship Id="rId153" Type="http://schemas.openxmlformats.org/officeDocument/2006/relationships/slide" Target="slides/slide34.xml"/><Relationship Id="rId174" Type="http://schemas.openxmlformats.org/officeDocument/2006/relationships/slide" Target="slides/slide55.xml"/><Relationship Id="rId179" Type="http://schemas.openxmlformats.org/officeDocument/2006/relationships/font" Target="fonts/font2.fntdata"/><Relationship Id="rId195" Type="http://schemas.microsoft.com/office/2018/10/relationships/authors" Target="authors.xml"/><Relationship Id="rId190" Type="http://schemas.openxmlformats.org/officeDocument/2006/relationships/presProps" Target="presProps.xml"/><Relationship Id="rId15" Type="http://schemas.openxmlformats.org/officeDocument/2006/relationships/customXml" Target="../customXml/item15.xml"/><Relationship Id="rId36" Type="http://schemas.openxmlformats.org/officeDocument/2006/relationships/customXml" Target="../customXml/item36.xml"/><Relationship Id="rId57" Type="http://schemas.openxmlformats.org/officeDocument/2006/relationships/customXml" Target="../customXml/item57.xml"/><Relationship Id="rId106" Type="http://schemas.openxmlformats.org/officeDocument/2006/relationships/customXml" Target="../customXml/item106.xml"/><Relationship Id="rId127" Type="http://schemas.openxmlformats.org/officeDocument/2006/relationships/slide" Target="slides/slide8.xml"/><Relationship Id="rId10" Type="http://schemas.openxmlformats.org/officeDocument/2006/relationships/customXml" Target="../customXml/item10.xml"/><Relationship Id="rId31" Type="http://schemas.openxmlformats.org/officeDocument/2006/relationships/customXml" Target="../customXml/item31.xml"/><Relationship Id="rId52" Type="http://schemas.openxmlformats.org/officeDocument/2006/relationships/customXml" Target="../customXml/item52.xml"/><Relationship Id="rId73" Type="http://schemas.openxmlformats.org/officeDocument/2006/relationships/customXml" Target="../customXml/item73.xml"/><Relationship Id="rId78" Type="http://schemas.openxmlformats.org/officeDocument/2006/relationships/customXml" Target="../customXml/item78.xml"/><Relationship Id="rId94" Type="http://schemas.openxmlformats.org/officeDocument/2006/relationships/customXml" Target="../customXml/item94.xml"/><Relationship Id="rId99" Type="http://schemas.openxmlformats.org/officeDocument/2006/relationships/customXml" Target="../customXml/item99.xml"/><Relationship Id="rId101" Type="http://schemas.openxmlformats.org/officeDocument/2006/relationships/customXml" Target="../customXml/item101.xml"/><Relationship Id="rId122" Type="http://schemas.openxmlformats.org/officeDocument/2006/relationships/slide" Target="slides/slide3.xml"/><Relationship Id="rId143" Type="http://schemas.openxmlformats.org/officeDocument/2006/relationships/slide" Target="slides/slide24.xml"/><Relationship Id="rId148" Type="http://schemas.openxmlformats.org/officeDocument/2006/relationships/slide" Target="slides/slide29.xml"/><Relationship Id="rId164" Type="http://schemas.openxmlformats.org/officeDocument/2006/relationships/slide" Target="slides/slide45.xml"/><Relationship Id="rId169" Type="http://schemas.openxmlformats.org/officeDocument/2006/relationships/slide" Target="slides/slide50.xml"/><Relationship Id="rId185" Type="http://schemas.openxmlformats.org/officeDocument/2006/relationships/font" Target="fonts/font8.fntdata"/><Relationship Id="rId4" Type="http://schemas.openxmlformats.org/officeDocument/2006/relationships/customXml" Target="../customXml/item4.xml"/><Relationship Id="rId9" Type="http://schemas.openxmlformats.org/officeDocument/2006/relationships/customXml" Target="../customXml/item9.xml"/><Relationship Id="rId180" Type="http://schemas.openxmlformats.org/officeDocument/2006/relationships/font" Target="fonts/font3.fntdata"/><Relationship Id="rId26" Type="http://schemas.openxmlformats.org/officeDocument/2006/relationships/customXml" Target="../customXml/item26.xml"/><Relationship Id="rId47" Type="http://schemas.openxmlformats.org/officeDocument/2006/relationships/customXml" Target="../customXml/item47.xml"/><Relationship Id="rId68" Type="http://schemas.openxmlformats.org/officeDocument/2006/relationships/customXml" Target="../customXml/item68.xml"/><Relationship Id="rId89" Type="http://schemas.openxmlformats.org/officeDocument/2006/relationships/customXml" Target="../customXml/item89.xml"/><Relationship Id="rId112" Type="http://schemas.openxmlformats.org/officeDocument/2006/relationships/customXml" Target="../customXml/item112.xml"/><Relationship Id="rId133" Type="http://schemas.openxmlformats.org/officeDocument/2006/relationships/slide" Target="slides/slide14.xml"/><Relationship Id="rId154" Type="http://schemas.openxmlformats.org/officeDocument/2006/relationships/slide" Target="slides/slide35.xml"/><Relationship Id="rId175" Type="http://schemas.openxmlformats.org/officeDocument/2006/relationships/slide" Target="slides/slide56.xml"/><Relationship Id="rId16" Type="http://schemas.openxmlformats.org/officeDocument/2006/relationships/customXml" Target="../customXml/item16.xml"/><Relationship Id="rId37" Type="http://schemas.openxmlformats.org/officeDocument/2006/relationships/customXml" Target="../customXml/item37.xml"/><Relationship Id="rId58" Type="http://schemas.openxmlformats.org/officeDocument/2006/relationships/customXml" Target="../customXml/item58.xml"/><Relationship Id="rId79" Type="http://schemas.openxmlformats.org/officeDocument/2006/relationships/customXml" Target="../customXml/item79.xml"/><Relationship Id="rId102" Type="http://schemas.openxmlformats.org/officeDocument/2006/relationships/customXml" Target="../customXml/item102.xml"/><Relationship Id="rId123" Type="http://schemas.openxmlformats.org/officeDocument/2006/relationships/slide" Target="slides/slide4.xml"/><Relationship Id="rId144" Type="http://schemas.openxmlformats.org/officeDocument/2006/relationships/slide" Target="slides/slide25.xml"/><Relationship Id="rId90" Type="http://schemas.openxmlformats.org/officeDocument/2006/relationships/customXml" Target="../customXml/item90.xml"/><Relationship Id="rId165" Type="http://schemas.openxmlformats.org/officeDocument/2006/relationships/slide" Target="slides/slide46.xml"/><Relationship Id="rId186" Type="http://schemas.openxmlformats.org/officeDocument/2006/relationships/font" Target="fonts/font9.fntdata"/><Relationship Id="rId27" Type="http://schemas.openxmlformats.org/officeDocument/2006/relationships/customXml" Target="../customXml/item27.xml"/><Relationship Id="rId48" Type="http://schemas.openxmlformats.org/officeDocument/2006/relationships/customXml" Target="../customXml/item48.xml"/><Relationship Id="rId69" Type="http://schemas.openxmlformats.org/officeDocument/2006/relationships/customXml" Target="../customXml/item69.xml"/><Relationship Id="rId113" Type="http://schemas.openxmlformats.org/officeDocument/2006/relationships/customXml" Target="../customXml/item113.xml"/><Relationship Id="rId134" Type="http://schemas.openxmlformats.org/officeDocument/2006/relationships/slide" Target="slides/slide15.xml"/><Relationship Id="rId80" Type="http://schemas.openxmlformats.org/officeDocument/2006/relationships/customXml" Target="../customXml/item80.xml"/><Relationship Id="rId155" Type="http://schemas.openxmlformats.org/officeDocument/2006/relationships/slide" Target="slides/slide36.xml"/><Relationship Id="rId176" Type="http://schemas.openxmlformats.org/officeDocument/2006/relationships/notesMaster" Target="notesMasters/notesMaster1.xml"/><Relationship Id="rId17" Type="http://schemas.openxmlformats.org/officeDocument/2006/relationships/customXml" Target="../customXml/item17.xml"/><Relationship Id="rId38" Type="http://schemas.openxmlformats.org/officeDocument/2006/relationships/customXml" Target="../customXml/item38.xml"/><Relationship Id="rId59" Type="http://schemas.openxmlformats.org/officeDocument/2006/relationships/customXml" Target="../customXml/item59.xml"/><Relationship Id="rId103" Type="http://schemas.openxmlformats.org/officeDocument/2006/relationships/customXml" Target="../customXml/item103.xml"/><Relationship Id="rId124" Type="http://schemas.openxmlformats.org/officeDocument/2006/relationships/slide" Target="slides/slide5.xml"/><Relationship Id="rId70" Type="http://schemas.openxmlformats.org/officeDocument/2006/relationships/customXml" Target="../customXml/item70.xml"/><Relationship Id="rId91" Type="http://schemas.openxmlformats.org/officeDocument/2006/relationships/customXml" Target="../customXml/item91.xml"/><Relationship Id="rId145" Type="http://schemas.openxmlformats.org/officeDocument/2006/relationships/slide" Target="slides/slide26.xml"/><Relationship Id="rId166" Type="http://schemas.openxmlformats.org/officeDocument/2006/relationships/slide" Target="slides/slide47.xml"/><Relationship Id="rId187" Type="http://schemas.openxmlformats.org/officeDocument/2006/relationships/font" Target="fonts/font10.fntdata"/><Relationship Id="rId1" Type="http://schemas.openxmlformats.org/officeDocument/2006/relationships/customXml" Target="../customXml/item1.xml"/><Relationship Id="rId28" Type="http://schemas.openxmlformats.org/officeDocument/2006/relationships/customXml" Target="../customXml/item28.xml"/><Relationship Id="rId49" Type="http://schemas.openxmlformats.org/officeDocument/2006/relationships/customXml" Target="../customXml/item49.xml"/><Relationship Id="rId114" Type="http://schemas.openxmlformats.org/officeDocument/2006/relationships/customXml" Target="../customXml/item114.xml"/><Relationship Id="rId60" Type="http://schemas.openxmlformats.org/officeDocument/2006/relationships/customXml" Target="../customXml/item60.xml"/><Relationship Id="rId81" Type="http://schemas.openxmlformats.org/officeDocument/2006/relationships/customXml" Target="../customXml/item81.xml"/><Relationship Id="rId135" Type="http://schemas.openxmlformats.org/officeDocument/2006/relationships/slide" Target="slides/slide16.xml"/><Relationship Id="rId156" Type="http://schemas.openxmlformats.org/officeDocument/2006/relationships/slide" Target="slides/slide37.xml"/><Relationship Id="rId177" Type="http://schemas.openxmlformats.org/officeDocument/2006/relationships/handoutMaster" Target="handoutMasters/handoutMaster1.xml"/><Relationship Id="rId18" Type="http://schemas.openxmlformats.org/officeDocument/2006/relationships/customXml" Target="../customXml/item18.xml"/><Relationship Id="rId39" Type="http://schemas.openxmlformats.org/officeDocument/2006/relationships/customXml" Target="../customXml/item39.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D3E071-75AA-40AA-8E7F-3F820B7BF059}"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GB"/>
        </a:p>
      </dgm:t>
    </dgm:pt>
    <dgm:pt modelId="{49A3F030-0763-4652-BAD4-A1C90C8EDF6F}">
      <dgm:prSet phldrT="[Text]"/>
      <dgm:spPr/>
      <dgm:t>
        <a:bodyPr/>
        <a:lstStyle/>
        <a:p>
          <a:r>
            <a:rPr lang="en-GB"/>
            <a:t>Discovery</a:t>
          </a:r>
        </a:p>
      </dgm:t>
    </dgm:pt>
    <dgm:pt modelId="{61EABAA0-EBDD-45A1-82A9-1607D1B770E6}" type="parTrans" cxnId="{4CF67B2C-34CA-4951-90A0-DA6722DB7A7E}">
      <dgm:prSet/>
      <dgm:spPr/>
      <dgm:t>
        <a:bodyPr/>
        <a:lstStyle/>
        <a:p>
          <a:endParaRPr lang="en-GB"/>
        </a:p>
      </dgm:t>
    </dgm:pt>
    <dgm:pt modelId="{7578BDF4-D494-4AAB-8388-A40007680077}" type="sibTrans" cxnId="{4CF67B2C-34CA-4951-90A0-DA6722DB7A7E}">
      <dgm:prSet/>
      <dgm:spPr/>
      <dgm:t>
        <a:bodyPr/>
        <a:lstStyle/>
        <a:p>
          <a:endParaRPr lang="en-GB"/>
        </a:p>
      </dgm:t>
    </dgm:pt>
    <dgm:pt modelId="{91C2D580-D3D1-463C-85A4-7C1CE22107BF}">
      <dgm:prSet phldrT="[Text]"/>
      <dgm:spPr/>
      <dgm:t>
        <a:bodyPr/>
        <a:lstStyle/>
        <a:p>
          <a:r>
            <a:rPr lang="en-GB"/>
            <a:t>Assess priority requirements/problems to solve</a:t>
          </a:r>
        </a:p>
      </dgm:t>
    </dgm:pt>
    <dgm:pt modelId="{BD1C0729-06DF-4655-B10E-F7D4BBEA244F}" type="parTrans" cxnId="{454F8657-8FE3-4C71-90E9-8EEA5621B1FC}">
      <dgm:prSet/>
      <dgm:spPr/>
      <dgm:t>
        <a:bodyPr/>
        <a:lstStyle/>
        <a:p>
          <a:endParaRPr lang="en-GB"/>
        </a:p>
      </dgm:t>
    </dgm:pt>
    <dgm:pt modelId="{F6AF707B-3C27-45A3-BAFB-763A65C48528}" type="sibTrans" cxnId="{454F8657-8FE3-4C71-90E9-8EEA5621B1FC}">
      <dgm:prSet/>
      <dgm:spPr/>
      <dgm:t>
        <a:bodyPr/>
        <a:lstStyle/>
        <a:p>
          <a:endParaRPr lang="en-GB"/>
        </a:p>
      </dgm:t>
    </dgm:pt>
    <dgm:pt modelId="{876D412A-2CBE-44C2-996E-E14E64822ECB}">
      <dgm:prSet phldrT="[Text]"/>
      <dgm:spPr/>
      <dgm:t>
        <a:bodyPr/>
        <a:lstStyle/>
        <a:p>
          <a:r>
            <a:rPr lang="en-GB"/>
            <a:t>Platform Delivery</a:t>
          </a:r>
        </a:p>
      </dgm:t>
    </dgm:pt>
    <dgm:pt modelId="{C43EB049-AB24-4136-BE2B-F1EFA2157D0D}" type="parTrans" cxnId="{77ED41D8-EEAB-4153-BD4C-F1A05287654C}">
      <dgm:prSet/>
      <dgm:spPr/>
      <dgm:t>
        <a:bodyPr/>
        <a:lstStyle/>
        <a:p>
          <a:endParaRPr lang="en-GB"/>
        </a:p>
      </dgm:t>
    </dgm:pt>
    <dgm:pt modelId="{5AC61CE9-FF5C-408A-AD83-BA97972E1F15}" type="sibTrans" cxnId="{77ED41D8-EEAB-4153-BD4C-F1A05287654C}">
      <dgm:prSet/>
      <dgm:spPr/>
      <dgm:t>
        <a:bodyPr/>
        <a:lstStyle/>
        <a:p>
          <a:endParaRPr lang="en-GB"/>
        </a:p>
      </dgm:t>
    </dgm:pt>
    <dgm:pt modelId="{B18BCCD4-E290-4C05-9E53-2A57D9AC5EC3}">
      <dgm:prSet phldrT="[Text]"/>
      <dgm:spPr/>
      <dgm:t>
        <a:bodyPr/>
        <a:lstStyle/>
        <a:p>
          <a:r>
            <a:rPr lang="en-GB"/>
            <a:t> Provision Environment</a:t>
          </a:r>
        </a:p>
      </dgm:t>
    </dgm:pt>
    <dgm:pt modelId="{9FB9D8D6-A6B5-402A-945B-4AB52E4615AA}" type="parTrans" cxnId="{3EAF3205-6A70-4E70-83C6-A8D206C4E042}">
      <dgm:prSet/>
      <dgm:spPr/>
      <dgm:t>
        <a:bodyPr/>
        <a:lstStyle/>
        <a:p>
          <a:endParaRPr lang="en-GB"/>
        </a:p>
      </dgm:t>
    </dgm:pt>
    <dgm:pt modelId="{2992E8EE-55BB-4133-9C63-F4EAEAFD9272}" type="sibTrans" cxnId="{3EAF3205-6A70-4E70-83C6-A8D206C4E042}">
      <dgm:prSet/>
      <dgm:spPr/>
      <dgm:t>
        <a:bodyPr/>
        <a:lstStyle/>
        <a:p>
          <a:endParaRPr lang="en-GB"/>
        </a:p>
      </dgm:t>
    </dgm:pt>
    <dgm:pt modelId="{6E33838F-3575-4EB7-BE6C-20B6666CA388}">
      <dgm:prSet phldrT="[Text]"/>
      <dgm:spPr/>
      <dgm:t>
        <a:bodyPr/>
        <a:lstStyle/>
        <a:p>
          <a:r>
            <a:rPr lang="en-GB"/>
            <a:t>Product Configuration</a:t>
          </a:r>
        </a:p>
      </dgm:t>
    </dgm:pt>
    <dgm:pt modelId="{24414CC8-0EA6-4ABC-8D0F-D25760127ECE}" type="parTrans" cxnId="{C2B8BB57-4D39-4FE1-9079-299993E2CFE1}">
      <dgm:prSet/>
      <dgm:spPr/>
      <dgm:t>
        <a:bodyPr/>
        <a:lstStyle/>
        <a:p>
          <a:endParaRPr lang="en-GB"/>
        </a:p>
      </dgm:t>
    </dgm:pt>
    <dgm:pt modelId="{0AE38623-AF60-41A7-9E8E-71052CBFB3B9}" type="sibTrans" cxnId="{C2B8BB57-4D39-4FE1-9079-299993E2CFE1}">
      <dgm:prSet/>
      <dgm:spPr/>
      <dgm:t>
        <a:bodyPr/>
        <a:lstStyle/>
        <a:p>
          <a:endParaRPr lang="en-GB"/>
        </a:p>
      </dgm:t>
    </dgm:pt>
    <dgm:pt modelId="{5F8ACE3B-8DAA-4ACB-AF1B-BC8CCA1A410E}">
      <dgm:prSet phldrT="[Text]"/>
      <dgm:spPr/>
      <dgm:t>
        <a:bodyPr/>
        <a:lstStyle/>
        <a:p>
          <a:r>
            <a:rPr lang="en-GB"/>
            <a:t>Configure Products</a:t>
          </a:r>
        </a:p>
      </dgm:t>
    </dgm:pt>
    <dgm:pt modelId="{24968992-52C3-4EC5-B486-97A3A5C80AA5}" type="parTrans" cxnId="{8D858E5A-7FBC-437F-8214-F92439B7A5B9}">
      <dgm:prSet/>
      <dgm:spPr/>
      <dgm:t>
        <a:bodyPr/>
        <a:lstStyle/>
        <a:p>
          <a:endParaRPr lang="en-GB"/>
        </a:p>
      </dgm:t>
    </dgm:pt>
    <dgm:pt modelId="{D850CB29-2DC3-4AE2-899E-DE9F8F58A220}" type="sibTrans" cxnId="{8D858E5A-7FBC-437F-8214-F92439B7A5B9}">
      <dgm:prSet/>
      <dgm:spPr/>
      <dgm:t>
        <a:bodyPr/>
        <a:lstStyle/>
        <a:p>
          <a:endParaRPr lang="en-GB"/>
        </a:p>
      </dgm:t>
    </dgm:pt>
    <dgm:pt modelId="{2E89AF22-BF39-40CE-86AE-B1C47EE41B3A}">
      <dgm:prSet phldrT="[Text]"/>
      <dgm:spPr/>
      <dgm:t>
        <a:bodyPr/>
        <a:lstStyle/>
        <a:p>
          <a:r>
            <a:rPr lang="en-GB"/>
            <a:t>Provide ongoing support</a:t>
          </a:r>
        </a:p>
      </dgm:t>
    </dgm:pt>
    <dgm:pt modelId="{6293553D-CDC1-4456-8ED3-95C54FD47AB1}" type="parTrans" cxnId="{AADFFC4C-DE50-4B64-B56A-C05E6D4BD5B0}">
      <dgm:prSet/>
      <dgm:spPr/>
      <dgm:t>
        <a:bodyPr/>
        <a:lstStyle/>
        <a:p>
          <a:endParaRPr lang="en-GB"/>
        </a:p>
      </dgm:t>
    </dgm:pt>
    <dgm:pt modelId="{F08FC767-F36E-4887-84DA-D52DF80C336B}" type="sibTrans" cxnId="{AADFFC4C-DE50-4B64-B56A-C05E6D4BD5B0}">
      <dgm:prSet/>
      <dgm:spPr/>
      <dgm:t>
        <a:bodyPr/>
        <a:lstStyle/>
        <a:p>
          <a:endParaRPr lang="en-GB"/>
        </a:p>
      </dgm:t>
    </dgm:pt>
    <dgm:pt modelId="{44E5AFEA-5C0A-446D-9795-255698412421}">
      <dgm:prSet phldrT="[Text]"/>
      <dgm:spPr/>
      <dgm:t>
        <a:bodyPr/>
        <a:lstStyle/>
        <a:p>
          <a:r>
            <a:rPr lang="en-GB"/>
            <a:t>Tailor Analytics</a:t>
          </a:r>
        </a:p>
      </dgm:t>
    </dgm:pt>
    <dgm:pt modelId="{F8AC7B32-5BAC-47D6-B879-11CC53FC3F0E}" type="parTrans" cxnId="{73581149-C4DD-469A-895A-30C4CD9550E9}">
      <dgm:prSet/>
      <dgm:spPr/>
      <dgm:t>
        <a:bodyPr/>
        <a:lstStyle/>
        <a:p>
          <a:endParaRPr lang="en-GB"/>
        </a:p>
      </dgm:t>
    </dgm:pt>
    <dgm:pt modelId="{B439F4F3-A656-4050-A233-47655756C44C}" type="sibTrans" cxnId="{73581149-C4DD-469A-895A-30C4CD9550E9}">
      <dgm:prSet/>
      <dgm:spPr/>
      <dgm:t>
        <a:bodyPr/>
        <a:lstStyle/>
        <a:p>
          <a:endParaRPr lang="en-GB"/>
        </a:p>
      </dgm:t>
    </dgm:pt>
    <dgm:pt modelId="{3BFC4314-AE43-4402-8006-721ED7C5AFD1}">
      <dgm:prSet phldrT="[Text]"/>
      <dgm:spPr/>
      <dgm:t>
        <a:bodyPr/>
        <a:lstStyle/>
        <a:p>
          <a:r>
            <a:rPr lang="en-GB"/>
            <a:t>Identify existing tools and data</a:t>
          </a:r>
        </a:p>
      </dgm:t>
    </dgm:pt>
    <dgm:pt modelId="{1C771822-3BA5-4896-9BF1-817D2DCF5A07}" type="parTrans" cxnId="{99DB6C21-1E8B-486E-9418-516B7E95212A}">
      <dgm:prSet/>
      <dgm:spPr/>
      <dgm:t>
        <a:bodyPr/>
        <a:lstStyle/>
        <a:p>
          <a:endParaRPr lang="en-GB"/>
        </a:p>
      </dgm:t>
    </dgm:pt>
    <dgm:pt modelId="{2B898FDF-2BFA-46D2-B168-969F6A9DCAD4}" type="sibTrans" cxnId="{99DB6C21-1E8B-486E-9418-516B7E95212A}">
      <dgm:prSet/>
      <dgm:spPr/>
      <dgm:t>
        <a:bodyPr/>
        <a:lstStyle/>
        <a:p>
          <a:endParaRPr lang="en-GB"/>
        </a:p>
      </dgm:t>
    </dgm:pt>
    <dgm:pt modelId="{0451EB3A-9E72-4CEC-BC06-A18ECD0AE42F}">
      <dgm:prSet phldrT="[Text]"/>
      <dgm:spPr/>
      <dgm:t>
        <a:bodyPr/>
        <a:lstStyle/>
        <a:p>
          <a:pPr algn="l">
            <a:buFont typeface="Arial" panose="020B0604020202020204" pitchFamily="34" charset="0"/>
            <a:buChar char="•"/>
          </a:pPr>
          <a:r>
            <a:rPr lang="en-GB"/>
            <a:t> Ingest Data</a:t>
          </a:r>
        </a:p>
      </dgm:t>
    </dgm:pt>
    <dgm:pt modelId="{1975F23B-921C-4C40-B53E-D3E88BA6D768}" type="parTrans" cxnId="{B284ABFB-96A3-4299-BC09-D74006D47BBC}">
      <dgm:prSet/>
      <dgm:spPr/>
      <dgm:t>
        <a:bodyPr/>
        <a:lstStyle/>
        <a:p>
          <a:endParaRPr lang="en-GB"/>
        </a:p>
      </dgm:t>
    </dgm:pt>
    <dgm:pt modelId="{32F6E8BE-4673-4B9C-A4DD-9660D329B48C}" type="sibTrans" cxnId="{B284ABFB-96A3-4299-BC09-D74006D47BBC}">
      <dgm:prSet/>
      <dgm:spPr/>
      <dgm:t>
        <a:bodyPr/>
        <a:lstStyle/>
        <a:p>
          <a:endParaRPr lang="en-GB"/>
        </a:p>
      </dgm:t>
    </dgm:pt>
    <dgm:pt modelId="{DFB2DE9E-6368-4A6B-9C55-66D6039FB9F0}">
      <dgm:prSet phldrT="[Text]"/>
      <dgm:spPr/>
      <dgm:t>
        <a:bodyPr/>
        <a:lstStyle/>
        <a:p>
          <a:r>
            <a:rPr lang="en-GB"/>
            <a:t>Consider technical and operational environments</a:t>
          </a:r>
        </a:p>
      </dgm:t>
    </dgm:pt>
    <dgm:pt modelId="{EBCF0414-621B-49E8-B047-CE05A1C89BD2}" type="parTrans" cxnId="{4A69CDFF-1E91-4C08-BA4E-191B69C2F74B}">
      <dgm:prSet/>
      <dgm:spPr/>
      <dgm:t>
        <a:bodyPr/>
        <a:lstStyle/>
        <a:p>
          <a:endParaRPr lang="en-GB"/>
        </a:p>
      </dgm:t>
    </dgm:pt>
    <dgm:pt modelId="{A1E026EE-0785-43F4-AA15-785E028EE237}" type="sibTrans" cxnId="{4A69CDFF-1E91-4C08-BA4E-191B69C2F74B}">
      <dgm:prSet/>
      <dgm:spPr/>
      <dgm:t>
        <a:bodyPr/>
        <a:lstStyle/>
        <a:p>
          <a:endParaRPr lang="en-GB"/>
        </a:p>
      </dgm:t>
    </dgm:pt>
    <dgm:pt modelId="{9253D802-1192-414C-979F-B7B50B40B93B}">
      <dgm:prSet phldrT="[Text]"/>
      <dgm:spPr/>
      <dgm:t>
        <a:bodyPr/>
        <a:lstStyle/>
        <a:p>
          <a:r>
            <a:rPr lang="en-GB"/>
            <a:t>Data Integration</a:t>
          </a:r>
        </a:p>
      </dgm:t>
    </dgm:pt>
    <dgm:pt modelId="{C30D797A-CCF0-4680-BCFF-92E33D65F485}" type="parTrans" cxnId="{E6C7D370-5714-4137-81B7-BC378C8997EC}">
      <dgm:prSet/>
      <dgm:spPr/>
      <dgm:t>
        <a:bodyPr/>
        <a:lstStyle/>
        <a:p>
          <a:endParaRPr lang="en-GB"/>
        </a:p>
      </dgm:t>
    </dgm:pt>
    <dgm:pt modelId="{EF650556-7660-4558-9867-68FD4A9E3A68}" type="sibTrans" cxnId="{E6C7D370-5714-4137-81B7-BC378C8997EC}">
      <dgm:prSet/>
      <dgm:spPr/>
      <dgm:t>
        <a:bodyPr/>
        <a:lstStyle/>
        <a:p>
          <a:endParaRPr lang="en-GB"/>
        </a:p>
      </dgm:t>
    </dgm:pt>
    <dgm:pt modelId="{23EF3318-85F8-4039-AFFA-016176B369CC}">
      <dgm:prSet phldrT="[Text]"/>
      <dgm:spPr/>
      <dgm:t>
        <a:bodyPr/>
        <a:lstStyle/>
        <a:p>
          <a:pPr algn="l">
            <a:buFont typeface="Arial" panose="020B0604020202020204" pitchFamily="34" charset="0"/>
            <a:buChar char="•"/>
          </a:pPr>
          <a:r>
            <a:rPr lang="en-GB"/>
            <a:t> Connect to Sources</a:t>
          </a:r>
        </a:p>
      </dgm:t>
    </dgm:pt>
    <dgm:pt modelId="{447C7F26-3A7D-49A2-8B6A-7B437EB8BC20}" type="parTrans" cxnId="{8695E979-38FA-4C56-B19F-3FF6125C8FA5}">
      <dgm:prSet/>
      <dgm:spPr/>
      <dgm:t>
        <a:bodyPr/>
        <a:lstStyle/>
        <a:p>
          <a:endParaRPr lang="en-GB"/>
        </a:p>
      </dgm:t>
    </dgm:pt>
    <dgm:pt modelId="{644C8C7E-C7F7-48A6-B74D-3E0FB75B0943}" type="sibTrans" cxnId="{8695E979-38FA-4C56-B19F-3FF6125C8FA5}">
      <dgm:prSet/>
      <dgm:spPr/>
      <dgm:t>
        <a:bodyPr/>
        <a:lstStyle/>
        <a:p>
          <a:endParaRPr lang="en-GB"/>
        </a:p>
      </dgm:t>
    </dgm:pt>
    <dgm:pt modelId="{1159D254-68A2-4E08-B993-B9F8EA41E6EC}">
      <dgm:prSet phldrT="[Text]"/>
      <dgm:spPr/>
      <dgm:t>
        <a:bodyPr/>
        <a:lstStyle/>
        <a:p>
          <a:r>
            <a:rPr lang="en-GB"/>
            <a:t> Deploy Platform</a:t>
          </a:r>
        </a:p>
      </dgm:t>
    </dgm:pt>
    <dgm:pt modelId="{6A31C94D-9523-4F85-9B85-7810ED812092}" type="parTrans" cxnId="{B57EBAA4-1C9D-439E-BED3-71D9FEAAA39C}">
      <dgm:prSet/>
      <dgm:spPr/>
      <dgm:t>
        <a:bodyPr/>
        <a:lstStyle/>
        <a:p>
          <a:endParaRPr lang="en-GB"/>
        </a:p>
      </dgm:t>
    </dgm:pt>
    <dgm:pt modelId="{38EB39AE-CDAA-441D-B763-3E719F587207}" type="sibTrans" cxnId="{B57EBAA4-1C9D-439E-BED3-71D9FEAAA39C}">
      <dgm:prSet/>
      <dgm:spPr/>
      <dgm:t>
        <a:bodyPr/>
        <a:lstStyle/>
        <a:p>
          <a:endParaRPr lang="en-GB"/>
        </a:p>
      </dgm:t>
    </dgm:pt>
    <dgm:pt modelId="{D4CD901F-BDC4-4C41-807B-0B7F140084CB}">
      <dgm:prSet phldrT="[Text]"/>
      <dgm:spPr/>
      <dgm:t>
        <a:bodyPr/>
        <a:lstStyle/>
        <a:p>
          <a:r>
            <a:rPr lang="en-GB"/>
            <a:t> Integrate Platform</a:t>
          </a:r>
        </a:p>
      </dgm:t>
    </dgm:pt>
    <dgm:pt modelId="{084F8F75-B9C1-4ED1-8313-D2DB71FF986A}" type="parTrans" cxnId="{8F23944E-7C16-4B2A-8019-2AD4AB94988A}">
      <dgm:prSet/>
      <dgm:spPr/>
      <dgm:t>
        <a:bodyPr/>
        <a:lstStyle/>
        <a:p>
          <a:endParaRPr lang="en-GB"/>
        </a:p>
      </dgm:t>
    </dgm:pt>
    <dgm:pt modelId="{8FB91D06-CEDF-40B4-A585-1E5330D87EF6}" type="sibTrans" cxnId="{8F23944E-7C16-4B2A-8019-2AD4AB94988A}">
      <dgm:prSet/>
      <dgm:spPr/>
      <dgm:t>
        <a:bodyPr/>
        <a:lstStyle/>
        <a:p>
          <a:endParaRPr lang="en-GB"/>
        </a:p>
      </dgm:t>
    </dgm:pt>
    <dgm:pt modelId="{401E82F3-48C1-4C11-B3A1-0AF5C0CB20C7}">
      <dgm:prSet phldrT="[Text]"/>
      <dgm:spPr/>
      <dgm:t>
        <a:bodyPr/>
        <a:lstStyle/>
        <a:p>
          <a:pPr algn="l">
            <a:buFont typeface="Arial" panose="020B0604020202020204" pitchFamily="34" charset="0"/>
            <a:buChar char="•"/>
          </a:pPr>
          <a:r>
            <a:rPr lang="en-GB"/>
            <a:t> Model, Normalise, Resolve</a:t>
          </a:r>
        </a:p>
      </dgm:t>
    </dgm:pt>
    <dgm:pt modelId="{86E712DE-4CB5-480B-BC90-ED764AEF0D88}" type="parTrans" cxnId="{DDDB2778-6FA5-4534-9F73-CCAD7ED0F5CD}">
      <dgm:prSet/>
      <dgm:spPr/>
      <dgm:t>
        <a:bodyPr/>
        <a:lstStyle/>
        <a:p>
          <a:endParaRPr lang="en-GB"/>
        </a:p>
      </dgm:t>
    </dgm:pt>
    <dgm:pt modelId="{562E070F-0FDC-438C-B981-1C4F813ADDA8}" type="sibTrans" cxnId="{DDDB2778-6FA5-4534-9F73-CCAD7ED0F5CD}">
      <dgm:prSet/>
      <dgm:spPr/>
      <dgm:t>
        <a:bodyPr/>
        <a:lstStyle/>
        <a:p>
          <a:endParaRPr lang="en-GB"/>
        </a:p>
      </dgm:t>
    </dgm:pt>
    <dgm:pt modelId="{FDEC3CC0-0938-4F8D-A7D0-E934AFC3110E}" type="pres">
      <dgm:prSet presAssocID="{0ED3E071-75AA-40AA-8E7F-3F820B7BF059}" presName="linearFlow" presStyleCnt="0">
        <dgm:presLayoutVars>
          <dgm:dir/>
          <dgm:animLvl val="lvl"/>
          <dgm:resizeHandles val="exact"/>
        </dgm:presLayoutVars>
      </dgm:prSet>
      <dgm:spPr/>
    </dgm:pt>
    <dgm:pt modelId="{D77806D4-A145-4997-91FB-0262AA3B5FEE}" type="pres">
      <dgm:prSet presAssocID="{49A3F030-0763-4652-BAD4-A1C90C8EDF6F}" presName="composite" presStyleCnt="0"/>
      <dgm:spPr/>
    </dgm:pt>
    <dgm:pt modelId="{5B72E19D-FE78-4B1A-B0F2-716A24C700F3}" type="pres">
      <dgm:prSet presAssocID="{49A3F030-0763-4652-BAD4-A1C90C8EDF6F}" presName="parTx" presStyleLbl="node1" presStyleIdx="0" presStyleCnt="4">
        <dgm:presLayoutVars>
          <dgm:chMax val="0"/>
          <dgm:chPref val="0"/>
          <dgm:bulletEnabled val="1"/>
        </dgm:presLayoutVars>
      </dgm:prSet>
      <dgm:spPr/>
    </dgm:pt>
    <dgm:pt modelId="{55DD5AF6-F29F-486F-AB61-B746BB0F92E0}" type="pres">
      <dgm:prSet presAssocID="{49A3F030-0763-4652-BAD4-A1C90C8EDF6F}" presName="parSh" presStyleLbl="node1" presStyleIdx="0" presStyleCnt="4" custScaleX="104894"/>
      <dgm:spPr/>
    </dgm:pt>
    <dgm:pt modelId="{81DA05AF-5279-426B-BE48-979F0C6EC072}" type="pres">
      <dgm:prSet presAssocID="{49A3F030-0763-4652-BAD4-A1C90C8EDF6F}" presName="desTx" presStyleLbl="fgAcc1" presStyleIdx="0" presStyleCnt="4">
        <dgm:presLayoutVars>
          <dgm:bulletEnabled val="1"/>
        </dgm:presLayoutVars>
      </dgm:prSet>
      <dgm:spPr/>
    </dgm:pt>
    <dgm:pt modelId="{BBAFEB43-60B6-4904-A946-B3667FE899D1}" type="pres">
      <dgm:prSet presAssocID="{7578BDF4-D494-4AAB-8388-A40007680077}" presName="sibTrans" presStyleLbl="sibTrans2D1" presStyleIdx="0" presStyleCnt="3"/>
      <dgm:spPr/>
    </dgm:pt>
    <dgm:pt modelId="{AA9ADB77-412F-4986-A66D-84AB0598A95C}" type="pres">
      <dgm:prSet presAssocID="{7578BDF4-D494-4AAB-8388-A40007680077}" presName="connTx" presStyleLbl="sibTrans2D1" presStyleIdx="0" presStyleCnt="3"/>
      <dgm:spPr/>
    </dgm:pt>
    <dgm:pt modelId="{C5CC54B8-8D3B-4647-81B5-A2B906DC0234}" type="pres">
      <dgm:prSet presAssocID="{876D412A-2CBE-44C2-996E-E14E64822ECB}" presName="composite" presStyleCnt="0"/>
      <dgm:spPr/>
    </dgm:pt>
    <dgm:pt modelId="{9446B5AF-2E16-4117-A1BC-1245FF59A259}" type="pres">
      <dgm:prSet presAssocID="{876D412A-2CBE-44C2-996E-E14E64822ECB}" presName="parTx" presStyleLbl="node1" presStyleIdx="0" presStyleCnt="4">
        <dgm:presLayoutVars>
          <dgm:chMax val="0"/>
          <dgm:chPref val="0"/>
          <dgm:bulletEnabled val="1"/>
        </dgm:presLayoutVars>
      </dgm:prSet>
      <dgm:spPr/>
    </dgm:pt>
    <dgm:pt modelId="{9A325A1F-A3EA-425F-921D-1040C3DAC485}" type="pres">
      <dgm:prSet presAssocID="{876D412A-2CBE-44C2-996E-E14E64822ECB}" presName="parSh" presStyleLbl="node1" presStyleIdx="1" presStyleCnt="4" custScaleX="104894"/>
      <dgm:spPr/>
    </dgm:pt>
    <dgm:pt modelId="{96F900C8-5E2B-43E4-B4E2-C86423989F59}" type="pres">
      <dgm:prSet presAssocID="{876D412A-2CBE-44C2-996E-E14E64822ECB}" presName="desTx" presStyleLbl="fgAcc1" presStyleIdx="1" presStyleCnt="4">
        <dgm:presLayoutVars>
          <dgm:bulletEnabled val="1"/>
        </dgm:presLayoutVars>
      </dgm:prSet>
      <dgm:spPr/>
    </dgm:pt>
    <dgm:pt modelId="{E42C76A8-E4CE-44E0-B299-2D21399D0681}" type="pres">
      <dgm:prSet presAssocID="{5AC61CE9-FF5C-408A-AD83-BA97972E1F15}" presName="sibTrans" presStyleLbl="sibTrans2D1" presStyleIdx="1" presStyleCnt="3"/>
      <dgm:spPr/>
    </dgm:pt>
    <dgm:pt modelId="{BDD2E654-EF23-4470-8BA6-F18E3B8F276B}" type="pres">
      <dgm:prSet presAssocID="{5AC61CE9-FF5C-408A-AD83-BA97972E1F15}" presName="connTx" presStyleLbl="sibTrans2D1" presStyleIdx="1" presStyleCnt="3"/>
      <dgm:spPr/>
    </dgm:pt>
    <dgm:pt modelId="{014D5DB0-B474-4531-8638-C48C2E28F7AA}" type="pres">
      <dgm:prSet presAssocID="{9253D802-1192-414C-979F-B7B50B40B93B}" presName="composite" presStyleCnt="0"/>
      <dgm:spPr/>
    </dgm:pt>
    <dgm:pt modelId="{5C76AE9A-54AD-4644-BA73-9F0C5A3F7758}" type="pres">
      <dgm:prSet presAssocID="{9253D802-1192-414C-979F-B7B50B40B93B}" presName="parTx" presStyleLbl="node1" presStyleIdx="1" presStyleCnt="4">
        <dgm:presLayoutVars>
          <dgm:chMax val="0"/>
          <dgm:chPref val="0"/>
          <dgm:bulletEnabled val="1"/>
        </dgm:presLayoutVars>
      </dgm:prSet>
      <dgm:spPr/>
    </dgm:pt>
    <dgm:pt modelId="{60B1A73D-EF6E-4BC2-B4BD-AD438DC3270F}" type="pres">
      <dgm:prSet presAssocID="{9253D802-1192-414C-979F-B7B50B40B93B}" presName="parSh" presStyleLbl="node1" presStyleIdx="2" presStyleCnt="4"/>
      <dgm:spPr/>
    </dgm:pt>
    <dgm:pt modelId="{D0EB95F0-2A41-4B46-87B0-FCE46230748B}" type="pres">
      <dgm:prSet presAssocID="{9253D802-1192-414C-979F-B7B50B40B93B}" presName="desTx" presStyleLbl="fgAcc1" presStyleIdx="2" presStyleCnt="4" custScaleX="116030">
        <dgm:presLayoutVars>
          <dgm:bulletEnabled val="1"/>
        </dgm:presLayoutVars>
      </dgm:prSet>
      <dgm:spPr/>
    </dgm:pt>
    <dgm:pt modelId="{5F4C3876-EF39-42B6-8ABD-C4136A6B0F41}" type="pres">
      <dgm:prSet presAssocID="{EF650556-7660-4558-9867-68FD4A9E3A68}" presName="sibTrans" presStyleLbl="sibTrans2D1" presStyleIdx="2" presStyleCnt="3" custScaleX="84124" custScaleY="123608" custLinFactNeighborX="31742" custLinFactNeighborY="20299"/>
      <dgm:spPr>
        <a:prstGeom prst="ellipse">
          <a:avLst/>
        </a:prstGeom>
      </dgm:spPr>
    </dgm:pt>
    <dgm:pt modelId="{9AC8ECA6-C8AA-4011-865F-6BD9564F06C5}" type="pres">
      <dgm:prSet presAssocID="{EF650556-7660-4558-9867-68FD4A9E3A68}" presName="connTx" presStyleLbl="sibTrans2D1" presStyleIdx="2" presStyleCnt="3"/>
      <dgm:spPr/>
    </dgm:pt>
    <dgm:pt modelId="{D018EA9C-E686-4C29-BAC5-FF2FE24587AD}" type="pres">
      <dgm:prSet presAssocID="{6E33838F-3575-4EB7-BE6C-20B6666CA388}" presName="composite" presStyleCnt="0"/>
      <dgm:spPr/>
    </dgm:pt>
    <dgm:pt modelId="{D90BA4FE-6F65-4FA0-A26B-AFF47546EE00}" type="pres">
      <dgm:prSet presAssocID="{6E33838F-3575-4EB7-BE6C-20B6666CA388}" presName="parTx" presStyleLbl="node1" presStyleIdx="2" presStyleCnt="4">
        <dgm:presLayoutVars>
          <dgm:chMax val="0"/>
          <dgm:chPref val="0"/>
          <dgm:bulletEnabled val="1"/>
        </dgm:presLayoutVars>
      </dgm:prSet>
      <dgm:spPr/>
    </dgm:pt>
    <dgm:pt modelId="{47CEBCA0-799A-4C24-9188-A9ABB89A5FDD}" type="pres">
      <dgm:prSet presAssocID="{6E33838F-3575-4EB7-BE6C-20B6666CA388}" presName="parSh" presStyleLbl="node1" presStyleIdx="3" presStyleCnt="4" custScaleX="104894"/>
      <dgm:spPr/>
    </dgm:pt>
    <dgm:pt modelId="{A5B78EDF-4223-47AA-926E-AE3665B419E1}" type="pres">
      <dgm:prSet presAssocID="{6E33838F-3575-4EB7-BE6C-20B6666CA388}" presName="desTx" presStyleLbl="fgAcc1" presStyleIdx="3" presStyleCnt="4">
        <dgm:presLayoutVars>
          <dgm:bulletEnabled val="1"/>
        </dgm:presLayoutVars>
      </dgm:prSet>
      <dgm:spPr/>
    </dgm:pt>
  </dgm:ptLst>
  <dgm:cxnLst>
    <dgm:cxn modelId="{17206F03-AE4A-4FAF-B0A0-C6D45C2E7F51}" type="presOf" srcId="{6E33838F-3575-4EB7-BE6C-20B6666CA388}" destId="{D90BA4FE-6F65-4FA0-A26B-AFF47546EE00}" srcOrd="0" destOrd="0" presId="urn:microsoft.com/office/officeart/2005/8/layout/process3"/>
    <dgm:cxn modelId="{3EAF3205-6A70-4E70-83C6-A8D206C4E042}" srcId="{876D412A-2CBE-44C2-996E-E14E64822ECB}" destId="{B18BCCD4-E290-4C05-9E53-2A57D9AC5EC3}" srcOrd="0" destOrd="0" parTransId="{9FB9D8D6-A6B5-402A-945B-4AB52E4615AA}" sibTransId="{2992E8EE-55BB-4133-9C63-F4EAEAFD9272}"/>
    <dgm:cxn modelId="{0CA08E10-0DA4-4283-9FDE-83CD6A4F3A48}" type="presOf" srcId="{2E89AF22-BF39-40CE-86AE-B1C47EE41B3A}" destId="{A5B78EDF-4223-47AA-926E-AE3665B419E1}" srcOrd="0" destOrd="2" presId="urn:microsoft.com/office/officeart/2005/8/layout/process3"/>
    <dgm:cxn modelId="{B20EFF12-B641-4396-83B6-494CCB557FEF}" type="presOf" srcId="{1159D254-68A2-4E08-B993-B9F8EA41E6EC}" destId="{96F900C8-5E2B-43E4-B4E2-C86423989F59}" srcOrd="0" destOrd="1" presId="urn:microsoft.com/office/officeart/2005/8/layout/process3"/>
    <dgm:cxn modelId="{843F971F-9392-4014-8F26-0049462B2BC0}" type="presOf" srcId="{91C2D580-D3D1-463C-85A4-7C1CE22107BF}" destId="{81DA05AF-5279-426B-BE48-979F0C6EC072}" srcOrd="0" destOrd="0" presId="urn:microsoft.com/office/officeart/2005/8/layout/process3"/>
    <dgm:cxn modelId="{99DB6C21-1E8B-486E-9418-516B7E95212A}" srcId="{49A3F030-0763-4652-BAD4-A1C90C8EDF6F}" destId="{3BFC4314-AE43-4402-8006-721ED7C5AFD1}" srcOrd="1" destOrd="0" parTransId="{1C771822-3BA5-4896-9BF1-817D2DCF5A07}" sibTransId="{2B898FDF-2BFA-46D2-B168-969F6A9DCAD4}"/>
    <dgm:cxn modelId="{4CF67B2C-34CA-4951-90A0-DA6722DB7A7E}" srcId="{0ED3E071-75AA-40AA-8E7F-3F820B7BF059}" destId="{49A3F030-0763-4652-BAD4-A1C90C8EDF6F}" srcOrd="0" destOrd="0" parTransId="{61EABAA0-EBDD-45A1-82A9-1607D1B770E6}" sibTransId="{7578BDF4-D494-4AAB-8388-A40007680077}"/>
    <dgm:cxn modelId="{13AC4D2F-B61E-4A13-9ECC-61A488CBCF32}" type="presOf" srcId="{D4CD901F-BDC4-4C41-807B-0B7F140084CB}" destId="{96F900C8-5E2B-43E4-B4E2-C86423989F59}" srcOrd="0" destOrd="2" presId="urn:microsoft.com/office/officeart/2005/8/layout/process3"/>
    <dgm:cxn modelId="{21C1EF34-52A2-4C5D-8ECB-89630E9C74A3}" type="presOf" srcId="{7578BDF4-D494-4AAB-8388-A40007680077}" destId="{AA9ADB77-412F-4986-A66D-84AB0598A95C}" srcOrd="1" destOrd="0" presId="urn:microsoft.com/office/officeart/2005/8/layout/process3"/>
    <dgm:cxn modelId="{F760D039-B463-473D-81BC-C7866828293F}" type="presOf" srcId="{44E5AFEA-5C0A-446D-9795-255698412421}" destId="{A5B78EDF-4223-47AA-926E-AE3665B419E1}" srcOrd="0" destOrd="1" presId="urn:microsoft.com/office/officeart/2005/8/layout/process3"/>
    <dgm:cxn modelId="{E986643B-015E-45D2-83A7-D2F64988B5E0}" type="presOf" srcId="{49A3F030-0763-4652-BAD4-A1C90C8EDF6F}" destId="{55DD5AF6-F29F-486F-AB61-B746BB0F92E0}" srcOrd="1" destOrd="0" presId="urn:microsoft.com/office/officeart/2005/8/layout/process3"/>
    <dgm:cxn modelId="{FD215F3C-DC81-4A40-BC75-FFFE8A961C41}" type="presOf" srcId="{49A3F030-0763-4652-BAD4-A1C90C8EDF6F}" destId="{5B72E19D-FE78-4B1A-B0F2-716A24C700F3}" srcOrd="0" destOrd="0" presId="urn:microsoft.com/office/officeart/2005/8/layout/process3"/>
    <dgm:cxn modelId="{BC4C1766-A1EA-4ECC-8FD7-90795723001F}" type="presOf" srcId="{6E33838F-3575-4EB7-BE6C-20B6666CA388}" destId="{47CEBCA0-799A-4C24-9188-A9ABB89A5FDD}" srcOrd="1" destOrd="0" presId="urn:microsoft.com/office/officeart/2005/8/layout/process3"/>
    <dgm:cxn modelId="{73581149-C4DD-469A-895A-30C4CD9550E9}" srcId="{6E33838F-3575-4EB7-BE6C-20B6666CA388}" destId="{44E5AFEA-5C0A-446D-9795-255698412421}" srcOrd="1" destOrd="0" parTransId="{F8AC7B32-5BAC-47D6-B879-11CC53FC3F0E}" sibTransId="{B439F4F3-A656-4050-A233-47655756C44C}"/>
    <dgm:cxn modelId="{AADFFC4C-DE50-4B64-B56A-C05E6D4BD5B0}" srcId="{6E33838F-3575-4EB7-BE6C-20B6666CA388}" destId="{2E89AF22-BF39-40CE-86AE-B1C47EE41B3A}" srcOrd="2" destOrd="0" parTransId="{6293553D-CDC1-4456-8ED3-95C54FD47AB1}" sibTransId="{F08FC767-F36E-4887-84DA-D52DF80C336B}"/>
    <dgm:cxn modelId="{8F23944E-7C16-4B2A-8019-2AD4AB94988A}" srcId="{876D412A-2CBE-44C2-996E-E14E64822ECB}" destId="{D4CD901F-BDC4-4C41-807B-0B7F140084CB}" srcOrd="2" destOrd="0" parTransId="{084F8F75-B9C1-4ED1-8313-D2DB71FF986A}" sibTransId="{8FB91D06-CEDF-40B4-A585-1E5330D87EF6}"/>
    <dgm:cxn modelId="{B94FC26E-8AFF-45FB-BC77-884F69ECA9A8}" type="presOf" srcId="{876D412A-2CBE-44C2-996E-E14E64822ECB}" destId="{9446B5AF-2E16-4117-A1BC-1245FF59A259}" srcOrd="0" destOrd="0" presId="urn:microsoft.com/office/officeart/2005/8/layout/process3"/>
    <dgm:cxn modelId="{E6C7D370-5714-4137-81B7-BC378C8997EC}" srcId="{0ED3E071-75AA-40AA-8E7F-3F820B7BF059}" destId="{9253D802-1192-414C-979F-B7B50B40B93B}" srcOrd="2" destOrd="0" parTransId="{C30D797A-CCF0-4680-BCFF-92E33D65F485}" sibTransId="{EF650556-7660-4558-9867-68FD4A9E3A68}"/>
    <dgm:cxn modelId="{CA5B3572-71F8-4C9D-B65A-736499DAB4D7}" type="presOf" srcId="{EF650556-7660-4558-9867-68FD4A9E3A68}" destId="{9AC8ECA6-C8AA-4011-865F-6BD9564F06C5}" srcOrd="1" destOrd="0" presId="urn:microsoft.com/office/officeart/2005/8/layout/process3"/>
    <dgm:cxn modelId="{5D846F72-468C-4D22-A25A-26E74F6C6867}" type="presOf" srcId="{B18BCCD4-E290-4C05-9E53-2A57D9AC5EC3}" destId="{96F900C8-5E2B-43E4-B4E2-C86423989F59}" srcOrd="0" destOrd="0" presId="urn:microsoft.com/office/officeart/2005/8/layout/process3"/>
    <dgm:cxn modelId="{E81E9D52-32B7-4EA7-A2D0-597AF7893507}" type="presOf" srcId="{0451EB3A-9E72-4CEC-BC06-A18ECD0AE42F}" destId="{D0EB95F0-2A41-4B46-87B0-FCE46230748B}" srcOrd="0" destOrd="1" presId="urn:microsoft.com/office/officeart/2005/8/layout/process3"/>
    <dgm:cxn modelId="{454F8657-8FE3-4C71-90E9-8EEA5621B1FC}" srcId="{49A3F030-0763-4652-BAD4-A1C90C8EDF6F}" destId="{91C2D580-D3D1-463C-85A4-7C1CE22107BF}" srcOrd="0" destOrd="0" parTransId="{BD1C0729-06DF-4655-B10E-F7D4BBEA244F}" sibTransId="{F6AF707B-3C27-45A3-BAFB-763A65C48528}"/>
    <dgm:cxn modelId="{C2B8BB57-4D39-4FE1-9079-299993E2CFE1}" srcId="{0ED3E071-75AA-40AA-8E7F-3F820B7BF059}" destId="{6E33838F-3575-4EB7-BE6C-20B6666CA388}" srcOrd="3" destOrd="0" parTransId="{24414CC8-0EA6-4ABC-8D0F-D25760127ECE}" sibTransId="{0AE38623-AF60-41A7-9E8E-71052CBFB3B9}"/>
    <dgm:cxn modelId="{0D840C78-C819-40CB-900C-7206FE4CD792}" type="presOf" srcId="{5AC61CE9-FF5C-408A-AD83-BA97972E1F15}" destId="{BDD2E654-EF23-4470-8BA6-F18E3B8F276B}" srcOrd="1" destOrd="0" presId="urn:microsoft.com/office/officeart/2005/8/layout/process3"/>
    <dgm:cxn modelId="{DDDB2778-6FA5-4534-9F73-CCAD7ED0F5CD}" srcId="{9253D802-1192-414C-979F-B7B50B40B93B}" destId="{401E82F3-48C1-4C11-B3A1-0AF5C0CB20C7}" srcOrd="2" destOrd="0" parTransId="{86E712DE-4CB5-480B-BC90-ED764AEF0D88}" sibTransId="{562E070F-0FDC-438C-B981-1C4F813ADDA8}"/>
    <dgm:cxn modelId="{2AA18C78-65D7-4CE6-A1F2-A49F3E813541}" type="presOf" srcId="{3BFC4314-AE43-4402-8006-721ED7C5AFD1}" destId="{81DA05AF-5279-426B-BE48-979F0C6EC072}" srcOrd="0" destOrd="1" presId="urn:microsoft.com/office/officeart/2005/8/layout/process3"/>
    <dgm:cxn modelId="{6053B379-27C2-488A-A2D7-96015DB4EF1C}" type="presOf" srcId="{23EF3318-85F8-4039-AFFA-016176B369CC}" destId="{D0EB95F0-2A41-4B46-87B0-FCE46230748B}" srcOrd="0" destOrd="0" presId="urn:microsoft.com/office/officeart/2005/8/layout/process3"/>
    <dgm:cxn modelId="{8695E979-38FA-4C56-B19F-3FF6125C8FA5}" srcId="{9253D802-1192-414C-979F-B7B50B40B93B}" destId="{23EF3318-85F8-4039-AFFA-016176B369CC}" srcOrd="0" destOrd="0" parTransId="{447C7F26-3A7D-49A2-8B6A-7B437EB8BC20}" sibTransId="{644C8C7E-C7F7-48A6-B74D-3E0FB75B0943}"/>
    <dgm:cxn modelId="{8D858E5A-7FBC-437F-8214-F92439B7A5B9}" srcId="{6E33838F-3575-4EB7-BE6C-20B6666CA388}" destId="{5F8ACE3B-8DAA-4ACB-AF1B-BC8CCA1A410E}" srcOrd="0" destOrd="0" parTransId="{24968992-52C3-4EC5-B486-97A3A5C80AA5}" sibTransId="{D850CB29-2DC3-4AE2-899E-DE9F8F58A220}"/>
    <dgm:cxn modelId="{3FF12F84-4EE1-45FB-82A3-0F1EB1728153}" type="presOf" srcId="{5F8ACE3B-8DAA-4ACB-AF1B-BC8CCA1A410E}" destId="{A5B78EDF-4223-47AA-926E-AE3665B419E1}" srcOrd="0" destOrd="0" presId="urn:microsoft.com/office/officeart/2005/8/layout/process3"/>
    <dgm:cxn modelId="{92F1C58B-E6B8-4DD6-99E7-6D80F720368F}" type="presOf" srcId="{401E82F3-48C1-4C11-B3A1-0AF5C0CB20C7}" destId="{D0EB95F0-2A41-4B46-87B0-FCE46230748B}" srcOrd="0" destOrd="2" presId="urn:microsoft.com/office/officeart/2005/8/layout/process3"/>
    <dgm:cxn modelId="{B1EC71A2-3475-45B3-BE88-D6D02C091837}" type="presOf" srcId="{DFB2DE9E-6368-4A6B-9C55-66D6039FB9F0}" destId="{81DA05AF-5279-426B-BE48-979F0C6EC072}" srcOrd="0" destOrd="2" presId="urn:microsoft.com/office/officeart/2005/8/layout/process3"/>
    <dgm:cxn modelId="{4F73D5A3-A679-480C-964F-98A21AE448F6}" type="presOf" srcId="{5AC61CE9-FF5C-408A-AD83-BA97972E1F15}" destId="{E42C76A8-E4CE-44E0-B299-2D21399D0681}" srcOrd="0" destOrd="0" presId="urn:microsoft.com/office/officeart/2005/8/layout/process3"/>
    <dgm:cxn modelId="{B57EBAA4-1C9D-439E-BED3-71D9FEAAA39C}" srcId="{876D412A-2CBE-44C2-996E-E14E64822ECB}" destId="{1159D254-68A2-4E08-B993-B9F8EA41E6EC}" srcOrd="1" destOrd="0" parTransId="{6A31C94D-9523-4F85-9B85-7810ED812092}" sibTransId="{38EB39AE-CDAA-441D-B763-3E719F587207}"/>
    <dgm:cxn modelId="{C129C9B9-4708-4420-845E-1C79F04343EC}" type="presOf" srcId="{9253D802-1192-414C-979F-B7B50B40B93B}" destId="{5C76AE9A-54AD-4644-BA73-9F0C5A3F7758}" srcOrd="0" destOrd="0" presId="urn:microsoft.com/office/officeart/2005/8/layout/process3"/>
    <dgm:cxn modelId="{C643E8B9-6340-4879-BEE2-DA03370E7A11}" type="presOf" srcId="{7578BDF4-D494-4AAB-8388-A40007680077}" destId="{BBAFEB43-60B6-4904-A946-B3667FE899D1}" srcOrd="0" destOrd="0" presId="urn:microsoft.com/office/officeart/2005/8/layout/process3"/>
    <dgm:cxn modelId="{F51724BA-6B9D-4C36-BF93-30A759EE9091}" type="presOf" srcId="{876D412A-2CBE-44C2-996E-E14E64822ECB}" destId="{9A325A1F-A3EA-425F-921D-1040C3DAC485}" srcOrd="1" destOrd="0" presId="urn:microsoft.com/office/officeart/2005/8/layout/process3"/>
    <dgm:cxn modelId="{EC1299C4-1987-4F0B-B9C7-2B2B5790D91A}" type="presOf" srcId="{0ED3E071-75AA-40AA-8E7F-3F820B7BF059}" destId="{FDEC3CC0-0938-4F8D-A7D0-E934AFC3110E}" srcOrd="0" destOrd="0" presId="urn:microsoft.com/office/officeart/2005/8/layout/process3"/>
    <dgm:cxn modelId="{77ED41D8-EEAB-4153-BD4C-F1A05287654C}" srcId="{0ED3E071-75AA-40AA-8E7F-3F820B7BF059}" destId="{876D412A-2CBE-44C2-996E-E14E64822ECB}" srcOrd="1" destOrd="0" parTransId="{C43EB049-AB24-4136-BE2B-F1EFA2157D0D}" sibTransId="{5AC61CE9-FF5C-408A-AD83-BA97972E1F15}"/>
    <dgm:cxn modelId="{7DD804E9-E205-4DF3-BD73-92B4F60949AD}" type="presOf" srcId="{EF650556-7660-4558-9867-68FD4A9E3A68}" destId="{5F4C3876-EF39-42B6-8ABD-C4136A6B0F41}" srcOrd="0" destOrd="0" presId="urn:microsoft.com/office/officeart/2005/8/layout/process3"/>
    <dgm:cxn modelId="{62D736ED-F523-45B4-925F-A5896FE1EE0A}" type="presOf" srcId="{9253D802-1192-414C-979F-B7B50B40B93B}" destId="{60B1A73D-EF6E-4BC2-B4BD-AD438DC3270F}" srcOrd="1" destOrd="0" presId="urn:microsoft.com/office/officeart/2005/8/layout/process3"/>
    <dgm:cxn modelId="{B284ABFB-96A3-4299-BC09-D74006D47BBC}" srcId="{9253D802-1192-414C-979F-B7B50B40B93B}" destId="{0451EB3A-9E72-4CEC-BC06-A18ECD0AE42F}" srcOrd="1" destOrd="0" parTransId="{1975F23B-921C-4C40-B53E-D3E88BA6D768}" sibTransId="{32F6E8BE-4673-4B9C-A4DD-9660D329B48C}"/>
    <dgm:cxn modelId="{4A69CDFF-1E91-4C08-BA4E-191B69C2F74B}" srcId="{49A3F030-0763-4652-BAD4-A1C90C8EDF6F}" destId="{DFB2DE9E-6368-4A6B-9C55-66D6039FB9F0}" srcOrd="2" destOrd="0" parTransId="{EBCF0414-621B-49E8-B047-CE05A1C89BD2}" sibTransId="{A1E026EE-0785-43F4-AA15-785E028EE237}"/>
    <dgm:cxn modelId="{38F77868-60B5-4649-9697-DD89813914CD}" type="presParOf" srcId="{FDEC3CC0-0938-4F8D-A7D0-E934AFC3110E}" destId="{D77806D4-A145-4997-91FB-0262AA3B5FEE}" srcOrd="0" destOrd="0" presId="urn:microsoft.com/office/officeart/2005/8/layout/process3"/>
    <dgm:cxn modelId="{D44C0F4C-24AC-4588-A74E-54A893F70E66}" type="presParOf" srcId="{D77806D4-A145-4997-91FB-0262AA3B5FEE}" destId="{5B72E19D-FE78-4B1A-B0F2-716A24C700F3}" srcOrd="0" destOrd="0" presId="urn:microsoft.com/office/officeart/2005/8/layout/process3"/>
    <dgm:cxn modelId="{D00BBCC1-8DDB-4239-B881-FF25080C96C5}" type="presParOf" srcId="{D77806D4-A145-4997-91FB-0262AA3B5FEE}" destId="{55DD5AF6-F29F-486F-AB61-B746BB0F92E0}" srcOrd="1" destOrd="0" presId="urn:microsoft.com/office/officeart/2005/8/layout/process3"/>
    <dgm:cxn modelId="{DB28A0BB-F254-4333-8067-3F95B71DCBE3}" type="presParOf" srcId="{D77806D4-A145-4997-91FB-0262AA3B5FEE}" destId="{81DA05AF-5279-426B-BE48-979F0C6EC072}" srcOrd="2" destOrd="0" presId="urn:microsoft.com/office/officeart/2005/8/layout/process3"/>
    <dgm:cxn modelId="{9D06D396-9E67-4CB2-9B7E-62D63F110B6D}" type="presParOf" srcId="{FDEC3CC0-0938-4F8D-A7D0-E934AFC3110E}" destId="{BBAFEB43-60B6-4904-A946-B3667FE899D1}" srcOrd="1" destOrd="0" presId="urn:microsoft.com/office/officeart/2005/8/layout/process3"/>
    <dgm:cxn modelId="{DD19264F-ACB1-4955-9826-31852677C022}" type="presParOf" srcId="{BBAFEB43-60B6-4904-A946-B3667FE899D1}" destId="{AA9ADB77-412F-4986-A66D-84AB0598A95C}" srcOrd="0" destOrd="0" presId="urn:microsoft.com/office/officeart/2005/8/layout/process3"/>
    <dgm:cxn modelId="{857F4F55-2EBD-43D0-99B7-6EB25ADD3AB2}" type="presParOf" srcId="{FDEC3CC0-0938-4F8D-A7D0-E934AFC3110E}" destId="{C5CC54B8-8D3B-4647-81B5-A2B906DC0234}" srcOrd="2" destOrd="0" presId="urn:microsoft.com/office/officeart/2005/8/layout/process3"/>
    <dgm:cxn modelId="{6E338059-1958-4FB4-8295-F5B29DE3DCFD}" type="presParOf" srcId="{C5CC54B8-8D3B-4647-81B5-A2B906DC0234}" destId="{9446B5AF-2E16-4117-A1BC-1245FF59A259}" srcOrd="0" destOrd="0" presId="urn:microsoft.com/office/officeart/2005/8/layout/process3"/>
    <dgm:cxn modelId="{2DD2EC0D-919C-4CBB-A4FE-BE7632DD06C7}" type="presParOf" srcId="{C5CC54B8-8D3B-4647-81B5-A2B906DC0234}" destId="{9A325A1F-A3EA-425F-921D-1040C3DAC485}" srcOrd="1" destOrd="0" presId="urn:microsoft.com/office/officeart/2005/8/layout/process3"/>
    <dgm:cxn modelId="{FB1474BA-A15D-44E1-B618-B048AA29E56A}" type="presParOf" srcId="{C5CC54B8-8D3B-4647-81B5-A2B906DC0234}" destId="{96F900C8-5E2B-43E4-B4E2-C86423989F59}" srcOrd="2" destOrd="0" presId="urn:microsoft.com/office/officeart/2005/8/layout/process3"/>
    <dgm:cxn modelId="{7A9397F4-4FC1-44A0-AD1A-ED39B0E4970D}" type="presParOf" srcId="{FDEC3CC0-0938-4F8D-A7D0-E934AFC3110E}" destId="{E42C76A8-E4CE-44E0-B299-2D21399D0681}" srcOrd="3" destOrd="0" presId="urn:microsoft.com/office/officeart/2005/8/layout/process3"/>
    <dgm:cxn modelId="{8DEADF8B-EDBD-43CE-B9CA-3EDFEDA0B59B}" type="presParOf" srcId="{E42C76A8-E4CE-44E0-B299-2D21399D0681}" destId="{BDD2E654-EF23-4470-8BA6-F18E3B8F276B}" srcOrd="0" destOrd="0" presId="urn:microsoft.com/office/officeart/2005/8/layout/process3"/>
    <dgm:cxn modelId="{F815DFFF-BE4C-4CC9-951D-87C02F7F7929}" type="presParOf" srcId="{FDEC3CC0-0938-4F8D-A7D0-E934AFC3110E}" destId="{014D5DB0-B474-4531-8638-C48C2E28F7AA}" srcOrd="4" destOrd="0" presId="urn:microsoft.com/office/officeart/2005/8/layout/process3"/>
    <dgm:cxn modelId="{7C060336-DDC7-459D-9ECC-0FE0F760C4A3}" type="presParOf" srcId="{014D5DB0-B474-4531-8638-C48C2E28F7AA}" destId="{5C76AE9A-54AD-4644-BA73-9F0C5A3F7758}" srcOrd="0" destOrd="0" presId="urn:microsoft.com/office/officeart/2005/8/layout/process3"/>
    <dgm:cxn modelId="{B7708425-4870-4040-B3A4-54A6F515FEEB}" type="presParOf" srcId="{014D5DB0-B474-4531-8638-C48C2E28F7AA}" destId="{60B1A73D-EF6E-4BC2-B4BD-AD438DC3270F}" srcOrd="1" destOrd="0" presId="urn:microsoft.com/office/officeart/2005/8/layout/process3"/>
    <dgm:cxn modelId="{AC4B9453-5DF9-49B5-8F46-B207FA7D5531}" type="presParOf" srcId="{014D5DB0-B474-4531-8638-C48C2E28F7AA}" destId="{D0EB95F0-2A41-4B46-87B0-FCE46230748B}" srcOrd="2" destOrd="0" presId="urn:microsoft.com/office/officeart/2005/8/layout/process3"/>
    <dgm:cxn modelId="{956508C7-4085-4579-8DB3-DFD6DB75C3E5}" type="presParOf" srcId="{FDEC3CC0-0938-4F8D-A7D0-E934AFC3110E}" destId="{5F4C3876-EF39-42B6-8ABD-C4136A6B0F41}" srcOrd="5" destOrd="0" presId="urn:microsoft.com/office/officeart/2005/8/layout/process3"/>
    <dgm:cxn modelId="{E7BE8659-66AD-4988-AEAC-37334D0D2A2B}" type="presParOf" srcId="{5F4C3876-EF39-42B6-8ABD-C4136A6B0F41}" destId="{9AC8ECA6-C8AA-4011-865F-6BD9564F06C5}" srcOrd="0" destOrd="0" presId="urn:microsoft.com/office/officeart/2005/8/layout/process3"/>
    <dgm:cxn modelId="{54E6889D-E646-43EE-9D73-132C6FE875CE}" type="presParOf" srcId="{FDEC3CC0-0938-4F8D-A7D0-E934AFC3110E}" destId="{D018EA9C-E686-4C29-BAC5-FF2FE24587AD}" srcOrd="6" destOrd="0" presId="urn:microsoft.com/office/officeart/2005/8/layout/process3"/>
    <dgm:cxn modelId="{B4E78403-13A2-457C-843D-D2E5153DA595}" type="presParOf" srcId="{D018EA9C-E686-4C29-BAC5-FF2FE24587AD}" destId="{D90BA4FE-6F65-4FA0-A26B-AFF47546EE00}" srcOrd="0" destOrd="0" presId="urn:microsoft.com/office/officeart/2005/8/layout/process3"/>
    <dgm:cxn modelId="{2F4276F4-2E9B-4C08-8D94-87AE3D94C603}" type="presParOf" srcId="{D018EA9C-E686-4C29-BAC5-FF2FE24587AD}" destId="{47CEBCA0-799A-4C24-9188-A9ABB89A5FDD}" srcOrd="1" destOrd="0" presId="urn:microsoft.com/office/officeart/2005/8/layout/process3"/>
    <dgm:cxn modelId="{E6311167-7D89-4BA3-B1E9-811B6BC74F9B}" type="presParOf" srcId="{D018EA9C-E686-4C29-BAC5-FF2FE24587AD}" destId="{A5B78EDF-4223-47AA-926E-AE3665B419E1}"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DD5AF6-F29F-486F-AB61-B746BB0F92E0}">
      <dsp:nvSpPr>
        <dsp:cNvPr id="0" name=""/>
        <dsp:cNvSpPr/>
      </dsp:nvSpPr>
      <dsp:spPr>
        <a:xfrm>
          <a:off x="5789" y="1208824"/>
          <a:ext cx="1840359" cy="4752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GB" sz="1100" kern="1200"/>
            <a:t>Discovery</a:t>
          </a:r>
        </a:p>
      </dsp:txBody>
      <dsp:txXfrm>
        <a:off x="5789" y="1208824"/>
        <a:ext cx="1840359" cy="316800"/>
      </dsp:txXfrm>
    </dsp:sp>
    <dsp:sp modelId="{81DA05AF-5279-426B-BE48-979F0C6EC072}">
      <dsp:nvSpPr>
        <dsp:cNvPr id="0" name=""/>
        <dsp:cNvSpPr/>
      </dsp:nvSpPr>
      <dsp:spPr>
        <a:xfrm>
          <a:off x="408075" y="1525624"/>
          <a:ext cx="1754494" cy="15444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57150" lvl="1" indent="-57150" algn="l" defTabSz="488950">
            <a:lnSpc>
              <a:spcPct val="90000"/>
            </a:lnSpc>
            <a:spcBef>
              <a:spcPct val="0"/>
            </a:spcBef>
            <a:spcAft>
              <a:spcPct val="15000"/>
            </a:spcAft>
            <a:buChar char="•"/>
          </a:pPr>
          <a:r>
            <a:rPr lang="en-GB" sz="1100" kern="1200"/>
            <a:t>Assess priority requirements/problems to solve</a:t>
          </a:r>
        </a:p>
        <a:p>
          <a:pPr marL="57150" lvl="1" indent="-57150" algn="l" defTabSz="488950">
            <a:lnSpc>
              <a:spcPct val="90000"/>
            </a:lnSpc>
            <a:spcBef>
              <a:spcPct val="0"/>
            </a:spcBef>
            <a:spcAft>
              <a:spcPct val="15000"/>
            </a:spcAft>
            <a:buChar char="•"/>
          </a:pPr>
          <a:r>
            <a:rPr lang="en-GB" sz="1100" kern="1200"/>
            <a:t>Identify existing tools and data</a:t>
          </a:r>
        </a:p>
        <a:p>
          <a:pPr marL="57150" lvl="1" indent="-57150" algn="l" defTabSz="488950">
            <a:lnSpc>
              <a:spcPct val="90000"/>
            </a:lnSpc>
            <a:spcBef>
              <a:spcPct val="0"/>
            </a:spcBef>
            <a:spcAft>
              <a:spcPct val="15000"/>
            </a:spcAft>
            <a:buChar char="•"/>
          </a:pPr>
          <a:r>
            <a:rPr lang="en-GB" sz="1100" kern="1200"/>
            <a:t>Consider technical and operational environments</a:t>
          </a:r>
        </a:p>
      </dsp:txBody>
      <dsp:txXfrm>
        <a:off x="453309" y="1570858"/>
        <a:ext cx="1664026" cy="1453932"/>
      </dsp:txXfrm>
    </dsp:sp>
    <dsp:sp modelId="{BBAFEB43-60B6-4904-A946-B3667FE899D1}">
      <dsp:nvSpPr>
        <dsp:cNvPr id="0" name=""/>
        <dsp:cNvSpPr/>
      </dsp:nvSpPr>
      <dsp:spPr>
        <a:xfrm>
          <a:off x="2101390" y="1148815"/>
          <a:ext cx="541112" cy="43681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a:off x="2101390" y="1236179"/>
        <a:ext cx="410067" cy="262090"/>
      </dsp:txXfrm>
    </dsp:sp>
    <dsp:sp modelId="{9A325A1F-A3EA-425F-921D-1040C3DAC485}">
      <dsp:nvSpPr>
        <dsp:cNvPr id="0" name=""/>
        <dsp:cNvSpPr/>
      </dsp:nvSpPr>
      <dsp:spPr>
        <a:xfrm>
          <a:off x="2867116" y="1208824"/>
          <a:ext cx="1840359" cy="4752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GB" sz="1100" kern="1200"/>
            <a:t>Platform Delivery</a:t>
          </a:r>
        </a:p>
      </dsp:txBody>
      <dsp:txXfrm>
        <a:off x="2867116" y="1208824"/>
        <a:ext cx="1840359" cy="316800"/>
      </dsp:txXfrm>
    </dsp:sp>
    <dsp:sp modelId="{96F900C8-5E2B-43E4-B4E2-C86423989F59}">
      <dsp:nvSpPr>
        <dsp:cNvPr id="0" name=""/>
        <dsp:cNvSpPr/>
      </dsp:nvSpPr>
      <dsp:spPr>
        <a:xfrm>
          <a:off x="3269403" y="1525624"/>
          <a:ext cx="1754494" cy="15444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57150" lvl="1" indent="-57150" algn="l" defTabSz="488950">
            <a:lnSpc>
              <a:spcPct val="90000"/>
            </a:lnSpc>
            <a:spcBef>
              <a:spcPct val="0"/>
            </a:spcBef>
            <a:spcAft>
              <a:spcPct val="15000"/>
            </a:spcAft>
            <a:buChar char="•"/>
          </a:pPr>
          <a:r>
            <a:rPr lang="en-GB" sz="1100" kern="1200"/>
            <a:t> Provision Environment</a:t>
          </a:r>
        </a:p>
        <a:p>
          <a:pPr marL="57150" lvl="1" indent="-57150" algn="l" defTabSz="488950">
            <a:lnSpc>
              <a:spcPct val="90000"/>
            </a:lnSpc>
            <a:spcBef>
              <a:spcPct val="0"/>
            </a:spcBef>
            <a:spcAft>
              <a:spcPct val="15000"/>
            </a:spcAft>
            <a:buChar char="•"/>
          </a:pPr>
          <a:r>
            <a:rPr lang="en-GB" sz="1100" kern="1200"/>
            <a:t> Deploy Platform</a:t>
          </a:r>
        </a:p>
        <a:p>
          <a:pPr marL="57150" lvl="1" indent="-57150" algn="l" defTabSz="488950">
            <a:lnSpc>
              <a:spcPct val="90000"/>
            </a:lnSpc>
            <a:spcBef>
              <a:spcPct val="0"/>
            </a:spcBef>
            <a:spcAft>
              <a:spcPct val="15000"/>
            </a:spcAft>
            <a:buChar char="•"/>
          </a:pPr>
          <a:r>
            <a:rPr lang="en-GB" sz="1100" kern="1200"/>
            <a:t> Integrate Platform</a:t>
          </a:r>
        </a:p>
      </dsp:txBody>
      <dsp:txXfrm>
        <a:off x="3314637" y="1570858"/>
        <a:ext cx="1664026" cy="1453932"/>
      </dsp:txXfrm>
    </dsp:sp>
    <dsp:sp modelId="{E42C76A8-E4CE-44E0-B299-2D21399D0681}">
      <dsp:nvSpPr>
        <dsp:cNvPr id="0" name=""/>
        <dsp:cNvSpPr/>
      </dsp:nvSpPr>
      <dsp:spPr>
        <a:xfrm>
          <a:off x="4962718" y="1148815"/>
          <a:ext cx="541112" cy="43681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a:off x="4962718" y="1236179"/>
        <a:ext cx="410067" cy="262090"/>
      </dsp:txXfrm>
    </dsp:sp>
    <dsp:sp modelId="{60B1A73D-EF6E-4BC2-B4BD-AD438DC3270F}">
      <dsp:nvSpPr>
        <dsp:cNvPr id="0" name=""/>
        <dsp:cNvSpPr/>
      </dsp:nvSpPr>
      <dsp:spPr>
        <a:xfrm>
          <a:off x="5728443" y="1208824"/>
          <a:ext cx="1754494" cy="4752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GB" sz="1100" kern="1200"/>
            <a:t>Data Integration</a:t>
          </a:r>
        </a:p>
      </dsp:txBody>
      <dsp:txXfrm>
        <a:off x="5728443" y="1208824"/>
        <a:ext cx="1754494" cy="316800"/>
      </dsp:txXfrm>
    </dsp:sp>
    <dsp:sp modelId="{D0EB95F0-2A41-4B46-87B0-FCE46230748B}">
      <dsp:nvSpPr>
        <dsp:cNvPr id="0" name=""/>
        <dsp:cNvSpPr/>
      </dsp:nvSpPr>
      <dsp:spPr>
        <a:xfrm>
          <a:off x="5947175" y="1525624"/>
          <a:ext cx="2035740" cy="15444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57150" lvl="1" indent="-57150" algn="l" defTabSz="488950">
            <a:lnSpc>
              <a:spcPct val="90000"/>
            </a:lnSpc>
            <a:spcBef>
              <a:spcPct val="0"/>
            </a:spcBef>
            <a:spcAft>
              <a:spcPct val="15000"/>
            </a:spcAft>
            <a:buFont typeface="Arial" panose="020B0604020202020204" pitchFamily="34" charset="0"/>
            <a:buChar char="•"/>
          </a:pPr>
          <a:r>
            <a:rPr lang="en-GB" sz="1100" kern="1200"/>
            <a:t> Connect to Sources</a:t>
          </a:r>
        </a:p>
        <a:p>
          <a:pPr marL="57150" lvl="1" indent="-57150" algn="l" defTabSz="488950">
            <a:lnSpc>
              <a:spcPct val="90000"/>
            </a:lnSpc>
            <a:spcBef>
              <a:spcPct val="0"/>
            </a:spcBef>
            <a:spcAft>
              <a:spcPct val="15000"/>
            </a:spcAft>
            <a:buFont typeface="Arial" panose="020B0604020202020204" pitchFamily="34" charset="0"/>
            <a:buChar char="•"/>
          </a:pPr>
          <a:r>
            <a:rPr lang="en-GB" sz="1100" kern="1200"/>
            <a:t> Ingest Data</a:t>
          </a:r>
        </a:p>
        <a:p>
          <a:pPr marL="57150" lvl="1" indent="-57150" algn="l" defTabSz="488950">
            <a:lnSpc>
              <a:spcPct val="90000"/>
            </a:lnSpc>
            <a:spcBef>
              <a:spcPct val="0"/>
            </a:spcBef>
            <a:spcAft>
              <a:spcPct val="15000"/>
            </a:spcAft>
            <a:buFont typeface="Arial" panose="020B0604020202020204" pitchFamily="34" charset="0"/>
            <a:buChar char="•"/>
          </a:pPr>
          <a:r>
            <a:rPr lang="en-GB" sz="1100" kern="1200"/>
            <a:t> Model, Normalise, Resolve</a:t>
          </a:r>
        </a:p>
      </dsp:txBody>
      <dsp:txXfrm>
        <a:off x="5992409" y="1570858"/>
        <a:ext cx="1945272" cy="1453932"/>
      </dsp:txXfrm>
    </dsp:sp>
    <dsp:sp modelId="{5F4C3876-EF39-42B6-8ABD-C4136A6B0F41}">
      <dsp:nvSpPr>
        <dsp:cNvPr id="0" name=""/>
        <dsp:cNvSpPr/>
      </dsp:nvSpPr>
      <dsp:spPr>
        <a:xfrm>
          <a:off x="8037385" y="1185923"/>
          <a:ext cx="537045" cy="539942"/>
        </a:xfrm>
        <a:prstGeom prst="ellips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a:off x="8037385" y="1293911"/>
        <a:ext cx="375932" cy="323966"/>
      </dsp:txXfrm>
    </dsp:sp>
    <dsp:sp modelId="{47CEBCA0-799A-4C24-9188-A9ABB89A5FDD}">
      <dsp:nvSpPr>
        <dsp:cNvPr id="0" name=""/>
        <dsp:cNvSpPr/>
      </dsp:nvSpPr>
      <dsp:spPr>
        <a:xfrm>
          <a:off x="8687461" y="1208824"/>
          <a:ext cx="1840359" cy="4752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GB" sz="1100" kern="1200"/>
            <a:t>Product Configuration</a:t>
          </a:r>
        </a:p>
      </dsp:txBody>
      <dsp:txXfrm>
        <a:off x="8687461" y="1208824"/>
        <a:ext cx="1840359" cy="316800"/>
      </dsp:txXfrm>
    </dsp:sp>
    <dsp:sp modelId="{A5B78EDF-4223-47AA-926E-AE3665B419E1}">
      <dsp:nvSpPr>
        <dsp:cNvPr id="0" name=""/>
        <dsp:cNvSpPr/>
      </dsp:nvSpPr>
      <dsp:spPr>
        <a:xfrm>
          <a:off x="9089748" y="1525624"/>
          <a:ext cx="1754494" cy="15444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57150" lvl="1" indent="-57150" algn="l" defTabSz="488950">
            <a:lnSpc>
              <a:spcPct val="90000"/>
            </a:lnSpc>
            <a:spcBef>
              <a:spcPct val="0"/>
            </a:spcBef>
            <a:spcAft>
              <a:spcPct val="15000"/>
            </a:spcAft>
            <a:buChar char="•"/>
          </a:pPr>
          <a:r>
            <a:rPr lang="en-GB" sz="1100" kern="1200"/>
            <a:t>Configure Products</a:t>
          </a:r>
        </a:p>
        <a:p>
          <a:pPr marL="57150" lvl="1" indent="-57150" algn="l" defTabSz="488950">
            <a:lnSpc>
              <a:spcPct val="90000"/>
            </a:lnSpc>
            <a:spcBef>
              <a:spcPct val="0"/>
            </a:spcBef>
            <a:spcAft>
              <a:spcPct val="15000"/>
            </a:spcAft>
            <a:buChar char="•"/>
          </a:pPr>
          <a:r>
            <a:rPr lang="en-GB" sz="1100" kern="1200"/>
            <a:t>Tailor Analytics</a:t>
          </a:r>
        </a:p>
        <a:p>
          <a:pPr marL="57150" lvl="1" indent="-57150" algn="l" defTabSz="488950">
            <a:lnSpc>
              <a:spcPct val="90000"/>
            </a:lnSpc>
            <a:spcBef>
              <a:spcPct val="0"/>
            </a:spcBef>
            <a:spcAft>
              <a:spcPct val="15000"/>
            </a:spcAft>
            <a:buChar char="•"/>
          </a:pPr>
          <a:r>
            <a:rPr lang="en-GB" sz="1100" kern="1200"/>
            <a:t>Provide ongoing support</a:t>
          </a:r>
        </a:p>
      </dsp:txBody>
      <dsp:txXfrm>
        <a:off x="9134982" y="1570858"/>
        <a:ext cx="1664026" cy="1453932"/>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57CFE3D-F899-A8D3-66A1-51B9C48C4B1C}"/>
              </a:ext>
            </a:extLst>
          </p:cNvPr>
          <p:cNvSpPr>
            <a:spLocks noGrp="1"/>
          </p:cNvSpPr>
          <p:nvPr>
            <p:ph type="hdr" sz="quarter"/>
          </p:nvPr>
        </p:nvSpPr>
        <p:spPr>
          <a:xfrm>
            <a:off x="0" y="0"/>
            <a:ext cx="3043238" cy="4667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FD63832-E2C6-6A81-3473-D3F4AF9F4C38}"/>
              </a:ext>
            </a:extLst>
          </p:cNvPr>
          <p:cNvSpPr>
            <a:spLocks noGrp="1"/>
          </p:cNvSpPr>
          <p:nvPr>
            <p:ph type="dt" sz="quarter" idx="1"/>
          </p:nvPr>
        </p:nvSpPr>
        <p:spPr>
          <a:xfrm>
            <a:off x="3978275" y="0"/>
            <a:ext cx="3043238" cy="466725"/>
          </a:xfrm>
          <a:prstGeom prst="rect">
            <a:avLst/>
          </a:prstGeom>
        </p:spPr>
        <p:txBody>
          <a:bodyPr vert="horz" lIns="91440" tIns="45720" rIns="91440" bIns="45720" rtlCol="0"/>
          <a:lstStyle>
            <a:lvl1pPr algn="r">
              <a:defRPr sz="1200"/>
            </a:lvl1pPr>
          </a:lstStyle>
          <a:p>
            <a:fld id="{76253A28-5E73-49B8-880C-7A44C3F4CEF2}" type="datetimeFigureOut">
              <a:rPr lang="en-US" smtClean="0"/>
              <a:t>5/28/2026</a:t>
            </a:fld>
            <a:endParaRPr lang="en-US"/>
          </a:p>
        </p:txBody>
      </p:sp>
      <p:sp>
        <p:nvSpPr>
          <p:cNvPr id="4" name="Footer Placeholder 3">
            <a:extLst>
              <a:ext uri="{FF2B5EF4-FFF2-40B4-BE49-F238E27FC236}">
                <a16:creationId xmlns:a16="http://schemas.microsoft.com/office/drawing/2014/main" id="{EFB4EBD8-DF3D-6B7E-05E1-9B50BDE3DBFD}"/>
              </a:ext>
            </a:extLst>
          </p:cNvPr>
          <p:cNvSpPr>
            <a:spLocks noGrp="1"/>
          </p:cNvSpPr>
          <p:nvPr>
            <p:ph type="ftr" sz="quarter" idx="2"/>
          </p:nvPr>
        </p:nvSpPr>
        <p:spPr>
          <a:xfrm>
            <a:off x="0" y="8842375"/>
            <a:ext cx="3043238"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D6FBE67-A0E0-2317-9552-6AA5DBF92F2F}"/>
              </a:ext>
            </a:extLst>
          </p:cNvPr>
          <p:cNvSpPr>
            <a:spLocks noGrp="1"/>
          </p:cNvSpPr>
          <p:nvPr>
            <p:ph type="sldNum" sz="quarter" idx="3"/>
          </p:nvPr>
        </p:nvSpPr>
        <p:spPr>
          <a:xfrm>
            <a:off x="3978275" y="8842375"/>
            <a:ext cx="3043238" cy="466725"/>
          </a:xfrm>
          <a:prstGeom prst="rect">
            <a:avLst/>
          </a:prstGeom>
        </p:spPr>
        <p:txBody>
          <a:bodyPr vert="horz" lIns="91440" tIns="45720" rIns="91440" bIns="45720" rtlCol="0" anchor="b"/>
          <a:lstStyle>
            <a:lvl1pPr algn="r">
              <a:defRPr sz="1200"/>
            </a:lvl1pPr>
          </a:lstStyle>
          <a:p>
            <a:fld id="{08056A49-36A4-4060-ABDA-F5550A90BD81}" type="slidenum">
              <a:rPr lang="en-US" smtClean="0"/>
              <a:t>‹#›</a:t>
            </a:fld>
            <a:endParaRPr lang="en-US"/>
          </a:p>
        </p:txBody>
      </p:sp>
    </p:spTree>
    <p:extLst>
      <p:ext uri="{BB962C8B-B14F-4D97-AF65-F5344CB8AC3E}">
        <p14:creationId xmlns:p14="http://schemas.microsoft.com/office/powerpoint/2010/main" val="147763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rtl="0">
              <a:defRPr sz="1200">
                <a:latin typeface="Aptos" panose="020B0004020202020204" pitchFamily="34" charset="0"/>
                <a:sym typeface="Aptos" panose="020B0004020202020204" pitchFamily="34" charset="0"/>
              </a:defRPr>
            </a:lvl1pPr>
          </a:lstStyle>
          <a:p>
            <a:endParaRPr lang="en-US"/>
          </a:p>
        </p:txBody>
      </p:sp>
      <p:sp>
        <p:nvSpPr>
          <p:cNvPr id="3" name="Date Placeholder 2"/>
          <p:cNvSpPr>
            <a:spLocks noGrp="1"/>
          </p:cNvSpPr>
          <p:nvPr>
            <p:ph type="dt" idx="1"/>
          </p:nvPr>
        </p:nvSpPr>
        <p:spPr>
          <a:xfrm>
            <a:off x="3978132" y="0"/>
            <a:ext cx="3043343" cy="467072"/>
          </a:xfrm>
          <a:prstGeom prst="rect">
            <a:avLst/>
          </a:prstGeom>
        </p:spPr>
        <p:txBody>
          <a:bodyPr vert="horz" lIns="93324" tIns="46662" rIns="93324" bIns="46662" rtlCol="0"/>
          <a:lstStyle>
            <a:lvl1pPr algn="r" rtl="0">
              <a:defRPr sz="1200">
                <a:latin typeface="Aptos" panose="020B0004020202020204" pitchFamily="34" charset="0"/>
                <a:sym typeface="Aptos" panose="020B0004020202020204" pitchFamily="34" charset="0"/>
              </a:defRPr>
            </a:lvl1pPr>
          </a:lstStyle>
          <a:p>
            <a:fld id="{1E8D8A7F-10CD-4CAE-A9D8-EA653D8B6458}" type="datetimeFigureOut">
              <a:rPr lang="en-US" smtClean="0"/>
              <a:pPr/>
              <a:t>5/28/2026</a:t>
            </a:fld>
            <a:endParaRPr lang="en-US"/>
          </a:p>
        </p:txBody>
      </p:sp>
      <p:sp>
        <p:nvSpPr>
          <p:cNvPr id="4" name="Slide Image Placeholder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80004"/>
            <a:ext cx="5618480" cy="3665458"/>
          </a:xfrm>
          <a:prstGeom prst="rect">
            <a:avLst/>
          </a:prstGeom>
        </p:spPr>
        <p:txBody>
          <a:bodyPr vert="horz" lIns="93324" tIns="46662" rIns="93324" bIns="46662"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3" cy="467071"/>
          </a:xfrm>
          <a:prstGeom prst="rect">
            <a:avLst/>
          </a:prstGeom>
        </p:spPr>
        <p:txBody>
          <a:bodyPr vert="horz" lIns="93324" tIns="46662" rIns="93324" bIns="46662" rtlCol="0" anchor="b"/>
          <a:lstStyle>
            <a:lvl1pPr algn="l" rtl="0">
              <a:defRPr sz="1200">
                <a:latin typeface="Aptos" panose="020B0004020202020204" pitchFamily="34" charset="0"/>
                <a:sym typeface="Aptos" panose="020B0004020202020204" pitchFamily="34" charset="0"/>
              </a:defRPr>
            </a:lvl1pPr>
          </a:lstStyle>
          <a:p>
            <a:endParaRPr lang="en-US"/>
          </a:p>
        </p:txBody>
      </p:sp>
      <p:sp>
        <p:nvSpPr>
          <p:cNvPr id="7" name="Slide Number Placeholder 6"/>
          <p:cNvSpPr>
            <a:spLocks noGrp="1"/>
          </p:cNvSpPr>
          <p:nvPr>
            <p:ph type="sldNum" sz="quarter" idx="5"/>
          </p:nvPr>
        </p:nvSpPr>
        <p:spPr>
          <a:xfrm>
            <a:off x="3978132" y="8842030"/>
            <a:ext cx="3043343" cy="467071"/>
          </a:xfrm>
          <a:prstGeom prst="rect">
            <a:avLst/>
          </a:prstGeom>
        </p:spPr>
        <p:txBody>
          <a:bodyPr vert="horz" lIns="93324" tIns="46662" rIns="93324" bIns="46662" rtlCol="0" anchor="b"/>
          <a:lstStyle>
            <a:lvl1pPr algn="r" rtl="0">
              <a:defRPr sz="1200">
                <a:latin typeface="Aptos" panose="020B0004020202020204" pitchFamily="34" charset="0"/>
                <a:sym typeface="Aptos" panose="020B0004020202020204" pitchFamily="34" charset="0"/>
              </a:defRPr>
            </a:lvl1pPr>
          </a:lstStyle>
          <a:p>
            <a:fld id="{83DC61A3-6C05-4367-9D15-721468CBF72D}" type="slidenum">
              <a:rPr lang="en-US" smtClean="0"/>
              <a:pPr/>
              <a:t>‹#›</a:t>
            </a:fld>
            <a:endParaRPr lang="en-US"/>
          </a:p>
        </p:txBody>
      </p:sp>
    </p:spTree>
    <p:extLst>
      <p:ext uri="{BB962C8B-B14F-4D97-AF65-F5344CB8AC3E}">
        <p14:creationId xmlns:p14="http://schemas.microsoft.com/office/powerpoint/2010/main" val="2050267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ptos" panose="020B0004020202020204" pitchFamily="34" charset="0"/>
        <a:ea typeface="+mn-ea"/>
        <a:cs typeface="+mn-cs"/>
        <a:sym typeface="Aptos" panose="020B0004020202020204" pitchFamily="34" charset="0"/>
      </a:defRPr>
    </a:lvl1pPr>
    <a:lvl2pPr marL="457200" algn="l" defTabSz="914400" rtl="0" eaLnBrk="1" latinLnBrk="0" hangingPunct="1">
      <a:defRPr sz="1200" kern="1200">
        <a:solidFill>
          <a:schemeClr val="tx1"/>
        </a:solidFill>
        <a:latin typeface="Aptos" panose="020B0004020202020204" pitchFamily="34" charset="0"/>
        <a:ea typeface="+mn-ea"/>
        <a:cs typeface="+mn-cs"/>
        <a:sym typeface="Aptos" panose="020B0004020202020204" pitchFamily="34" charset="0"/>
      </a:defRPr>
    </a:lvl2pPr>
    <a:lvl3pPr marL="914400" algn="l" defTabSz="914400" rtl="0" eaLnBrk="1" latinLnBrk="0" hangingPunct="1">
      <a:defRPr sz="1200" kern="1200">
        <a:solidFill>
          <a:schemeClr val="tx1"/>
        </a:solidFill>
        <a:latin typeface="Aptos" panose="020B0004020202020204" pitchFamily="34" charset="0"/>
        <a:ea typeface="+mn-ea"/>
        <a:cs typeface="+mn-cs"/>
        <a:sym typeface="Aptos" panose="020B0004020202020204" pitchFamily="34" charset="0"/>
      </a:defRPr>
    </a:lvl3pPr>
    <a:lvl4pPr marL="1371600" algn="l" defTabSz="914400" rtl="0" eaLnBrk="1" latinLnBrk="0" hangingPunct="1">
      <a:defRPr sz="1200" kern="1200">
        <a:solidFill>
          <a:schemeClr val="tx1"/>
        </a:solidFill>
        <a:latin typeface="Aptos" panose="020B0004020202020204" pitchFamily="34" charset="0"/>
        <a:ea typeface="+mn-ea"/>
        <a:cs typeface="+mn-cs"/>
        <a:sym typeface="Aptos" panose="020B0004020202020204" pitchFamily="34" charset="0"/>
      </a:defRPr>
    </a:lvl4pPr>
    <a:lvl5pPr marL="1828800" algn="l" defTabSz="914400" rtl="0" eaLnBrk="1" latinLnBrk="0" hangingPunct="1">
      <a:defRPr sz="1200" kern="1200">
        <a:solidFill>
          <a:schemeClr val="tx1"/>
        </a:solidFill>
        <a:latin typeface="Aptos" panose="020B0004020202020204" pitchFamily="34" charset="0"/>
        <a:ea typeface="+mn-ea"/>
        <a:cs typeface="+mn-cs"/>
        <a:sym typeface="Aptos" panose="020B00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32" userDrawn="1">
          <p15:clr>
            <a:srgbClr val="F26B43"/>
          </p15:clr>
        </p15:guide>
        <p15:guide id="2" pos="2212"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91830-BE23-E5F9-D23A-8A62D408EB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78FC68-79B1-47FE-066C-352B1292F1B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4D31562-C497-9066-6DC9-7388DA6BBA2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682F6E1-9347-4F4F-698F-EBAB37FD2675}"/>
              </a:ext>
            </a:extLst>
          </p:cNvPr>
          <p:cNvSpPr>
            <a:spLocks noGrp="1"/>
          </p:cNvSpPr>
          <p:nvPr>
            <p:ph type="sldNum" sz="quarter" idx="5"/>
          </p:nvPr>
        </p:nvSpPr>
        <p:spPr/>
        <p:txBody>
          <a:bodyPr/>
          <a:lstStyle/>
          <a:p>
            <a:fld id="{83DC61A3-6C05-4367-9D15-721468CBF72D}" type="slidenum">
              <a:rPr lang="en-US" smtClean="0"/>
              <a:pPr/>
              <a:t>0</a:t>
            </a:fld>
            <a:endParaRPr lang="en-US"/>
          </a:p>
        </p:txBody>
      </p:sp>
    </p:spTree>
    <p:extLst>
      <p:ext uri="{BB962C8B-B14F-4D97-AF65-F5344CB8AC3E}">
        <p14:creationId xmlns:p14="http://schemas.microsoft.com/office/powerpoint/2010/main" val="1723364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EC79F-50ED-4275-49D7-A0623C0F98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5A71D-3669-1648-83A3-EDF85F6A71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995B59-FD05-B8B9-AA4E-A4C05C5E1E5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7461F0-A175-C399-0DB3-BD79F0DC320D}"/>
              </a:ext>
            </a:extLst>
          </p:cNvPr>
          <p:cNvSpPr>
            <a:spLocks noGrp="1"/>
          </p:cNvSpPr>
          <p:nvPr>
            <p:ph type="sldNum" sz="quarter" idx="5"/>
          </p:nvPr>
        </p:nvSpPr>
        <p:spPr/>
        <p:txBody>
          <a:bodyPr/>
          <a:lstStyle/>
          <a:p>
            <a:fld id="{83DC61A3-6C05-4367-9D15-721468CBF72D}" type="slidenum">
              <a:rPr lang="en-US" smtClean="0"/>
              <a:pPr/>
              <a:t>1</a:t>
            </a:fld>
            <a:endParaRPr lang="en-US"/>
          </a:p>
        </p:txBody>
      </p:sp>
    </p:spTree>
    <p:extLst>
      <p:ext uri="{BB962C8B-B14F-4D97-AF65-F5344CB8AC3E}">
        <p14:creationId xmlns:p14="http://schemas.microsoft.com/office/powerpoint/2010/main" val="2604954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D6B3C-35C3-7508-C3E1-2A91F309A3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81A45B-CF82-DF29-68A6-DB2F03FF3B7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29221EE-72D7-3286-F8B7-89F9EB14D5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000B90-6991-1CD6-6B65-025D717AC911}"/>
              </a:ext>
            </a:extLst>
          </p:cNvPr>
          <p:cNvSpPr>
            <a:spLocks noGrp="1"/>
          </p:cNvSpPr>
          <p:nvPr>
            <p:ph type="sldNum" sz="quarter" idx="5"/>
          </p:nvPr>
        </p:nvSpPr>
        <p:spPr/>
        <p:txBody>
          <a:bodyPr/>
          <a:lstStyle/>
          <a:p>
            <a:fld id="{83DC61A3-6C05-4367-9D15-721468CBF72D}" type="slidenum">
              <a:rPr lang="en-US" smtClean="0"/>
              <a:pPr/>
              <a:t>2</a:t>
            </a:fld>
            <a:endParaRPr lang="en-US"/>
          </a:p>
        </p:txBody>
      </p:sp>
    </p:spTree>
    <p:extLst>
      <p:ext uri="{BB962C8B-B14F-4D97-AF65-F5344CB8AC3E}">
        <p14:creationId xmlns:p14="http://schemas.microsoft.com/office/powerpoint/2010/main" val="32298639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8CF02-FB9E-4357-9BFA-DD593657FD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B866A-900D-1DC9-DF39-F87F32FB8D6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D2C2155-7113-DE71-E40A-7031FC7B53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065A49-AE74-5CEF-1AC8-996A0631F2D1}"/>
              </a:ext>
            </a:extLst>
          </p:cNvPr>
          <p:cNvSpPr>
            <a:spLocks noGrp="1"/>
          </p:cNvSpPr>
          <p:nvPr>
            <p:ph type="sldNum" sz="quarter" idx="5"/>
          </p:nvPr>
        </p:nvSpPr>
        <p:spPr/>
        <p:txBody>
          <a:bodyPr/>
          <a:lstStyle/>
          <a:p>
            <a:fld id="{83DC61A3-6C05-4367-9D15-721468CBF72D}" type="slidenum">
              <a:rPr lang="en-US" smtClean="0"/>
              <a:pPr/>
              <a:t>3</a:t>
            </a:fld>
            <a:endParaRPr lang="en-US"/>
          </a:p>
        </p:txBody>
      </p:sp>
    </p:spTree>
    <p:extLst>
      <p:ext uri="{BB962C8B-B14F-4D97-AF65-F5344CB8AC3E}">
        <p14:creationId xmlns:p14="http://schemas.microsoft.com/office/powerpoint/2010/main" val="1853749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0B082-46AC-A020-96D1-2BECB6473E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FA7E5-A69B-B044-9FAE-C3FF69431C7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76A761B-300C-3803-7F1D-2FE39E83D8F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074ECB6-AEBC-E13E-D0CF-D894BFB48E77}"/>
              </a:ext>
            </a:extLst>
          </p:cNvPr>
          <p:cNvSpPr>
            <a:spLocks noGrp="1"/>
          </p:cNvSpPr>
          <p:nvPr>
            <p:ph type="sldNum" sz="quarter" idx="5"/>
          </p:nvPr>
        </p:nvSpPr>
        <p:spPr/>
        <p:txBody>
          <a:bodyPr/>
          <a:lstStyle/>
          <a:p>
            <a:fld id="{83DC61A3-6C05-4367-9D15-721468CBF72D}" type="slidenum">
              <a:rPr lang="en-US" smtClean="0"/>
              <a:pPr/>
              <a:t>4</a:t>
            </a:fld>
            <a:endParaRPr lang="en-US"/>
          </a:p>
        </p:txBody>
      </p:sp>
    </p:spTree>
    <p:extLst>
      <p:ext uri="{BB962C8B-B14F-4D97-AF65-F5344CB8AC3E}">
        <p14:creationId xmlns:p14="http://schemas.microsoft.com/office/powerpoint/2010/main" val="1114161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0E414-B3BC-0A72-4A38-1ED587A807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93C62C-9378-9F3A-5D18-FC92A43ACB6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5FC4A8C-18DB-A29C-9721-F7BD9F48A0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6D63CD4-F000-DB3A-AADA-11696BDFA57A}"/>
              </a:ext>
            </a:extLst>
          </p:cNvPr>
          <p:cNvSpPr>
            <a:spLocks noGrp="1"/>
          </p:cNvSpPr>
          <p:nvPr>
            <p:ph type="sldNum" sz="quarter" idx="5"/>
          </p:nvPr>
        </p:nvSpPr>
        <p:spPr/>
        <p:txBody>
          <a:bodyPr/>
          <a:lstStyle/>
          <a:p>
            <a:fld id="{83DC61A3-6C05-4367-9D15-721468CBF72D}" type="slidenum">
              <a:rPr lang="en-US" smtClean="0"/>
              <a:pPr/>
              <a:t>5</a:t>
            </a:fld>
            <a:endParaRPr lang="en-US"/>
          </a:p>
        </p:txBody>
      </p:sp>
    </p:spTree>
    <p:extLst>
      <p:ext uri="{BB962C8B-B14F-4D97-AF65-F5344CB8AC3E}">
        <p14:creationId xmlns:p14="http://schemas.microsoft.com/office/powerpoint/2010/main" val="21659726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4E67E-B28F-C8E0-2E99-0D073CA56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34F24F-D5E4-F6DB-6679-A75AEE4093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B3C144-7DB9-CC08-9E31-7E542D3D3EFE}"/>
              </a:ext>
            </a:extLst>
          </p:cNvPr>
          <p:cNvSpPr>
            <a:spLocks noGrp="1"/>
          </p:cNvSpPr>
          <p:nvPr>
            <p:ph type="body" idx="1"/>
          </p:nvPr>
        </p:nvSpPr>
        <p:spPr/>
        <p:txBody>
          <a:bodyPr/>
          <a:lstStyle/>
          <a:p>
            <a:pPr marL="0" marR="0"/>
            <a:endParaRPr lang="en-GB" dirty="0"/>
          </a:p>
        </p:txBody>
      </p:sp>
      <p:sp>
        <p:nvSpPr>
          <p:cNvPr id="4" name="Slide Number Placeholder 3">
            <a:extLst>
              <a:ext uri="{FF2B5EF4-FFF2-40B4-BE49-F238E27FC236}">
                <a16:creationId xmlns:a16="http://schemas.microsoft.com/office/drawing/2014/main" id="{B932B8F3-CBFB-2F38-3CB7-2F22584742AF}"/>
              </a:ext>
            </a:extLst>
          </p:cNvPr>
          <p:cNvSpPr>
            <a:spLocks noGrp="1"/>
          </p:cNvSpPr>
          <p:nvPr>
            <p:ph type="sldNum" sz="quarter" idx="5"/>
          </p:nvPr>
        </p:nvSpPr>
        <p:spPr/>
        <p:txBody>
          <a:bodyPr/>
          <a:lstStyle/>
          <a:p>
            <a:fld id="{07C5990A-7B7D-46EB-A28B-A252356296D4}" type="slidenum">
              <a:rPr lang="en-GB" smtClean="0"/>
              <a:t>6</a:t>
            </a:fld>
            <a:endParaRPr lang="en-GB"/>
          </a:p>
        </p:txBody>
      </p:sp>
    </p:spTree>
    <p:extLst>
      <p:ext uri="{BB962C8B-B14F-4D97-AF65-F5344CB8AC3E}">
        <p14:creationId xmlns:p14="http://schemas.microsoft.com/office/powerpoint/2010/main" val="23760443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0ADD0-F316-E4DF-767C-F6AE240548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6163FF-76DD-B647-E00A-CD62CF56777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E5CAAD2-4A93-61E6-A0FE-AECFCBC30C2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A638B8-C009-8238-E5B2-B30099ACA133}"/>
              </a:ext>
            </a:extLst>
          </p:cNvPr>
          <p:cNvSpPr>
            <a:spLocks noGrp="1"/>
          </p:cNvSpPr>
          <p:nvPr>
            <p:ph type="sldNum" sz="quarter" idx="5"/>
          </p:nvPr>
        </p:nvSpPr>
        <p:spPr/>
        <p:txBody>
          <a:bodyPr/>
          <a:lstStyle/>
          <a:p>
            <a:fld id="{83DC61A3-6C05-4367-9D15-721468CBF72D}" type="slidenum">
              <a:rPr lang="en-US" smtClean="0"/>
              <a:pPr/>
              <a:t>7</a:t>
            </a:fld>
            <a:endParaRPr lang="en-US"/>
          </a:p>
        </p:txBody>
      </p:sp>
    </p:spTree>
    <p:extLst>
      <p:ext uri="{BB962C8B-B14F-4D97-AF65-F5344CB8AC3E}">
        <p14:creationId xmlns:p14="http://schemas.microsoft.com/office/powerpoint/2010/main" val="10589404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55B87-D64A-DF6D-3EEF-A357BDA14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FFF297-8159-E8C8-0290-412001ABF37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50868EE-FF2F-ECB3-93D7-535885BA49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FAF8610-1924-379C-57AF-0F78CF574E7C}"/>
              </a:ext>
            </a:extLst>
          </p:cNvPr>
          <p:cNvSpPr>
            <a:spLocks noGrp="1"/>
          </p:cNvSpPr>
          <p:nvPr>
            <p:ph type="sldNum" sz="quarter" idx="5"/>
          </p:nvPr>
        </p:nvSpPr>
        <p:spPr/>
        <p:txBody>
          <a:bodyPr/>
          <a:lstStyle/>
          <a:p>
            <a:fld id="{83DC61A3-6C05-4367-9D15-721468CBF72D}" type="slidenum">
              <a:rPr lang="en-US" smtClean="0"/>
              <a:pPr/>
              <a:t>8</a:t>
            </a:fld>
            <a:endParaRPr lang="en-US"/>
          </a:p>
        </p:txBody>
      </p:sp>
    </p:spTree>
    <p:extLst>
      <p:ext uri="{BB962C8B-B14F-4D97-AF65-F5344CB8AC3E}">
        <p14:creationId xmlns:p14="http://schemas.microsoft.com/office/powerpoint/2010/main" val="40435134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E62C6-1390-FB22-701F-6F8934DEEE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117020-57DA-836A-0C10-FABC14513E5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7F6ECED-5EF2-04DF-7DAA-21DF9031D76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8A41969-D60C-FCC4-BE42-69608E5337DB}"/>
              </a:ext>
            </a:extLst>
          </p:cNvPr>
          <p:cNvSpPr>
            <a:spLocks noGrp="1"/>
          </p:cNvSpPr>
          <p:nvPr>
            <p:ph type="sldNum" sz="quarter" idx="5"/>
          </p:nvPr>
        </p:nvSpPr>
        <p:spPr/>
        <p:txBody>
          <a:bodyPr/>
          <a:lstStyle/>
          <a:p>
            <a:fld id="{83DC61A3-6C05-4367-9D15-721468CBF72D}" type="slidenum">
              <a:rPr lang="en-US" smtClean="0"/>
              <a:pPr/>
              <a:t>9</a:t>
            </a:fld>
            <a:endParaRPr lang="en-US"/>
          </a:p>
        </p:txBody>
      </p:sp>
    </p:spTree>
    <p:extLst>
      <p:ext uri="{BB962C8B-B14F-4D97-AF65-F5344CB8AC3E}">
        <p14:creationId xmlns:p14="http://schemas.microsoft.com/office/powerpoint/2010/main" val="34319580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BE5F8-E478-963F-45AB-7BCE56AEE7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1021C0-8678-CDCD-52D3-60C36A9AFF7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D6FFB69-19AF-6A88-7D3B-0E277532CEF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2901678-D444-0E0B-BB1D-889098D334C2}"/>
              </a:ext>
            </a:extLst>
          </p:cNvPr>
          <p:cNvSpPr>
            <a:spLocks noGrp="1"/>
          </p:cNvSpPr>
          <p:nvPr>
            <p:ph type="sldNum" sz="quarter" idx="5"/>
          </p:nvPr>
        </p:nvSpPr>
        <p:spPr/>
        <p:txBody>
          <a:bodyPr/>
          <a:lstStyle/>
          <a:p>
            <a:fld id="{83DC61A3-6C05-4367-9D15-721468CBF72D}" type="slidenum">
              <a:rPr lang="en-US" smtClean="0"/>
              <a:pPr/>
              <a:t>10</a:t>
            </a:fld>
            <a:endParaRPr lang="en-US"/>
          </a:p>
        </p:txBody>
      </p:sp>
    </p:spTree>
    <p:extLst>
      <p:ext uri="{BB962C8B-B14F-4D97-AF65-F5344CB8AC3E}">
        <p14:creationId xmlns:p14="http://schemas.microsoft.com/office/powerpoint/2010/main" val="15057644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3DC61A3-6C05-4367-9D15-721468CBF72D}" type="slidenum">
              <a:rPr lang="en-US" smtClean="0"/>
              <a:pPr/>
              <a:t>12</a:t>
            </a:fld>
            <a:endParaRPr lang="en-US"/>
          </a:p>
        </p:txBody>
      </p:sp>
    </p:spTree>
    <p:extLst>
      <p:ext uri="{BB962C8B-B14F-4D97-AF65-F5344CB8AC3E}">
        <p14:creationId xmlns:p14="http://schemas.microsoft.com/office/powerpoint/2010/main" val="4959184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A482C-451F-F2B1-0E54-5957531994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D1872D-725A-B43D-455B-B580DF97B2E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AA3F4B4-F680-BC94-3E5F-EF2D8279DB4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4125B9B-3417-E4AF-8EA9-CEE41331D7C6}"/>
              </a:ext>
            </a:extLst>
          </p:cNvPr>
          <p:cNvSpPr>
            <a:spLocks noGrp="1"/>
          </p:cNvSpPr>
          <p:nvPr>
            <p:ph type="sldNum" sz="quarter" idx="5"/>
          </p:nvPr>
        </p:nvSpPr>
        <p:spPr/>
        <p:txBody>
          <a:bodyPr/>
          <a:lstStyle/>
          <a:p>
            <a:fld id="{83DC61A3-6C05-4367-9D15-721468CBF72D}" type="slidenum">
              <a:rPr lang="en-US" smtClean="0"/>
              <a:pPr/>
              <a:t>13</a:t>
            </a:fld>
            <a:endParaRPr lang="en-US"/>
          </a:p>
        </p:txBody>
      </p:sp>
    </p:spTree>
    <p:extLst>
      <p:ext uri="{BB962C8B-B14F-4D97-AF65-F5344CB8AC3E}">
        <p14:creationId xmlns:p14="http://schemas.microsoft.com/office/powerpoint/2010/main" val="26878548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D9D10-1639-7A02-A6DF-94F2E5D416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8FD7A-3A2C-7FBA-F3ED-72693290862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3B27D23-81DF-47EA-9673-BB479869263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3FC2961-2F06-A270-1D40-0639AC0F1B98}"/>
              </a:ext>
            </a:extLst>
          </p:cNvPr>
          <p:cNvSpPr>
            <a:spLocks noGrp="1"/>
          </p:cNvSpPr>
          <p:nvPr>
            <p:ph type="sldNum" sz="quarter" idx="5"/>
          </p:nvPr>
        </p:nvSpPr>
        <p:spPr/>
        <p:txBody>
          <a:bodyPr/>
          <a:lstStyle/>
          <a:p>
            <a:fld id="{83DC61A3-6C05-4367-9D15-721468CBF72D}" type="slidenum">
              <a:rPr lang="en-US" smtClean="0"/>
              <a:pPr/>
              <a:t>14</a:t>
            </a:fld>
            <a:endParaRPr lang="en-US"/>
          </a:p>
        </p:txBody>
      </p:sp>
    </p:spTree>
    <p:extLst>
      <p:ext uri="{BB962C8B-B14F-4D97-AF65-F5344CB8AC3E}">
        <p14:creationId xmlns:p14="http://schemas.microsoft.com/office/powerpoint/2010/main" val="13768339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BA95B-7C8E-6EA7-C6E8-CFD10E9E0C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83778D-7724-7D37-F1BA-CBB1FF8C393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10B54B0-EFC2-9556-70D1-22436F78125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71CE773-7F61-D736-503A-BADD0EF67999}"/>
              </a:ext>
            </a:extLst>
          </p:cNvPr>
          <p:cNvSpPr>
            <a:spLocks noGrp="1"/>
          </p:cNvSpPr>
          <p:nvPr>
            <p:ph type="sldNum" sz="quarter" idx="5"/>
          </p:nvPr>
        </p:nvSpPr>
        <p:spPr/>
        <p:txBody>
          <a:bodyPr/>
          <a:lstStyle/>
          <a:p>
            <a:fld id="{83DC61A3-6C05-4367-9D15-721468CBF72D}" type="slidenum">
              <a:rPr lang="en-US" smtClean="0"/>
              <a:pPr/>
              <a:t>17</a:t>
            </a:fld>
            <a:endParaRPr lang="en-US"/>
          </a:p>
        </p:txBody>
      </p:sp>
    </p:spTree>
    <p:extLst>
      <p:ext uri="{BB962C8B-B14F-4D97-AF65-F5344CB8AC3E}">
        <p14:creationId xmlns:p14="http://schemas.microsoft.com/office/powerpoint/2010/main" val="17514199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BCC71-4691-4758-1F21-D5EE903324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6DD876-5FA4-063B-F0BC-3FBE4B3A8B3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78B0D72-6F28-19DE-7597-7E7FE560481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FF06EE7-2CF7-56F4-D696-86E8B487E1C7}"/>
              </a:ext>
            </a:extLst>
          </p:cNvPr>
          <p:cNvSpPr>
            <a:spLocks noGrp="1"/>
          </p:cNvSpPr>
          <p:nvPr>
            <p:ph type="sldNum" sz="quarter" idx="5"/>
          </p:nvPr>
        </p:nvSpPr>
        <p:spPr/>
        <p:txBody>
          <a:bodyPr/>
          <a:lstStyle/>
          <a:p>
            <a:fld id="{83DC61A3-6C05-4367-9D15-721468CBF72D}" type="slidenum">
              <a:rPr lang="en-US" smtClean="0"/>
              <a:pPr/>
              <a:t>18</a:t>
            </a:fld>
            <a:endParaRPr lang="en-US"/>
          </a:p>
        </p:txBody>
      </p:sp>
    </p:spTree>
    <p:extLst>
      <p:ext uri="{BB962C8B-B14F-4D97-AF65-F5344CB8AC3E}">
        <p14:creationId xmlns:p14="http://schemas.microsoft.com/office/powerpoint/2010/main" val="9838134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C5307-7E03-BE19-CAC9-9614829BB3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0F11A3-4EF6-3695-29CC-4B85D76B2E9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43F19C5-48B0-1EB1-EA65-53DC7E37F07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B379498-C611-8C5F-E014-63472F1AB722}"/>
              </a:ext>
            </a:extLst>
          </p:cNvPr>
          <p:cNvSpPr>
            <a:spLocks noGrp="1"/>
          </p:cNvSpPr>
          <p:nvPr>
            <p:ph type="sldNum" sz="quarter" idx="5"/>
          </p:nvPr>
        </p:nvSpPr>
        <p:spPr/>
        <p:txBody>
          <a:bodyPr/>
          <a:lstStyle/>
          <a:p>
            <a:fld id="{83DC61A3-6C05-4367-9D15-721468CBF72D}" type="slidenum">
              <a:rPr lang="en-US" smtClean="0"/>
              <a:pPr/>
              <a:t>19</a:t>
            </a:fld>
            <a:endParaRPr lang="en-US"/>
          </a:p>
        </p:txBody>
      </p:sp>
    </p:spTree>
    <p:extLst>
      <p:ext uri="{BB962C8B-B14F-4D97-AF65-F5344CB8AC3E}">
        <p14:creationId xmlns:p14="http://schemas.microsoft.com/office/powerpoint/2010/main" val="37686781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7F7B2-40D5-FAD0-950F-FB9DBEE264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AA59B9-2B69-4DCB-A9A2-BEB07C224A9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B60EFB2-94B8-A9DD-613D-C52C10C621B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1D5F52B-3B9A-1ACF-DFB9-74761F63B964}"/>
              </a:ext>
            </a:extLst>
          </p:cNvPr>
          <p:cNvSpPr>
            <a:spLocks noGrp="1"/>
          </p:cNvSpPr>
          <p:nvPr>
            <p:ph type="sldNum" sz="quarter" idx="5"/>
          </p:nvPr>
        </p:nvSpPr>
        <p:spPr/>
        <p:txBody>
          <a:bodyPr/>
          <a:lstStyle/>
          <a:p>
            <a:fld id="{83DC61A3-6C05-4367-9D15-721468CBF72D}" type="slidenum">
              <a:rPr lang="en-US" smtClean="0"/>
              <a:pPr/>
              <a:t>20</a:t>
            </a:fld>
            <a:endParaRPr lang="en-US"/>
          </a:p>
        </p:txBody>
      </p:sp>
    </p:spTree>
    <p:extLst>
      <p:ext uri="{BB962C8B-B14F-4D97-AF65-F5344CB8AC3E}">
        <p14:creationId xmlns:p14="http://schemas.microsoft.com/office/powerpoint/2010/main" val="13050574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460A1-7F28-5A0D-0958-B0E50F01A5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D956A1-6542-8E48-B24A-E0A127DB051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CE8C634-3A2E-745A-CA6C-F8CE8A19854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D961FAC-BAE7-44CD-4F3C-BCC99419300B}"/>
              </a:ext>
            </a:extLst>
          </p:cNvPr>
          <p:cNvSpPr>
            <a:spLocks noGrp="1"/>
          </p:cNvSpPr>
          <p:nvPr>
            <p:ph type="sldNum" sz="quarter" idx="5"/>
          </p:nvPr>
        </p:nvSpPr>
        <p:spPr/>
        <p:txBody>
          <a:bodyPr/>
          <a:lstStyle/>
          <a:p>
            <a:fld id="{83DC61A3-6C05-4367-9D15-721468CBF72D}" type="slidenum">
              <a:rPr lang="en-US" smtClean="0"/>
              <a:pPr/>
              <a:t>21</a:t>
            </a:fld>
            <a:endParaRPr lang="en-US"/>
          </a:p>
        </p:txBody>
      </p:sp>
    </p:spTree>
    <p:extLst>
      <p:ext uri="{BB962C8B-B14F-4D97-AF65-F5344CB8AC3E}">
        <p14:creationId xmlns:p14="http://schemas.microsoft.com/office/powerpoint/2010/main" val="18723830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C11C7-65FC-20BB-F9B7-BAFF478CC1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345DE5-F28B-3444-1151-E1BC6AFC97C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19ECCB2-A0EF-AD53-B548-3CBDB4ABB72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FF64E44-7744-4038-4284-E5DB7F640D76}"/>
              </a:ext>
            </a:extLst>
          </p:cNvPr>
          <p:cNvSpPr>
            <a:spLocks noGrp="1"/>
          </p:cNvSpPr>
          <p:nvPr>
            <p:ph type="sldNum" sz="quarter" idx="5"/>
          </p:nvPr>
        </p:nvSpPr>
        <p:spPr/>
        <p:txBody>
          <a:bodyPr/>
          <a:lstStyle/>
          <a:p>
            <a:fld id="{83DC61A3-6C05-4367-9D15-721468CBF72D}" type="slidenum">
              <a:rPr lang="en-US" smtClean="0"/>
              <a:pPr/>
              <a:t>22</a:t>
            </a:fld>
            <a:endParaRPr lang="en-US"/>
          </a:p>
        </p:txBody>
      </p:sp>
    </p:spTree>
    <p:extLst>
      <p:ext uri="{BB962C8B-B14F-4D97-AF65-F5344CB8AC3E}">
        <p14:creationId xmlns:p14="http://schemas.microsoft.com/office/powerpoint/2010/main" val="22605910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859F3-7B6B-000C-A0D9-BC98889B61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FBE9DB-E475-C640-FD91-124AA92A142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AD4DA76-5E31-0E42-62FA-119D42D1ACF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2485F4-2C92-460E-BAEE-4FDA2C179A9C}"/>
              </a:ext>
            </a:extLst>
          </p:cNvPr>
          <p:cNvSpPr>
            <a:spLocks noGrp="1"/>
          </p:cNvSpPr>
          <p:nvPr>
            <p:ph type="sldNum" sz="quarter" idx="5"/>
          </p:nvPr>
        </p:nvSpPr>
        <p:spPr/>
        <p:txBody>
          <a:bodyPr/>
          <a:lstStyle/>
          <a:p>
            <a:fld id="{83DC61A3-6C05-4367-9D15-721468CBF72D}" type="slidenum">
              <a:rPr lang="en-US" smtClean="0"/>
              <a:pPr/>
              <a:t>23</a:t>
            </a:fld>
            <a:endParaRPr lang="en-US"/>
          </a:p>
        </p:txBody>
      </p:sp>
    </p:spTree>
    <p:extLst>
      <p:ext uri="{BB962C8B-B14F-4D97-AF65-F5344CB8AC3E}">
        <p14:creationId xmlns:p14="http://schemas.microsoft.com/office/powerpoint/2010/main" val="39469787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56FAC-3CDA-0B12-2596-C813A2CB2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91C8C5-8B1F-8A31-176C-B7DF2DF8523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A5F0605-8B33-6CF3-265F-F39EC6CBB03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2428BDE-26F2-12CC-3206-92E4B02534AA}"/>
              </a:ext>
            </a:extLst>
          </p:cNvPr>
          <p:cNvSpPr>
            <a:spLocks noGrp="1"/>
          </p:cNvSpPr>
          <p:nvPr>
            <p:ph type="sldNum" sz="quarter" idx="5"/>
          </p:nvPr>
        </p:nvSpPr>
        <p:spPr/>
        <p:txBody>
          <a:bodyPr/>
          <a:lstStyle/>
          <a:p>
            <a:fld id="{83DC61A3-6C05-4367-9D15-721468CBF72D}" type="slidenum">
              <a:rPr lang="en-US" smtClean="0"/>
              <a:pPr/>
              <a:t>24</a:t>
            </a:fld>
            <a:endParaRPr lang="en-US"/>
          </a:p>
        </p:txBody>
      </p:sp>
    </p:spTree>
    <p:extLst>
      <p:ext uri="{BB962C8B-B14F-4D97-AF65-F5344CB8AC3E}">
        <p14:creationId xmlns:p14="http://schemas.microsoft.com/office/powerpoint/2010/main" val="1274685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524E1-9018-A40A-21A5-4F147A4EC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3A22DE-8A93-2E40-B90A-2DB39CDD208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9C623C4-3880-9C2C-E078-903964227BF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CEBE1E9-3D61-0CC4-D31C-951C9F584CD4}"/>
              </a:ext>
            </a:extLst>
          </p:cNvPr>
          <p:cNvSpPr>
            <a:spLocks noGrp="1"/>
          </p:cNvSpPr>
          <p:nvPr>
            <p:ph type="sldNum" sz="quarter" idx="5"/>
          </p:nvPr>
        </p:nvSpPr>
        <p:spPr/>
        <p:txBody>
          <a:bodyPr/>
          <a:lstStyle/>
          <a:p>
            <a:fld id="{83DC61A3-6C05-4367-9D15-721468CBF72D}" type="slidenum">
              <a:rPr lang="en-US" smtClean="0"/>
              <a:pPr/>
              <a:t>25</a:t>
            </a:fld>
            <a:endParaRPr lang="en-US"/>
          </a:p>
        </p:txBody>
      </p:sp>
    </p:spTree>
    <p:extLst>
      <p:ext uri="{BB962C8B-B14F-4D97-AF65-F5344CB8AC3E}">
        <p14:creationId xmlns:p14="http://schemas.microsoft.com/office/powerpoint/2010/main" val="12392531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46078-ED78-7D57-C0F9-2B34CB80CD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B3EA36-0C76-6B08-2F90-FAB2F779E9F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4E33DB9-D927-8F00-BA6A-523B4FCCB6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1C528B6-5AE6-3FCC-E984-0CF2C81C562C}"/>
              </a:ext>
            </a:extLst>
          </p:cNvPr>
          <p:cNvSpPr>
            <a:spLocks noGrp="1"/>
          </p:cNvSpPr>
          <p:nvPr>
            <p:ph type="sldNum" sz="quarter" idx="5"/>
          </p:nvPr>
        </p:nvSpPr>
        <p:spPr/>
        <p:txBody>
          <a:bodyPr/>
          <a:lstStyle/>
          <a:p>
            <a:fld id="{83DC61A3-6C05-4367-9D15-721468CBF72D}" type="slidenum">
              <a:rPr lang="en-US" smtClean="0"/>
              <a:pPr/>
              <a:t>26</a:t>
            </a:fld>
            <a:endParaRPr lang="en-US"/>
          </a:p>
        </p:txBody>
      </p:sp>
    </p:spTree>
    <p:extLst>
      <p:ext uri="{BB962C8B-B14F-4D97-AF65-F5344CB8AC3E}">
        <p14:creationId xmlns:p14="http://schemas.microsoft.com/office/powerpoint/2010/main" val="4321781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8D558-345C-DBEA-12F1-83FC0262FA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FCC0D2-D8DD-AC80-C25F-75D4908F29A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C5752FC-CA69-62CB-FA88-D8CFD12D346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DD20E70-2141-52B9-E31B-8FAD5A85AD3F}"/>
              </a:ext>
            </a:extLst>
          </p:cNvPr>
          <p:cNvSpPr>
            <a:spLocks noGrp="1"/>
          </p:cNvSpPr>
          <p:nvPr>
            <p:ph type="sldNum" sz="quarter" idx="5"/>
          </p:nvPr>
        </p:nvSpPr>
        <p:spPr/>
        <p:txBody>
          <a:bodyPr/>
          <a:lstStyle/>
          <a:p>
            <a:fld id="{83DC61A3-6C05-4367-9D15-721468CBF72D}" type="slidenum">
              <a:rPr lang="en-US" smtClean="0"/>
              <a:pPr/>
              <a:t>45</a:t>
            </a:fld>
            <a:endParaRPr lang="en-US"/>
          </a:p>
        </p:txBody>
      </p:sp>
    </p:spTree>
    <p:extLst>
      <p:ext uri="{BB962C8B-B14F-4D97-AF65-F5344CB8AC3E}">
        <p14:creationId xmlns:p14="http://schemas.microsoft.com/office/powerpoint/2010/main" val="48123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800">
                <a:solidFill>
                  <a:srgbClr val="000000"/>
                </a:solidFill>
                <a:effectLst/>
                <a:latin typeface="Calibri" panose="020F0502020204030204" pitchFamily="34" charset="0"/>
              </a:rPr>
              <a:t>We won't go into the technical details on this slide, but the network diagram illustrates how we use a graph to maintain all the relationships between the assets; be that a laptop that is issued to an employee, a cloud resource hosting a workload, or the vulnerabilities and controls affecting servers within a datacentre.</a:t>
            </a:r>
          </a:p>
          <a:p>
            <a:endParaRPr lang="en-GB" sz="1800">
              <a:solidFill>
                <a:srgbClr val="000000"/>
              </a:solidFill>
              <a:effectLst/>
              <a:latin typeface="Calibri" panose="020F0502020204030204" pitchFamily="34" charset="0"/>
            </a:endParaRPr>
          </a:p>
          <a:p>
            <a:r>
              <a:rPr lang="en-GB" sz="1800">
                <a:solidFill>
                  <a:srgbClr val="000000"/>
                </a:solidFill>
                <a:effectLst/>
                <a:latin typeface="Calibri" panose="020F0502020204030204" pitchFamily="34" charset="0"/>
              </a:rPr>
              <a:t>The Graph allows us to rapidly evolve and enhance the model of your environments, and enables you to answer complex queries about your assets and the security posture of your estate. </a:t>
            </a:r>
          </a:p>
          <a:p>
            <a:endParaRPr lang="en-GB" sz="1800">
              <a:solidFill>
                <a:srgbClr val="000000"/>
              </a:solidFill>
              <a:effectLst/>
              <a:latin typeface="Calibri" panose="020F0502020204030204" pitchFamily="34" charset="0"/>
            </a:endParaRPr>
          </a:p>
          <a:p>
            <a:r>
              <a:rPr lang="en-GB" sz="1800">
                <a:solidFill>
                  <a:srgbClr val="000000"/>
                </a:solidFill>
                <a:effectLst/>
                <a:latin typeface="Calibri" panose="020F0502020204030204" pitchFamily="34" charset="0"/>
              </a:rPr>
              <a:t>The Knowledge Graph is the foundation of all our solutions, and can be used directly to support multiple other use cases</a:t>
            </a:r>
            <a:endParaRPr lang="en-GB"/>
          </a:p>
        </p:txBody>
      </p:sp>
      <p:sp>
        <p:nvSpPr>
          <p:cNvPr id="4" name="Slide Number Placeholder 3"/>
          <p:cNvSpPr>
            <a:spLocks noGrp="1"/>
          </p:cNvSpPr>
          <p:nvPr>
            <p:ph type="sldNum" sz="quarter" idx="5"/>
          </p:nvPr>
        </p:nvSpPr>
        <p:spPr/>
        <p:txBody>
          <a:bodyPr/>
          <a:lstStyle/>
          <a:p>
            <a:fld id="{07C5990A-7B7D-46EB-A28B-A252356296D4}" type="slidenum">
              <a:rPr lang="en-GB" smtClean="0"/>
              <a:t>46</a:t>
            </a:fld>
            <a:endParaRPr lang="en-GB"/>
          </a:p>
        </p:txBody>
      </p:sp>
    </p:spTree>
    <p:extLst>
      <p:ext uri="{BB962C8B-B14F-4D97-AF65-F5344CB8AC3E}">
        <p14:creationId xmlns:p14="http://schemas.microsoft.com/office/powerpoint/2010/main" val="9813708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44D6A-EFEC-AEEA-30D2-8254E23C64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EA03EB-2237-D340-6D3A-3330B2B1D2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51F644-BAC8-8268-0BDE-5C551AF42A3D}"/>
              </a:ext>
            </a:extLst>
          </p:cNvPr>
          <p:cNvSpPr>
            <a:spLocks noGrp="1"/>
          </p:cNvSpPr>
          <p:nvPr>
            <p:ph type="body" idx="1"/>
          </p:nvPr>
        </p:nvSpPr>
        <p:spPr/>
        <p:txBody>
          <a:bodyPr/>
          <a:lstStyle/>
          <a:p>
            <a:endParaRPr lang="en-GB" b="0" i="0">
              <a:solidFill>
                <a:srgbClr val="000000"/>
              </a:solidFill>
              <a:effectLst/>
              <a:latin typeface="Matter"/>
            </a:endParaRPr>
          </a:p>
        </p:txBody>
      </p:sp>
      <p:sp>
        <p:nvSpPr>
          <p:cNvPr id="4" name="Slide Number Placeholder 3">
            <a:extLst>
              <a:ext uri="{FF2B5EF4-FFF2-40B4-BE49-F238E27FC236}">
                <a16:creationId xmlns:a16="http://schemas.microsoft.com/office/drawing/2014/main" id="{E43DAA48-8807-0C12-918C-5466444F4C64}"/>
              </a:ext>
            </a:extLst>
          </p:cNvPr>
          <p:cNvSpPr>
            <a:spLocks noGrp="1"/>
          </p:cNvSpPr>
          <p:nvPr>
            <p:ph type="sldNum" sz="quarter" idx="5"/>
          </p:nvPr>
        </p:nvSpPr>
        <p:spPr/>
        <p:txBody>
          <a:bodyPr/>
          <a:lstStyle/>
          <a:p>
            <a:fld id="{07C5990A-7B7D-46EB-A28B-A252356296D4}" type="slidenum">
              <a:rPr lang="en-GB" smtClean="0"/>
              <a:t>51</a:t>
            </a:fld>
            <a:endParaRPr lang="en-GB"/>
          </a:p>
        </p:txBody>
      </p:sp>
    </p:spTree>
    <p:extLst>
      <p:ext uri="{BB962C8B-B14F-4D97-AF65-F5344CB8AC3E}">
        <p14:creationId xmlns:p14="http://schemas.microsoft.com/office/powerpoint/2010/main" val="8752638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60AE8-0F99-1EA8-B023-31E429F03A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5AC49D-DA6F-8530-F358-A440C98FDA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2222F6-0F3C-978E-332A-95D0D95A27DC}"/>
              </a:ext>
            </a:extLst>
          </p:cNvPr>
          <p:cNvSpPr>
            <a:spLocks noGrp="1"/>
          </p:cNvSpPr>
          <p:nvPr>
            <p:ph type="body" idx="1"/>
          </p:nvPr>
        </p:nvSpPr>
        <p:spPr/>
        <p:txBody>
          <a:bodyPr/>
          <a:lstStyle/>
          <a:p>
            <a:pPr marL="0" marR="0">
              <a:buNone/>
            </a:pPr>
            <a:endParaRPr lang="en-GB" sz="1800">
              <a:effectLst/>
              <a:latin typeface="Calibri" panose="020F0502020204030204" pitchFamily="34" charset="0"/>
            </a:endParaRPr>
          </a:p>
        </p:txBody>
      </p:sp>
      <p:sp>
        <p:nvSpPr>
          <p:cNvPr id="4" name="Slide Number Placeholder 3">
            <a:extLst>
              <a:ext uri="{FF2B5EF4-FFF2-40B4-BE49-F238E27FC236}">
                <a16:creationId xmlns:a16="http://schemas.microsoft.com/office/drawing/2014/main" id="{9B6C716B-0F39-6C2B-AF10-E571871A3EA2}"/>
              </a:ext>
            </a:extLst>
          </p:cNvPr>
          <p:cNvSpPr>
            <a:spLocks noGrp="1"/>
          </p:cNvSpPr>
          <p:nvPr>
            <p:ph type="sldNum" sz="quarter" idx="5"/>
          </p:nvPr>
        </p:nvSpPr>
        <p:spPr/>
        <p:txBody>
          <a:bodyPr/>
          <a:lstStyle/>
          <a:p>
            <a:fld id="{07C5990A-7B7D-46EB-A28B-A252356296D4}" type="slidenum">
              <a:rPr lang="en-GB" smtClean="0"/>
              <a:t>54</a:t>
            </a:fld>
            <a:endParaRPr lang="en-GB"/>
          </a:p>
        </p:txBody>
      </p:sp>
    </p:spTree>
    <p:extLst>
      <p:ext uri="{BB962C8B-B14F-4D97-AF65-F5344CB8AC3E}">
        <p14:creationId xmlns:p14="http://schemas.microsoft.com/office/powerpoint/2010/main" val="7307881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7.xml"/><Relationship Id="rId7" Type="http://schemas.openxmlformats.org/officeDocument/2006/relationships/image" Target="../media/image4.jpe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3.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tags" Target="../tags/tag10.xml"/><Relationship Id="rId7" Type="http://schemas.openxmlformats.org/officeDocument/2006/relationships/image" Target="../media/image5.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emf"/><Relationship Id="rId5" Type="http://schemas.openxmlformats.org/officeDocument/2006/relationships/oleObject" Target="../embeddings/oleObject5.bin"/><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13.xml"/><Relationship Id="rId7" Type="http://schemas.openxmlformats.org/officeDocument/2006/relationships/image" Target="../media/image4.jpe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3.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3.emf"/><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9.xml"/><Relationship Id="rId7" Type="http://schemas.openxmlformats.org/officeDocument/2006/relationships/image" Target="../media/image4.jpe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3.emf"/><Relationship Id="rId5" Type="http://schemas.openxmlformats.org/officeDocument/2006/relationships/oleObject" Target="../embeddings/oleObject8.bin"/><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22.xml"/><Relationship Id="rId7" Type="http://schemas.openxmlformats.org/officeDocument/2006/relationships/image" Target="../media/image4.jpe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3.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tags" Target="../tags/tag25.xml"/><Relationship Id="rId7" Type="http://schemas.openxmlformats.org/officeDocument/2006/relationships/image" Target="../media/image5.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3.emf"/><Relationship Id="rId5" Type="http://schemas.openxmlformats.org/officeDocument/2006/relationships/oleObject" Target="../embeddings/oleObject5.bin"/><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8.xml"/><Relationship Id="rId7" Type="http://schemas.openxmlformats.org/officeDocument/2006/relationships/image" Target="../media/image4.jpe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3.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3.emf"/><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image" Target="../media/image4.jpe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3.emf"/><Relationship Id="rId5" Type="http://schemas.openxmlformats.org/officeDocument/2006/relationships/oleObject" Target="../embeddings/oleObject8.bin"/><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35.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36.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3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emf"/></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40.xml"/><Relationship Id="rId7" Type="http://schemas.openxmlformats.org/officeDocument/2006/relationships/image" Target="../media/image4.jpeg"/><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3.emf"/><Relationship Id="rId5" Type="http://schemas.openxmlformats.org/officeDocument/2006/relationships/oleObject" Target="../embeddings/oleObject11.bin"/><Relationship Id="rId4"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43.xml"/><Relationship Id="rId7" Type="http://schemas.openxmlformats.org/officeDocument/2006/relationships/image" Target="../media/image4.jpe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3.emf"/><Relationship Id="rId5" Type="http://schemas.openxmlformats.org/officeDocument/2006/relationships/oleObject" Target="../embeddings/oleObject11.bin"/><Relationship Id="rId4"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44.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0C9937E-3196-9400-0DA9-A57A3F4F8D69}"/>
              </a:ext>
            </a:extLst>
          </p:cNvPr>
          <p:cNvGraphicFramePr>
            <a:graphicFrameLocks noChangeAspect="1"/>
          </p:cNvGraphicFramePr>
          <p:nvPr userDrawn="1">
            <p:custDataLst>
              <p:tags r:id="rId1"/>
            </p:custDataLst>
            <p:extLst>
              <p:ext uri="{D42A27DB-BD31-4B8C-83A1-F6EECF244321}">
                <p14:modId xmlns:p14="http://schemas.microsoft.com/office/powerpoint/2010/main" val="7914505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4" name="think-cell data - do not delete" hidden="1">
                        <a:extLst>
                          <a:ext uri="{FF2B5EF4-FFF2-40B4-BE49-F238E27FC236}">
                            <a16:creationId xmlns:a16="http://schemas.microsoft.com/office/drawing/2014/main" id="{70C9937E-3196-9400-0DA9-A57A3F4F8D6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BDFB354-1EE6-4806-3E42-0807C8F14176}"/>
              </a:ext>
            </a:extLst>
          </p:cNvPr>
          <p:cNvSpPr>
            <a:spLocks noGrp="1"/>
          </p:cNvSpPr>
          <p:nvPr>
            <p:ph type="title"/>
          </p:nvPr>
        </p:nvSpPr>
        <p:spPr>
          <a:xfrm>
            <a:off x="838200" y="365125"/>
            <a:ext cx="10515600" cy="1325563"/>
          </a:xfrm>
          <a:prstGeom prst="rect">
            <a:avLst/>
          </a:prstGeom>
        </p:spPr>
        <p:txBody>
          <a:bodyPr vert="horz"/>
          <a:lstStyle/>
          <a:p>
            <a:r>
              <a:rPr lang="en-US"/>
              <a:t>Click to edit Master title style</a:t>
            </a:r>
          </a:p>
        </p:txBody>
      </p:sp>
    </p:spTree>
    <p:extLst>
      <p:ext uri="{BB962C8B-B14F-4D97-AF65-F5344CB8AC3E}">
        <p14:creationId xmlns:p14="http://schemas.microsoft.com/office/powerpoint/2010/main" val="3986356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65D80A2-F778-9EE8-5EBF-CA26F78A31F2}"/>
              </a:ext>
            </a:extLst>
          </p:cNvPr>
          <p:cNvGraphicFramePr>
            <a:graphicFrameLocks noChangeAspect="1"/>
          </p:cNvGraphicFramePr>
          <p:nvPr userDrawn="1">
            <p:custDataLst>
              <p:tags r:id="rId1"/>
            </p:custDataLst>
            <p:extLst>
              <p:ext uri="{D42A27DB-BD31-4B8C-83A1-F6EECF244321}">
                <p14:modId xmlns:p14="http://schemas.microsoft.com/office/powerpoint/2010/main" val="14195634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5" name="think-cell data - do not delete" hidden="1">
                        <a:extLst>
                          <a:ext uri="{FF2B5EF4-FFF2-40B4-BE49-F238E27FC236}">
                            <a16:creationId xmlns:a16="http://schemas.microsoft.com/office/drawing/2014/main" id="{A65D80A2-F778-9EE8-5EBF-CA26F78A31F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5CEDFE52-9B9B-023B-7E45-BDB1CE2D2457}"/>
              </a:ext>
            </a:extLst>
          </p:cNvPr>
          <p:cNvSpPr/>
          <p:nvPr userDrawn="1"/>
        </p:nvSpPr>
        <p:spPr>
          <a:xfrm>
            <a:off x="0" y="0"/>
            <a:ext cx="12192000" cy="6857999"/>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latin typeface="Aptos" panose="020B0004020202020204" pitchFamily="34" charset="0"/>
              <a:sym typeface="Aptos" panose="020B0004020202020204" pitchFamily="34" charset="0"/>
            </a:endParaRPr>
          </a:p>
        </p:txBody>
      </p:sp>
    </p:spTree>
    <p:extLst>
      <p:ext uri="{BB962C8B-B14F-4D97-AF65-F5344CB8AC3E}">
        <p14:creationId xmlns:p14="http://schemas.microsoft.com/office/powerpoint/2010/main" val="1781073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Body Alt 2">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D1806E1-3460-4193-B902-B25E7D8DBFFA}"/>
              </a:ext>
            </a:extLst>
          </p:cNvPr>
          <p:cNvGraphicFramePr>
            <a:graphicFrameLocks noChangeAspect="1"/>
          </p:cNvGraphicFramePr>
          <p:nvPr userDrawn="1">
            <p:custDataLst>
              <p:tags r:id="rId1"/>
            </p:custDataLst>
          </p:nvPr>
        </p:nvGraphicFramePr>
        <p:xfrm>
          <a:off x="2122" y="1589"/>
          <a:ext cx="2116" cy="1587"/>
        </p:xfrm>
        <a:graphic>
          <a:graphicData uri="http://schemas.openxmlformats.org/presentationml/2006/ole">
            <mc:AlternateContent xmlns:mc="http://schemas.openxmlformats.org/markup-compatibility/2006">
              <mc:Choice xmlns:v="urn:schemas-microsoft-com:vml" Requires="v">
                <p:oleObj name="think-cell Slide" r:id="rId5" imgW="473" imgH="476" progId="TCLayout.ActiveDocument.1">
                  <p:embed/>
                </p:oleObj>
              </mc:Choice>
              <mc:Fallback>
                <p:oleObj name="think-cell Slide" r:id="rId5" imgW="473" imgH="476" progId="TCLayout.ActiveDocument.1">
                  <p:embed/>
                  <p:pic>
                    <p:nvPicPr>
                      <p:cNvPr id="7" name="Object 6" hidden="1">
                        <a:extLst>
                          <a:ext uri="{FF2B5EF4-FFF2-40B4-BE49-F238E27FC236}">
                            <a16:creationId xmlns:a16="http://schemas.microsoft.com/office/drawing/2014/main" id="{1D1806E1-3460-4193-B902-B25E7D8DBFFA}"/>
                          </a:ext>
                        </a:extLst>
                      </p:cNvPr>
                      <p:cNvPicPr/>
                      <p:nvPr/>
                    </p:nvPicPr>
                    <p:blipFill>
                      <a:blip r:embed="rId6"/>
                      <a:stretch>
                        <a:fillRect/>
                      </a:stretch>
                    </p:blipFill>
                    <p:spPr>
                      <a:xfrm>
                        <a:off x="2122" y="1589"/>
                        <a:ext cx="2116" cy="1587"/>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91601528-1DBA-2348-ECF3-D047449B7811}"/>
              </a:ext>
            </a:extLst>
          </p:cNvPr>
          <p:cNvSpPr/>
          <p:nvPr userDrawn="1"/>
        </p:nvSpPr>
        <p:spPr>
          <a:xfrm>
            <a:off x="0" y="0"/>
            <a:ext cx="12192000" cy="6857999"/>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latin typeface="Aptos" panose="020B0004020202020204" pitchFamily="34" charset="0"/>
              <a:sym typeface="Aptos" panose="020B0004020202020204" pitchFamily="34" charset="0"/>
            </a:endParaRPr>
          </a:p>
        </p:txBody>
      </p:sp>
      <p:sp>
        <p:nvSpPr>
          <p:cNvPr id="3" name="Rectangle 2" hidden="1"/>
          <p:cNvSpPr/>
          <p:nvPr userDrawn="1">
            <p:custDataLst>
              <p:tags r:id="rId2"/>
            </p:custDataLst>
          </p:nvPr>
        </p:nvSpPr>
        <p:spPr>
          <a:xfrm>
            <a:off x="0" y="1"/>
            <a:ext cx="211667" cy="211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rtl="0" eaLnBrk="1"/>
            <a:endParaRPr lang="en-US" sz="2400" b="1" i="0" baseline="0">
              <a:latin typeface="Aptos" panose="020B0004020202020204" pitchFamily="34" charset="0"/>
              <a:ea typeface="+mj-ea"/>
              <a:cs typeface="+mj-cs"/>
              <a:sym typeface="Aptos" panose="020B0004020202020204" pitchFamily="34" charset="0"/>
            </a:endParaRPr>
          </a:p>
        </p:txBody>
      </p:sp>
      <p:sp>
        <p:nvSpPr>
          <p:cNvPr id="19" name="Do not remove" hidden="1"/>
          <p:cNvSpPr/>
          <p:nvPr userDrawn="1">
            <p:custDataLst>
              <p:tags r:id="rId3"/>
            </p:custDataLst>
          </p:nvPr>
        </p:nvSpPr>
        <p:spPr>
          <a:xfrm>
            <a:off x="0" y="0"/>
            <a:ext cx="16933" cy="16933"/>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2400">
              <a:latin typeface="Aptos" panose="020B0004020202020204" pitchFamily="34" charset="0"/>
              <a:sym typeface="Aptos" panose="020B0004020202020204" pitchFamily="34" charset="0"/>
            </a:endParaRPr>
          </a:p>
        </p:txBody>
      </p:sp>
      <p:sp>
        <p:nvSpPr>
          <p:cNvPr id="4" name="Holder 6">
            <a:extLst>
              <a:ext uri="{FF2B5EF4-FFF2-40B4-BE49-F238E27FC236}">
                <a16:creationId xmlns:a16="http://schemas.microsoft.com/office/drawing/2014/main" id="{F6F5B2CA-EB08-78F3-EDA0-0EC4ECE2ADA3}"/>
              </a:ext>
            </a:extLst>
          </p:cNvPr>
          <p:cNvSpPr txBox="1">
            <a:spLocks/>
          </p:cNvSpPr>
          <p:nvPr userDrawn="1"/>
        </p:nvSpPr>
        <p:spPr>
          <a:xfrm>
            <a:off x="11686478" y="6542230"/>
            <a:ext cx="261620" cy="205121"/>
          </a:xfrm>
          <a:prstGeom prst="rect">
            <a:avLst/>
          </a:prstGeom>
        </p:spPr>
        <p:txBody>
          <a:bodyPr wrap="square" lIns="0" tIns="0" rIns="0" bIns="0">
            <a:spAutoFit/>
          </a:bodyPr>
          <a:lstStyle>
            <a:defPPr>
              <a:defRPr lang="en-US"/>
            </a:defPPr>
            <a:lvl1pPr marL="33866" marR="0" lvl="0" indent="0" fontAlgn="auto">
              <a:lnSpc>
                <a:spcPct val="100000"/>
              </a:lnSpc>
              <a:spcBef>
                <a:spcPts val="220"/>
              </a:spcBef>
              <a:spcAft>
                <a:spcPts val="0"/>
              </a:spcAft>
              <a:buClrTx/>
              <a:buSzTx/>
              <a:buFontTx/>
              <a:buNone/>
              <a:tabLst/>
              <a:defRPr kumimoji="0" sz="1333" b="0" i="0" u="none" strike="noStrike" cap="none" spc="-7" normalizeH="0" baseline="0">
                <a:ln>
                  <a:noFill/>
                </a:ln>
                <a:solidFill>
                  <a:srgbClr val="595959"/>
                </a:solidFill>
                <a:effectLst/>
                <a:uLnTx/>
                <a:uFillTx/>
                <a:latin typeface="Open Sans"/>
                <a:cs typeface="Open San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3866" marR="0" lvl="0" indent="0" algn="l" defTabSz="914400" rtl="0" eaLnBrk="1" fontAlgn="auto" latinLnBrk="0" hangingPunct="1">
              <a:lnSpc>
                <a:spcPct val="100000"/>
              </a:lnSpc>
              <a:spcBef>
                <a:spcPts val="220"/>
              </a:spcBef>
              <a:spcAft>
                <a:spcPts val="0"/>
              </a:spcAft>
              <a:buClrTx/>
              <a:buSzTx/>
              <a:buFontTx/>
              <a:buNone/>
              <a:tabLst/>
              <a:defRPr/>
            </a:pPr>
            <a:fld id="{81D60167-4931-47E6-BA6A-407CBD079E47}" type="slidenum">
              <a:rPr kumimoji="0" lang="en-US" sz="1333" b="0" i="0" u="none" strike="noStrike" kern="1200" cap="none" spc="-7" normalizeH="0" baseline="0" noProof="0" smtClean="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rPr>
              <a:pPr marL="33866" marR="0" lvl="0" indent="0" algn="l" defTabSz="914400" rtl="0" eaLnBrk="1" fontAlgn="auto" latinLnBrk="0" hangingPunct="1">
                <a:lnSpc>
                  <a:spcPct val="100000"/>
                </a:lnSpc>
                <a:spcBef>
                  <a:spcPts val="220"/>
                </a:spcBef>
                <a:spcAft>
                  <a:spcPts val="0"/>
                </a:spcAft>
                <a:buClrTx/>
                <a:buSzTx/>
                <a:buFontTx/>
                <a:buNone/>
                <a:tabLst/>
                <a:defRPr/>
              </a:pPr>
              <a:t>‹#›</a:t>
            </a:fld>
            <a:endParaRPr kumimoji="0" lang="en-US" sz="1333" b="0" i="0" u="none" strike="noStrike" kern="1200" cap="none" spc="-7" normalizeH="0" baseline="0" noProof="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endParaRPr>
          </a:p>
        </p:txBody>
      </p:sp>
      <p:sp>
        <p:nvSpPr>
          <p:cNvPr id="9" name="TextBox 291">
            <a:extLst>
              <a:ext uri="{FF2B5EF4-FFF2-40B4-BE49-F238E27FC236}">
                <a16:creationId xmlns:a16="http://schemas.microsoft.com/office/drawing/2014/main" id="{A460AC32-F714-019B-F279-E0075B78B48E}"/>
              </a:ext>
            </a:extLst>
          </p:cNvPr>
          <p:cNvSpPr txBox="1">
            <a:spLocks noChangeArrowheads="1"/>
          </p:cNvSpPr>
          <p:nvPr userDrawn="1"/>
        </p:nvSpPr>
        <p:spPr bwMode="auto">
          <a:xfrm>
            <a:off x="4308475" y="6583020"/>
            <a:ext cx="35750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fontAlgn="base">
              <a:spcBef>
                <a:spcPct val="0"/>
              </a:spcBef>
              <a:spcAft>
                <a:spcPct val="0"/>
              </a:spcAft>
              <a:defRPr>
                <a:solidFill>
                  <a:schemeClr val="tx1"/>
                </a:solidFill>
                <a:latin typeface="Myriad Pro" panose="020B0503030403020204" pitchFamily="34" charset="0"/>
              </a:defRPr>
            </a:lvl6pPr>
            <a:lvl7pPr marL="2971800" indent="-228600" fontAlgn="base">
              <a:spcBef>
                <a:spcPct val="0"/>
              </a:spcBef>
              <a:spcAft>
                <a:spcPct val="0"/>
              </a:spcAft>
              <a:defRPr>
                <a:solidFill>
                  <a:schemeClr val="tx1"/>
                </a:solidFill>
                <a:latin typeface="Myriad Pro" panose="020B0503030403020204" pitchFamily="34" charset="0"/>
              </a:defRPr>
            </a:lvl7pPr>
            <a:lvl8pPr marL="3429000" indent="-228600" fontAlgn="base">
              <a:spcBef>
                <a:spcPct val="0"/>
              </a:spcBef>
              <a:spcAft>
                <a:spcPct val="0"/>
              </a:spcAft>
              <a:defRPr>
                <a:solidFill>
                  <a:schemeClr val="tx1"/>
                </a:solidFill>
                <a:latin typeface="Myriad Pro" panose="020B0503030403020204" pitchFamily="34" charset="0"/>
              </a:defRPr>
            </a:lvl8pPr>
            <a:lvl9pPr marL="3886200" indent="-228600" fontAlgn="base">
              <a:spcBef>
                <a:spcPct val="0"/>
              </a:spcBef>
              <a:spcAft>
                <a:spcPct val="0"/>
              </a:spcAft>
              <a:defRPr>
                <a:solidFill>
                  <a:schemeClr val="tx1"/>
                </a:solidFill>
                <a:latin typeface="Myriad Pro" panose="020B05030304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800" b="0" u="none" strike="noStrike" kern="1200" cap="none" spc="0" normalizeH="0" baseline="0" noProof="0">
                <a:ln>
                  <a:noFill/>
                </a:ln>
                <a:solidFill>
                  <a:srgbClr val="595959"/>
                </a:solidFill>
                <a:effectLst/>
                <a:uLnTx/>
                <a:uFillTx/>
                <a:latin typeface="Aptos" panose="020B0004020202020204" pitchFamily="34" charset="0"/>
                <a:sym typeface="Aptos" panose="020B0004020202020204" pitchFamily="34" charset="0"/>
              </a:rPr>
              <a:t>Confidential Materials. Do Not Distribute.</a:t>
            </a:r>
          </a:p>
        </p:txBody>
      </p:sp>
      <p:pic>
        <p:nvPicPr>
          <p:cNvPr id="2050" name="Picture 2" descr="Cyber Risk Management Company ISTARI Invests in Security Data Science  Pioneer Prevalent AI">
            <a:extLst>
              <a:ext uri="{FF2B5EF4-FFF2-40B4-BE49-F238E27FC236}">
                <a16:creationId xmlns:a16="http://schemas.microsoft.com/office/drawing/2014/main" id="{6CE267C2-B401-5F67-EE20-BDCD39E42FEA}"/>
              </a:ext>
            </a:extLst>
          </p:cNvPr>
          <p:cNvPicPr>
            <a:picLocks noChangeAspect="1" noChangeArrowheads="1"/>
          </p:cNvPicPr>
          <p:nvPr userDrawn="1"/>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882606" y="143819"/>
            <a:ext cx="1088704" cy="232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979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Body Alt 2">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D1806E1-3460-4193-B902-B25E7D8DBFFA}"/>
              </a:ext>
            </a:extLst>
          </p:cNvPr>
          <p:cNvGraphicFramePr>
            <a:graphicFrameLocks noChangeAspect="1"/>
          </p:cNvGraphicFramePr>
          <p:nvPr userDrawn="1">
            <p:custDataLst>
              <p:tags r:id="rId1"/>
            </p:custDataLst>
          </p:nvPr>
        </p:nvGraphicFramePr>
        <p:xfrm>
          <a:off x="2122" y="1589"/>
          <a:ext cx="2116" cy="1587"/>
        </p:xfrm>
        <a:graphic>
          <a:graphicData uri="http://schemas.openxmlformats.org/presentationml/2006/ole">
            <mc:AlternateContent xmlns:mc="http://schemas.openxmlformats.org/markup-compatibility/2006">
              <mc:Choice xmlns:v="urn:schemas-microsoft-com:vml" Requires="v">
                <p:oleObj name="think-cell Slide" r:id="rId5" imgW="473" imgH="476" progId="TCLayout.ActiveDocument.1">
                  <p:embed/>
                </p:oleObj>
              </mc:Choice>
              <mc:Fallback>
                <p:oleObj name="think-cell Slide" r:id="rId5" imgW="473" imgH="476" progId="TCLayout.ActiveDocument.1">
                  <p:embed/>
                  <p:pic>
                    <p:nvPicPr>
                      <p:cNvPr id="7" name="Object 6" hidden="1">
                        <a:extLst>
                          <a:ext uri="{FF2B5EF4-FFF2-40B4-BE49-F238E27FC236}">
                            <a16:creationId xmlns:a16="http://schemas.microsoft.com/office/drawing/2014/main" id="{1D1806E1-3460-4193-B902-B25E7D8DBFFA}"/>
                          </a:ext>
                        </a:extLst>
                      </p:cNvPr>
                      <p:cNvPicPr/>
                      <p:nvPr/>
                    </p:nvPicPr>
                    <p:blipFill>
                      <a:blip r:embed="rId6"/>
                      <a:stretch>
                        <a:fillRect/>
                      </a:stretch>
                    </p:blipFill>
                    <p:spPr>
                      <a:xfrm>
                        <a:off x="2122" y="1589"/>
                        <a:ext cx="2116" cy="1587"/>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91601528-1DBA-2348-ECF3-D047449B7811}"/>
              </a:ext>
            </a:extLst>
          </p:cNvPr>
          <p:cNvSpPr/>
          <p:nvPr userDrawn="1"/>
        </p:nvSpPr>
        <p:spPr>
          <a:xfrm>
            <a:off x="0" y="0"/>
            <a:ext cx="12192000" cy="6857999"/>
          </a:xfrm>
          <a:prstGeom prst="rect">
            <a:avLst/>
          </a:prstGeom>
          <a:solidFill>
            <a:srgbClr val="060B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latin typeface="Aptos" panose="020B0004020202020204" pitchFamily="34" charset="0"/>
              <a:sym typeface="Aptos" panose="020B0004020202020204" pitchFamily="34" charset="0"/>
            </a:endParaRPr>
          </a:p>
        </p:txBody>
      </p:sp>
      <p:sp>
        <p:nvSpPr>
          <p:cNvPr id="3" name="Rectangle 2" hidden="1"/>
          <p:cNvSpPr/>
          <p:nvPr userDrawn="1">
            <p:custDataLst>
              <p:tags r:id="rId2"/>
            </p:custDataLst>
          </p:nvPr>
        </p:nvSpPr>
        <p:spPr>
          <a:xfrm>
            <a:off x="0" y="1"/>
            <a:ext cx="211667" cy="211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rtl="0" eaLnBrk="1"/>
            <a:endParaRPr lang="en-US" sz="2400" b="1" i="0" baseline="0">
              <a:latin typeface="Aptos" panose="020B0004020202020204" pitchFamily="34" charset="0"/>
              <a:ea typeface="+mj-ea"/>
              <a:cs typeface="+mj-cs"/>
              <a:sym typeface="Aptos" panose="020B0004020202020204" pitchFamily="34" charset="0"/>
            </a:endParaRPr>
          </a:p>
        </p:txBody>
      </p:sp>
      <p:sp>
        <p:nvSpPr>
          <p:cNvPr id="19" name="Do not remove" hidden="1"/>
          <p:cNvSpPr/>
          <p:nvPr userDrawn="1">
            <p:custDataLst>
              <p:tags r:id="rId3"/>
            </p:custDataLst>
          </p:nvPr>
        </p:nvSpPr>
        <p:spPr>
          <a:xfrm>
            <a:off x="0" y="0"/>
            <a:ext cx="16933" cy="16933"/>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2400">
              <a:latin typeface="Aptos" panose="020B0004020202020204" pitchFamily="34" charset="0"/>
              <a:sym typeface="Aptos" panose="020B0004020202020204" pitchFamily="34" charset="0"/>
            </a:endParaRPr>
          </a:p>
        </p:txBody>
      </p:sp>
      <p:sp>
        <p:nvSpPr>
          <p:cNvPr id="5" name="object 2">
            <a:extLst>
              <a:ext uri="{FF2B5EF4-FFF2-40B4-BE49-F238E27FC236}">
                <a16:creationId xmlns:a16="http://schemas.microsoft.com/office/drawing/2014/main" id="{EE7ED2E5-1AE4-E5CC-4845-5F69C49E4C5F}"/>
              </a:ext>
            </a:extLst>
          </p:cNvPr>
          <p:cNvSpPr/>
          <p:nvPr userDrawn="1"/>
        </p:nvSpPr>
        <p:spPr>
          <a:xfrm>
            <a:off x="4308475" y="0"/>
            <a:ext cx="7883525" cy="6858000"/>
          </a:xfrm>
          <a:custGeom>
            <a:avLst/>
            <a:gdLst/>
            <a:ahLst/>
            <a:cxnLst/>
            <a:rect l="l" t="t" r="r" b="b"/>
            <a:pathLst>
              <a:path w="2529840" h="5143500">
                <a:moveTo>
                  <a:pt x="0" y="0"/>
                </a:moveTo>
                <a:lnTo>
                  <a:pt x="2529250" y="0"/>
                </a:lnTo>
                <a:lnTo>
                  <a:pt x="2529250" y="5143500"/>
                </a:lnTo>
                <a:lnTo>
                  <a:pt x="0" y="5143500"/>
                </a:lnTo>
                <a:lnTo>
                  <a:pt x="0" y="0"/>
                </a:lnTo>
                <a:close/>
              </a:path>
            </a:pathLst>
          </a:custGeom>
          <a:solidFill>
            <a:srgbClr val="F2F2F2"/>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291">
            <a:extLst>
              <a:ext uri="{FF2B5EF4-FFF2-40B4-BE49-F238E27FC236}">
                <a16:creationId xmlns:a16="http://schemas.microsoft.com/office/drawing/2014/main" id="{A460AC32-F714-019B-F279-E0075B78B48E}"/>
              </a:ext>
            </a:extLst>
          </p:cNvPr>
          <p:cNvSpPr txBox="1">
            <a:spLocks noChangeArrowheads="1"/>
          </p:cNvSpPr>
          <p:nvPr userDrawn="1"/>
        </p:nvSpPr>
        <p:spPr bwMode="auto">
          <a:xfrm>
            <a:off x="4308475" y="6583020"/>
            <a:ext cx="35750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fontAlgn="base">
              <a:spcBef>
                <a:spcPct val="0"/>
              </a:spcBef>
              <a:spcAft>
                <a:spcPct val="0"/>
              </a:spcAft>
              <a:defRPr>
                <a:solidFill>
                  <a:schemeClr val="tx1"/>
                </a:solidFill>
                <a:latin typeface="Myriad Pro" panose="020B0503030403020204" pitchFamily="34" charset="0"/>
              </a:defRPr>
            </a:lvl6pPr>
            <a:lvl7pPr marL="2971800" indent="-228600" fontAlgn="base">
              <a:spcBef>
                <a:spcPct val="0"/>
              </a:spcBef>
              <a:spcAft>
                <a:spcPct val="0"/>
              </a:spcAft>
              <a:defRPr>
                <a:solidFill>
                  <a:schemeClr val="tx1"/>
                </a:solidFill>
                <a:latin typeface="Myriad Pro" panose="020B0503030403020204" pitchFamily="34" charset="0"/>
              </a:defRPr>
            </a:lvl7pPr>
            <a:lvl8pPr marL="3429000" indent="-228600" fontAlgn="base">
              <a:spcBef>
                <a:spcPct val="0"/>
              </a:spcBef>
              <a:spcAft>
                <a:spcPct val="0"/>
              </a:spcAft>
              <a:defRPr>
                <a:solidFill>
                  <a:schemeClr val="tx1"/>
                </a:solidFill>
                <a:latin typeface="Myriad Pro" panose="020B0503030403020204" pitchFamily="34" charset="0"/>
              </a:defRPr>
            </a:lvl8pPr>
            <a:lvl9pPr marL="3886200" indent="-228600" fontAlgn="base">
              <a:spcBef>
                <a:spcPct val="0"/>
              </a:spcBef>
              <a:spcAft>
                <a:spcPct val="0"/>
              </a:spcAft>
              <a:defRPr>
                <a:solidFill>
                  <a:schemeClr val="tx1"/>
                </a:solidFill>
                <a:latin typeface="Myriad Pro" panose="020B05030304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800" b="0" u="none" strike="noStrike" kern="1200" cap="none" spc="0" normalizeH="0" baseline="0" noProof="0">
                <a:ln>
                  <a:noFill/>
                </a:ln>
                <a:solidFill>
                  <a:srgbClr val="595959"/>
                </a:solidFill>
                <a:effectLst/>
                <a:uLnTx/>
                <a:uFillTx/>
                <a:latin typeface="Aptos" panose="020B0004020202020204" pitchFamily="34" charset="0"/>
                <a:sym typeface="Aptos" panose="020B0004020202020204" pitchFamily="34" charset="0"/>
              </a:rPr>
              <a:t>Confidential Materials. Do Not Distribute.</a:t>
            </a:r>
          </a:p>
        </p:txBody>
      </p:sp>
      <p:pic>
        <p:nvPicPr>
          <p:cNvPr id="10" name="Picture 9">
            <a:extLst>
              <a:ext uri="{FF2B5EF4-FFF2-40B4-BE49-F238E27FC236}">
                <a16:creationId xmlns:a16="http://schemas.microsoft.com/office/drawing/2014/main" id="{0DA9B382-DD18-023B-390A-86B14D7842E3}"/>
              </a:ext>
            </a:extLst>
          </p:cNvPr>
          <p:cNvPicPr>
            <a:picLocks/>
          </p:cNvPicPr>
          <p:nvPr userDrawn="1"/>
        </p:nvPicPr>
        <p:blipFill>
          <a:blip r:embed="rId7" cstate="print">
            <a:extLst>
              <a:ext uri="{28A0092B-C50C-407E-A947-70E740481C1C}">
                <a14:useLocalDpi xmlns:a14="http://schemas.microsoft.com/office/drawing/2010/main"/>
              </a:ext>
            </a:extLst>
          </a:blip>
          <a:stretch>
            <a:fillRect/>
          </a:stretch>
        </p:blipFill>
        <p:spPr>
          <a:xfrm>
            <a:off x="126698" y="6576914"/>
            <a:ext cx="1470432" cy="200513"/>
          </a:xfrm>
          <a:prstGeom prst="rect">
            <a:avLst/>
          </a:prstGeom>
        </p:spPr>
      </p:pic>
      <p:pic>
        <p:nvPicPr>
          <p:cNvPr id="2050" name="Picture 2" descr="Cyber Risk Management Company ISTARI Invests in Security Data Science  Pioneer Prevalent AI">
            <a:extLst>
              <a:ext uri="{FF2B5EF4-FFF2-40B4-BE49-F238E27FC236}">
                <a16:creationId xmlns:a16="http://schemas.microsoft.com/office/drawing/2014/main" id="{6CE267C2-B401-5F67-EE20-BDCD39E42FEA}"/>
              </a:ext>
            </a:extLst>
          </p:cNvPr>
          <p:cNvPicPr>
            <a:picLocks noChangeAspect="1" noChangeArrowheads="1"/>
          </p:cNvPicPr>
          <p:nvPr userDrawn="1"/>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882606" y="143819"/>
            <a:ext cx="1088704" cy="232484"/>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C14A8B1D-6790-15AF-A20A-0FE92C35CD61}"/>
              </a:ext>
            </a:extLst>
          </p:cNvPr>
          <p:cNvCxnSpPr>
            <a:cxnSpLocks/>
          </p:cNvCxnSpPr>
          <p:nvPr userDrawn="1"/>
        </p:nvCxnSpPr>
        <p:spPr>
          <a:xfrm>
            <a:off x="1706880" y="0"/>
            <a:ext cx="0" cy="6858000"/>
          </a:xfrm>
          <a:prstGeom prst="line">
            <a:avLst/>
          </a:prstGeom>
          <a:ln w="22225">
            <a:solidFill>
              <a:schemeClr val="bg1">
                <a:lumMod val="95000"/>
                <a:alpha val="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DA77972-EB20-5399-0D55-D90CD022E802}"/>
              </a:ext>
            </a:extLst>
          </p:cNvPr>
          <p:cNvCxnSpPr>
            <a:cxnSpLocks/>
          </p:cNvCxnSpPr>
          <p:nvPr userDrawn="1"/>
        </p:nvCxnSpPr>
        <p:spPr>
          <a:xfrm>
            <a:off x="2804160" y="0"/>
            <a:ext cx="0" cy="6858000"/>
          </a:xfrm>
          <a:prstGeom prst="line">
            <a:avLst/>
          </a:prstGeom>
          <a:ln w="22225">
            <a:solidFill>
              <a:schemeClr val="bg1">
                <a:lumMod val="95000"/>
                <a:alpha val="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BBC4D0-13F4-5DE1-9968-6E26E90E12A0}"/>
              </a:ext>
            </a:extLst>
          </p:cNvPr>
          <p:cNvCxnSpPr>
            <a:cxnSpLocks/>
          </p:cNvCxnSpPr>
          <p:nvPr userDrawn="1"/>
        </p:nvCxnSpPr>
        <p:spPr>
          <a:xfrm>
            <a:off x="3901440" y="0"/>
            <a:ext cx="0" cy="6858000"/>
          </a:xfrm>
          <a:prstGeom prst="line">
            <a:avLst/>
          </a:prstGeom>
          <a:ln w="22225">
            <a:solidFill>
              <a:schemeClr val="bg1">
                <a:lumMod val="95000"/>
                <a:alpha val="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DA9B21A-B2E9-E3C0-6390-591D44CA995E}"/>
              </a:ext>
            </a:extLst>
          </p:cNvPr>
          <p:cNvCxnSpPr>
            <a:cxnSpLocks/>
          </p:cNvCxnSpPr>
          <p:nvPr userDrawn="1"/>
        </p:nvCxnSpPr>
        <p:spPr>
          <a:xfrm>
            <a:off x="609600" y="0"/>
            <a:ext cx="0" cy="6858000"/>
          </a:xfrm>
          <a:prstGeom prst="line">
            <a:avLst/>
          </a:prstGeom>
          <a:ln w="22225">
            <a:solidFill>
              <a:schemeClr val="bg1">
                <a:lumMod val="95000"/>
                <a:alpha val="5000"/>
              </a:schemeClr>
            </a:solidFill>
          </a:ln>
        </p:spPr>
        <p:style>
          <a:lnRef idx="1">
            <a:schemeClr val="accent1"/>
          </a:lnRef>
          <a:fillRef idx="0">
            <a:schemeClr val="accent1"/>
          </a:fillRef>
          <a:effectRef idx="0">
            <a:schemeClr val="accent1"/>
          </a:effectRef>
          <a:fontRef idx="minor">
            <a:schemeClr val="tx1"/>
          </a:fontRef>
        </p:style>
      </p:cxnSp>
      <p:sp>
        <p:nvSpPr>
          <p:cNvPr id="6" name="Holder 6">
            <a:extLst>
              <a:ext uri="{FF2B5EF4-FFF2-40B4-BE49-F238E27FC236}">
                <a16:creationId xmlns:a16="http://schemas.microsoft.com/office/drawing/2014/main" id="{848F7E99-B361-3542-0753-C04A05792BB9}"/>
              </a:ext>
            </a:extLst>
          </p:cNvPr>
          <p:cNvSpPr txBox="1">
            <a:spLocks/>
          </p:cNvSpPr>
          <p:nvPr userDrawn="1"/>
        </p:nvSpPr>
        <p:spPr>
          <a:xfrm>
            <a:off x="11686478" y="6542230"/>
            <a:ext cx="261620" cy="205121"/>
          </a:xfrm>
          <a:prstGeom prst="rect">
            <a:avLst/>
          </a:prstGeom>
        </p:spPr>
        <p:txBody>
          <a:bodyPr wrap="square" lIns="0" tIns="0" rIns="0" bIns="0">
            <a:spAutoFit/>
          </a:bodyPr>
          <a:lstStyle>
            <a:defPPr>
              <a:defRPr lang="en-US"/>
            </a:defPPr>
            <a:lvl1pPr marL="33866" marR="0" lvl="0" indent="0" fontAlgn="auto">
              <a:lnSpc>
                <a:spcPct val="100000"/>
              </a:lnSpc>
              <a:spcBef>
                <a:spcPts val="220"/>
              </a:spcBef>
              <a:spcAft>
                <a:spcPts val="0"/>
              </a:spcAft>
              <a:buClrTx/>
              <a:buSzTx/>
              <a:buFontTx/>
              <a:buNone/>
              <a:tabLst/>
              <a:defRPr kumimoji="0" sz="1333" b="0" i="0" u="none" strike="noStrike" cap="none" spc="-7" normalizeH="0" baseline="0">
                <a:ln>
                  <a:noFill/>
                </a:ln>
                <a:solidFill>
                  <a:srgbClr val="595959"/>
                </a:solidFill>
                <a:effectLst/>
                <a:uLnTx/>
                <a:uFillTx/>
                <a:latin typeface="Open Sans"/>
                <a:cs typeface="Open San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3866" marR="0" lvl="0" indent="0" algn="l" defTabSz="914400" rtl="0" eaLnBrk="1" fontAlgn="auto" latinLnBrk="0" hangingPunct="1">
              <a:lnSpc>
                <a:spcPct val="100000"/>
              </a:lnSpc>
              <a:spcBef>
                <a:spcPts val="220"/>
              </a:spcBef>
              <a:spcAft>
                <a:spcPts val="0"/>
              </a:spcAft>
              <a:buClrTx/>
              <a:buSzTx/>
              <a:buFontTx/>
              <a:buNone/>
              <a:tabLst/>
              <a:defRPr/>
            </a:pPr>
            <a:fld id="{81D60167-4931-47E6-BA6A-407CBD079E47}" type="slidenum">
              <a:rPr kumimoji="0" lang="en-US" sz="1333" b="0" i="0" u="none" strike="noStrike" kern="1200" cap="none" spc="-7" normalizeH="0" baseline="0" noProof="0" smtClean="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rPr>
              <a:pPr marL="33866" marR="0" lvl="0" indent="0" algn="l" defTabSz="914400" rtl="0" eaLnBrk="1" fontAlgn="auto" latinLnBrk="0" hangingPunct="1">
                <a:lnSpc>
                  <a:spcPct val="100000"/>
                </a:lnSpc>
                <a:spcBef>
                  <a:spcPts val="220"/>
                </a:spcBef>
                <a:spcAft>
                  <a:spcPts val="0"/>
                </a:spcAft>
                <a:buClrTx/>
                <a:buSzTx/>
                <a:buFontTx/>
                <a:buNone/>
                <a:tabLst/>
                <a:defRPr/>
              </a:pPr>
              <a:t>‹#›</a:t>
            </a:fld>
            <a:endParaRPr kumimoji="0" lang="en-US" sz="1333" b="0" i="0" u="none" strike="noStrike" kern="1200" cap="none" spc="-7" normalizeH="0" baseline="0" noProof="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endParaRPr>
          </a:p>
        </p:txBody>
      </p:sp>
    </p:spTree>
    <p:extLst>
      <p:ext uri="{BB962C8B-B14F-4D97-AF65-F5344CB8AC3E}">
        <p14:creationId xmlns:p14="http://schemas.microsoft.com/office/powerpoint/2010/main" val="3441955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Body Alt 2">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D1806E1-3460-4193-B902-B25E7D8DBFFA}"/>
              </a:ext>
            </a:extLst>
          </p:cNvPr>
          <p:cNvGraphicFramePr>
            <a:graphicFrameLocks noChangeAspect="1"/>
          </p:cNvGraphicFramePr>
          <p:nvPr userDrawn="1">
            <p:custDataLst>
              <p:tags r:id="rId1"/>
            </p:custDataLst>
          </p:nvPr>
        </p:nvGraphicFramePr>
        <p:xfrm>
          <a:off x="2122" y="1589"/>
          <a:ext cx="2116" cy="1587"/>
        </p:xfrm>
        <a:graphic>
          <a:graphicData uri="http://schemas.openxmlformats.org/presentationml/2006/ole">
            <mc:AlternateContent xmlns:mc="http://schemas.openxmlformats.org/markup-compatibility/2006">
              <mc:Choice xmlns:v="urn:schemas-microsoft-com:vml" Requires="v">
                <p:oleObj name="think-cell Slide" r:id="rId5" imgW="473" imgH="476" progId="TCLayout.ActiveDocument.1">
                  <p:embed/>
                </p:oleObj>
              </mc:Choice>
              <mc:Fallback>
                <p:oleObj name="think-cell Slide" r:id="rId5" imgW="473" imgH="476" progId="TCLayout.ActiveDocument.1">
                  <p:embed/>
                  <p:pic>
                    <p:nvPicPr>
                      <p:cNvPr id="7" name="Object 6" hidden="1">
                        <a:extLst>
                          <a:ext uri="{FF2B5EF4-FFF2-40B4-BE49-F238E27FC236}">
                            <a16:creationId xmlns:a16="http://schemas.microsoft.com/office/drawing/2014/main" id="{1D1806E1-3460-4193-B902-B25E7D8DBFFA}"/>
                          </a:ext>
                        </a:extLst>
                      </p:cNvPr>
                      <p:cNvPicPr/>
                      <p:nvPr/>
                    </p:nvPicPr>
                    <p:blipFill>
                      <a:blip r:embed="rId6"/>
                      <a:stretch>
                        <a:fillRect/>
                      </a:stretch>
                    </p:blipFill>
                    <p:spPr>
                      <a:xfrm>
                        <a:off x="2122" y="1589"/>
                        <a:ext cx="2116" cy="1587"/>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91601528-1DBA-2348-ECF3-D047449B7811}"/>
              </a:ext>
            </a:extLst>
          </p:cNvPr>
          <p:cNvSpPr/>
          <p:nvPr userDrawn="1"/>
        </p:nvSpPr>
        <p:spPr>
          <a:xfrm>
            <a:off x="0" y="0"/>
            <a:ext cx="12192000" cy="6857999"/>
          </a:xfrm>
          <a:prstGeom prst="rect">
            <a:avLst/>
          </a:prstGeom>
          <a:solidFill>
            <a:srgbClr val="F1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latin typeface="Aptos" panose="020B0004020202020204" pitchFamily="34" charset="0"/>
              <a:sym typeface="Aptos" panose="020B0004020202020204" pitchFamily="34" charset="0"/>
            </a:endParaRPr>
          </a:p>
        </p:txBody>
      </p:sp>
      <p:sp>
        <p:nvSpPr>
          <p:cNvPr id="3" name="Rectangle 2" hidden="1"/>
          <p:cNvSpPr/>
          <p:nvPr userDrawn="1">
            <p:custDataLst>
              <p:tags r:id="rId2"/>
            </p:custDataLst>
          </p:nvPr>
        </p:nvSpPr>
        <p:spPr>
          <a:xfrm>
            <a:off x="0" y="1"/>
            <a:ext cx="211667" cy="211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rtl="0" eaLnBrk="1"/>
            <a:endParaRPr lang="en-US" sz="2400" b="1" i="0" baseline="0">
              <a:latin typeface="Aptos" panose="020B0004020202020204" pitchFamily="34" charset="0"/>
              <a:ea typeface="+mj-ea"/>
              <a:cs typeface="+mj-cs"/>
              <a:sym typeface="Aptos" panose="020B0004020202020204" pitchFamily="34" charset="0"/>
            </a:endParaRPr>
          </a:p>
        </p:txBody>
      </p:sp>
      <p:sp>
        <p:nvSpPr>
          <p:cNvPr id="19" name="Do not remove" hidden="1"/>
          <p:cNvSpPr/>
          <p:nvPr userDrawn="1">
            <p:custDataLst>
              <p:tags r:id="rId3"/>
            </p:custDataLst>
          </p:nvPr>
        </p:nvSpPr>
        <p:spPr>
          <a:xfrm>
            <a:off x="0" y="0"/>
            <a:ext cx="16933" cy="16933"/>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2400">
              <a:latin typeface="Aptos" panose="020B0004020202020204" pitchFamily="34" charset="0"/>
              <a:sym typeface="Aptos" panose="020B0004020202020204" pitchFamily="34" charset="0"/>
            </a:endParaRPr>
          </a:p>
        </p:txBody>
      </p:sp>
      <p:sp>
        <p:nvSpPr>
          <p:cNvPr id="5" name="object 2">
            <a:extLst>
              <a:ext uri="{FF2B5EF4-FFF2-40B4-BE49-F238E27FC236}">
                <a16:creationId xmlns:a16="http://schemas.microsoft.com/office/drawing/2014/main" id="{EE7ED2E5-1AE4-E5CC-4845-5F69C49E4C5F}"/>
              </a:ext>
            </a:extLst>
          </p:cNvPr>
          <p:cNvSpPr/>
          <p:nvPr userDrawn="1"/>
        </p:nvSpPr>
        <p:spPr>
          <a:xfrm>
            <a:off x="4308475" y="0"/>
            <a:ext cx="7883525" cy="6858000"/>
          </a:xfrm>
          <a:custGeom>
            <a:avLst/>
            <a:gdLst/>
            <a:ahLst/>
            <a:cxnLst/>
            <a:rect l="l" t="t" r="r" b="b"/>
            <a:pathLst>
              <a:path w="2529840" h="5143500">
                <a:moveTo>
                  <a:pt x="0" y="0"/>
                </a:moveTo>
                <a:lnTo>
                  <a:pt x="2529250" y="0"/>
                </a:lnTo>
                <a:lnTo>
                  <a:pt x="2529250" y="5143500"/>
                </a:lnTo>
                <a:lnTo>
                  <a:pt x="0" y="5143500"/>
                </a:lnTo>
                <a:lnTo>
                  <a:pt x="0" y="0"/>
                </a:lnTo>
                <a:close/>
              </a:path>
            </a:pathLst>
          </a:custGeom>
          <a:solidFill>
            <a:srgbClr val="F7F7F7"/>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4" name="Holder 6">
            <a:extLst>
              <a:ext uri="{FF2B5EF4-FFF2-40B4-BE49-F238E27FC236}">
                <a16:creationId xmlns:a16="http://schemas.microsoft.com/office/drawing/2014/main" id="{F6F5B2CA-EB08-78F3-EDA0-0EC4ECE2ADA3}"/>
              </a:ext>
            </a:extLst>
          </p:cNvPr>
          <p:cNvSpPr txBox="1">
            <a:spLocks/>
          </p:cNvSpPr>
          <p:nvPr userDrawn="1"/>
        </p:nvSpPr>
        <p:spPr>
          <a:xfrm>
            <a:off x="11686478" y="6542230"/>
            <a:ext cx="261620" cy="205121"/>
          </a:xfrm>
          <a:prstGeom prst="rect">
            <a:avLst/>
          </a:prstGeom>
        </p:spPr>
        <p:txBody>
          <a:bodyPr wrap="square" lIns="0" tIns="0" rIns="0" bIns="0">
            <a:spAutoFit/>
          </a:bodyPr>
          <a:lstStyle>
            <a:defPPr>
              <a:defRPr lang="en-US"/>
            </a:defPPr>
            <a:lvl1pPr marL="33866" marR="0" lvl="0" indent="0" fontAlgn="auto">
              <a:lnSpc>
                <a:spcPct val="100000"/>
              </a:lnSpc>
              <a:spcBef>
                <a:spcPts val="220"/>
              </a:spcBef>
              <a:spcAft>
                <a:spcPts val="0"/>
              </a:spcAft>
              <a:buClrTx/>
              <a:buSzTx/>
              <a:buFontTx/>
              <a:buNone/>
              <a:tabLst/>
              <a:defRPr kumimoji="0" sz="1333" b="0" i="0" u="none" strike="noStrike" cap="none" spc="-7" normalizeH="0" baseline="0">
                <a:ln>
                  <a:noFill/>
                </a:ln>
                <a:solidFill>
                  <a:srgbClr val="595959"/>
                </a:solidFill>
                <a:effectLst/>
                <a:uLnTx/>
                <a:uFillTx/>
                <a:latin typeface="Open Sans"/>
                <a:cs typeface="Open San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3866" marR="0" lvl="0" indent="0" algn="l" defTabSz="914400" rtl="0" eaLnBrk="1" fontAlgn="auto" latinLnBrk="0" hangingPunct="1">
              <a:lnSpc>
                <a:spcPct val="100000"/>
              </a:lnSpc>
              <a:spcBef>
                <a:spcPts val="220"/>
              </a:spcBef>
              <a:spcAft>
                <a:spcPts val="0"/>
              </a:spcAft>
              <a:buClrTx/>
              <a:buSzTx/>
              <a:buFontTx/>
              <a:buNone/>
              <a:tabLst/>
              <a:defRPr/>
            </a:pPr>
            <a:fld id="{81D60167-4931-47E6-BA6A-407CBD079E47}" type="slidenum">
              <a:rPr kumimoji="0" lang="en-US" sz="1333" b="0" i="0" u="none" strike="noStrike" kern="1200" cap="none" spc="-7" normalizeH="0" baseline="0" noProof="0" smtClean="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rPr>
              <a:pPr marL="33866" marR="0" lvl="0" indent="0" algn="l" defTabSz="914400" rtl="0" eaLnBrk="1" fontAlgn="auto" latinLnBrk="0" hangingPunct="1">
                <a:lnSpc>
                  <a:spcPct val="100000"/>
                </a:lnSpc>
                <a:spcBef>
                  <a:spcPts val="220"/>
                </a:spcBef>
                <a:spcAft>
                  <a:spcPts val="0"/>
                </a:spcAft>
                <a:buClrTx/>
                <a:buSzTx/>
                <a:buFontTx/>
                <a:buNone/>
                <a:tabLst/>
                <a:defRPr/>
              </a:pPr>
              <a:t>‹#›</a:t>
            </a:fld>
            <a:endParaRPr kumimoji="0" lang="en-US" sz="1333" b="0" i="0" u="none" strike="noStrike" kern="1200" cap="none" spc="-7" normalizeH="0" baseline="0" noProof="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endParaRPr>
          </a:p>
        </p:txBody>
      </p:sp>
      <p:sp>
        <p:nvSpPr>
          <p:cNvPr id="9" name="TextBox 291">
            <a:extLst>
              <a:ext uri="{FF2B5EF4-FFF2-40B4-BE49-F238E27FC236}">
                <a16:creationId xmlns:a16="http://schemas.microsoft.com/office/drawing/2014/main" id="{A460AC32-F714-019B-F279-E0075B78B48E}"/>
              </a:ext>
            </a:extLst>
          </p:cNvPr>
          <p:cNvSpPr txBox="1">
            <a:spLocks noChangeArrowheads="1"/>
          </p:cNvSpPr>
          <p:nvPr userDrawn="1"/>
        </p:nvSpPr>
        <p:spPr bwMode="auto">
          <a:xfrm>
            <a:off x="4308475" y="6583020"/>
            <a:ext cx="35750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fontAlgn="base">
              <a:spcBef>
                <a:spcPct val="0"/>
              </a:spcBef>
              <a:spcAft>
                <a:spcPct val="0"/>
              </a:spcAft>
              <a:defRPr>
                <a:solidFill>
                  <a:schemeClr val="tx1"/>
                </a:solidFill>
                <a:latin typeface="Myriad Pro" panose="020B0503030403020204" pitchFamily="34" charset="0"/>
              </a:defRPr>
            </a:lvl6pPr>
            <a:lvl7pPr marL="2971800" indent="-228600" fontAlgn="base">
              <a:spcBef>
                <a:spcPct val="0"/>
              </a:spcBef>
              <a:spcAft>
                <a:spcPct val="0"/>
              </a:spcAft>
              <a:defRPr>
                <a:solidFill>
                  <a:schemeClr val="tx1"/>
                </a:solidFill>
                <a:latin typeface="Myriad Pro" panose="020B0503030403020204" pitchFamily="34" charset="0"/>
              </a:defRPr>
            </a:lvl7pPr>
            <a:lvl8pPr marL="3429000" indent="-228600" fontAlgn="base">
              <a:spcBef>
                <a:spcPct val="0"/>
              </a:spcBef>
              <a:spcAft>
                <a:spcPct val="0"/>
              </a:spcAft>
              <a:defRPr>
                <a:solidFill>
                  <a:schemeClr val="tx1"/>
                </a:solidFill>
                <a:latin typeface="Myriad Pro" panose="020B0503030403020204" pitchFamily="34" charset="0"/>
              </a:defRPr>
            </a:lvl8pPr>
            <a:lvl9pPr marL="3886200" indent="-228600" fontAlgn="base">
              <a:spcBef>
                <a:spcPct val="0"/>
              </a:spcBef>
              <a:spcAft>
                <a:spcPct val="0"/>
              </a:spcAft>
              <a:defRPr>
                <a:solidFill>
                  <a:schemeClr val="tx1"/>
                </a:solidFill>
                <a:latin typeface="Myriad Pro" panose="020B05030304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800" b="0" u="none" strike="noStrike" kern="1200" cap="none" spc="0" normalizeH="0" baseline="0" noProof="0">
                <a:ln>
                  <a:noFill/>
                </a:ln>
                <a:solidFill>
                  <a:srgbClr val="595959"/>
                </a:solidFill>
                <a:effectLst/>
                <a:uLnTx/>
                <a:uFillTx/>
                <a:latin typeface="Aptos" panose="020B0004020202020204" pitchFamily="34" charset="0"/>
                <a:sym typeface="Aptos" panose="020B0004020202020204" pitchFamily="34" charset="0"/>
              </a:rPr>
              <a:t>Confidential Materials. Do Not Distribute.</a:t>
            </a:r>
          </a:p>
        </p:txBody>
      </p:sp>
      <p:pic>
        <p:nvPicPr>
          <p:cNvPr id="2050" name="Picture 2" descr="Cyber Risk Management Company ISTARI Invests in Security Data Science  Pioneer Prevalent AI">
            <a:extLst>
              <a:ext uri="{FF2B5EF4-FFF2-40B4-BE49-F238E27FC236}">
                <a16:creationId xmlns:a16="http://schemas.microsoft.com/office/drawing/2014/main" id="{6CE267C2-B401-5F67-EE20-BDCD39E42FEA}"/>
              </a:ext>
            </a:extLst>
          </p:cNvPr>
          <p:cNvPicPr>
            <a:picLocks noChangeAspect="1" noChangeArrowheads="1"/>
          </p:cNvPicPr>
          <p:nvPr userDrawn="1"/>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882606" y="143819"/>
            <a:ext cx="1088704" cy="232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6008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Body Alt 2">
    <p:bg>
      <p:bgPr>
        <a:solidFill>
          <a:srgbClr val="060B25"/>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D1806E1-3460-4193-B902-B25E7D8DBFFA}"/>
              </a:ext>
            </a:extLst>
          </p:cNvPr>
          <p:cNvGraphicFramePr>
            <a:graphicFrameLocks noChangeAspect="1"/>
          </p:cNvGraphicFramePr>
          <p:nvPr userDrawn="1">
            <p:custDataLst>
              <p:tags r:id="rId1"/>
            </p:custDataLst>
          </p:nvPr>
        </p:nvGraphicFramePr>
        <p:xfrm>
          <a:off x="2122" y="1589"/>
          <a:ext cx="2116" cy="1587"/>
        </p:xfrm>
        <a:graphic>
          <a:graphicData uri="http://schemas.openxmlformats.org/presentationml/2006/ole">
            <mc:AlternateContent xmlns:mc="http://schemas.openxmlformats.org/markup-compatibility/2006">
              <mc:Choice xmlns:v="urn:schemas-microsoft-com:vml" Requires="v">
                <p:oleObj name="think-cell Slide" r:id="rId5" imgW="473" imgH="476" progId="TCLayout.ActiveDocument.1">
                  <p:embed/>
                </p:oleObj>
              </mc:Choice>
              <mc:Fallback>
                <p:oleObj name="think-cell Slide" r:id="rId5" imgW="473" imgH="476" progId="TCLayout.ActiveDocument.1">
                  <p:embed/>
                  <p:pic>
                    <p:nvPicPr>
                      <p:cNvPr id="7" name="Object 6" hidden="1">
                        <a:extLst>
                          <a:ext uri="{FF2B5EF4-FFF2-40B4-BE49-F238E27FC236}">
                            <a16:creationId xmlns:a16="http://schemas.microsoft.com/office/drawing/2014/main" id="{1D1806E1-3460-4193-B902-B25E7D8DBFFA}"/>
                          </a:ext>
                        </a:extLst>
                      </p:cNvPr>
                      <p:cNvPicPr/>
                      <p:nvPr/>
                    </p:nvPicPr>
                    <p:blipFill>
                      <a:blip r:embed="rId6"/>
                      <a:stretch>
                        <a:fillRect/>
                      </a:stretch>
                    </p:blipFill>
                    <p:spPr>
                      <a:xfrm>
                        <a:off x="2122" y="1589"/>
                        <a:ext cx="2116" cy="1587"/>
                      </a:xfrm>
                      <a:prstGeom prst="rect">
                        <a:avLst/>
                      </a:prstGeom>
                    </p:spPr>
                  </p:pic>
                </p:oleObj>
              </mc:Fallback>
            </mc:AlternateContent>
          </a:graphicData>
        </a:graphic>
      </p:graphicFrame>
      <p:sp>
        <p:nvSpPr>
          <p:cNvPr id="3" name="Rectangle 2" hidden="1"/>
          <p:cNvSpPr/>
          <p:nvPr userDrawn="1">
            <p:custDataLst>
              <p:tags r:id="rId2"/>
            </p:custDataLst>
          </p:nvPr>
        </p:nvSpPr>
        <p:spPr>
          <a:xfrm>
            <a:off x="0" y="1"/>
            <a:ext cx="211667" cy="211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rtl="0" eaLnBrk="1"/>
            <a:endParaRPr lang="en-US" sz="2400" b="1" i="0" baseline="0">
              <a:latin typeface="Aptos" panose="020B0004020202020204" pitchFamily="34" charset="0"/>
              <a:ea typeface="+mj-ea"/>
              <a:cs typeface="+mj-cs"/>
              <a:sym typeface="Aptos" panose="020B0004020202020204" pitchFamily="34" charset="0"/>
            </a:endParaRPr>
          </a:p>
        </p:txBody>
      </p:sp>
      <p:sp>
        <p:nvSpPr>
          <p:cNvPr id="19" name="Do not remove" hidden="1"/>
          <p:cNvSpPr/>
          <p:nvPr userDrawn="1">
            <p:custDataLst>
              <p:tags r:id="rId3"/>
            </p:custDataLst>
          </p:nvPr>
        </p:nvSpPr>
        <p:spPr>
          <a:xfrm>
            <a:off x="0" y="0"/>
            <a:ext cx="16933" cy="16933"/>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2400">
              <a:latin typeface="Aptos" panose="020B0004020202020204" pitchFamily="34" charset="0"/>
              <a:sym typeface="Aptos" panose="020B0004020202020204" pitchFamily="34" charset="0"/>
            </a:endParaRPr>
          </a:p>
        </p:txBody>
      </p:sp>
    </p:spTree>
    <p:extLst>
      <p:ext uri="{BB962C8B-B14F-4D97-AF65-F5344CB8AC3E}">
        <p14:creationId xmlns:p14="http://schemas.microsoft.com/office/powerpoint/2010/main" val="523975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Body Alt 2">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D1806E1-3460-4193-B902-B25E7D8DBFFA}"/>
              </a:ext>
            </a:extLst>
          </p:cNvPr>
          <p:cNvGraphicFramePr>
            <a:graphicFrameLocks noChangeAspect="1"/>
          </p:cNvGraphicFramePr>
          <p:nvPr userDrawn="1">
            <p:custDataLst>
              <p:tags r:id="rId1"/>
            </p:custDataLst>
          </p:nvPr>
        </p:nvGraphicFramePr>
        <p:xfrm>
          <a:off x="2122" y="1589"/>
          <a:ext cx="2116" cy="1587"/>
        </p:xfrm>
        <a:graphic>
          <a:graphicData uri="http://schemas.openxmlformats.org/presentationml/2006/ole">
            <mc:AlternateContent xmlns:mc="http://schemas.openxmlformats.org/markup-compatibility/2006">
              <mc:Choice xmlns:v="urn:schemas-microsoft-com:vml" Requires="v">
                <p:oleObj name="think-cell Slide" r:id="rId5" imgW="473" imgH="476" progId="TCLayout.ActiveDocument.1">
                  <p:embed/>
                </p:oleObj>
              </mc:Choice>
              <mc:Fallback>
                <p:oleObj name="think-cell Slide" r:id="rId5" imgW="473" imgH="476" progId="TCLayout.ActiveDocument.1">
                  <p:embed/>
                  <p:pic>
                    <p:nvPicPr>
                      <p:cNvPr id="7" name="Object 6" hidden="1">
                        <a:extLst>
                          <a:ext uri="{FF2B5EF4-FFF2-40B4-BE49-F238E27FC236}">
                            <a16:creationId xmlns:a16="http://schemas.microsoft.com/office/drawing/2014/main" id="{1D1806E1-3460-4193-B902-B25E7D8DBFFA}"/>
                          </a:ext>
                        </a:extLst>
                      </p:cNvPr>
                      <p:cNvPicPr/>
                      <p:nvPr/>
                    </p:nvPicPr>
                    <p:blipFill>
                      <a:blip r:embed="rId6"/>
                      <a:stretch>
                        <a:fillRect/>
                      </a:stretch>
                    </p:blipFill>
                    <p:spPr>
                      <a:xfrm>
                        <a:off x="2122" y="1589"/>
                        <a:ext cx="2116" cy="1587"/>
                      </a:xfrm>
                      <a:prstGeom prst="rect">
                        <a:avLst/>
                      </a:prstGeom>
                    </p:spPr>
                  </p:pic>
                </p:oleObj>
              </mc:Fallback>
            </mc:AlternateContent>
          </a:graphicData>
        </a:graphic>
      </p:graphicFrame>
      <p:sp>
        <p:nvSpPr>
          <p:cNvPr id="3" name="Rectangle 2" hidden="1"/>
          <p:cNvSpPr/>
          <p:nvPr userDrawn="1">
            <p:custDataLst>
              <p:tags r:id="rId2"/>
            </p:custDataLst>
          </p:nvPr>
        </p:nvSpPr>
        <p:spPr>
          <a:xfrm>
            <a:off x="0" y="1"/>
            <a:ext cx="211667" cy="211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rtl="0" eaLnBrk="1"/>
            <a:endParaRPr lang="en-US" sz="2400" b="1" i="0" baseline="0">
              <a:latin typeface="Aptos" panose="020B0004020202020204" pitchFamily="34" charset="0"/>
              <a:ea typeface="+mj-ea"/>
              <a:cs typeface="+mj-cs"/>
              <a:sym typeface="Aptos" panose="020B0004020202020204" pitchFamily="34" charset="0"/>
            </a:endParaRPr>
          </a:p>
        </p:txBody>
      </p:sp>
      <p:sp>
        <p:nvSpPr>
          <p:cNvPr id="19" name="Do not remove" hidden="1"/>
          <p:cNvSpPr/>
          <p:nvPr userDrawn="1">
            <p:custDataLst>
              <p:tags r:id="rId3"/>
            </p:custDataLst>
          </p:nvPr>
        </p:nvSpPr>
        <p:spPr>
          <a:xfrm>
            <a:off x="0" y="0"/>
            <a:ext cx="16933" cy="16933"/>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2400">
              <a:latin typeface="Aptos" panose="020B0004020202020204" pitchFamily="34" charset="0"/>
              <a:sym typeface="Aptos" panose="020B0004020202020204" pitchFamily="34" charset="0"/>
            </a:endParaRPr>
          </a:p>
        </p:txBody>
      </p:sp>
      <p:pic>
        <p:nvPicPr>
          <p:cNvPr id="2050" name="Picture 2" descr="Cyber Risk Management Company ISTARI Invests in Security Data Science  Pioneer Prevalent AI">
            <a:extLst>
              <a:ext uri="{FF2B5EF4-FFF2-40B4-BE49-F238E27FC236}">
                <a16:creationId xmlns:a16="http://schemas.microsoft.com/office/drawing/2014/main" id="{6CE267C2-B401-5F67-EE20-BDCD39E42FEA}"/>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0882606" y="143819"/>
            <a:ext cx="1088704" cy="232484"/>
          </a:xfrm>
          <a:prstGeom prst="rect">
            <a:avLst/>
          </a:prstGeom>
          <a:noFill/>
          <a:extLst>
            <a:ext uri="{909E8E84-426E-40DD-AFC4-6F175D3DCCD1}">
              <a14:hiddenFill xmlns:a14="http://schemas.microsoft.com/office/drawing/2010/main">
                <a:solidFill>
                  <a:srgbClr val="FFFFFF"/>
                </a:solidFill>
              </a14:hiddenFill>
            </a:ext>
          </a:extLst>
        </p:spPr>
      </p:pic>
      <p:sp>
        <p:nvSpPr>
          <p:cNvPr id="2" name="Holder 6">
            <a:extLst>
              <a:ext uri="{FF2B5EF4-FFF2-40B4-BE49-F238E27FC236}">
                <a16:creationId xmlns:a16="http://schemas.microsoft.com/office/drawing/2014/main" id="{6523F1B6-4927-AD98-AD5B-2822D231C350}"/>
              </a:ext>
            </a:extLst>
          </p:cNvPr>
          <p:cNvSpPr txBox="1">
            <a:spLocks/>
          </p:cNvSpPr>
          <p:nvPr userDrawn="1"/>
        </p:nvSpPr>
        <p:spPr>
          <a:xfrm>
            <a:off x="11686478" y="6542230"/>
            <a:ext cx="261620" cy="205121"/>
          </a:xfrm>
          <a:prstGeom prst="rect">
            <a:avLst/>
          </a:prstGeom>
        </p:spPr>
        <p:txBody>
          <a:bodyPr wrap="square" lIns="0" tIns="0" rIns="0" bIns="0">
            <a:spAutoFit/>
          </a:bodyPr>
          <a:lstStyle>
            <a:defPPr>
              <a:defRPr lang="en-US"/>
            </a:defPPr>
            <a:lvl1pPr marL="33866" marR="0" lvl="0" indent="0" fontAlgn="auto">
              <a:lnSpc>
                <a:spcPct val="100000"/>
              </a:lnSpc>
              <a:spcBef>
                <a:spcPts val="220"/>
              </a:spcBef>
              <a:spcAft>
                <a:spcPts val="0"/>
              </a:spcAft>
              <a:buClrTx/>
              <a:buSzTx/>
              <a:buFontTx/>
              <a:buNone/>
              <a:tabLst/>
              <a:defRPr kumimoji="0" sz="1333" b="0" i="0" u="none" strike="noStrike" cap="none" spc="-7" normalizeH="0" baseline="0">
                <a:ln>
                  <a:noFill/>
                </a:ln>
                <a:solidFill>
                  <a:srgbClr val="595959"/>
                </a:solidFill>
                <a:effectLst/>
                <a:uLnTx/>
                <a:uFillTx/>
                <a:latin typeface="Open Sans"/>
                <a:cs typeface="Open San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3866" marR="0" lvl="0" indent="0" algn="l" defTabSz="914400" rtl="0" eaLnBrk="1" fontAlgn="auto" latinLnBrk="0" hangingPunct="1">
              <a:lnSpc>
                <a:spcPct val="100000"/>
              </a:lnSpc>
              <a:spcBef>
                <a:spcPts val="220"/>
              </a:spcBef>
              <a:spcAft>
                <a:spcPts val="0"/>
              </a:spcAft>
              <a:buClrTx/>
              <a:buSzTx/>
              <a:buFontTx/>
              <a:buNone/>
              <a:tabLst/>
              <a:defRPr/>
            </a:pPr>
            <a:fld id="{81D60167-4931-47E6-BA6A-407CBD079E47}" type="slidenum">
              <a:rPr kumimoji="0" lang="en-US" sz="1333" b="0" i="0" u="none" strike="noStrike" kern="1200" cap="none" spc="-7" normalizeH="0" baseline="0" noProof="0" smtClean="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rPr>
              <a:pPr marL="33866" marR="0" lvl="0" indent="0" algn="l" defTabSz="914400" rtl="0" eaLnBrk="1" fontAlgn="auto" latinLnBrk="0" hangingPunct="1">
                <a:lnSpc>
                  <a:spcPct val="100000"/>
                </a:lnSpc>
                <a:spcBef>
                  <a:spcPts val="220"/>
                </a:spcBef>
                <a:spcAft>
                  <a:spcPts val="0"/>
                </a:spcAft>
                <a:buClrTx/>
                <a:buSzTx/>
                <a:buFontTx/>
                <a:buNone/>
                <a:tabLst/>
                <a:defRPr/>
              </a:pPr>
              <a:t>‹#›</a:t>
            </a:fld>
            <a:endParaRPr kumimoji="0" lang="en-US" sz="1333" b="0" i="0" u="none" strike="noStrike" kern="1200" cap="none" spc="-7" normalizeH="0" baseline="0" noProof="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endParaRPr>
          </a:p>
        </p:txBody>
      </p:sp>
      <p:sp>
        <p:nvSpPr>
          <p:cNvPr id="5" name="TextBox 291">
            <a:extLst>
              <a:ext uri="{FF2B5EF4-FFF2-40B4-BE49-F238E27FC236}">
                <a16:creationId xmlns:a16="http://schemas.microsoft.com/office/drawing/2014/main" id="{4D6EA8F1-857B-E2B5-9654-A0F357D4AD1F}"/>
              </a:ext>
            </a:extLst>
          </p:cNvPr>
          <p:cNvSpPr txBox="1">
            <a:spLocks noChangeArrowheads="1"/>
          </p:cNvSpPr>
          <p:nvPr userDrawn="1"/>
        </p:nvSpPr>
        <p:spPr bwMode="auto">
          <a:xfrm>
            <a:off x="4308475" y="6583020"/>
            <a:ext cx="35750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fontAlgn="base">
              <a:spcBef>
                <a:spcPct val="0"/>
              </a:spcBef>
              <a:spcAft>
                <a:spcPct val="0"/>
              </a:spcAft>
              <a:defRPr>
                <a:solidFill>
                  <a:schemeClr val="tx1"/>
                </a:solidFill>
                <a:latin typeface="Myriad Pro" panose="020B0503030403020204" pitchFamily="34" charset="0"/>
              </a:defRPr>
            </a:lvl6pPr>
            <a:lvl7pPr marL="2971800" indent="-228600" fontAlgn="base">
              <a:spcBef>
                <a:spcPct val="0"/>
              </a:spcBef>
              <a:spcAft>
                <a:spcPct val="0"/>
              </a:spcAft>
              <a:defRPr>
                <a:solidFill>
                  <a:schemeClr val="tx1"/>
                </a:solidFill>
                <a:latin typeface="Myriad Pro" panose="020B0503030403020204" pitchFamily="34" charset="0"/>
              </a:defRPr>
            </a:lvl7pPr>
            <a:lvl8pPr marL="3429000" indent="-228600" fontAlgn="base">
              <a:spcBef>
                <a:spcPct val="0"/>
              </a:spcBef>
              <a:spcAft>
                <a:spcPct val="0"/>
              </a:spcAft>
              <a:defRPr>
                <a:solidFill>
                  <a:schemeClr val="tx1"/>
                </a:solidFill>
                <a:latin typeface="Myriad Pro" panose="020B0503030403020204" pitchFamily="34" charset="0"/>
              </a:defRPr>
            </a:lvl8pPr>
            <a:lvl9pPr marL="3886200" indent="-228600" fontAlgn="base">
              <a:spcBef>
                <a:spcPct val="0"/>
              </a:spcBef>
              <a:spcAft>
                <a:spcPct val="0"/>
              </a:spcAft>
              <a:defRPr>
                <a:solidFill>
                  <a:schemeClr val="tx1"/>
                </a:solidFill>
                <a:latin typeface="Myriad Pro" panose="020B05030304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800" b="0" u="none" strike="noStrike" kern="1200" cap="none" spc="0" normalizeH="0" baseline="0" noProof="0">
                <a:ln>
                  <a:noFill/>
                </a:ln>
                <a:solidFill>
                  <a:srgbClr val="595959"/>
                </a:solidFill>
                <a:effectLst/>
                <a:uLnTx/>
                <a:uFillTx/>
                <a:latin typeface="Aptos" panose="020B0004020202020204" pitchFamily="34" charset="0"/>
                <a:sym typeface="Aptos" panose="020B0004020202020204" pitchFamily="34" charset="0"/>
              </a:rPr>
              <a:t>Confidential Materials. Do Not Distribute.</a:t>
            </a:r>
          </a:p>
        </p:txBody>
      </p:sp>
    </p:spTree>
    <p:extLst>
      <p:ext uri="{BB962C8B-B14F-4D97-AF65-F5344CB8AC3E}">
        <p14:creationId xmlns:p14="http://schemas.microsoft.com/office/powerpoint/2010/main" val="1310780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Body Alt 2">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D1806E1-3460-4193-B902-B25E7D8DBFFA}"/>
              </a:ext>
            </a:extLst>
          </p:cNvPr>
          <p:cNvGraphicFramePr>
            <a:graphicFrameLocks noChangeAspect="1"/>
          </p:cNvGraphicFramePr>
          <p:nvPr userDrawn="1">
            <p:custDataLst>
              <p:tags r:id="rId1"/>
            </p:custDataLst>
            <p:extLst>
              <p:ext uri="{D42A27DB-BD31-4B8C-83A1-F6EECF244321}">
                <p14:modId xmlns:p14="http://schemas.microsoft.com/office/powerpoint/2010/main" val="3890641056"/>
              </p:ext>
            </p:extLst>
          </p:nvPr>
        </p:nvGraphicFramePr>
        <p:xfrm>
          <a:off x="2122" y="1589"/>
          <a:ext cx="2116" cy="1587"/>
        </p:xfrm>
        <a:graphic>
          <a:graphicData uri="http://schemas.openxmlformats.org/presentationml/2006/ole">
            <mc:AlternateContent xmlns:mc="http://schemas.openxmlformats.org/markup-compatibility/2006">
              <mc:Choice xmlns:v="urn:schemas-microsoft-com:vml" Requires="v">
                <p:oleObj name="think-cell Slide" r:id="rId5" imgW="473" imgH="476" progId="TCLayout.ActiveDocument.1">
                  <p:embed/>
                </p:oleObj>
              </mc:Choice>
              <mc:Fallback>
                <p:oleObj name="think-cell Slide" r:id="rId5" imgW="473" imgH="476" progId="TCLayout.ActiveDocument.1">
                  <p:embed/>
                  <p:pic>
                    <p:nvPicPr>
                      <p:cNvPr id="7" name="Object 6" hidden="1">
                        <a:extLst>
                          <a:ext uri="{FF2B5EF4-FFF2-40B4-BE49-F238E27FC236}">
                            <a16:creationId xmlns:a16="http://schemas.microsoft.com/office/drawing/2014/main" id="{1D1806E1-3460-4193-B902-B25E7D8DBFFA}"/>
                          </a:ext>
                        </a:extLst>
                      </p:cNvPr>
                      <p:cNvPicPr/>
                      <p:nvPr/>
                    </p:nvPicPr>
                    <p:blipFill>
                      <a:blip r:embed="rId6"/>
                      <a:stretch>
                        <a:fillRect/>
                      </a:stretch>
                    </p:blipFill>
                    <p:spPr>
                      <a:xfrm>
                        <a:off x="2122" y="1589"/>
                        <a:ext cx="2116" cy="1587"/>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91601528-1DBA-2348-ECF3-D047449B7811}"/>
              </a:ext>
            </a:extLst>
          </p:cNvPr>
          <p:cNvSpPr/>
          <p:nvPr userDrawn="1"/>
        </p:nvSpPr>
        <p:spPr>
          <a:xfrm>
            <a:off x="0" y="0"/>
            <a:ext cx="12192000" cy="6857999"/>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latin typeface="Aptos" panose="020B0004020202020204" pitchFamily="34" charset="0"/>
              <a:sym typeface="Aptos" panose="020B0004020202020204" pitchFamily="34" charset="0"/>
            </a:endParaRPr>
          </a:p>
        </p:txBody>
      </p:sp>
      <p:sp>
        <p:nvSpPr>
          <p:cNvPr id="3" name="Rectangle 2" hidden="1"/>
          <p:cNvSpPr/>
          <p:nvPr userDrawn="1">
            <p:custDataLst>
              <p:tags r:id="rId2"/>
            </p:custDataLst>
          </p:nvPr>
        </p:nvSpPr>
        <p:spPr>
          <a:xfrm>
            <a:off x="0" y="1"/>
            <a:ext cx="211667" cy="211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rtl="0" eaLnBrk="1"/>
            <a:endParaRPr lang="en-US" sz="2400" b="1" i="0" baseline="0">
              <a:latin typeface="Aptos" panose="020B0004020202020204" pitchFamily="34" charset="0"/>
              <a:ea typeface="+mj-ea"/>
              <a:cs typeface="+mj-cs"/>
              <a:sym typeface="Aptos" panose="020B0004020202020204" pitchFamily="34" charset="0"/>
            </a:endParaRPr>
          </a:p>
        </p:txBody>
      </p:sp>
      <p:sp>
        <p:nvSpPr>
          <p:cNvPr id="19" name="Do not remove" hidden="1"/>
          <p:cNvSpPr/>
          <p:nvPr userDrawn="1">
            <p:custDataLst>
              <p:tags r:id="rId3"/>
            </p:custDataLst>
          </p:nvPr>
        </p:nvSpPr>
        <p:spPr>
          <a:xfrm>
            <a:off x="0" y="0"/>
            <a:ext cx="16933" cy="16933"/>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2400">
              <a:latin typeface="Aptos" panose="020B0004020202020204" pitchFamily="34" charset="0"/>
              <a:sym typeface="Aptos" panose="020B0004020202020204" pitchFamily="34" charset="0"/>
            </a:endParaRPr>
          </a:p>
        </p:txBody>
      </p:sp>
      <p:sp>
        <p:nvSpPr>
          <p:cNvPr id="4" name="Holder 6">
            <a:extLst>
              <a:ext uri="{FF2B5EF4-FFF2-40B4-BE49-F238E27FC236}">
                <a16:creationId xmlns:a16="http://schemas.microsoft.com/office/drawing/2014/main" id="{F6F5B2CA-EB08-78F3-EDA0-0EC4ECE2ADA3}"/>
              </a:ext>
            </a:extLst>
          </p:cNvPr>
          <p:cNvSpPr txBox="1">
            <a:spLocks/>
          </p:cNvSpPr>
          <p:nvPr userDrawn="1"/>
        </p:nvSpPr>
        <p:spPr>
          <a:xfrm>
            <a:off x="11686478" y="6542230"/>
            <a:ext cx="261620" cy="205121"/>
          </a:xfrm>
          <a:prstGeom prst="rect">
            <a:avLst/>
          </a:prstGeom>
        </p:spPr>
        <p:txBody>
          <a:bodyPr wrap="square" lIns="0" tIns="0" rIns="0" bIns="0">
            <a:spAutoFit/>
          </a:bodyPr>
          <a:lstStyle>
            <a:defPPr>
              <a:defRPr lang="en-US"/>
            </a:defPPr>
            <a:lvl1pPr marL="33866" marR="0" lvl="0" indent="0" fontAlgn="auto">
              <a:lnSpc>
                <a:spcPct val="100000"/>
              </a:lnSpc>
              <a:spcBef>
                <a:spcPts val="220"/>
              </a:spcBef>
              <a:spcAft>
                <a:spcPts val="0"/>
              </a:spcAft>
              <a:buClrTx/>
              <a:buSzTx/>
              <a:buFontTx/>
              <a:buNone/>
              <a:tabLst/>
              <a:defRPr kumimoji="0" sz="1333" b="0" i="0" u="none" strike="noStrike" cap="none" spc="-7" normalizeH="0" baseline="0">
                <a:ln>
                  <a:noFill/>
                </a:ln>
                <a:solidFill>
                  <a:srgbClr val="595959"/>
                </a:solidFill>
                <a:effectLst/>
                <a:uLnTx/>
                <a:uFillTx/>
                <a:latin typeface="Open Sans"/>
                <a:cs typeface="Open San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3866" marR="0" lvl="0" indent="0" algn="l" defTabSz="914400" rtl="0" eaLnBrk="1" fontAlgn="auto" latinLnBrk="0" hangingPunct="1">
              <a:lnSpc>
                <a:spcPct val="100000"/>
              </a:lnSpc>
              <a:spcBef>
                <a:spcPts val="220"/>
              </a:spcBef>
              <a:spcAft>
                <a:spcPts val="0"/>
              </a:spcAft>
              <a:buClrTx/>
              <a:buSzTx/>
              <a:buFontTx/>
              <a:buNone/>
              <a:tabLst/>
              <a:defRPr/>
            </a:pPr>
            <a:fld id="{81D60167-4931-47E6-BA6A-407CBD079E47}" type="slidenum">
              <a:rPr kumimoji="0" lang="en-US" sz="1333" b="0" i="0" u="none" strike="noStrike" kern="1200" cap="none" spc="-7" normalizeH="0" baseline="0" noProof="0" smtClean="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rPr>
              <a:pPr marL="33866" marR="0" lvl="0" indent="0" algn="l" defTabSz="914400" rtl="0" eaLnBrk="1" fontAlgn="auto" latinLnBrk="0" hangingPunct="1">
                <a:lnSpc>
                  <a:spcPct val="100000"/>
                </a:lnSpc>
                <a:spcBef>
                  <a:spcPts val="220"/>
                </a:spcBef>
                <a:spcAft>
                  <a:spcPts val="0"/>
                </a:spcAft>
                <a:buClrTx/>
                <a:buSzTx/>
                <a:buFontTx/>
                <a:buNone/>
                <a:tabLst/>
                <a:defRPr/>
              </a:pPr>
              <a:t>‹#›</a:t>
            </a:fld>
            <a:endParaRPr kumimoji="0" lang="en-US" sz="1333" b="0" i="0" u="none" strike="noStrike" kern="1200" cap="none" spc="-7" normalizeH="0" baseline="0" noProof="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endParaRPr>
          </a:p>
        </p:txBody>
      </p:sp>
      <p:sp>
        <p:nvSpPr>
          <p:cNvPr id="9" name="TextBox 291">
            <a:extLst>
              <a:ext uri="{FF2B5EF4-FFF2-40B4-BE49-F238E27FC236}">
                <a16:creationId xmlns:a16="http://schemas.microsoft.com/office/drawing/2014/main" id="{A460AC32-F714-019B-F279-E0075B78B48E}"/>
              </a:ext>
            </a:extLst>
          </p:cNvPr>
          <p:cNvSpPr txBox="1">
            <a:spLocks noChangeArrowheads="1"/>
          </p:cNvSpPr>
          <p:nvPr userDrawn="1"/>
        </p:nvSpPr>
        <p:spPr bwMode="auto">
          <a:xfrm>
            <a:off x="4308475" y="6583020"/>
            <a:ext cx="35750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fontAlgn="base">
              <a:spcBef>
                <a:spcPct val="0"/>
              </a:spcBef>
              <a:spcAft>
                <a:spcPct val="0"/>
              </a:spcAft>
              <a:defRPr>
                <a:solidFill>
                  <a:schemeClr val="tx1"/>
                </a:solidFill>
                <a:latin typeface="Myriad Pro" panose="020B0503030403020204" pitchFamily="34" charset="0"/>
              </a:defRPr>
            </a:lvl6pPr>
            <a:lvl7pPr marL="2971800" indent="-228600" fontAlgn="base">
              <a:spcBef>
                <a:spcPct val="0"/>
              </a:spcBef>
              <a:spcAft>
                <a:spcPct val="0"/>
              </a:spcAft>
              <a:defRPr>
                <a:solidFill>
                  <a:schemeClr val="tx1"/>
                </a:solidFill>
                <a:latin typeface="Myriad Pro" panose="020B0503030403020204" pitchFamily="34" charset="0"/>
              </a:defRPr>
            </a:lvl7pPr>
            <a:lvl8pPr marL="3429000" indent="-228600" fontAlgn="base">
              <a:spcBef>
                <a:spcPct val="0"/>
              </a:spcBef>
              <a:spcAft>
                <a:spcPct val="0"/>
              </a:spcAft>
              <a:defRPr>
                <a:solidFill>
                  <a:schemeClr val="tx1"/>
                </a:solidFill>
                <a:latin typeface="Myriad Pro" panose="020B0503030403020204" pitchFamily="34" charset="0"/>
              </a:defRPr>
            </a:lvl8pPr>
            <a:lvl9pPr marL="3886200" indent="-228600" fontAlgn="base">
              <a:spcBef>
                <a:spcPct val="0"/>
              </a:spcBef>
              <a:spcAft>
                <a:spcPct val="0"/>
              </a:spcAft>
              <a:defRPr>
                <a:solidFill>
                  <a:schemeClr val="tx1"/>
                </a:solidFill>
                <a:latin typeface="Myriad Pro" panose="020B05030304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800" b="0" u="none" strike="noStrike" kern="1200" cap="none" spc="0" normalizeH="0" baseline="0" noProof="0">
                <a:ln>
                  <a:noFill/>
                </a:ln>
                <a:solidFill>
                  <a:srgbClr val="595959"/>
                </a:solidFill>
                <a:effectLst/>
                <a:uLnTx/>
                <a:uFillTx/>
                <a:latin typeface="Aptos" panose="020B0004020202020204" pitchFamily="34" charset="0"/>
                <a:sym typeface="Aptos" panose="020B0004020202020204" pitchFamily="34" charset="0"/>
              </a:rPr>
              <a:t>Confidential Materials. Do Not Distribute.</a:t>
            </a:r>
          </a:p>
        </p:txBody>
      </p:sp>
      <p:pic>
        <p:nvPicPr>
          <p:cNvPr id="2050" name="Picture 2" descr="Cyber Risk Management Company ISTARI Invests in Security Data Science  Pioneer Prevalent AI">
            <a:extLst>
              <a:ext uri="{FF2B5EF4-FFF2-40B4-BE49-F238E27FC236}">
                <a16:creationId xmlns:a16="http://schemas.microsoft.com/office/drawing/2014/main" id="{6CE267C2-B401-5F67-EE20-BDCD39E42FEA}"/>
              </a:ext>
            </a:extLst>
          </p:cNvPr>
          <p:cNvPicPr>
            <a:picLocks noChangeAspect="1" noChangeArrowheads="1"/>
          </p:cNvPicPr>
          <p:nvPr userDrawn="1"/>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882606" y="143819"/>
            <a:ext cx="1088704" cy="232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979520"/>
      </p:ext>
    </p:extLst>
  </p:cSld>
  <p:clrMapOvr>
    <a:masterClrMapping/>
  </p:clrMapOvr>
  <p:extLst>
    <p:ext uri="{DCECCB84-F9BA-43D5-87BE-67443E8EF086}">
      <p15:sldGuideLst xmlns:p15="http://schemas.microsoft.com/office/powerpoint/2012/main">
        <p15:guide id="1" orient="horz" pos="468">
          <p15:clr>
            <a:srgbClr val="FBAE40"/>
          </p15:clr>
        </p15:guide>
        <p15:guide id="2" orient="horz" pos="3888">
          <p15:clr>
            <a:srgbClr val="FBAE40"/>
          </p15:clr>
        </p15:guide>
        <p15:guide id="3" pos="264">
          <p15:clr>
            <a:srgbClr val="FBAE40"/>
          </p15:clr>
        </p15:guide>
        <p15:guide id="4" pos="72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Body Alt 2">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D1806E1-3460-4193-B902-B25E7D8DBFFA}"/>
              </a:ext>
            </a:extLst>
          </p:cNvPr>
          <p:cNvGraphicFramePr>
            <a:graphicFrameLocks noChangeAspect="1"/>
          </p:cNvGraphicFramePr>
          <p:nvPr userDrawn="1">
            <p:custDataLst>
              <p:tags r:id="rId1"/>
            </p:custDataLst>
            <p:extLst>
              <p:ext uri="{D42A27DB-BD31-4B8C-83A1-F6EECF244321}">
                <p14:modId xmlns:p14="http://schemas.microsoft.com/office/powerpoint/2010/main" val="3567087863"/>
              </p:ext>
            </p:extLst>
          </p:nvPr>
        </p:nvGraphicFramePr>
        <p:xfrm>
          <a:off x="2122" y="1589"/>
          <a:ext cx="2116" cy="1587"/>
        </p:xfrm>
        <a:graphic>
          <a:graphicData uri="http://schemas.openxmlformats.org/presentationml/2006/ole">
            <mc:AlternateContent xmlns:mc="http://schemas.openxmlformats.org/markup-compatibility/2006">
              <mc:Choice xmlns:v="urn:schemas-microsoft-com:vml" Requires="v">
                <p:oleObj name="think-cell Slide" r:id="rId5" imgW="473" imgH="476" progId="TCLayout.ActiveDocument.1">
                  <p:embed/>
                </p:oleObj>
              </mc:Choice>
              <mc:Fallback>
                <p:oleObj name="think-cell Slide" r:id="rId5" imgW="473" imgH="476" progId="TCLayout.ActiveDocument.1">
                  <p:embed/>
                  <p:pic>
                    <p:nvPicPr>
                      <p:cNvPr id="7" name="Object 6" hidden="1">
                        <a:extLst>
                          <a:ext uri="{FF2B5EF4-FFF2-40B4-BE49-F238E27FC236}">
                            <a16:creationId xmlns:a16="http://schemas.microsoft.com/office/drawing/2014/main" id="{1D1806E1-3460-4193-B902-B25E7D8DBFFA}"/>
                          </a:ext>
                        </a:extLst>
                      </p:cNvPr>
                      <p:cNvPicPr/>
                      <p:nvPr/>
                    </p:nvPicPr>
                    <p:blipFill>
                      <a:blip r:embed="rId6"/>
                      <a:stretch>
                        <a:fillRect/>
                      </a:stretch>
                    </p:blipFill>
                    <p:spPr>
                      <a:xfrm>
                        <a:off x="2122" y="1589"/>
                        <a:ext cx="2116" cy="1587"/>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91601528-1DBA-2348-ECF3-D047449B7811}"/>
              </a:ext>
            </a:extLst>
          </p:cNvPr>
          <p:cNvSpPr/>
          <p:nvPr userDrawn="1"/>
        </p:nvSpPr>
        <p:spPr>
          <a:xfrm>
            <a:off x="0" y="0"/>
            <a:ext cx="12192000" cy="6857999"/>
          </a:xfrm>
          <a:prstGeom prst="rect">
            <a:avLst/>
          </a:prstGeom>
          <a:solidFill>
            <a:srgbClr val="060B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latin typeface="Aptos" panose="020B0004020202020204" pitchFamily="34" charset="0"/>
              <a:sym typeface="Aptos" panose="020B0004020202020204" pitchFamily="34" charset="0"/>
            </a:endParaRPr>
          </a:p>
        </p:txBody>
      </p:sp>
      <p:sp>
        <p:nvSpPr>
          <p:cNvPr id="3" name="Rectangle 2" hidden="1"/>
          <p:cNvSpPr/>
          <p:nvPr userDrawn="1">
            <p:custDataLst>
              <p:tags r:id="rId2"/>
            </p:custDataLst>
          </p:nvPr>
        </p:nvSpPr>
        <p:spPr>
          <a:xfrm>
            <a:off x="0" y="1"/>
            <a:ext cx="211667" cy="211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rtl="0" eaLnBrk="1"/>
            <a:endParaRPr lang="en-US" sz="2400" b="1" i="0" baseline="0">
              <a:latin typeface="Aptos" panose="020B0004020202020204" pitchFamily="34" charset="0"/>
              <a:ea typeface="+mj-ea"/>
              <a:cs typeface="+mj-cs"/>
              <a:sym typeface="Aptos" panose="020B0004020202020204" pitchFamily="34" charset="0"/>
            </a:endParaRPr>
          </a:p>
        </p:txBody>
      </p:sp>
      <p:sp>
        <p:nvSpPr>
          <p:cNvPr id="19" name="Do not remove" hidden="1"/>
          <p:cNvSpPr/>
          <p:nvPr userDrawn="1">
            <p:custDataLst>
              <p:tags r:id="rId3"/>
            </p:custDataLst>
          </p:nvPr>
        </p:nvSpPr>
        <p:spPr>
          <a:xfrm>
            <a:off x="0" y="0"/>
            <a:ext cx="16933" cy="16933"/>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2400">
              <a:latin typeface="Aptos" panose="020B0004020202020204" pitchFamily="34" charset="0"/>
              <a:sym typeface="Aptos" panose="020B0004020202020204" pitchFamily="34" charset="0"/>
            </a:endParaRPr>
          </a:p>
        </p:txBody>
      </p:sp>
      <p:sp>
        <p:nvSpPr>
          <p:cNvPr id="5" name="object 2">
            <a:extLst>
              <a:ext uri="{FF2B5EF4-FFF2-40B4-BE49-F238E27FC236}">
                <a16:creationId xmlns:a16="http://schemas.microsoft.com/office/drawing/2014/main" id="{EE7ED2E5-1AE4-E5CC-4845-5F69C49E4C5F}"/>
              </a:ext>
            </a:extLst>
          </p:cNvPr>
          <p:cNvSpPr/>
          <p:nvPr userDrawn="1"/>
        </p:nvSpPr>
        <p:spPr>
          <a:xfrm>
            <a:off x="4308475" y="0"/>
            <a:ext cx="7883525" cy="6858000"/>
          </a:xfrm>
          <a:custGeom>
            <a:avLst/>
            <a:gdLst/>
            <a:ahLst/>
            <a:cxnLst/>
            <a:rect l="l" t="t" r="r" b="b"/>
            <a:pathLst>
              <a:path w="2529840" h="5143500">
                <a:moveTo>
                  <a:pt x="0" y="0"/>
                </a:moveTo>
                <a:lnTo>
                  <a:pt x="2529250" y="0"/>
                </a:lnTo>
                <a:lnTo>
                  <a:pt x="2529250" y="5143500"/>
                </a:lnTo>
                <a:lnTo>
                  <a:pt x="0" y="5143500"/>
                </a:lnTo>
                <a:lnTo>
                  <a:pt x="0" y="0"/>
                </a:lnTo>
                <a:close/>
              </a:path>
            </a:pathLst>
          </a:custGeom>
          <a:solidFill>
            <a:srgbClr val="F2F2F2"/>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291">
            <a:extLst>
              <a:ext uri="{FF2B5EF4-FFF2-40B4-BE49-F238E27FC236}">
                <a16:creationId xmlns:a16="http://schemas.microsoft.com/office/drawing/2014/main" id="{A460AC32-F714-019B-F279-E0075B78B48E}"/>
              </a:ext>
            </a:extLst>
          </p:cNvPr>
          <p:cNvSpPr txBox="1">
            <a:spLocks noChangeArrowheads="1"/>
          </p:cNvSpPr>
          <p:nvPr userDrawn="1"/>
        </p:nvSpPr>
        <p:spPr bwMode="auto">
          <a:xfrm>
            <a:off x="4308475" y="6583020"/>
            <a:ext cx="35750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fontAlgn="base">
              <a:spcBef>
                <a:spcPct val="0"/>
              </a:spcBef>
              <a:spcAft>
                <a:spcPct val="0"/>
              </a:spcAft>
              <a:defRPr>
                <a:solidFill>
                  <a:schemeClr val="tx1"/>
                </a:solidFill>
                <a:latin typeface="Myriad Pro" panose="020B0503030403020204" pitchFamily="34" charset="0"/>
              </a:defRPr>
            </a:lvl6pPr>
            <a:lvl7pPr marL="2971800" indent="-228600" fontAlgn="base">
              <a:spcBef>
                <a:spcPct val="0"/>
              </a:spcBef>
              <a:spcAft>
                <a:spcPct val="0"/>
              </a:spcAft>
              <a:defRPr>
                <a:solidFill>
                  <a:schemeClr val="tx1"/>
                </a:solidFill>
                <a:latin typeface="Myriad Pro" panose="020B0503030403020204" pitchFamily="34" charset="0"/>
              </a:defRPr>
            </a:lvl7pPr>
            <a:lvl8pPr marL="3429000" indent="-228600" fontAlgn="base">
              <a:spcBef>
                <a:spcPct val="0"/>
              </a:spcBef>
              <a:spcAft>
                <a:spcPct val="0"/>
              </a:spcAft>
              <a:defRPr>
                <a:solidFill>
                  <a:schemeClr val="tx1"/>
                </a:solidFill>
                <a:latin typeface="Myriad Pro" panose="020B0503030403020204" pitchFamily="34" charset="0"/>
              </a:defRPr>
            </a:lvl8pPr>
            <a:lvl9pPr marL="3886200" indent="-228600" fontAlgn="base">
              <a:spcBef>
                <a:spcPct val="0"/>
              </a:spcBef>
              <a:spcAft>
                <a:spcPct val="0"/>
              </a:spcAft>
              <a:defRPr>
                <a:solidFill>
                  <a:schemeClr val="tx1"/>
                </a:solidFill>
                <a:latin typeface="Myriad Pro" panose="020B05030304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800" b="0" u="none" strike="noStrike" kern="1200" cap="none" spc="0" normalizeH="0" baseline="0" noProof="0">
                <a:ln>
                  <a:noFill/>
                </a:ln>
                <a:solidFill>
                  <a:srgbClr val="595959"/>
                </a:solidFill>
                <a:effectLst/>
                <a:uLnTx/>
                <a:uFillTx/>
                <a:latin typeface="Aptos" panose="020B0004020202020204" pitchFamily="34" charset="0"/>
                <a:sym typeface="Aptos" panose="020B0004020202020204" pitchFamily="34" charset="0"/>
              </a:rPr>
              <a:t>Confidential Materials. Do Not Distribute.</a:t>
            </a:r>
          </a:p>
        </p:txBody>
      </p:sp>
      <p:pic>
        <p:nvPicPr>
          <p:cNvPr id="10" name="Picture 9">
            <a:extLst>
              <a:ext uri="{FF2B5EF4-FFF2-40B4-BE49-F238E27FC236}">
                <a16:creationId xmlns:a16="http://schemas.microsoft.com/office/drawing/2014/main" id="{0DA9B382-DD18-023B-390A-86B14D7842E3}"/>
              </a:ext>
            </a:extLst>
          </p:cNvPr>
          <p:cNvPicPr>
            <a:picLocks/>
          </p:cNvPicPr>
          <p:nvPr userDrawn="1"/>
        </p:nvPicPr>
        <p:blipFill>
          <a:blip r:embed="rId7" cstate="print">
            <a:extLst>
              <a:ext uri="{28A0092B-C50C-407E-A947-70E740481C1C}">
                <a14:useLocalDpi xmlns:a14="http://schemas.microsoft.com/office/drawing/2010/main"/>
              </a:ext>
            </a:extLst>
          </a:blip>
          <a:stretch>
            <a:fillRect/>
          </a:stretch>
        </p:blipFill>
        <p:spPr>
          <a:xfrm>
            <a:off x="126698" y="6576914"/>
            <a:ext cx="1470432" cy="200513"/>
          </a:xfrm>
          <a:prstGeom prst="rect">
            <a:avLst/>
          </a:prstGeom>
        </p:spPr>
      </p:pic>
      <p:pic>
        <p:nvPicPr>
          <p:cNvPr id="2050" name="Picture 2" descr="Cyber Risk Management Company ISTARI Invests in Security Data Science  Pioneer Prevalent AI">
            <a:extLst>
              <a:ext uri="{FF2B5EF4-FFF2-40B4-BE49-F238E27FC236}">
                <a16:creationId xmlns:a16="http://schemas.microsoft.com/office/drawing/2014/main" id="{6CE267C2-B401-5F67-EE20-BDCD39E42FEA}"/>
              </a:ext>
            </a:extLst>
          </p:cNvPr>
          <p:cNvPicPr>
            <a:picLocks noChangeAspect="1" noChangeArrowheads="1"/>
          </p:cNvPicPr>
          <p:nvPr userDrawn="1"/>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882606" y="143819"/>
            <a:ext cx="1088704" cy="232484"/>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C14A8B1D-6790-15AF-A20A-0FE92C35CD61}"/>
              </a:ext>
            </a:extLst>
          </p:cNvPr>
          <p:cNvCxnSpPr>
            <a:cxnSpLocks/>
          </p:cNvCxnSpPr>
          <p:nvPr userDrawn="1"/>
        </p:nvCxnSpPr>
        <p:spPr>
          <a:xfrm>
            <a:off x="1706880" y="0"/>
            <a:ext cx="0" cy="6858000"/>
          </a:xfrm>
          <a:prstGeom prst="line">
            <a:avLst/>
          </a:prstGeom>
          <a:ln w="22225">
            <a:solidFill>
              <a:schemeClr val="bg1">
                <a:lumMod val="95000"/>
                <a:alpha val="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DA77972-EB20-5399-0D55-D90CD022E802}"/>
              </a:ext>
            </a:extLst>
          </p:cNvPr>
          <p:cNvCxnSpPr>
            <a:cxnSpLocks/>
          </p:cNvCxnSpPr>
          <p:nvPr userDrawn="1"/>
        </p:nvCxnSpPr>
        <p:spPr>
          <a:xfrm>
            <a:off x="2804160" y="0"/>
            <a:ext cx="0" cy="6858000"/>
          </a:xfrm>
          <a:prstGeom prst="line">
            <a:avLst/>
          </a:prstGeom>
          <a:ln w="22225">
            <a:solidFill>
              <a:schemeClr val="bg1">
                <a:lumMod val="95000"/>
                <a:alpha val="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BBC4D0-13F4-5DE1-9968-6E26E90E12A0}"/>
              </a:ext>
            </a:extLst>
          </p:cNvPr>
          <p:cNvCxnSpPr>
            <a:cxnSpLocks/>
          </p:cNvCxnSpPr>
          <p:nvPr userDrawn="1"/>
        </p:nvCxnSpPr>
        <p:spPr>
          <a:xfrm>
            <a:off x="3901440" y="0"/>
            <a:ext cx="0" cy="6858000"/>
          </a:xfrm>
          <a:prstGeom prst="line">
            <a:avLst/>
          </a:prstGeom>
          <a:ln w="22225">
            <a:solidFill>
              <a:schemeClr val="bg1">
                <a:lumMod val="95000"/>
                <a:alpha val="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DA9B21A-B2E9-E3C0-6390-591D44CA995E}"/>
              </a:ext>
            </a:extLst>
          </p:cNvPr>
          <p:cNvCxnSpPr>
            <a:cxnSpLocks/>
          </p:cNvCxnSpPr>
          <p:nvPr userDrawn="1"/>
        </p:nvCxnSpPr>
        <p:spPr>
          <a:xfrm>
            <a:off x="609600" y="0"/>
            <a:ext cx="0" cy="6858000"/>
          </a:xfrm>
          <a:prstGeom prst="line">
            <a:avLst/>
          </a:prstGeom>
          <a:ln w="22225">
            <a:solidFill>
              <a:schemeClr val="bg1">
                <a:lumMod val="95000"/>
                <a:alpha val="5000"/>
              </a:schemeClr>
            </a:solidFill>
          </a:ln>
        </p:spPr>
        <p:style>
          <a:lnRef idx="1">
            <a:schemeClr val="accent1"/>
          </a:lnRef>
          <a:fillRef idx="0">
            <a:schemeClr val="accent1"/>
          </a:fillRef>
          <a:effectRef idx="0">
            <a:schemeClr val="accent1"/>
          </a:effectRef>
          <a:fontRef idx="minor">
            <a:schemeClr val="tx1"/>
          </a:fontRef>
        </p:style>
      </p:cxnSp>
      <p:sp>
        <p:nvSpPr>
          <p:cNvPr id="6" name="Holder 6">
            <a:extLst>
              <a:ext uri="{FF2B5EF4-FFF2-40B4-BE49-F238E27FC236}">
                <a16:creationId xmlns:a16="http://schemas.microsoft.com/office/drawing/2014/main" id="{848F7E99-B361-3542-0753-C04A05792BB9}"/>
              </a:ext>
            </a:extLst>
          </p:cNvPr>
          <p:cNvSpPr txBox="1">
            <a:spLocks/>
          </p:cNvSpPr>
          <p:nvPr userDrawn="1"/>
        </p:nvSpPr>
        <p:spPr>
          <a:xfrm>
            <a:off x="11686478" y="6542230"/>
            <a:ext cx="261620" cy="205121"/>
          </a:xfrm>
          <a:prstGeom prst="rect">
            <a:avLst/>
          </a:prstGeom>
        </p:spPr>
        <p:txBody>
          <a:bodyPr wrap="square" lIns="0" tIns="0" rIns="0" bIns="0">
            <a:spAutoFit/>
          </a:bodyPr>
          <a:lstStyle>
            <a:defPPr>
              <a:defRPr lang="en-US"/>
            </a:defPPr>
            <a:lvl1pPr marL="33866" marR="0" lvl="0" indent="0" fontAlgn="auto">
              <a:lnSpc>
                <a:spcPct val="100000"/>
              </a:lnSpc>
              <a:spcBef>
                <a:spcPts val="220"/>
              </a:spcBef>
              <a:spcAft>
                <a:spcPts val="0"/>
              </a:spcAft>
              <a:buClrTx/>
              <a:buSzTx/>
              <a:buFontTx/>
              <a:buNone/>
              <a:tabLst/>
              <a:defRPr kumimoji="0" sz="1333" b="0" i="0" u="none" strike="noStrike" cap="none" spc="-7" normalizeH="0" baseline="0">
                <a:ln>
                  <a:noFill/>
                </a:ln>
                <a:solidFill>
                  <a:srgbClr val="595959"/>
                </a:solidFill>
                <a:effectLst/>
                <a:uLnTx/>
                <a:uFillTx/>
                <a:latin typeface="Open Sans"/>
                <a:cs typeface="Open San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3866" marR="0" lvl="0" indent="0" algn="l" defTabSz="914400" rtl="0" eaLnBrk="1" fontAlgn="auto" latinLnBrk="0" hangingPunct="1">
              <a:lnSpc>
                <a:spcPct val="100000"/>
              </a:lnSpc>
              <a:spcBef>
                <a:spcPts val="220"/>
              </a:spcBef>
              <a:spcAft>
                <a:spcPts val="0"/>
              </a:spcAft>
              <a:buClrTx/>
              <a:buSzTx/>
              <a:buFontTx/>
              <a:buNone/>
              <a:tabLst/>
              <a:defRPr/>
            </a:pPr>
            <a:fld id="{81D60167-4931-47E6-BA6A-407CBD079E47}" type="slidenum">
              <a:rPr kumimoji="0" lang="en-US" sz="1333" b="0" i="0" u="none" strike="noStrike" kern="1200" cap="none" spc="-7" normalizeH="0" baseline="0" noProof="0" smtClean="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rPr>
              <a:pPr marL="33866" marR="0" lvl="0" indent="0" algn="l" defTabSz="914400" rtl="0" eaLnBrk="1" fontAlgn="auto" latinLnBrk="0" hangingPunct="1">
                <a:lnSpc>
                  <a:spcPct val="100000"/>
                </a:lnSpc>
                <a:spcBef>
                  <a:spcPts val="220"/>
                </a:spcBef>
                <a:spcAft>
                  <a:spcPts val="0"/>
                </a:spcAft>
                <a:buClrTx/>
                <a:buSzTx/>
                <a:buFontTx/>
                <a:buNone/>
                <a:tabLst/>
                <a:defRPr/>
              </a:pPr>
              <a:t>‹#›</a:t>
            </a:fld>
            <a:endParaRPr kumimoji="0" lang="en-US" sz="1333" b="0" i="0" u="none" strike="noStrike" kern="1200" cap="none" spc="-7" normalizeH="0" baseline="0" noProof="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endParaRPr>
          </a:p>
        </p:txBody>
      </p:sp>
    </p:spTree>
    <p:extLst>
      <p:ext uri="{BB962C8B-B14F-4D97-AF65-F5344CB8AC3E}">
        <p14:creationId xmlns:p14="http://schemas.microsoft.com/office/powerpoint/2010/main" val="3441955061"/>
      </p:ext>
    </p:extLst>
  </p:cSld>
  <p:clrMapOvr>
    <a:masterClrMapping/>
  </p:clrMapOvr>
  <p:extLst>
    <p:ext uri="{DCECCB84-F9BA-43D5-87BE-67443E8EF086}">
      <p15:sldGuideLst xmlns:p15="http://schemas.microsoft.com/office/powerpoint/2012/main">
        <p15:guide id="1" orient="horz" pos="468">
          <p15:clr>
            <a:srgbClr val="FBAE40"/>
          </p15:clr>
        </p15:guide>
        <p15:guide id="2" orient="horz" pos="3888">
          <p15:clr>
            <a:srgbClr val="FBAE40"/>
          </p15:clr>
        </p15:guide>
        <p15:guide id="3" pos="264">
          <p15:clr>
            <a:srgbClr val="FBAE40"/>
          </p15:clr>
        </p15:guide>
        <p15:guide id="4" pos="729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Body Alt 2">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D1806E1-3460-4193-B902-B25E7D8DBFFA}"/>
              </a:ext>
            </a:extLst>
          </p:cNvPr>
          <p:cNvGraphicFramePr>
            <a:graphicFrameLocks noChangeAspect="1"/>
          </p:cNvGraphicFramePr>
          <p:nvPr userDrawn="1">
            <p:custDataLst>
              <p:tags r:id="rId1"/>
            </p:custDataLst>
            <p:extLst>
              <p:ext uri="{D42A27DB-BD31-4B8C-83A1-F6EECF244321}">
                <p14:modId xmlns:p14="http://schemas.microsoft.com/office/powerpoint/2010/main" val="1114350929"/>
              </p:ext>
            </p:extLst>
          </p:nvPr>
        </p:nvGraphicFramePr>
        <p:xfrm>
          <a:off x="2122" y="1589"/>
          <a:ext cx="2116" cy="1587"/>
        </p:xfrm>
        <a:graphic>
          <a:graphicData uri="http://schemas.openxmlformats.org/presentationml/2006/ole">
            <mc:AlternateContent xmlns:mc="http://schemas.openxmlformats.org/markup-compatibility/2006">
              <mc:Choice xmlns:v="urn:schemas-microsoft-com:vml" Requires="v">
                <p:oleObj name="think-cell Slide" r:id="rId5" imgW="473" imgH="476" progId="TCLayout.ActiveDocument.1">
                  <p:embed/>
                </p:oleObj>
              </mc:Choice>
              <mc:Fallback>
                <p:oleObj name="think-cell Slide" r:id="rId5" imgW="473" imgH="476" progId="TCLayout.ActiveDocument.1">
                  <p:embed/>
                  <p:pic>
                    <p:nvPicPr>
                      <p:cNvPr id="7" name="Object 6" hidden="1">
                        <a:extLst>
                          <a:ext uri="{FF2B5EF4-FFF2-40B4-BE49-F238E27FC236}">
                            <a16:creationId xmlns:a16="http://schemas.microsoft.com/office/drawing/2014/main" id="{1D1806E1-3460-4193-B902-B25E7D8DBFFA}"/>
                          </a:ext>
                        </a:extLst>
                      </p:cNvPr>
                      <p:cNvPicPr/>
                      <p:nvPr/>
                    </p:nvPicPr>
                    <p:blipFill>
                      <a:blip r:embed="rId6"/>
                      <a:stretch>
                        <a:fillRect/>
                      </a:stretch>
                    </p:blipFill>
                    <p:spPr>
                      <a:xfrm>
                        <a:off x="2122" y="1589"/>
                        <a:ext cx="2116" cy="1587"/>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91601528-1DBA-2348-ECF3-D047449B7811}"/>
              </a:ext>
            </a:extLst>
          </p:cNvPr>
          <p:cNvSpPr/>
          <p:nvPr userDrawn="1"/>
        </p:nvSpPr>
        <p:spPr>
          <a:xfrm>
            <a:off x="0" y="0"/>
            <a:ext cx="12192000" cy="6857999"/>
          </a:xfrm>
          <a:prstGeom prst="rect">
            <a:avLst/>
          </a:prstGeom>
          <a:solidFill>
            <a:srgbClr val="F1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latin typeface="Aptos" panose="020B0004020202020204" pitchFamily="34" charset="0"/>
              <a:sym typeface="Aptos" panose="020B0004020202020204" pitchFamily="34" charset="0"/>
            </a:endParaRPr>
          </a:p>
        </p:txBody>
      </p:sp>
      <p:sp>
        <p:nvSpPr>
          <p:cNvPr id="3" name="Rectangle 2" hidden="1"/>
          <p:cNvSpPr/>
          <p:nvPr userDrawn="1">
            <p:custDataLst>
              <p:tags r:id="rId2"/>
            </p:custDataLst>
          </p:nvPr>
        </p:nvSpPr>
        <p:spPr>
          <a:xfrm>
            <a:off x="0" y="1"/>
            <a:ext cx="211667" cy="211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rtl="0" eaLnBrk="1"/>
            <a:endParaRPr lang="en-US" sz="2400" b="1" i="0" baseline="0">
              <a:latin typeface="Aptos" panose="020B0004020202020204" pitchFamily="34" charset="0"/>
              <a:ea typeface="+mj-ea"/>
              <a:cs typeface="+mj-cs"/>
              <a:sym typeface="Aptos" panose="020B0004020202020204" pitchFamily="34" charset="0"/>
            </a:endParaRPr>
          </a:p>
        </p:txBody>
      </p:sp>
      <p:sp>
        <p:nvSpPr>
          <p:cNvPr id="19" name="Do not remove" hidden="1"/>
          <p:cNvSpPr/>
          <p:nvPr userDrawn="1">
            <p:custDataLst>
              <p:tags r:id="rId3"/>
            </p:custDataLst>
          </p:nvPr>
        </p:nvSpPr>
        <p:spPr>
          <a:xfrm>
            <a:off x="0" y="0"/>
            <a:ext cx="16933" cy="16933"/>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2400">
              <a:latin typeface="Aptos" panose="020B0004020202020204" pitchFamily="34" charset="0"/>
              <a:sym typeface="Aptos" panose="020B0004020202020204" pitchFamily="34" charset="0"/>
            </a:endParaRPr>
          </a:p>
        </p:txBody>
      </p:sp>
      <p:sp>
        <p:nvSpPr>
          <p:cNvPr id="5" name="object 2">
            <a:extLst>
              <a:ext uri="{FF2B5EF4-FFF2-40B4-BE49-F238E27FC236}">
                <a16:creationId xmlns:a16="http://schemas.microsoft.com/office/drawing/2014/main" id="{EE7ED2E5-1AE4-E5CC-4845-5F69C49E4C5F}"/>
              </a:ext>
            </a:extLst>
          </p:cNvPr>
          <p:cNvSpPr/>
          <p:nvPr userDrawn="1"/>
        </p:nvSpPr>
        <p:spPr>
          <a:xfrm>
            <a:off x="4308475" y="0"/>
            <a:ext cx="7883525" cy="6858000"/>
          </a:xfrm>
          <a:custGeom>
            <a:avLst/>
            <a:gdLst/>
            <a:ahLst/>
            <a:cxnLst/>
            <a:rect l="l" t="t" r="r" b="b"/>
            <a:pathLst>
              <a:path w="2529840" h="5143500">
                <a:moveTo>
                  <a:pt x="0" y="0"/>
                </a:moveTo>
                <a:lnTo>
                  <a:pt x="2529250" y="0"/>
                </a:lnTo>
                <a:lnTo>
                  <a:pt x="2529250" y="5143500"/>
                </a:lnTo>
                <a:lnTo>
                  <a:pt x="0" y="5143500"/>
                </a:lnTo>
                <a:lnTo>
                  <a:pt x="0" y="0"/>
                </a:lnTo>
                <a:close/>
              </a:path>
            </a:pathLst>
          </a:custGeom>
          <a:solidFill>
            <a:srgbClr val="F7F7F7"/>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4" name="Holder 6">
            <a:extLst>
              <a:ext uri="{FF2B5EF4-FFF2-40B4-BE49-F238E27FC236}">
                <a16:creationId xmlns:a16="http://schemas.microsoft.com/office/drawing/2014/main" id="{F6F5B2CA-EB08-78F3-EDA0-0EC4ECE2ADA3}"/>
              </a:ext>
            </a:extLst>
          </p:cNvPr>
          <p:cNvSpPr txBox="1">
            <a:spLocks/>
          </p:cNvSpPr>
          <p:nvPr userDrawn="1"/>
        </p:nvSpPr>
        <p:spPr>
          <a:xfrm>
            <a:off x="11686478" y="6542230"/>
            <a:ext cx="261620" cy="205121"/>
          </a:xfrm>
          <a:prstGeom prst="rect">
            <a:avLst/>
          </a:prstGeom>
        </p:spPr>
        <p:txBody>
          <a:bodyPr wrap="square" lIns="0" tIns="0" rIns="0" bIns="0">
            <a:spAutoFit/>
          </a:bodyPr>
          <a:lstStyle>
            <a:defPPr>
              <a:defRPr lang="en-US"/>
            </a:defPPr>
            <a:lvl1pPr marL="33866" marR="0" lvl="0" indent="0" fontAlgn="auto">
              <a:lnSpc>
                <a:spcPct val="100000"/>
              </a:lnSpc>
              <a:spcBef>
                <a:spcPts val="220"/>
              </a:spcBef>
              <a:spcAft>
                <a:spcPts val="0"/>
              </a:spcAft>
              <a:buClrTx/>
              <a:buSzTx/>
              <a:buFontTx/>
              <a:buNone/>
              <a:tabLst/>
              <a:defRPr kumimoji="0" sz="1333" b="0" i="0" u="none" strike="noStrike" cap="none" spc="-7" normalizeH="0" baseline="0">
                <a:ln>
                  <a:noFill/>
                </a:ln>
                <a:solidFill>
                  <a:srgbClr val="595959"/>
                </a:solidFill>
                <a:effectLst/>
                <a:uLnTx/>
                <a:uFillTx/>
                <a:latin typeface="Open Sans"/>
                <a:cs typeface="Open San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3866" marR="0" lvl="0" indent="0" algn="l" defTabSz="914400" rtl="0" eaLnBrk="1" fontAlgn="auto" latinLnBrk="0" hangingPunct="1">
              <a:lnSpc>
                <a:spcPct val="100000"/>
              </a:lnSpc>
              <a:spcBef>
                <a:spcPts val="220"/>
              </a:spcBef>
              <a:spcAft>
                <a:spcPts val="0"/>
              </a:spcAft>
              <a:buClrTx/>
              <a:buSzTx/>
              <a:buFontTx/>
              <a:buNone/>
              <a:tabLst/>
              <a:defRPr/>
            </a:pPr>
            <a:fld id="{81D60167-4931-47E6-BA6A-407CBD079E47}" type="slidenum">
              <a:rPr kumimoji="0" lang="en-US" sz="1333" b="0" i="0" u="none" strike="noStrike" kern="1200" cap="none" spc="-7" normalizeH="0" baseline="0" noProof="0" smtClean="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rPr>
              <a:pPr marL="33866" marR="0" lvl="0" indent="0" algn="l" defTabSz="914400" rtl="0" eaLnBrk="1" fontAlgn="auto" latinLnBrk="0" hangingPunct="1">
                <a:lnSpc>
                  <a:spcPct val="100000"/>
                </a:lnSpc>
                <a:spcBef>
                  <a:spcPts val="220"/>
                </a:spcBef>
                <a:spcAft>
                  <a:spcPts val="0"/>
                </a:spcAft>
                <a:buClrTx/>
                <a:buSzTx/>
                <a:buFontTx/>
                <a:buNone/>
                <a:tabLst/>
                <a:defRPr/>
              </a:pPr>
              <a:t>‹#›</a:t>
            </a:fld>
            <a:endParaRPr kumimoji="0" lang="en-US" sz="1333" b="0" i="0" u="none" strike="noStrike" kern="1200" cap="none" spc="-7" normalizeH="0" baseline="0" noProof="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endParaRPr>
          </a:p>
        </p:txBody>
      </p:sp>
      <p:sp>
        <p:nvSpPr>
          <p:cNvPr id="9" name="TextBox 291">
            <a:extLst>
              <a:ext uri="{FF2B5EF4-FFF2-40B4-BE49-F238E27FC236}">
                <a16:creationId xmlns:a16="http://schemas.microsoft.com/office/drawing/2014/main" id="{A460AC32-F714-019B-F279-E0075B78B48E}"/>
              </a:ext>
            </a:extLst>
          </p:cNvPr>
          <p:cNvSpPr txBox="1">
            <a:spLocks noChangeArrowheads="1"/>
          </p:cNvSpPr>
          <p:nvPr userDrawn="1"/>
        </p:nvSpPr>
        <p:spPr bwMode="auto">
          <a:xfrm>
            <a:off x="4308475" y="6583020"/>
            <a:ext cx="35750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fontAlgn="base">
              <a:spcBef>
                <a:spcPct val="0"/>
              </a:spcBef>
              <a:spcAft>
                <a:spcPct val="0"/>
              </a:spcAft>
              <a:defRPr>
                <a:solidFill>
                  <a:schemeClr val="tx1"/>
                </a:solidFill>
                <a:latin typeface="Myriad Pro" panose="020B0503030403020204" pitchFamily="34" charset="0"/>
              </a:defRPr>
            </a:lvl6pPr>
            <a:lvl7pPr marL="2971800" indent="-228600" fontAlgn="base">
              <a:spcBef>
                <a:spcPct val="0"/>
              </a:spcBef>
              <a:spcAft>
                <a:spcPct val="0"/>
              </a:spcAft>
              <a:defRPr>
                <a:solidFill>
                  <a:schemeClr val="tx1"/>
                </a:solidFill>
                <a:latin typeface="Myriad Pro" panose="020B0503030403020204" pitchFamily="34" charset="0"/>
              </a:defRPr>
            </a:lvl7pPr>
            <a:lvl8pPr marL="3429000" indent="-228600" fontAlgn="base">
              <a:spcBef>
                <a:spcPct val="0"/>
              </a:spcBef>
              <a:spcAft>
                <a:spcPct val="0"/>
              </a:spcAft>
              <a:defRPr>
                <a:solidFill>
                  <a:schemeClr val="tx1"/>
                </a:solidFill>
                <a:latin typeface="Myriad Pro" panose="020B0503030403020204" pitchFamily="34" charset="0"/>
              </a:defRPr>
            </a:lvl8pPr>
            <a:lvl9pPr marL="3886200" indent="-228600" fontAlgn="base">
              <a:spcBef>
                <a:spcPct val="0"/>
              </a:spcBef>
              <a:spcAft>
                <a:spcPct val="0"/>
              </a:spcAft>
              <a:defRPr>
                <a:solidFill>
                  <a:schemeClr val="tx1"/>
                </a:solidFill>
                <a:latin typeface="Myriad Pro" panose="020B05030304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800" b="0" u="none" strike="noStrike" kern="1200" cap="none" spc="0" normalizeH="0" baseline="0" noProof="0">
                <a:ln>
                  <a:noFill/>
                </a:ln>
                <a:solidFill>
                  <a:srgbClr val="595959"/>
                </a:solidFill>
                <a:effectLst/>
                <a:uLnTx/>
                <a:uFillTx/>
                <a:latin typeface="Aptos" panose="020B0004020202020204" pitchFamily="34" charset="0"/>
                <a:sym typeface="Aptos" panose="020B0004020202020204" pitchFamily="34" charset="0"/>
              </a:rPr>
              <a:t>Confidential Materials. Do Not Distribute.</a:t>
            </a:r>
          </a:p>
        </p:txBody>
      </p:sp>
      <p:pic>
        <p:nvPicPr>
          <p:cNvPr id="2050" name="Picture 2" descr="Cyber Risk Management Company ISTARI Invests in Security Data Science  Pioneer Prevalent AI">
            <a:extLst>
              <a:ext uri="{FF2B5EF4-FFF2-40B4-BE49-F238E27FC236}">
                <a16:creationId xmlns:a16="http://schemas.microsoft.com/office/drawing/2014/main" id="{6CE267C2-B401-5F67-EE20-BDCD39E42FEA}"/>
              </a:ext>
            </a:extLst>
          </p:cNvPr>
          <p:cNvPicPr>
            <a:picLocks noChangeAspect="1" noChangeArrowheads="1"/>
          </p:cNvPicPr>
          <p:nvPr userDrawn="1"/>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882606" y="143819"/>
            <a:ext cx="1088704" cy="232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6008622"/>
      </p:ext>
    </p:extLst>
  </p:cSld>
  <p:clrMapOvr>
    <a:masterClrMapping/>
  </p:clrMapOvr>
  <p:extLst>
    <p:ext uri="{DCECCB84-F9BA-43D5-87BE-67443E8EF086}">
      <p15:sldGuideLst xmlns:p15="http://schemas.microsoft.com/office/powerpoint/2012/main">
        <p15:guide id="1" orient="horz" pos="468">
          <p15:clr>
            <a:srgbClr val="FBAE40"/>
          </p15:clr>
        </p15:guide>
        <p15:guide id="2" orient="horz" pos="3888">
          <p15:clr>
            <a:srgbClr val="FBAE40"/>
          </p15:clr>
        </p15:guide>
        <p15:guide id="3" pos="264">
          <p15:clr>
            <a:srgbClr val="FBAE40"/>
          </p15:clr>
        </p15:guide>
        <p15:guide id="4" pos="72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Body Alt 2">
    <p:bg>
      <p:bgPr>
        <a:solidFill>
          <a:srgbClr val="060B25"/>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D1806E1-3460-4193-B902-B25E7D8DBFFA}"/>
              </a:ext>
            </a:extLst>
          </p:cNvPr>
          <p:cNvGraphicFramePr>
            <a:graphicFrameLocks noChangeAspect="1"/>
          </p:cNvGraphicFramePr>
          <p:nvPr userDrawn="1">
            <p:custDataLst>
              <p:tags r:id="rId1"/>
            </p:custDataLst>
            <p:extLst>
              <p:ext uri="{D42A27DB-BD31-4B8C-83A1-F6EECF244321}">
                <p14:modId xmlns:p14="http://schemas.microsoft.com/office/powerpoint/2010/main" val="551249513"/>
              </p:ext>
            </p:extLst>
          </p:nvPr>
        </p:nvGraphicFramePr>
        <p:xfrm>
          <a:off x="2122" y="1589"/>
          <a:ext cx="2116" cy="1587"/>
        </p:xfrm>
        <a:graphic>
          <a:graphicData uri="http://schemas.openxmlformats.org/presentationml/2006/ole">
            <mc:AlternateContent xmlns:mc="http://schemas.openxmlformats.org/markup-compatibility/2006">
              <mc:Choice xmlns:v="urn:schemas-microsoft-com:vml" Requires="v">
                <p:oleObj name="think-cell Slide" r:id="rId5" imgW="473" imgH="476" progId="TCLayout.ActiveDocument.1">
                  <p:embed/>
                </p:oleObj>
              </mc:Choice>
              <mc:Fallback>
                <p:oleObj name="think-cell Slide" r:id="rId5" imgW="473" imgH="476" progId="TCLayout.ActiveDocument.1">
                  <p:embed/>
                  <p:pic>
                    <p:nvPicPr>
                      <p:cNvPr id="7" name="Object 6" hidden="1">
                        <a:extLst>
                          <a:ext uri="{FF2B5EF4-FFF2-40B4-BE49-F238E27FC236}">
                            <a16:creationId xmlns:a16="http://schemas.microsoft.com/office/drawing/2014/main" id="{1D1806E1-3460-4193-B902-B25E7D8DBFFA}"/>
                          </a:ext>
                        </a:extLst>
                      </p:cNvPr>
                      <p:cNvPicPr/>
                      <p:nvPr/>
                    </p:nvPicPr>
                    <p:blipFill>
                      <a:blip r:embed="rId6"/>
                      <a:stretch>
                        <a:fillRect/>
                      </a:stretch>
                    </p:blipFill>
                    <p:spPr>
                      <a:xfrm>
                        <a:off x="2122" y="1589"/>
                        <a:ext cx="2116" cy="1587"/>
                      </a:xfrm>
                      <a:prstGeom prst="rect">
                        <a:avLst/>
                      </a:prstGeom>
                    </p:spPr>
                  </p:pic>
                </p:oleObj>
              </mc:Fallback>
            </mc:AlternateContent>
          </a:graphicData>
        </a:graphic>
      </p:graphicFrame>
      <p:sp>
        <p:nvSpPr>
          <p:cNvPr id="3" name="Rectangle 2" hidden="1"/>
          <p:cNvSpPr/>
          <p:nvPr userDrawn="1">
            <p:custDataLst>
              <p:tags r:id="rId2"/>
            </p:custDataLst>
          </p:nvPr>
        </p:nvSpPr>
        <p:spPr>
          <a:xfrm>
            <a:off x="0" y="1"/>
            <a:ext cx="211667" cy="211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rtl="0" eaLnBrk="1"/>
            <a:endParaRPr lang="en-US" sz="2400" b="1" i="0" baseline="0">
              <a:latin typeface="Aptos" panose="020B0004020202020204" pitchFamily="34" charset="0"/>
              <a:ea typeface="+mj-ea"/>
              <a:cs typeface="+mj-cs"/>
              <a:sym typeface="Aptos" panose="020B0004020202020204" pitchFamily="34" charset="0"/>
            </a:endParaRPr>
          </a:p>
        </p:txBody>
      </p:sp>
      <p:sp>
        <p:nvSpPr>
          <p:cNvPr id="19" name="Do not remove" hidden="1"/>
          <p:cNvSpPr/>
          <p:nvPr userDrawn="1">
            <p:custDataLst>
              <p:tags r:id="rId3"/>
            </p:custDataLst>
          </p:nvPr>
        </p:nvSpPr>
        <p:spPr>
          <a:xfrm>
            <a:off x="0" y="0"/>
            <a:ext cx="16933" cy="16933"/>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2400">
              <a:latin typeface="Aptos" panose="020B0004020202020204" pitchFamily="34" charset="0"/>
              <a:sym typeface="Aptos" panose="020B0004020202020204" pitchFamily="34" charset="0"/>
            </a:endParaRPr>
          </a:p>
        </p:txBody>
      </p:sp>
    </p:spTree>
    <p:extLst>
      <p:ext uri="{BB962C8B-B14F-4D97-AF65-F5344CB8AC3E}">
        <p14:creationId xmlns:p14="http://schemas.microsoft.com/office/powerpoint/2010/main" val="523975160"/>
      </p:ext>
    </p:extLst>
  </p:cSld>
  <p:clrMapOvr>
    <a:masterClrMapping/>
  </p:clrMapOvr>
  <p:extLst>
    <p:ext uri="{DCECCB84-F9BA-43D5-87BE-67443E8EF086}">
      <p15:sldGuideLst xmlns:p15="http://schemas.microsoft.com/office/powerpoint/2012/main">
        <p15:guide id="1" orient="horz" pos="468">
          <p15:clr>
            <a:srgbClr val="FBAE40"/>
          </p15:clr>
        </p15:guide>
        <p15:guide id="2" orient="horz" pos="3888">
          <p15:clr>
            <a:srgbClr val="FBAE40"/>
          </p15:clr>
        </p15:guide>
        <p15:guide id="3" pos="264">
          <p15:clr>
            <a:srgbClr val="FBAE40"/>
          </p15:clr>
        </p15:guide>
        <p15:guide id="4" pos="72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Body Alt 2">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D1806E1-3460-4193-B902-B25E7D8DBFFA}"/>
              </a:ext>
            </a:extLst>
          </p:cNvPr>
          <p:cNvGraphicFramePr>
            <a:graphicFrameLocks noChangeAspect="1"/>
          </p:cNvGraphicFramePr>
          <p:nvPr userDrawn="1">
            <p:custDataLst>
              <p:tags r:id="rId1"/>
            </p:custDataLst>
            <p:extLst>
              <p:ext uri="{D42A27DB-BD31-4B8C-83A1-F6EECF244321}">
                <p14:modId xmlns:p14="http://schemas.microsoft.com/office/powerpoint/2010/main" val="2808834525"/>
              </p:ext>
            </p:extLst>
          </p:nvPr>
        </p:nvGraphicFramePr>
        <p:xfrm>
          <a:off x="2122" y="1589"/>
          <a:ext cx="2116" cy="1587"/>
        </p:xfrm>
        <a:graphic>
          <a:graphicData uri="http://schemas.openxmlformats.org/presentationml/2006/ole">
            <mc:AlternateContent xmlns:mc="http://schemas.openxmlformats.org/markup-compatibility/2006">
              <mc:Choice xmlns:v="urn:schemas-microsoft-com:vml" Requires="v">
                <p:oleObj name="think-cell Slide" r:id="rId5" imgW="473" imgH="476" progId="TCLayout.ActiveDocument.1">
                  <p:embed/>
                </p:oleObj>
              </mc:Choice>
              <mc:Fallback>
                <p:oleObj name="think-cell Slide" r:id="rId5" imgW="473" imgH="476" progId="TCLayout.ActiveDocument.1">
                  <p:embed/>
                  <p:pic>
                    <p:nvPicPr>
                      <p:cNvPr id="7" name="Object 6" hidden="1">
                        <a:extLst>
                          <a:ext uri="{FF2B5EF4-FFF2-40B4-BE49-F238E27FC236}">
                            <a16:creationId xmlns:a16="http://schemas.microsoft.com/office/drawing/2014/main" id="{1D1806E1-3460-4193-B902-B25E7D8DBFFA}"/>
                          </a:ext>
                        </a:extLst>
                      </p:cNvPr>
                      <p:cNvPicPr/>
                      <p:nvPr/>
                    </p:nvPicPr>
                    <p:blipFill>
                      <a:blip r:embed="rId6"/>
                      <a:stretch>
                        <a:fillRect/>
                      </a:stretch>
                    </p:blipFill>
                    <p:spPr>
                      <a:xfrm>
                        <a:off x="2122" y="1589"/>
                        <a:ext cx="2116" cy="1587"/>
                      </a:xfrm>
                      <a:prstGeom prst="rect">
                        <a:avLst/>
                      </a:prstGeom>
                    </p:spPr>
                  </p:pic>
                </p:oleObj>
              </mc:Fallback>
            </mc:AlternateContent>
          </a:graphicData>
        </a:graphic>
      </p:graphicFrame>
      <p:sp>
        <p:nvSpPr>
          <p:cNvPr id="3" name="Rectangle 2" hidden="1"/>
          <p:cNvSpPr/>
          <p:nvPr userDrawn="1">
            <p:custDataLst>
              <p:tags r:id="rId2"/>
            </p:custDataLst>
          </p:nvPr>
        </p:nvSpPr>
        <p:spPr>
          <a:xfrm>
            <a:off x="0" y="1"/>
            <a:ext cx="211667" cy="211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rtl="0" eaLnBrk="1"/>
            <a:endParaRPr lang="en-US" sz="2400" b="1" i="0" baseline="0">
              <a:latin typeface="Aptos" panose="020B0004020202020204" pitchFamily="34" charset="0"/>
              <a:ea typeface="+mj-ea"/>
              <a:cs typeface="+mj-cs"/>
              <a:sym typeface="Aptos" panose="020B0004020202020204" pitchFamily="34" charset="0"/>
            </a:endParaRPr>
          </a:p>
        </p:txBody>
      </p:sp>
      <p:sp>
        <p:nvSpPr>
          <p:cNvPr id="19" name="Do not remove" hidden="1"/>
          <p:cNvSpPr/>
          <p:nvPr userDrawn="1">
            <p:custDataLst>
              <p:tags r:id="rId3"/>
            </p:custDataLst>
          </p:nvPr>
        </p:nvSpPr>
        <p:spPr>
          <a:xfrm>
            <a:off x="0" y="0"/>
            <a:ext cx="16933" cy="16933"/>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2400">
              <a:latin typeface="Aptos" panose="020B0004020202020204" pitchFamily="34" charset="0"/>
              <a:sym typeface="Aptos" panose="020B0004020202020204" pitchFamily="34" charset="0"/>
            </a:endParaRPr>
          </a:p>
        </p:txBody>
      </p:sp>
      <p:pic>
        <p:nvPicPr>
          <p:cNvPr id="2050" name="Picture 2" descr="Cyber Risk Management Company ISTARI Invests in Security Data Science  Pioneer Prevalent AI">
            <a:extLst>
              <a:ext uri="{FF2B5EF4-FFF2-40B4-BE49-F238E27FC236}">
                <a16:creationId xmlns:a16="http://schemas.microsoft.com/office/drawing/2014/main" id="{6CE267C2-B401-5F67-EE20-BDCD39E42FEA}"/>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0882606" y="143819"/>
            <a:ext cx="1088704" cy="232484"/>
          </a:xfrm>
          <a:prstGeom prst="rect">
            <a:avLst/>
          </a:prstGeom>
          <a:noFill/>
          <a:extLst>
            <a:ext uri="{909E8E84-426E-40DD-AFC4-6F175D3DCCD1}">
              <a14:hiddenFill xmlns:a14="http://schemas.microsoft.com/office/drawing/2010/main">
                <a:solidFill>
                  <a:srgbClr val="FFFFFF"/>
                </a:solidFill>
              </a14:hiddenFill>
            </a:ext>
          </a:extLst>
        </p:spPr>
      </p:pic>
      <p:sp>
        <p:nvSpPr>
          <p:cNvPr id="2" name="Holder 6">
            <a:extLst>
              <a:ext uri="{FF2B5EF4-FFF2-40B4-BE49-F238E27FC236}">
                <a16:creationId xmlns:a16="http://schemas.microsoft.com/office/drawing/2014/main" id="{6523F1B6-4927-AD98-AD5B-2822D231C350}"/>
              </a:ext>
            </a:extLst>
          </p:cNvPr>
          <p:cNvSpPr txBox="1">
            <a:spLocks/>
          </p:cNvSpPr>
          <p:nvPr userDrawn="1"/>
        </p:nvSpPr>
        <p:spPr>
          <a:xfrm>
            <a:off x="11686478" y="6542230"/>
            <a:ext cx="261620" cy="205121"/>
          </a:xfrm>
          <a:prstGeom prst="rect">
            <a:avLst/>
          </a:prstGeom>
        </p:spPr>
        <p:txBody>
          <a:bodyPr wrap="square" lIns="0" tIns="0" rIns="0" bIns="0">
            <a:spAutoFit/>
          </a:bodyPr>
          <a:lstStyle>
            <a:defPPr>
              <a:defRPr lang="en-US"/>
            </a:defPPr>
            <a:lvl1pPr marL="33866" marR="0" lvl="0" indent="0" fontAlgn="auto">
              <a:lnSpc>
                <a:spcPct val="100000"/>
              </a:lnSpc>
              <a:spcBef>
                <a:spcPts val="220"/>
              </a:spcBef>
              <a:spcAft>
                <a:spcPts val="0"/>
              </a:spcAft>
              <a:buClrTx/>
              <a:buSzTx/>
              <a:buFontTx/>
              <a:buNone/>
              <a:tabLst/>
              <a:defRPr kumimoji="0" sz="1333" b="0" i="0" u="none" strike="noStrike" cap="none" spc="-7" normalizeH="0" baseline="0">
                <a:ln>
                  <a:noFill/>
                </a:ln>
                <a:solidFill>
                  <a:srgbClr val="595959"/>
                </a:solidFill>
                <a:effectLst/>
                <a:uLnTx/>
                <a:uFillTx/>
                <a:latin typeface="Open Sans"/>
                <a:cs typeface="Open San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3866" marR="0" lvl="0" indent="0" algn="l" defTabSz="914400" rtl="0" eaLnBrk="1" fontAlgn="auto" latinLnBrk="0" hangingPunct="1">
              <a:lnSpc>
                <a:spcPct val="100000"/>
              </a:lnSpc>
              <a:spcBef>
                <a:spcPts val="220"/>
              </a:spcBef>
              <a:spcAft>
                <a:spcPts val="0"/>
              </a:spcAft>
              <a:buClrTx/>
              <a:buSzTx/>
              <a:buFontTx/>
              <a:buNone/>
              <a:tabLst/>
              <a:defRPr/>
            </a:pPr>
            <a:fld id="{81D60167-4931-47E6-BA6A-407CBD079E47}" type="slidenum">
              <a:rPr kumimoji="0" lang="en-US" sz="1333" b="0" i="0" u="none" strike="noStrike" kern="1200" cap="none" spc="-7" normalizeH="0" baseline="0" noProof="0" smtClean="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rPr>
              <a:pPr marL="33866" marR="0" lvl="0" indent="0" algn="l" defTabSz="914400" rtl="0" eaLnBrk="1" fontAlgn="auto" latinLnBrk="0" hangingPunct="1">
                <a:lnSpc>
                  <a:spcPct val="100000"/>
                </a:lnSpc>
                <a:spcBef>
                  <a:spcPts val="220"/>
                </a:spcBef>
                <a:spcAft>
                  <a:spcPts val="0"/>
                </a:spcAft>
                <a:buClrTx/>
                <a:buSzTx/>
                <a:buFontTx/>
                <a:buNone/>
                <a:tabLst/>
                <a:defRPr/>
              </a:pPr>
              <a:t>‹#›</a:t>
            </a:fld>
            <a:endParaRPr kumimoji="0" lang="en-US" sz="1333" b="0" i="0" u="none" strike="noStrike" kern="1200" cap="none" spc="-7" normalizeH="0" baseline="0" noProof="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endParaRPr>
          </a:p>
        </p:txBody>
      </p:sp>
      <p:sp>
        <p:nvSpPr>
          <p:cNvPr id="5" name="TextBox 291">
            <a:extLst>
              <a:ext uri="{FF2B5EF4-FFF2-40B4-BE49-F238E27FC236}">
                <a16:creationId xmlns:a16="http://schemas.microsoft.com/office/drawing/2014/main" id="{4D6EA8F1-857B-E2B5-9654-A0F357D4AD1F}"/>
              </a:ext>
            </a:extLst>
          </p:cNvPr>
          <p:cNvSpPr txBox="1">
            <a:spLocks noChangeArrowheads="1"/>
          </p:cNvSpPr>
          <p:nvPr userDrawn="1"/>
        </p:nvSpPr>
        <p:spPr bwMode="auto">
          <a:xfrm>
            <a:off x="4308475" y="6583020"/>
            <a:ext cx="35750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fontAlgn="base">
              <a:spcBef>
                <a:spcPct val="0"/>
              </a:spcBef>
              <a:spcAft>
                <a:spcPct val="0"/>
              </a:spcAft>
              <a:defRPr>
                <a:solidFill>
                  <a:schemeClr val="tx1"/>
                </a:solidFill>
                <a:latin typeface="Myriad Pro" panose="020B0503030403020204" pitchFamily="34" charset="0"/>
              </a:defRPr>
            </a:lvl6pPr>
            <a:lvl7pPr marL="2971800" indent="-228600" fontAlgn="base">
              <a:spcBef>
                <a:spcPct val="0"/>
              </a:spcBef>
              <a:spcAft>
                <a:spcPct val="0"/>
              </a:spcAft>
              <a:defRPr>
                <a:solidFill>
                  <a:schemeClr val="tx1"/>
                </a:solidFill>
                <a:latin typeface="Myriad Pro" panose="020B0503030403020204" pitchFamily="34" charset="0"/>
              </a:defRPr>
            </a:lvl7pPr>
            <a:lvl8pPr marL="3429000" indent="-228600" fontAlgn="base">
              <a:spcBef>
                <a:spcPct val="0"/>
              </a:spcBef>
              <a:spcAft>
                <a:spcPct val="0"/>
              </a:spcAft>
              <a:defRPr>
                <a:solidFill>
                  <a:schemeClr val="tx1"/>
                </a:solidFill>
                <a:latin typeface="Myriad Pro" panose="020B0503030403020204" pitchFamily="34" charset="0"/>
              </a:defRPr>
            </a:lvl8pPr>
            <a:lvl9pPr marL="3886200" indent="-228600" fontAlgn="base">
              <a:spcBef>
                <a:spcPct val="0"/>
              </a:spcBef>
              <a:spcAft>
                <a:spcPct val="0"/>
              </a:spcAft>
              <a:defRPr>
                <a:solidFill>
                  <a:schemeClr val="tx1"/>
                </a:solidFill>
                <a:latin typeface="Myriad Pro" panose="020B05030304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800" b="0" u="none" strike="noStrike" kern="1200" cap="none" spc="0" normalizeH="0" baseline="0" noProof="0">
                <a:ln>
                  <a:noFill/>
                </a:ln>
                <a:solidFill>
                  <a:srgbClr val="595959"/>
                </a:solidFill>
                <a:effectLst/>
                <a:uLnTx/>
                <a:uFillTx/>
                <a:latin typeface="Aptos" panose="020B0004020202020204" pitchFamily="34" charset="0"/>
                <a:sym typeface="Aptos" panose="020B0004020202020204" pitchFamily="34" charset="0"/>
              </a:rPr>
              <a:t>Confidential Materials. Do Not Distribute.</a:t>
            </a:r>
          </a:p>
        </p:txBody>
      </p:sp>
    </p:spTree>
    <p:extLst>
      <p:ext uri="{BB962C8B-B14F-4D97-AF65-F5344CB8AC3E}">
        <p14:creationId xmlns:p14="http://schemas.microsoft.com/office/powerpoint/2010/main" val="1310780806"/>
      </p:ext>
    </p:extLst>
  </p:cSld>
  <p:clrMapOvr>
    <a:masterClrMapping/>
  </p:clrMapOvr>
  <p:extLst>
    <p:ext uri="{DCECCB84-F9BA-43D5-87BE-67443E8EF086}">
      <p15:sldGuideLst xmlns:p15="http://schemas.microsoft.com/office/powerpoint/2012/main">
        <p15:guide id="1" orient="horz" pos="468">
          <p15:clr>
            <a:srgbClr val="FBAE40"/>
          </p15:clr>
        </p15:guide>
        <p15:guide id="2" orient="horz" pos="3888">
          <p15:clr>
            <a:srgbClr val="FBAE40"/>
          </p15:clr>
        </p15:guide>
        <p15:guide id="3" pos="264">
          <p15:clr>
            <a:srgbClr val="FBAE40"/>
          </p15:clr>
        </p15:guide>
        <p15:guide id="4" pos="729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rgbClr val="D7D6F2"/>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FC639E1-2584-5EB6-E61E-BB9F9E312133}"/>
              </a:ext>
            </a:extLst>
          </p:cNvPr>
          <p:cNvGraphicFramePr>
            <a:graphicFrameLocks noChangeAspect="1"/>
          </p:cNvGraphicFramePr>
          <p:nvPr userDrawn="1">
            <p:custDataLst>
              <p:tags r:id="rId1"/>
            </p:custDataLst>
            <p:extLst>
              <p:ext uri="{D42A27DB-BD31-4B8C-83A1-F6EECF244321}">
                <p14:modId xmlns:p14="http://schemas.microsoft.com/office/powerpoint/2010/main" val="39143178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3" name="think-cell data - do not delete" hidden="1">
                        <a:extLst>
                          <a:ext uri="{FF2B5EF4-FFF2-40B4-BE49-F238E27FC236}">
                            <a16:creationId xmlns:a16="http://schemas.microsoft.com/office/drawing/2014/main" id="{EFC639E1-2584-5EB6-E61E-BB9F9E31213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Holder 6">
            <a:extLst>
              <a:ext uri="{FF2B5EF4-FFF2-40B4-BE49-F238E27FC236}">
                <a16:creationId xmlns:a16="http://schemas.microsoft.com/office/drawing/2014/main" id="{3A8CA35C-ECB2-1F79-27E2-88734ED14F8F}"/>
              </a:ext>
            </a:extLst>
          </p:cNvPr>
          <p:cNvSpPr txBox="1">
            <a:spLocks/>
          </p:cNvSpPr>
          <p:nvPr userDrawn="1"/>
        </p:nvSpPr>
        <p:spPr>
          <a:xfrm>
            <a:off x="11686478" y="6542230"/>
            <a:ext cx="261620" cy="205121"/>
          </a:xfrm>
          <a:prstGeom prst="rect">
            <a:avLst/>
          </a:prstGeom>
        </p:spPr>
        <p:txBody>
          <a:bodyPr wrap="square" lIns="0" tIns="0" rIns="0" bIns="0">
            <a:spAutoFit/>
          </a:bodyPr>
          <a:lstStyle>
            <a:defPPr>
              <a:defRPr lang="en-US"/>
            </a:defPPr>
            <a:lvl1pPr marL="33866" marR="0" lvl="0" indent="0" fontAlgn="auto">
              <a:lnSpc>
                <a:spcPct val="100000"/>
              </a:lnSpc>
              <a:spcBef>
                <a:spcPts val="220"/>
              </a:spcBef>
              <a:spcAft>
                <a:spcPts val="0"/>
              </a:spcAft>
              <a:buClrTx/>
              <a:buSzTx/>
              <a:buFontTx/>
              <a:buNone/>
              <a:tabLst/>
              <a:defRPr kumimoji="0" sz="1333" b="0" i="0" u="none" strike="noStrike" cap="none" spc="-7" normalizeH="0" baseline="0">
                <a:ln>
                  <a:noFill/>
                </a:ln>
                <a:solidFill>
                  <a:srgbClr val="595959"/>
                </a:solidFill>
                <a:effectLst/>
                <a:uLnTx/>
                <a:uFillTx/>
                <a:latin typeface="Open Sans"/>
                <a:cs typeface="Open San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3866" marR="0" lvl="0" indent="0" algn="l" defTabSz="914400" rtl="0" eaLnBrk="1" fontAlgn="auto" latinLnBrk="0" hangingPunct="1">
              <a:lnSpc>
                <a:spcPct val="100000"/>
              </a:lnSpc>
              <a:spcBef>
                <a:spcPts val="220"/>
              </a:spcBef>
              <a:spcAft>
                <a:spcPts val="0"/>
              </a:spcAft>
              <a:buClrTx/>
              <a:buSzTx/>
              <a:buFontTx/>
              <a:buNone/>
              <a:tabLst/>
              <a:defRPr/>
            </a:pPr>
            <a:fld id="{81D60167-4931-47E6-BA6A-407CBD079E47}" type="slidenum">
              <a:rPr kumimoji="0" lang="en-US" sz="1333" b="0" i="0" u="none" strike="noStrike" kern="1200" cap="none" spc="-7" normalizeH="0" baseline="0" noProof="0" smtClean="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rPr>
              <a:pPr marL="33866" marR="0" lvl="0" indent="0" algn="l" defTabSz="914400" rtl="0" eaLnBrk="1" fontAlgn="auto" latinLnBrk="0" hangingPunct="1">
                <a:lnSpc>
                  <a:spcPct val="100000"/>
                </a:lnSpc>
                <a:spcBef>
                  <a:spcPts val="220"/>
                </a:spcBef>
                <a:spcAft>
                  <a:spcPts val="0"/>
                </a:spcAft>
                <a:buClrTx/>
                <a:buSzTx/>
                <a:buFontTx/>
                <a:buNone/>
                <a:tabLst/>
                <a:defRPr/>
              </a:pPr>
              <a:t>‹#›</a:t>
            </a:fld>
            <a:endParaRPr kumimoji="0" lang="en-US" sz="1333" b="0" i="0" u="none" strike="noStrike" kern="1200" cap="none" spc="-7" normalizeH="0" baseline="0" noProof="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endParaRPr>
          </a:p>
        </p:txBody>
      </p:sp>
    </p:spTree>
    <p:extLst>
      <p:ext uri="{BB962C8B-B14F-4D97-AF65-F5344CB8AC3E}">
        <p14:creationId xmlns:p14="http://schemas.microsoft.com/office/powerpoint/2010/main" val="35204716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Custom Layout">
    <p:bg>
      <p:bgPr>
        <a:solidFill>
          <a:srgbClr val="F2F2F2"/>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FC639E1-2584-5EB6-E61E-BB9F9E312133}"/>
              </a:ext>
            </a:extLst>
          </p:cNvPr>
          <p:cNvGraphicFramePr>
            <a:graphicFrameLocks noChangeAspect="1"/>
          </p:cNvGraphicFramePr>
          <p:nvPr userDrawn="1">
            <p:custDataLst>
              <p:tags r:id="rId1"/>
            </p:custDataLst>
            <p:extLst>
              <p:ext uri="{D42A27DB-BD31-4B8C-83A1-F6EECF244321}">
                <p14:modId xmlns:p14="http://schemas.microsoft.com/office/powerpoint/2010/main" val="23093364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3" name="think-cell data - do not delete" hidden="1">
                        <a:extLst>
                          <a:ext uri="{FF2B5EF4-FFF2-40B4-BE49-F238E27FC236}">
                            <a16:creationId xmlns:a16="http://schemas.microsoft.com/office/drawing/2014/main" id="{EFC639E1-2584-5EB6-E61E-BB9F9E31213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Holder 6">
            <a:extLst>
              <a:ext uri="{FF2B5EF4-FFF2-40B4-BE49-F238E27FC236}">
                <a16:creationId xmlns:a16="http://schemas.microsoft.com/office/drawing/2014/main" id="{3A8CA35C-ECB2-1F79-27E2-88734ED14F8F}"/>
              </a:ext>
            </a:extLst>
          </p:cNvPr>
          <p:cNvSpPr txBox="1">
            <a:spLocks/>
          </p:cNvSpPr>
          <p:nvPr userDrawn="1"/>
        </p:nvSpPr>
        <p:spPr>
          <a:xfrm>
            <a:off x="11686478" y="6542230"/>
            <a:ext cx="261620" cy="205121"/>
          </a:xfrm>
          <a:prstGeom prst="rect">
            <a:avLst/>
          </a:prstGeom>
        </p:spPr>
        <p:txBody>
          <a:bodyPr wrap="square" lIns="0" tIns="0" rIns="0" bIns="0">
            <a:spAutoFit/>
          </a:bodyPr>
          <a:lstStyle>
            <a:defPPr>
              <a:defRPr lang="en-US"/>
            </a:defPPr>
            <a:lvl1pPr marL="33866" marR="0" lvl="0" indent="0" fontAlgn="auto">
              <a:lnSpc>
                <a:spcPct val="100000"/>
              </a:lnSpc>
              <a:spcBef>
                <a:spcPts val="220"/>
              </a:spcBef>
              <a:spcAft>
                <a:spcPts val="0"/>
              </a:spcAft>
              <a:buClrTx/>
              <a:buSzTx/>
              <a:buFontTx/>
              <a:buNone/>
              <a:tabLst/>
              <a:defRPr kumimoji="0" sz="1333" b="0" i="0" u="none" strike="noStrike" cap="none" spc="-7" normalizeH="0" baseline="0">
                <a:ln>
                  <a:noFill/>
                </a:ln>
                <a:solidFill>
                  <a:srgbClr val="595959"/>
                </a:solidFill>
                <a:effectLst/>
                <a:uLnTx/>
                <a:uFillTx/>
                <a:latin typeface="Open Sans"/>
                <a:cs typeface="Open San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3866" marR="0" lvl="0" indent="0" algn="l" defTabSz="914400" rtl="0" eaLnBrk="1" fontAlgn="auto" latinLnBrk="0" hangingPunct="1">
              <a:lnSpc>
                <a:spcPct val="100000"/>
              </a:lnSpc>
              <a:spcBef>
                <a:spcPts val="220"/>
              </a:spcBef>
              <a:spcAft>
                <a:spcPts val="0"/>
              </a:spcAft>
              <a:buClrTx/>
              <a:buSzTx/>
              <a:buFontTx/>
              <a:buNone/>
              <a:tabLst/>
              <a:defRPr/>
            </a:pPr>
            <a:fld id="{81D60167-4931-47E6-BA6A-407CBD079E47}" type="slidenum">
              <a:rPr kumimoji="0" lang="en-US" sz="1333" b="0" i="0" u="none" strike="noStrike" kern="1200" cap="none" spc="-7" normalizeH="0" baseline="0" noProof="0" smtClean="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rPr>
              <a:pPr marL="33866" marR="0" lvl="0" indent="0" algn="l" defTabSz="914400" rtl="0" eaLnBrk="1" fontAlgn="auto" latinLnBrk="0" hangingPunct="1">
                <a:lnSpc>
                  <a:spcPct val="100000"/>
                </a:lnSpc>
                <a:spcBef>
                  <a:spcPts val="220"/>
                </a:spcBef>
                <a:spcAft>
                  <a:spcPts val="0"/>
                </a:spcAft>
                <a:buClrTx/>
                <a:buSzTx/>
                <a:buFontTx/>
                <a:buNone/>
                <a:tabLst/>
                <a:defRPr/>
              </a:pPr>
              <a:t>‹#›</a:t>
            </a:fld>
            <a:endParaRPr kumimoji="0" lang="en-US" sz="1333" b="0" i="0" u="none" strike="noStrike" kern="1200" cap="none" spc="-7" normalizeH="0" baseline="0" noProof="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endParaRPr>
          </a:p>
        </p:txBody>
      </p:sp>
    </p:spTree>
    <p:extLst>
      <p:ext uri="{BB962C8B-B14F-4D97-AF65-F5344CB8AC3E}">
        <p14:creationId xmlns:p14="http://schemas.microsoft.com/office/powerpoint/2010/main" val="35291375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Custom Layout">
    <p:bg>
      <p:bgPr>
        <a:solidFill>
          <a:srgbClr val="F2F2F2"/>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A4809C37-2834-0253-5EE2-8564D61722DC}"/>
              </a:ext>
            </a:extLst>
          </p:cNvPr>
          <p:cNvGraphicFramePr>
            <a:graphicFrameLocks noChangeAspect="1"/>
          </p:cNvGraphicFramePr>
          <p:nvPr userDrawn="1">
            <p:custDataLst>
              <p:tags r:id="rId1"/>
            </p:custDataLst>
            <p:extLst>
              <p:ext uri="{D42A27DB-BD31-4B8C-83A1-F6EECF244321}">
                <p14:modId xmlns:p14="http://schemas.microsoft.com/office/powerpoint/2010/main" val="7932754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6" name="think-cell data - do not delete" hidden="1">
                        <a:extLst>
                          <a:ext uri="{FF2B5EF4-FFF2-40B4-BE49-F238E27FC236}">
                            <a16:creationId xmlns:a16="http://schemas.microsoft.com/office/drawing/2014/main" id="{A4809C37-2834-0253-5EE2-8564D61722D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3" name="Picture 16">
            <a:extLst>
              <a:ext uri="{FF2B5EF4-FFF2-40B4-BE49-F238E27FC236}">
                <a16:creationId xmlns:a16="http://schemas.microsoft.com/office/drawing/2014/main" id="{A171E9EB-A79E-5391-FB97-B8D91840C8EF}"/>
              </a:ext>
            </a:extLst>
          </p:cNvPr>
          <p:cNvPicPr>
            <a:picLocks noChangeAspect="1" noChangeArrowheads="1"/>
          </p:cNvPicPr>
          <p:nvPr userDrawn="1"/>
        </p:nvPicPr>
        <p:blipFill>
          <a:blip r:embed="rId5">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flipH="1">
            <a:off x="0" y="-14264"/>
            <a:ext cx="3227364" cy="1979382"/>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8">
            <a:extLst>
              <a:ext uri="{FF2B5EF4-FFF2-40B4-BE49-F238E27FC236}">
                <a16:creationId xmlns:a16="http://schemas.microsoft.com/office/drawing/2014/main" id="{B20A0DF6-A9A6-FEC4-F6BE-93AB2A656DB7}"/>
              </a:ext>
            </a:extLst>
          </p:cNvPr>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r="19225"/>
          <a:stretch/>
        </p:blipFill>
        <p:spPr bwMode="auto">
          <a:xfrm>
            <a:off x="5956147" y="-14264"/>
            <a:ext cx="6235853" cy="6858000"/>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a:extLst>
              <a:ext uri="{FF2B5EF4-FFF2-40B4-BE49-F238E27FC236}">
                <a16:creationId xmlns:a16="http://schemas.microsoft.com/office/drawing/2014/main" id="{DE10A29B-ACE8-A9B2-9B53-0559B518BFE3}"/>
              </a:ext>
            </a:extLst>
          </p:cNvPr>
          <p:cNvSpPr/>
          <p:nvPr userDrawn="1"/>
        </p:nvSpPr>
        <p:spPr>
          <a:xfrm>
            <a:off x="0" y="0"/>
            <a:ext cx="12192000" cy="6858000"/>
          </a:xfrm>
          <a:prstGeom prst="rect">
            <a:avLst/>
          </a:prstGeom>
          <a:solidFill>
            <a:srgbClr val="F2F2F2">
              <a:alpha val="9098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sym typeface="Aptos" panose="020B0004020202020204" pitchFamily="34" charset="0"/>
            </a:endParaRPr>
          </a:p>
        </p:txBody>
      </p:sp>
    </p:spTree>
    <p:extLst>
      <p:ext uri="{BB962C8B-B14F-4D97-AF65-F5344CB8AC3E}">
        <p14:creationId xmlns:p14="http://schemas.microsoft.com/office/powerpoint/2010/main" val="2748908665"/>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Body Slid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D1806E1-3460-4193-B902-B25E7D8DBFFA}"/>
              </a:ext>
            </a:extLst>
          </p:cNvPr>
          <p:cNvGraphicFramePr>
            <a:graphicFrameLocks noChangeAspect="1"/>
          </p:cNvGraphicFramePr>
          <p:nvPr userDrawn="1">
            <p:custDataLst>
              <p:tags r:id="rId1"/>
            </p:custDataLst>
          </p:nvPr>
        </p:nvGraphicFramePr>
        <p:xfrm>
          <a:off x="2122" y="1589"/>
          <a:ext cx="2116" cy="1587"/>
        </p:xfrm>
        <a:graphic>
          <a:graphicData uri="http://schemas.openxmlformats.org/presentationml/2006/ole">
            <mc:AlternateContent xmlns:mc="http://schemas.openxmlformats.org/markup-compatibility/2006">
              <mc:Choice xmlns:v="urn:schemas-microsoft-com:vml" Requires="v">
                <p:oleObj name="think-cell Slide" r:id="rId5" imgW="473" imgH="476" progId="TCLayout.ActiveDocument.1">
                  <p:embed/>
                </p:oleObj>
              </mc:Choice>
              <mc:Fallback>
                <p:oleObj name="think-cell Slide" r:id="rId5" imgW="473" imgH="476" progId="TCLayout.ActiveDocument.1">
                  <p:embed/>
                  <p:pic>
                    <p:nvPicPr>
                      <p:cNvPr id="7" name="Object 6" hidden="1">
                        <a:extLst>
                          <a:ext uri="{FF2B5EF4-FFF2-40B4-BE49-F238E27FC236}">
                            <a16:creationId xmlns:a16="http://schemas.microsoft.com/office/drawing/2014/main" id="{1D1806E1-3460-4193-B902-B25E7D8DBFFA}"/>
                          </a:ext>
                        </a:extLst>
                      </p:cNvPr>
                      <p:cNvPicPr/>
                      <p:nvPr/>
                    </p:nvPicPr>
                    <p:blipFill>
                      <a:blip r:embed="rId6"/>
                      <a:stretch>
                        <a:fillRect/>
                      </a:stretch>
                    </p:blipFill>
                    <p:spPr>
                      <a:xfrm>
                        <a:off x="2122" y="1589"/>
                        <a:ext cx="2116" cy="1587"/>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DDA7C58-8535-E08D-643B-A2D7317D0AA8}"/>
              </a:ext>
            </a:extLst>
          </p:cNvPr>
          <p:cNvSpPr/>
          <p:nvPr userDrawn="1"/>
        </p:nvSpPr>
        <p:spPr>
          <a:xfrm>
            <a:off x="6096000" y="0"/>
            <a:ext cx="6096000" cy="6858000"/>
          </a:xfrm>
          <a:prstGeom prst="rect">
            <a:avLst/>
          </a:prstGeom>
          <a:solidFill>
            <a:srgbClr val="F2F2F2">
              <a:alpha val="9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latin typeface="Aptos" panose="020B0004020202020204" pitchFamily="34" charset="0"/>
              <a:sym typeface="Aptos" panose="020B0004020202020204" pitchFamily="34" charset="0"/>
            </a:endParaRPr>
          </a:p>
        </p:txBody>
      </p:sp>
      <p:sp>
        <p:nvSpPr>
          <p:cNvPr id="3" name="Rectangle 2" hidden="1"/>
          <p:cNvSpPr/>
          <p:nvPr userDrawn="1">
            <p:custDataLst>
              <p:tags r:id="rId2"/>
            </p:custDataLst>
          </p:nvPr>
        </p:nvSpPr>
        <p:spPr>
          <a:xfrm>
            <a:off x="0" y="1"/>
            <a:ext cx="211667" cy="211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rtl="0" eaLnBrk="1"/>
            <a:endParaRPr lang="en-US" sz="2400" b="1" i="0" baseline="0">
              <a:latin typeface="Aptos" panose="020B0004020202020204" pitchFamily="34" charset="0"/>
              <a:ea typeface="+mj-ea"/>
              <a:cs typeface="+mj-cs"/>
              <a:sym typeface="Aptos" panose="020B0004020202020204" pitchFamily="34" charset="0"/>
            </a:endParaRPr>
          </a:p>
        </p:txBody>
      </p:sp>
      <p:sp>
        <p:nvSpPr>
          <p:cNvPr id="19" name="Do not remove" hidden="1"/>
          <p:cNvSpPr/>
          <p:nvPr userDrawn="1">
            <p:custDataLst>
              <p:tags r:id="rId3"/>
            </p:custDataLst>
          </p:nvPr>
        </p:nvSpPr>
        <p:spPr>
          <a:xfrm>
            <a:off x="0" y="0"/>
            <a:ext cx="16933" cy="16933"/>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2400">
              <a:latin typeface="Aptos" panose="020B0004020202020204" pitchFamily="34" charset="0"/>
              <a:sym typeface="Aptos" panose="020B0004020202020204" pitchFamily="34" charset="0"/>
            </a:endParaRPr>
          </a:p>
        </p:txBody>
      </p:sp>
      <p:pic>
        <p:nvPicPr>
          <p:cNvPr id="5" name="Picture 2" descr="Cyber Risk Management Company ISTARI Invests in Security Data Science  Pioneer Prevalent AI">
            <a:extLst>
              <a:ext uri="{FF2B5EF4-FFF2-40B4-BE49-F238E27FC236}">
                <a16:creationId xmlns:a16="http://schemas.microsoft.com/office/drawing/2014/main" id="{03C0EF90-17A5-4C3B-9699-F1E7249BFAAA}"/>
              </a:ext>
            </a:extLst>
          </p:cNvPr>
          <p:cNvPicPr>
            <a:picLocks noChangeAspect="1" noChangeArrowheads="1"/>
          </p:cNvPicPr>
          <p:nvPr userDrawn="1"/>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882606" y="143819"/>
            <a:ext cx="1088704" cy="232484"/>
          </a:xfrm>
          <a:prstGeom prst="rect">
            <a:avLst/>
          </a:prstGeom>
          <a:noFill/>
          <a:extLst>
            <a:ext uri="{909E8E84-426E-40DD-AFC4-6F175D3DCCD1}">
              <a14:hiddenFill xmlns:a14="http://schemas.microsoft.com/office/drawing/2010/main">
                <a:solidFill>
                  <a:srgbClr val="FFFFFF"/>
                </a:solidFill>
              </a14:hiddenFill>
            </a:ext>
          </a:extLst>
        </p:spPr>
      </p:pic>
      <p:sp>
        <p:nvSpPr>
          <p:cNvPr id="2" name="Holder 6">
            <a:extLst>
              <a:ext uri="{FF2B5EF4-FFF2-40B4-BE49-F238E27FC236}">
                <a16:creationId xmlns:a16="http://schemas.microsoft.com/office/drawing/2014/main" id="{E3FE6387-6C41-E201-083D-006CD1E60F97}"/>
              </a:ext>
            </a:extLst>
          </p:cNvPr>
          <p:cNvSpPr txBox="1">
            <a:spLocks/>
          </p:cNvSpPr>
          <p:nvPr userDrawn="1"/>
        </p:nvSpPr>
        <p:spPr>
          <a:xfrm>
            <a:off x="11686478" y="6542230"/>
            <a:ext cx="261620" cy="205121"/>
          </a:xfrm>
          <a:prstGeom prst="rect">
            <a:avLst/>
          </a:prstGeom>
        </p:spPr>
        <p:txBody>
          <a:bodyPr wrap="square" lIns="0" tIns="0" rIns="0" bIns="0">
            <a:spAutoFit/>
          </a:bodyPr>
          <a:lstStyle>
            <a:defPPr>
              <a:defRPr lang="en-US"/>
            </a:defPPr>
            <a:lvl1pPr marL="33866" marR="0" lvl="0" indent="0" fontAlgn="auto">
              <a:lnSpc>
                <a:spcPct val="100000"/>
              </a:lnSpc>
              <a:spcBef>
                <a:spcPts val="220"/>
              </a:spcBef>
              <a:spcAft>
                <a:spcPts val="0"/>
              </a:spcAft>
              <a:buClrTx/>
              <a:buSzTx/>
              <a:buFontTx/>
              <a:buNone/>
              <a:tabLst/>
              <a:defRPr kumimoji="0" sz="1333" b="0" i="0" u="none" strike="noStrike" cap="none" spc="-7" normalizeH="0" baseline="0">
                <a:ln>
                  <a:noFill/>
                </a:ln>
                <a:solidFill>
                  <a:srgbClr val="595959"/>
                </a:solidFill>
                <a:effectLst/>
                <a:uLnTx/>
                <a:uFillTx/>
                <a:latin typeface="Open Sans"/>
                <a:cs typeface="Open San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3866" marR="0" lvl="0" indent="0" algn="l" defTabSz="914400" rtl="0" eaLnBrk="1" fontAlgn="auto" latinLnBrk="0" hangingPunct="1">
              <a:lnSpc>
                <a:spcPct val="100000"/>
              </a:lnSpc>
              <a:spcBef>
                <a:spcPts val="220"/>
              </a:spcBef>
              <a:spcAft>
                <a:spcPts val="0"/>
              </a:spcAft>
              <a:buClrTx/>
              <a:buSzTx/>
              <a:buFontTx/>
              <a:buNone/>
              <a:tabLst/>
              <a:defRPr/>
            </a:pPr>
            <a:fld id="{81D60167-4931-47E6-BA6A-407CBD079E47}" type="slidenum">
              <a:rPr kumimoji="0" lang="en-US" sz="1333" b="0" i="0" u="none" strike="noStrike" kern="1200" cap="none" spc="-7" normalizeH="0" baseline="0" noProof="0" smtClean="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rPr>
              <a:pPr marL="33866" marR="0" lvl="0" indent="0" algn="l" defTabSz="914400" rtl="0" eaLnBrk="1" fontAlgn="auto" latinLnBrk="0" hangingPunct="1">
                <a:lnSpc>
                  <a:spcPct val="100000"/>
                </a:lnSpc>
                <a:spcBef>
                  <a:spcPts val="220"/>
                </a:spcBef>
                <a:spcAft>
                  <a:spcPts val="0"/>
                </a:spcAft>
                <a:buClrTx/>
                <a:buSzTx/>
                <a:buFontTx/>
                <a:buNone/>
                <a:tabLst/>
                <a:defRPr/>
              </a:pPr>
              <a:t>‹#›</a:t>
            </a:fld>
            <a:endParaRPr kumimoji="0" lang="en-US" sz="1333" b="0" i="0" u="none" strike="noStrike" kern="1200" cap="none" spc="-7" normalizeH="0" baseline="0" noProof="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endParaRPr>
          </a:p>
        </p:txBody>
      </p:sp>
      <p:sp>
        <p:nvSpPr>
          <p:cNvPr id="8" name="TextBox 291">
            <a:extLst>
              <a:ext uri="{FF2B5EF4-FFF2-40B4-BE49-F238E27FC236}">
                <a16:creationId xmlns:a16="http://schemas.microsoft.com/office/drawing/2014/main" id="{6F29A92A-538B-0FB5-5023-824CA4B5FBBA}"/>
              </a:ext>
            </a:extLst>
          </p:cNvPr>
          <p:cNvSpPr txBox="1">
            <a:spLocks noChangeArrowheads="1"/>
          </p:cNvSpPr>
          <p:nvPr userDrawn="1"/>
        </p:nvSpPr>
        <p:spPr bwMode="auto">
          <a:xfrm>
            <a:off x="7356475" y="6583020"/>
            <a:ext cx="35750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fontAlgn="base">
              <a:spcBef>
                <a:spcPct val="0"/>
              </a:spcBef>
              <a:spcAft>
                <a:spcPct val="0"/>
              </a:spcAft>
              <a:defRPr>
                <a:solidFill>
                  <a:schemeClr val="tx1"/>
                </a:solidFill>
                <a:latin typeface="Myriad Pro" panose="020B0503030403020204" pitchFamily="34" charset="0"/>
              </a:defRPr>
            </a:lvl6pPr>
            <a:lvl7pPr marL="2971800" indent="-228600" fontAlgn="base">
              <a:spcBef>
                <a:spcPct val="0"/>
              </a:spcBef>
              <a:spcAft>
                <a:spcPct val="0"/>
              </a:spcAft>
              <a:defRPr>
                <a:solidFill>
                  <a:schemeClr val="tx1"/>
                </a:solidFill>
                <a:latin typeface="Myriad Pro" panose="020B0503030403020204" pitchFamily="34" charset="0"/>
              </a:defRPr>
            </a:lvl7pPr>
            <a:lvl8pPr marL="3429000" indent="-228600" fontAlgn="base">
              <a:spcBef>
                <a:spcPct val="0"/>
              </a:spcBef>
              <a:spcAft>
                <a:spcPct val="0"/>
              </a:spcAft>
              <a:defRPr>
                <a:solidFill>
                  <a:schemeClr val="tx1"/>
                </a:solidFill>
                <a:latin typeface="Myriad Pro" panose="020B0503030403020204" pitchFamily="34" charset="0"/>
              </a:defRPr>
            </a:lvl8pPr>
            <a:lvl9pPr marL="3886200" indent="-228600" fontAlgn="base">
              <a:spcBef>
                <a:spcPct val="0"/>
              </a:spcBef>
              <a:spcAft>
                <a:spcPct val="0"/>
              </a:spcAft>
              <a:defRPr>
                <a:solidFill>
                  <a:schemeClr val="tx1"/>
                </a:solidFill>
                <a:latin typeface="Myriad Pro" panose="020B05030304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800" b="0" u="none" strike="noStrike" kern="1200" cap="none" spc="0" normalizeH="0" baseline="0" noProof="0">
                <a:ln>
                  <a:noFill/>
                </a:ln>
                <a:solidFill>
                  <a:srgbClr val="595959"/>
                </a:solidFill>
                <a:effectLst/>
                <a:uLnTx/>
                <a:uFillTx/>
                <a:latin typeface="Aptos" panose="020B0004020202020204" pitchFamily="34" charset="0"/>
                <a:sym typeface="Aptos" panose="020B0004020202020204" pitchFamily="34" charset="0"/>
              </a:rPr>
              <a:t>Confidential Materials. Do Not Distribute.</a:t>
            </a:r>
          </a:p>
        </p:txBody>
      </p:sp>
    </p:spTree>
    <p:extLst>
      <p:ext uri="{BB962C8B-B14F-4D97-AF65-F5344CB8AC3E}">
        <p14:creationId xmlns:p14="http://schemas.microsoft.com/office/powerpoint/2010/main" val="26901536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Body Slid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D1806E1-3460-4193-B902-B25E7D8DBFFA}"/>
              </a:ext>
            </a:extLst>
          </p:cNvPr>
          <p:cNvGraphicFramePr>
            <a:graphicFrameLocks noChangeAspect="1"/>
          </p:cNvGraphicFramePr>
          <p:nvPr userDrawn="1">
            <p:custDataLst>
              <p:tags r:id="rId1"/>
            </p:custDataLst>
            <p:extLst>
              <p:ext uri="{D42A27DB-BD31-4B8C-83A1-F6EECF244321}">
                <p14:modId xmlns:p14="http://schemas.microsoft.com/office/powerpoint/2010/main" val="3025356506"/>
              </p:ext>
            </p:extLst>
          </p:nvPr>
        </p:nvGraphicFramePr>
        <p:xfrm>
          <a:off x="2122" y="1589"/>
          <a:ext cx="2116" cy="1587"/>
        </p:xfrm>
        <a:graphic>
          <a:graphicData uri="http://schemas.openxmlformats.org/presentationml/2006/ole">
            <mc:AlternateContent xmlns:mc="http://schemas.openxmlformats.org/markup-compatibility/2006">
              <mc:Choice xmlns:v="urn:schemas-microsoft-com:vml" Requires="v">
                <p:oleObj name="think-cell Slide" r:id="rId5" imgW="473" imgH="476" progId="TCLayout.ActiveDocument.1">
                  <p:embed/>
                </p:oleObj>
              </mc:Choice>
              <mc:Fallback>
                <p:oleObj name="think-cell Slide" r:id="rId5" imgW="473" imgH="476" progId="TCLayout.ActiveDocument.1">
                  <p:embed/>
                  <p:pic>
                    <p:nvPicPr>
                      <p:cNvPr id="7" name="Object 6" hidden="1">
                        <a:extLst>
                          <a:ext uri="{FF2B5EF4-FFF2-40B4-BE49-F238E27FC236}">
                            <a16:creationId xmlns:a16="http://schemas.microsoft.com/office/drawing/2014/main" id="{1D1806E1-3460-4193-B902-B25E7D8DBFFA}"/>
                          </a:ext>
                        </a:extLst>
                      </p:cNvPr>
                      <p:cNvPicPr/>
                      <p:nvPr/>
                    </p:nvPicPr>
                    <p:blipFill>
                      <a:blip r:embed="rId6"/>
                      <a:stretch>
                        <a:fillRect/>
                      </a:stretch>
                    </p:blipFill>
                    <p:spPr>
                      <a:xfrm>
                        <a:off x="2122" y="1589"/>
                        <a:ext cx="2116" cy="1587"/>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DDA7C58-8535-E08D-643B-A2D7317D0AA8}"/>
              </a:ext>
            </a:extLst>
          </p:cNvPr>
          <p:cNvSpPr/>
          <p:nvPr userDrawn="1"/>
        </p:nvSpPr>
        <p:spPr>
          <a:xfrm>
            <a:off x="6096000" y="0"/>
            <a:ext cx="6096000" cy="6858000"/>
          </a:xfrm>
          <a:prstGeom prst="rect">
            <a:avLst/>
          </a:prstGeom>
          <a:solidFill>
            <a:srgbClr val="F2F2F2">
              <a:alpha val="9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latin typeface="Aptos" panose="020B0004020202020204" pitchFamily="34" charset="0"/>
              <a:sym typeface="Aptos" panose="020B0004020202020204" pitchFamily="34" charset="0"/>
            </a:endParaRPr>
          </a:p>
        </p:txBody>
      </p:sp>
      <p:sp>
        <p:nvSpPr>
          <p:cNvPr id="3" name="Rectangle 2" hidden="1"/>
          <p:cNvSpPr/>
          <p:nvPr userDrawn="1">
            <p:custDataLst>
              <p:tags r:id="rId2"/>
            </p:custDataLst>
          </p:nvPr>
        </p:nvSpPr>
        <p:spPr>
          <a:xfrm>
            <a:off x="0" y="1"/>
            <a:ext cx="211667" cy="211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rtl="0" eaLnBrk="1"/>
            <a:endParaRPr lang="en-US" sz="2400" b="1" i="0" baseline="0">
              <a:latin typeface="Aptos" panose="020B0004020202020204" pitchFamily="34" charset="0"/>
              <a:ea typeface="+mj-ea"/>
              <a:cs typeface="+mj-cs"/>
              <a:sym typeface="Aptos" panose="020B0004020202020204" pitchFamily="34" charset="0"/>
            </a:endParaRPr>
          </a:p>
        </p:txBody>
      </p:sp>
      <p:sp>
        <p:nvSpPr>
          <p:cNvPr id="19" name="Do not remove" hidden="1"/>
          <p:cNvSpPr/>
          <p:nvPr userDrawn="1">
            <p:custDataLst>
              <p:tags r:id="rId3"/>
            </p:custDataLst>
          </p:nvPr>
        </p:nvSpPr>
        <p:spPr>
          <a:xfrm>
            <a:off x="0" y="0"/>
            <a:ext cx="16933" cy="16933"/>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2400">
              <a:latin typeface="Aptos" panose="020B0004020202020204" pitchFamily="34" charset="0"/>
              <a:sym typeface="Aptos" panose="020B0004020202020204" pitchFamily="34" charset="0"/>
            </a:endParaRPr>
          </a:p>
        </p:txBody>
      </p:sp>
      <p:pic>
        <p:nvPicPr>
          <p:cNvPr id="5" name="Picture 2" descr="Cyber Risk Management Company ISTARI Invests in Security Data Science  Pioneer Prevalent AI">
            <a:extLst>
              <a:ext uri="{FF2B5EF4-FFF2-40B4-BE49-F238E27FC236}">
                <a16:creationId xmlns:a16="http://schemas.microsoft.com/office/drawing/2014/main" id="{03C0EF90-17A5-4C3B-9699-F1E7249BFAAA}"/>
              </a:ext>
            </a:extLst>
          </p:cNvPr>
          <p:cNvPicPr>
            <a:picLocks noChangeAspect="1" noChangeArrowheads="1"/>
          </p:cNvPicPr>
          <p:nvPr userDrawn="1"/>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882606" y="143819"/>
            <a:ext cx="1088704" cy="232484"/>
          </a:xfrm>
          <a:prstGeom prst="rect">
            <a:avLst/>
          </a:prstGeom>
          <a:noFill/>
          <a:extLst>
            <a:ext uri="{909E8E84-426E-40DD-AFC4-6F175D3DCCD1}">
              <a14:hiddenFill xmlns:a14="http://schemas.microsoft.com/office/drawing/2010/main">
                <a:solidFill>
                  <a:srgbClr val="FFFFFF"/>
                </a:solidFill>
              </a14:hiddenFill>
            </a:ext>
          </a:extLst>
        </p:spPr>
      </p:pic>
      <p:sp>
        <p:nvSpPr>
          <p:cNvPr id="2" name="Holder 6">
            <a:extLst>
              <a:ext uri="{FF2B5EF4-FFF2-40B4-BE49-F238E27FC236}">
                <a16:creationId xmlns:a16="http://schemas.microsoft.com/office/drawing/2014/main" id="{E3FE6387-6C41-E201-083D-006CD1E60F97}"/>
              </a:ext>
            </a:extLst>
          </p:cNvPr>
          <p:cNvSpPr txBox="1">
            <a:spLocks/>
          </p:cNvSpPr>
          <p:nvPr userDrawn="1"/>
        </p:nvSpPr>
        <p:spPr>
          <a:xfrm>
            <a:off x="11686478" y="6542230"/>
            <a:ext cx="261620" cy="205121"/>
          </a:xfrm>
          <a:prstGeom prst="rect">
            <a:avLst/>
          </a:prstGeom>
        </p:spPr>
        <p:txBody>
          <a:bodyPr wrap="square" lIns="0" tIns="0" rIns="0" bIns="0">
            <a:spAutoFit/>
          </a:bodyPr>
          <a:lstStyle>
            <a:defPPr>
              <a:defRPr lang="en-US"/>
            </a:defPPr>
            <a:lvl1pPr marL="33866" marR="0" lvl="0" indent="0" fontAlgn="auto">
              <a:lnSpc>
                <a:spcPct val="100000"/>
              </a:lnSpc>
              <a:spcBef>
                <a:spcPts val="220"/>
              </a:spcBef>
              <a:spcAft>
                <a:spcPts val="0"/>
              </a:spcAft>
              <a:buClrTx/>
              <a:buSzTx/>
              <a:buFontTx/>
              <a:buNone/>
              <a:tabLst/>
              <a:defRPr kumimoji="0" sz="1333" b="0" i="0" u="none" strike="noStrike" cap="none" spc="-7" normalizeH="0" baseline="0">
                <a:ln>
                  <a:noFill/>
                </a:ln>
                <a:solidFill>
                  <a:srgbClr val="595959"/>
                </a:solidFill>
                <a:effectLst/>
                <a:uLnTx/>
                <a:uFillTx/>
                <a:latin typeface="Open Sans"/>
                <a:cs typeface="Open San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3866" marR="0" lvl="0" indent="0" algn="l" defTabSz="914400" rtl="0" eaLnBrk="1" fontAlgn="auto" latinLnBrk="0" hangingPunct="1">
              <a:lnSpc>
                <a:spcPct val="100000"/>
              </a:lnSpc>
              <a:spcBef>
                <a:spcPts val="220"/>
              </a:spcBef>
              <a:spcAft>
                <a:spcPts val="0"/>
              </a:spcAft>
              <a:buClrTx/>
              <a:buSzTx/>
              <a:buFontTx/>
              <a:buNone/>
              <a:tabLst/>
              <a:defRPr/>
            </a:pPr>
            <a:fld id="{81D60167-4931-47E6-BA6A-407CBD079E47}" type="slidenum">
              <a:rPr kumimoji="0" lang="en-US" sz="1333" b="0" i="0" u="none" strike="noStrike" kern="1200" cap="none" spc="-7" normalizeH="0" baseline="0" noProof="0" smtClean="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rPr>
              <a:pPr marL="33866" marR="0" lvl="0" indent="0" algn="l" defTabSz="914400" rtl="0" eaLnBrk="1" fontAlgn="auto" latinLnBrk="0" hangingPunct="1">
                <a:lnSpc>
                  <a:spcPct val="100000"/>
                </a:lnSpc>
                <a:spcBef>
                  <a:spcPts val="220"/>
                </a:spcBef>
                <a:spcAft>
                  <a:spcPts val="0"/>
                </a:spcAft>
                <a:buClrTx/>
                <a:buSzTx/>
                <a:buFontTx/>
                <a:buNone/>
                <a:tabLst/>
                <a:defRPr/>
              </a:pPr>
              <a:t>‹#›</a:t>
            </a:fld>
            <a:endParaRPr kumimoji="0" lang="en-US" sz="1333" b="0" i="0" u="none" strike="noStrike" kern="1200" cap="none" spc="-7" normalizeH="0" baseline="0" noProof="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endParaRPr>
          </a:p>
        </p:txBody>
      </p:sp>
      <p:sp>
        <p:nvSpPr>
          <p:cNvPr id="8" name="TextBox 291">
            <a:extLst>
              <a:ext uri="{FF2B5EF4-FFF2-40B4-BE49-F238E27FC236}">
                <a16:creationId xmlns:a16="http://schemas.microsoft.com/office/drawing/2014/main" id="{6F29A92A-538B-0FB5-5023-824CA4B5FBBA}"/>
              </a:ext>
            </a:extLst>
          </p:cNvPr>
          <p:cNvSpPr txBox="1">
            <a:spLocks noChangeArrowheads="1"/>
          </p:cNvSpPr>
          <p:nvPr userDrawn="1"/>
        </p:nvSpPr>
        <p:spPr bwMode="auto">
          <a:xfrm>
            <a:off x="7356475" y="6583020"/>
            <a:ext cx="35750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fontAlgn="base">
              <a:spcBef>
                <a:spcPct val="0"/>
              </a:spcBef>
              <a:spcAft>
                <a:spcPct val="0"/>
              </a:spcAft>
              <a:defRPr>
                <a:solidFill>
                  <a:schemeClr val="tx1"/>
                </a:solidFill>
                <a:latin typeface="Myriad Pro" panose="020B0503030403020204" pitchFamily="34" charset="0"/>
              </a:defRPr>
            </a:lvl6pPr>
            <a:lvl7pPr marL="2971800" indent="-228600" fontAlgn="base">
              <a:spcBef>
                <a:spcPct val="0"/>
              </a:spcBef>
              <a:spcAft>
                <a:spcPct val="0"/>
              </a:spcAft>
              <a:defRPr>
                <a:solidFill>
                  <a:schemeClr val="tx1"/>
                </a:solidFill>
                <a:latin typeface="Myriad Pro" panose="020B0503030403020204" pitchFamily="34" charset="0"/>
              </a:defRPr>
            </a:lvl7pPr>
            <a:lvl8pPr marL="3429000" indent="-228600" fontAlgn="base">
              <a:spcBef>
                <a:spcPct val="0"/>
              </a:spcBef>
              <a:spcAft>
                <a:spcPct val="0"/>
              </a:spcAft>
              <a:defRPr>
                <a:solidFill>
                  <a:schemeClr val="tx1"/>
                </a:solidFill>
                <a:latin typeface="Myriad Pro" panose="020B0503030403020204" pitchFamily="34" charset="0"/>
              </a:defRPr>
            </a:lvl8pPr>
            <a:lvl9pPr marL="3886200" indent="-228600" fontAlgn="base">
              <a:spcBef>
                <a:spcPct val="0"/>
              </a:spcBef>
              <a:spcAft>
                <a:spcPct val="0"/>
              </a:spcAft>
              <a:defRPr>
                <a:solidFill>
                  <a:schemeClr val="tx1"/>
                </a:solidFill>
                <a:latin typeface="Myriad Pro" panose="020B05030304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800" b="0" u="none" strike="noStrike" kern="1200" cap="none" spc="0" normalizeH="0" baseline="0" noProof="0">
                <a:ln>
                  <a:noFill/>
                </a:ln>
                <a:solidFill>
                  <a:srgbClr val="595959"/>
                </a:solidFill>
                <a:effectLst/>
                <a:uLnTx/>
                <a:uFillTx/>
                <a:latin typeface="Aptos" panose="020B0004020202020204" pitchFamily="34" charset="0"/>
                <a:sym typeface="Aptos" panose="020B0004020202020204" pitchFamily="34" charset="0"/>
              </a:rPr>
              <a:t>Confidential Materials. Do Not Distribute.</a:t>
            </a:r>
          </a:p>
        </p:txBody>
      </p:sp>
    </p:spTree>
    <p:extLst>
      <p:ext uri="{BB962C8B-B14F-4D97-AF65-F5344CB8AC3E}">
        <p14:creationId xmlns:p14="http://schemas.microsoft.com/office/powerpoint/2010/main" val="2690153656"/>
      </p:ext>
    </p:extLst>
  </p:cSld>
  <p:clrMapOvr>
    <a:masterClrMapping/>
  </p:clrMapOvr>
  <p:extLst>
    <p:ext uri="{DCECCB84-F9BA-43D5-87BE-67443E8EF086}">
      <p15:sldGuideLst xmlns:p15="http://schemas.microsoft.com/office/powerpoint/2012/main">
        <p15:guide id="1" orient="horz" pos="468">
          <p15:clr>
            <a:srgbClr val="FBAE40"/>
          </p15:clr>
        </p15:guide>
        <p15:guide id="2" orient="horz" pos="3888">
          <p15:clr>
            <a:srgbClr val="FBAE40"/>
          </p15:clr>
        </p15:guide>
        <p15:guide id="3" pos="264">
          <p15:clr>
            <a:srgbClr val="FBAE40"/>
          </p15:clr>
        </p15:guide>
        <p15:guide id="4" pos="729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1_Body Slide #1">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AF73D41-BFFA-D21B-5FD1-98898A4219F5}"/>
              </a:ext>
            </a:extLst>
          </p:cNvPr>
          <p:cNvGraphicFramePr>
            <a:graphicFrameLocks noChangeAspect="1"/>
          </p:cNvGraphicFramePr>
          <p:nvPr userDrawn="1">
            <p:custDataLst>
              <p:tags r:id="rId1"/>
            </p:custDataLst>
            <p:extLst>
              <p:ext uri="{D42A27DB-BD31-4B8C-83A1-F6EECF244321}">
                <p14:modId xmlns:p14="http://schemas.microsoft.com/office/powerpoint/2010/main" val="23104198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4" name="think-cell data - do not delete" hidden="1">
                        <a:extLst>
                          <a:ext uri="{FF2B5EF4-FFF2-40B4-BE49-F238E27FC236}">
                            <a16:creationId xmlns:a16="http://schemas.microsoft.com/office/drawing/2014/main" id="{5AF73D41-BFFA-D21B-5FD1-98898A4219F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Holder 6">
            <a:extLst>
              <a:ext uri="{FF2B5EF4-FFF2-40B4-BE49-F238E27FC236}">
                <a16:creationId xmlns:a16="http://schemas.microsoft.com/office/drawing/2014/main" id="{91E59E6E-E1A9-F5E9-9590-0EC22FE85DEC}"/>
              </a:ext>
            </a:extLst>
          </p:cNvPr>
          <p:cNvSpPr txBox="1">
            <a:spLocks/>
          </p:cNvSpPr>
          <p:nvPr userDrawn="1"/>
        </p:nvSpPr>
        <p:spPr>
          <a:xfrm>
            <a:off x="11686478" y="6542230"/>
            <a:ext cx="261620" cy="205121"/>
          </a:xfrm>
          <a:prstGeom prst="rect">
            <a:avLst/>
          </a:prstGeom>
        </p:spPr>
        <p:txBody>
          <a:bodyPr wrap="square" lIns="0" tIns="0" rIns="0" bIns="0">
            <a:spAutoFit/>
          </a:bodyPr>
          <a:lstStyle>
            <a:defPPr>
              <a:defRPr lang="en-US"/>
            </a:defPPr>
            <a:lvl1pPr marL="33866" marR="0" lvl="0" indent="0" fontAlgn="auto">
              <a:lnSpc>
                <a:spcPct val="100000"/>
              </a:lnSpc>
              <a:spcBef>
                <a:spcPts val="220"/>
              </a:spcBef>
              <a:spcAft>
                <a:spcPts val="0"/>
              </a:spcAft>
              <a:buClrTx/>
              <a:buSzTx/>
              <a:buFontTx/>
              <a:buNone/>
              <a:tabLst/>
              <a:defRPr kumimoji="0" sz="1333" b="0" i="0" u="none" strike="noStrike" cap="none" spc="-7" normalizeH="0" baseline="0">
                <a:ln>
                  <a:noFill/>
                </a:ln>
                <a:solidFill>
                  <a:srgbClr val="595959"/>
                </a:solidFill>
                <a:effectLst/>
                <a:uLnTx/>
                <a:uFillTx/>
                <a:latin typeface="Open Sans"/>
                <a:cs typeface="Open San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3866" marR="0" lvl="0" indent="0" algn="l" defTabSz="914400" rtl="0" eaLnBrk="1" fontAlgn="auto" latinLnBrk="0" hangingPunct="1">
              <a:lnSpc>
                <a:spcPct val="100000"/>
              </a:lnSpc>
              <a:spcBef>
                <a:spcPts val="220"/>
              </a:spcBef>
              <a:spcAft>
                <a:spcPts val="0"/>
              </a:spcAft>
              <a:buClrTx/>
              <a:buSzTx/>
              <a:buFontTx/>
              <a:buNone/>
              <a:tabLst/>
              <a:defRPr/>
            </a:pPr>
            <a:fld id="{81D60167-4931-47E6-BA6A-407CBD079E47}" type="slidenum">
              <a:rPr kumimoji="0" lang="en-US" sz="1333" b="0" i="0" u="none" strike="noStrike" kern="1200" cap="none" spc="-7" normalizeH="0" baseline="0" noProof="0" smtClean="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rPr>
              <a:pPr marL="33866" marR="0" lvl="0" indent="0" algn="l" defTabSz="914400" rtl="0" eaLnBrk="1" fontAlgn="auto" latinLnBrk="0" hangingPunct="1">
                <a:lnSpc>
                  <a:spcPct val="100000"/>
                </a:lnSpc>
                <a:spcBef>
                  <a:spcPts val="220"/>
                </a:spcBef>
                <a:spcAft>
                  <a:spcPts val="0"/>
                </a:spcAft>
                <a:buClrTx/>
                <a:buSzTx/>
                <a:buFontTx/>
                <a:buNone/>
                <a:tabLst/>
                <a:defRPr/>
              </a:pPr>
              <a:t>‹#›</a:t>
            </a:fld>
            <a:endParaRPr kumimoji="0" lang="en-US" sz="1333" b="0" i="0" u="none" strike="noStrike" kern="1200" cap="none" spc="-7" normalizeH="0" baseline="0" noProof="0">
              <a:ln>
                <a:noFill/>
              </a:ln>
              <a:solidFill>
                <a:srgbClr val="595959"/>
              </a:solidFill>
              <a:effectLst/>
              <a:uLnTx/>
              <a:uFillTx/>
              <a:latin typeface="Aptos" panose="020B0004020202020204" pitchFamily="34" charset="0"/>
              <a:ea typeface="+mn-lt"/>
              <a:cs typeface="Bariol" panose="02000506040000020003" charset="0"/>
              <a:sym typeface="Aptos" panose="020B0004020202020204" pitchFamily="34" charset="0"/>
            </a:endParaRPr>
          </a:p>
        </p:txBody>
      </p:sp>
      <p:sp>
        <p:nvSpPr>
          <p:cNvPr id="6" name="TextBox 291">
            <a:extLst>
              <a:ext uri="{FF2B5EF4-FFF2-40B4-BE49-F238E27FC236}">
                <a16:creationId xmlns:a16="http://schemas.microsoft.com/office/drawing/2014/main" id="{8E9C7007-125E-71B7-57D3-03EFE667532A}"/>
              </a:ext>
            </a:extLst>
          </p:cNvPr>
          <p:cNvSpPr txBox="1">
            <a:spLocks noChangeArrowheads="1"/>
          </p:cNvSpPr>
          <p:nvPr userDrawn="1"/>
        </p:nvSpPr>
        <p:spPr bwMode="auto">
          <a:xfrm>
            <a:off x="7356475" y="6583020"/>
            <a:ext cx="35750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fontAlgn="base">
              <a:spcBef>
                <a:spcPct val="0"/>
              </a:spcBef>
              <a:spcAft>
                <a:spcPct val="0"/>
              </a:spcAft>
              <a:defRPr>
                <a:solidFill>
                  <a:schemeClr val="tx1"/>
                </a:solidFill>
                <a:latin typeface="Myriad Pro" panose="020B0503030403020204" pitchFamily="34" charset="0"/>
              </a:defRPr>
            </a:lvl6pPr>
            <a:lvl7pPr marL="2971800" indent="-228600" fontAlgn="base">
              <a:spcBef>
                <a:spcPct val="0"/>
              </a:spcBef>
              <a:spcAft>
                <a:spcPct val="0"/>
              </a:spcAft>
              <a:defRPr>
                <a:solidFill>
                  <a:schemeClr val="tx1"/>
                </a:solidFill>
                <a:latin typeface="Myriad Pro" panose="020B0503030403020204" pitchFamily="34" charset="0"/>
              </a:defRPr>
            </a:lvl7pPr>
            <a:lvl8pPr marL="3429000" indent="-228600" fontAlgn="base">
              <a:spcBef>
                <a:spcPct val="0"/>
              </a:spcBef>
              <a:spcAft>
                <a:spcPct val="0"/>
              </a:spcAft>
              <a:defRPr>
                <a:solidFill>
                  <a:schemeClr val="tx1"/>
                </a:solidFill>
                <a:latin typeface="Myriad Pro" panose="020B0503030403020204" pitchFamily="34" charset="0"/>
              </a:defRPr>
            </a:lvl8pPr>
            <a:lvl9pPr marL="3886200" indent="-228600" fontAlgn="base">
              <a:spcBef>
                <a:spcPct val="0"/>
              </a:spcBef>
              <a:spcAft>
                <a:spcPct val="0"/>
              </a:spcAft>
              <a:defRPr>
                <a:solidFill>
                  <a:schemeClr val="tx1"/>
                </a:solidFill>
                <a:latin typeface="Myriad Pro" panose="020B05030304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800" b="0" u="none" strike="noStrike" kern="1200" cap="none" spc="0" normalizeH="0" baseline="0" noProof="0">
                <a:ln>
                  <a:noFill/>
                </a:ln>
                <a:solidFill>
                  <a:srgbClr val="595959"/>
                </a:solidFill>
                <a:effectLst/>
                <a:uLnTx/>
                <a:uFillTx/>
                <a:latin typeface="Aptos" panose="020B0004020202020204" pitchFamily="34" charset="0"/>
                <a:sym typeface="Aptos" panose="020B0004020202020204" pitchFamily="34" charset="0"/>
              </a:rPr>
              <a:t>Confidential Materials. Do Not Distribute.</a:t>
            </a:r>
          </a:p>
        </p:txBody>
      </p:sp>
      <p:sp>
        <p:nvSpPr>
          <p:cNvPr id="2" name="object 9">
            <a:extLst>
              <a:ext uri="{FF2B5EF4-FFF2-40B4-BE49-F238E27FC236}">
                <a16:creationId xmlns:a16="http://schemas.microsoft.com/office/drawing/2014/main" id="{89D1C672-44BF-9AA1-8B34-5F1F0D261328}"/>
              </a:ext>
            </a:extLst>
          </p:cNvPr>
          <p:cNvSpPr/>
          <p:nvPr userDrawn="1"/>
        </p:nvSpPr>
        <p:spPr>
          <a:xfrm>
            <a:off x="4724401" y="0"/>
            <a:ext cx="7467600" cy="6867525"/>
          </a:xfrm>
          <a:custGeom>
            <a:avLst/>
            <a:gdLst/>
            <a:ahLst/>
            <a:cxnLst/>
            <a:rect l="l" t="t" r="r" b="b"/>
            <a:pathLst>
              <a:path w="3060700" h="5143500">
                <a:moveTo>
                  <a:pt x="3060299" y="0"/>
                </a:moveTo>
                <a:lnTo>
                  <a:pt x="3060299" y="5143450"/>
                </a:lnTo>
                <a:lnTo>
                  <a:pt x="0" y="5143450"/>
                </a:lnTo>
                <a:lnTo>
                  <a:pt x="0" y="0"/>
                </a:lnTo>
                <a:lnTo>
                  <a:pt x="3060299" y="0"/>
                </a:lnTo>
                <a:close/>
              </a:path>
            </a:pathLst>
          </a:custGeom>
          <a:solidFill>
            <a:srgbClr val="D7D6F2"/>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ea typeface="+mn-lt"/>
              <a:cs typeface="+mn-lt"/>
              <a:sym typeface="+mn-lt"/>
            </a:endParaRPr>
          </a:p>
        </p:txBody>
      </p:sp>
    </p:spTree>
    <p:extLst>
      <p:ext uri="{BB962C8B-B14F-4D97-AF65-F5344CB8AC3E}">
        <p14:creationId xmlns:p14="http://schemas.microsoft.com/office/powerpoint/2010/main" val="1534901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1 line) and Bullets (1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70985" y="358015"/>
            <a:ext cx="10850032" cy="385445"/>
          </a:xfrm>
          <a:prstGeom prst="rect">
            <a:avLst/>
          </a:prstGeom>
        </p:spPr>
        <p:txBody>
          <a:bodyPr lIns="0" tIns="0" rIns="0" bIns="0" anchor="t"/>
          <a:lstStyle>
            <a:lvl1pPr>
              <a:lnSpc>
                <a:spcPct val="100000"/>
              </a:lnSpc>
              <a:defRPr sz="2160" spc="360">
                <a:solidFill>
                  <a:schemeClr val="accent3"/>
                </a:solidFill>
              </a:defRPr>
            </a:lvl1pPr>
          </a:lstStyle>
          <a:p>
            <a:r>
              <a:rPr lang="en-US"/>
              <a:t>Click to edit master title style</a:t>
            </a:r>
          </a:p>
        </p:txBody>
      </p:sp>
      <p:sp>
        <p:nvSpPr>
          <p:cNvPr id="17" name="Text Placeholder 16"/>
          <p:cNvSpPr>
            <a:spLocks noGrp="1"/>
          </p:cNvSpPr>
          <p:nvPr>
            <p:ph type="body" sz="quarter" idx="12"/>
          </p:nvPr>
        </p:nvSpPr>
        <p:spPr>
          <a:xfrm>
            <a:off x="670983" y="1247572"/>
            <a:ext cx="10847661" cy="4360544"/>
          </a:xfrm>
          <a:prstGeom prst="rect">
            <a:avLst/>
          </a:prstGeom>
        </p:spPr>
        <p:txBody>
          <a:bodyPr lIns="0" tIns="0" rIns="0" bIns="0"/>
          <a:lstStyle>
            <a:lvl1pPr marL="259200" indent="-259200">
              <a:lnSpc>
                <a:spcPct val="100000"/>
              </a:lnSpc>
              <a:spcBef>
                <a:spcPts val="0"/>
              </a:spcBef>
              <a:spcAft>
                <a:spcPts val="480"/>
              </a:spcAft>
              <a:defRPr sz="1440" b="0" i="0">
                <a:solidFill>
                  <a:schemeClr val="tx1"/>
                </a:solidFill>
                <a:latin typeface="Calibri Light" charset="0"/>
                <a:ea typeface="Calibri Light" charset="0"/>
                <a:cs typeface="Calibri Light" charset="0"/>
              </a:defRPr>
            </a:lvl1pPr>
            <a:lvl2pPr marL="604800" indent="-259200">
              <a:lnSpc>
                <a:spcPct val="100000"/>
              </a:lnSpc>
              <a:spcBef>
                <a:spcPts val="0"/>
              </a:spcBef>
              <a:spcAft>
                <a:spcPts val="480"/>
              </a:spcAft>
              <a:defRPr sz="1260" b="0" i="0">
                <a:solidFill>
                  <a:schemeClr val="tx1"/>
                </a:solidFill>
                <a:latin typeface="Calibri Light" charset="0"/>
                <a:ea typeface="Calibri Light" charset="0"/>
                <a:cs typeface="Calibri Light" charset="0"/>
              </a:defRPr>
            </a:lvl2pPr>
            <a:lvl3pPr marL="950400" indent="-259200">
              <a:lnSpc>
                <a:spcPct val="100000"/>
              </a:lnSpc>
              <a:spcBef>
                <a:spcPts val="0"/>
              </a:spcBef>
              <a:spcAft>
                <a:spcPts val="480"/>
              </a:spcAft>
              <a:defRPr sz="1260" b="0" i="0">
                <a:solidFill>
                  <a:schemeClr val="tx1"/>
                </a:solidFill>
                <a:latin typeface="Calibri Light" charset="0"/>
                <a:ea typeface="Calibri Light" charset="0"/>
                <a:cs typeface="Calibri Light" charset="0"/>
              </a:defRPr>
            </a:lvl3pPr>
            <a:lvl4pPr marL="1296000" indent="-259200">
              <a:lnSpc>
                <a:spcPct val="100000"/>
              </a:lnSpc>
              <a:spcBef>
                <a:spcPts val="0"/>
              </a:spcBef>
              <a:spcAft>
                <a:spcPts val="480"/>
              </a:spcAft>
              <a:defRPr sz="1200" b="0" i="0">
                <a:solidFill>
                  <a:schemeClr val="tx1"/>
                </a:solidFill>
                <a:latin typeface="Calibri Light" charset="0"/>
                <a:ea typeface="Calibri Light" charset="0"/>
                <a:cs typeface="Calibri Light" charset="0"/>
              </a:defRPr>
            </a:lvl4pPr>
            <a:lvl5pPr marL="1641600" indent="-259200">
              <a:lnSpc>
                <a:spcPct val="100000"/>
              </a:lnSpc>
              <a:spcBef>
                <a:spcPts val="0"/>
              </a:spcBef>
              <a:spcAft>
                <a:spcPts val="480"/>
              </a:spcAft>
              <a:defRPr sz="12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p:cNvCxnSpPr/>
          <p:nvPr/>
        </p:nvCxnSpPr>
        <p:spPr>
          <a:xfrm>
            <a:off x="0" y="800100"/>
            <a:ext cx="12192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6" name="Slide Number Placeholder 1"/>
          <p:cNvSpPr>
            <a:spLocks noGrp="1"/>
          </p:cNvSpPr>
          <p:nvPr>
            <p:ph type="sldNum" sz="quarter" idx="4"/>
          </p:nvPr>
        </p:nvSpPr>
        <p:spPr>
          <a:xfrm>
            <a:off x="10443760" y="6168501"/>
            <a:ext cx="1324464" cy="365125"/>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8" name="Straight Connector 7">
            <a:extLst>
              <a:ext uri="{FF2B5EF4-FFF2-40B4-BE49-F238E27FC236}">
                <a16:creationId xmlns:a16="http://schemas.microsoft.com/office/drawing/2014/main" id="{B0C3CE63-6C87-4464-9A8D-3325DEFD2BAE}"/>
              </a:ext>
            </a:extLst>
          </p:cNvPr>
          <p:cNvCxnSpPr/>
          <p:nvPr/>
        </p:nvCxnSpPr>
        <p:spPr>
          <a:xfrm>
            <a:off x="0" y="800100"/>
            <a:ext cx="12192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61746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cSld name="16_Custom Layout">
    <p:bg>
      <p:bgPr>
        <a:solidFill>
          <a:srgbClr val="D25B30"/>
        </a:solidFill>
        <a:effectLst/>
      </p:bgPr>
    </p:bg>
    <p:spTree>
      <p:nvGrpSpPr>
        <p:cNvPr id="1" name=""/>
        <p:cNvGrpSpPr/>
        <p:nvPr/>
      </p:nvGrpSpPr>
      <p:grpSpPr>
        <a:xfrm>
          <a:off x="0" y="0"/>
          <a:ext cx="0" cy="0"/>
          <a:chOff x="0" y="0"/>
          <a:chExt cx="0" cy="0"/>
        </a:xfrm>
      </p:grpSpPr>
      <p:pic>
        <p:nvPicPr>
          <p:cNvPr id="13" name="Picture 12"/>
          <p:cNvPicPr>
            <a:picLocks noChangeAspect="1"/>
          </p:cNvPicPr>
          <p:nvPr/>
        </p:nvPicPr>
        <p:blipFill rotWithShape="1">
          <a:blip r:embed="rId2">
            <a:alphaModFix amt="20000"/>
          </a:blip>
          <a:srcRect l="3012" r="3012"/>
          <a:stretch/>
        </p:blipFill>
        <p:spPr>
          <a:xfrm>
            <a:off x="0" y="0"/>
            <a:ext cx="12192000" cy="6858000"/>
          </a:xfrm>
          <a:prstGeom prst="rect">
            <a:avLst/>
          </a:prstGeom>
        </p:spPr>
      </p:pic>
      <p:sp>
        <p:nvSpPr>
          <p:cNvPr id="8" name="Text Placeholder 11"/>
          <p:cNvSpPr>
            <a:spLocks noGrp="1"/>
          </p:cNvSpPr>
          <p:nvPr>
            <p:ph type="body" sz="quarter" idx="10" hasCustomPrompt="1"/>
          </p:nvPr>
        </p:nvSpPr>
        <p:spPr>
          <a:xfrm>
            <a:off x="951107" y="1925003"/>
            <a:ext cx="10250293" cy="3007994"/>
          </a:xfrm>
          <a:prstGeom prst="rect">
            <a:avLst/>
          </a:prstGeom>
        </p:spPr>
        <p:txBody>
          <a:bodyPr lIns="0" tIns="0" rIns="0" bIns="0" anchor="ctr"/>
          <a:lstStyle>
            <a:lvl1pPr marL="0" indent="0">
              <a:lnSpc>
                <a:spcPts val="4080"/>
              </a:lnSpc>
              <a:spcBef>
                <a:spcPts val="0"/>
              </a:spcBef>
              <a:spcAft>
                <a:spcPts val="480"/>
              </a:spcAft>
              <a:buNone/>
              <a:defRPr sz="3840" b="1" spc="180" baseline="0">
                <a:solidFill>
                  <a:schemeClr val="tx2"/>
                </a:solidFill>
              </a:defRPr>
            </a:lvl1pPr>
            <a:lvl3pPr>
              <a:defRPr>
                <a:solidFill>
                  <a:schemeClr val="tx2"/>
                </a:solidFill>
              </a:defRPr>
            </a:lvl3pPr>
            <a:lvl4pPr>
              <a:defRPr>
                <a:solidFill>
                  <a:schemeClr val="tx2"/>
                </a:solidFill>
              </a:defRPr>
            </a:lvl4pPr>
            <a:lvl5pPr>
              <a:defRPr>
                <a:solidFill>
                  <a:schemeClr val="tx2"/>
                </a:solidFill>
              </a:defRPr>
            </a:lvl5pPr>
          </a:lstStyle>
          <a:p>
            <a:pPr lvl="0"/>
            <a:r>
              <a:rPr lang="en-US"/>
              <a:t>This is a call out or section slide. Calibri Bold, 32pt.</a:t>
            </a:r>
          </a:p>
        </p:txBody>
      </p:sp>
      <p:sp>
        <p:nvSpPr>
          <p:cNvPr id="9" name="Slide Number Placeholder 1"/>
          <p:cNvSpPr>
            <a:spLocks noGrp="1"/>
          </p:cNvSpPr>
          <p:nvPr>
            <p:ph type="sldNum" sz="quarter" idx="4"/>
          </p:nvPr>
        </p:nvSpPr>
        <p:spPr>
          <a:xfrm>
            <a:off x="10443760" y="6168501"/>
            <a:ext cx="1324464" cy="365125"/>
          </a:xfrm>
        </p:spPr>
        <p:txBody>
          <a:bodyPr/>
          <a:lstStyle>
            <a:lvl1pPr>
              <a:defRPr>
                <a:solidFill>
                  <a:schemeClr val="tx2"/>
                </a:solidFill>
              </a:defRPr>
            </a:lvl1pPr>
          </a:lstStyle>
          <a:p>
            <a:fld id="{FCF5D8D2-E8EB-45FE-957C-C662B0AABE13}" type="slidenum">
              <a:rPr lang="en-GB" smtClean="0"/>
              <a:t>‹#›</a:t>
            </a:fld>
            <a:endParaRPr lang="en-GB"/>
          </a:p>
        </p:txBody>
      </p:sp>
      <p:pic>
        <p:nvPicPr>
          <p:cNvPr id="11" name="Picture 10"/>
          <p:cNvPicPr>
            <a:picLocks noChangeAspect="1"/>
          </p:cNvPicPr>
          <p:nvPr/>
        </p:nvPicPr>
        <p:blipFill>
          <a:blip r:embed="rId3" cstate="print">
            <a:biLevel thresh="75000"/>
            <a:extLst>
              <a:ext uri="{28A0092B-C50C-407E-A947-70E740481C1C}">
                <a14:useLocalDpi xmlns:a14="http://schemas.microsoft.com/office/drawing/2010/main"/>
              </a:ext>
            </a:extLst>
          </a:blip>
          <a:stretch>
            <a:fillRect/>
          </a:stretch>
        </p:blipFill>
        <p:spPr>
          <a:xfrm>
            <a:off x="372412" y="221143"/>
            <a:ext cx="645451" cy="580906"/>
          </a:xfrm>
          <a:prstGeom prst="rect">
            <a:avLst/>
          </a:prstGeom>
        </p:spPr>
      </p:pic>
    </p:spTree>
    <p:extLst>
      <p:ext uri="{BB962C8B-B14F-4D97-AF65-F5344CB8AC3E}">
        <p14:creationId xmlns:p14="http://schemas.microsoft.com/office/powerpoint/2010/main" val="16499856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Title (1 line) and Content (1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70985" y="358015"/>
            <a:ext cx="10850032" cy="385445"/>
          </a:xfrm>
          <a:prstGeom prst="rect">
            <a:avLst/>
          </a:prstGeom>
        </p:spPr>
        <p:txBody>
          <a:bodyPr lIns="0" tIns="0" rIns="0" bIns="0" anchor="t"/>
          <a:lstStyle>
            <a:lvl1pPr>
              <a:lnSpc>
                <a:spcPct val="100000"/>
              </a:lnSpc>
              <a:defRPr sz="2160" spc="360">
                <a:solidFill>
                  <a:schemeClr val="accent3"/>
                </a:solidFill>
              </a:defRPr>
            </a:lvl1pPr>
          </a:lstStyle>
          <a:p>
            <a:r>
              <a:rPr lang="en-US"/>
              <a:t>Click to edit master title style</a:t>
            </a:r>
          </a:p>
        </p:txBody>
      </p:sp>
      <p:sp>
        <p:nvSpPr>
          <p:cNvPr id="17" name="Text Placeholder 16"/>
          <p:cNvSpPr>
            <a:spLocks noGrp="1"/>
          </p:cNvSpPr>
          <p:nvPr>
            <p:ph type="body" sz="quarter" idx="12" hasCustomPrompt="1"/>
          </p:nvPr>
        </p:nvSpPr>
        <p:spPr>
          <a:xfrm>
            <a:off x="670983" y="1247572"/>
            <a:ext cx="10847661" cy="4360544"/>
          </a:xfrm>
          <a:prstGeom prst="rect">
            <a:avLst/>
          </a:prstGeom>
        </p:spPr>
        <p:txBody>
          <a:bodyPr lIns="0" tIns="0" rIns="0" bIns="0"/>
          <a:lstStyle>
            <a:lvl1pPr marL="0" indent="0">
              <a:lnSpc>
                <a:spcPct val="100000"/>
              </a:lnSpc>
              <a:spcBef>
                <a:spcPts val="0"/>
              </a:spcBef>
              <a:spcAft>
                <a:spcPts val="480"/>
              </a:spcAft>
              <a:buNone/>
              <a:defRPr sz="1440" b="0" i="0">
                <a:solidFill>
                  <a:schemeClr val="tx1"/>
                </a:solidFill>
                <a:latin typeface="Calibri Light" charset="0"/>
                <a:ea typeface="Calibri Light" charset="0"/>
                <a:cs typeface="Calibri Light" charset="0"/>
              </a:defRPr>
            </a:lvl1pPr>
            <a:lvl2pPr marL="604800" indent="-259200">
              <a:lnSpc>
                <a:spcPct val="100000"/>
              </a:lnSpc>
              <a:spcBef>
                <a:spcPts val="0"/>
              </a:spcBef>
              <a:spcAft>
                <a:spcPts val="480"/>
              </a:spcAft>
              <a:defRPr sz="1260" b="0" i="0">
                <a:latin typeface="Calibri Light" charset="0"/>
                <a:ea typeface="Calibri Light" charset="0"/>
                <a:cs typeface="Calibri Light" charset="0"/>
              </a:defRPr>
            </a:lvl2pPr>
            <a:lvl3pPr marL="950400" indent="-259200">
              <a:lnSpc>
                <a:spcPct val="100000"/>
              </a:lnSpc>
              <a:spcBef>
                <a:spcPts val="0"/>
              </a:spcBef>
              <a:spcAft>
                <a:spcPts val="480"/>
              </a:spcAft>
              <a:defRPr sz="1260" b="0" i="0">
                <a:latin typeface="Calibri Light" charset="0"/>
                <a:ea typeface="Calibri Light" charset="0"/>
                <a:cs typeface="Calibri Light" charset="0"/>
              </a:defRPr>
            </a:lvl3pPr>
            <a:lvl4pPr marL="1296000" indent="-259200">
              <a:lnSpc>
                <a:spcPct val="100000"/>
              </a:lnSpc>
              <a:spcBef>
                <a:spcPts val="0"/>
              </a:spcBef>
              <a:spcAft>
                <a:spcPts val="480"/>
              </a:spcAft>
              <a:defRPr sz="1200" b="0" i="0">
                <a:latin typeface="Calibri Light" charset="0"/>
                <a:ea typeface="Calibri Light" charset="0"/>
                <a:cs typeface="Calibri Light" charset="0"/>
              </a:defRPr>
            </a:lvl4pPr>
            <a:lvl5pPr marL="1641600" indent="-259200">
              <a:lnSpc>
                <a:spcPct val="100000"/>
              </a:lnSpc>
              <a:spcBef>
                <a:spcPts val="0"/>
              </a:spcBef>
              <a:spcAft>
                <a:spcPts val="480"/>
              </a:spcAft>
              <a:defRPr sz="1200" b="0" i="0">
                <a:latin typeface="Calibri Light" charset="0"/>
                <a:ea typeface="Calibri Light" charset="0"/>
                <a:cs typeface="Calibri Light" charset="0"/>
              </a:defRPr>
            </a:lvl5pPr>
          </a:lstStyle>
          <a:p>
            <a:pPr lvl="0"/>
            <a:r>
              <a:rPr lang="en-US"/>
              <a:t>Click to edit master title style</a:t>
            </a:r>
          </a:p>
        </p:txBody>
      </p:sp>
      <p:cxnSp>
        <p:nvCxnSpPr>
          <p:cNvPr id="6" name="Straight Connector 5"/>
          <p:cNvCxnSpPr/>
          <p:nvPr/>
        </p:nvCxnSpPr>
        <p:spPr>
          <a:xfrm>
            <a:off x="0" y="800100"/>
            <a:ext cx="12192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7" name="Slide Number Placeholder 1"/>
          <p:cNvSpPr>
            <a:spLocks noGrp="1"/>
          </p:cNvSpPr>
          <p:nvPr>
            <p:ph type="sldNum" sz="quarter" idx="4"/>
          </p:nvPr>
        </p:nvSpPr>
        <p:spPr>
          <a:xfrm>
            <a:off x="10443760" y="6168501"/>
            <a:ext cx="1324464" cy="365125"/>
          </a:xfrm>
        </p:spPr>
        <p:txBody>
          <a:bodyPr/>
          <a:lstStyle>
            <a:lvl1pPr>
              <a:defRPr>
                <a:solidFill>
                  <a:schemeClr val="accent3"/>
                </a:solidFill>
              </a:defRPr>
            </a:lvl1pPr>
          </a:lstStyle>
          <a:p>
            <a:fld id="{FCF5D8D2-E8EB-45FE-957C-C662B0AABE13}" type="slidenum">
              <a:rPr lang="en-GB" smtClean="0"/>
              <a:t>‹#›</a:t>
            </a:fld>
            <a:endParaRPr lang="en-GB"/>
          </a:p>
        </p:txBody>
      </p:sp>
      <p:cxnSp>
        <p:nvCxnSpPr>
          <p:cNvPr id="8" name="Straight Connector 7">
            <a:extLst>
              <a:ext uri="{FF2B5EF4-FFF2-40B4-BE49-F238E27FC236}">
                <a16:creationId xmlns:a16="http://schemas.microsoft.com/office/drawing/2014/main" id="{135ABD28-D1F9-4D11-87C8-ED5613F19283}"/>
              </a:ext>
            </a:extLst>
          </p:cNvPr>
          <p:cNvCxnSpPr/>
          <p:nvPr/>
        </p:nvCxnSpPr>
        <p:spPr>
          <a:xfrm>
            <a:off x="0" y="800100"/>
            <a:ext cx="12192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33925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Title (1 line) and Content (2 columns)">
    <p:spTree>
      <p:nvGrpSpPr>
        <p:cNvPr id="1" name=""/>
        <p:cNvGrpSpPr/>
        <p:nvPr/>
      </p:nvGrpSpPr>
      <p:grpSpPr>
        <a:xfrm>
          <a:off x="0" y="0"/>
          <a:ext cx="0" cy="0"/>
          <a:chOff x="0" y="0"/>
          <a:chExt cx="0" cy="0"/>
        </a:xfrm>
      </p:grpSpPr>
      <p:sp>
        <p:nvSpPr>
          <p:cNvPr id="7" name="Text Placeholder 16"/>
          <p:cNvSpPr>
            <a:spLocks noGrp="1"/>
          </p:cNvSpPr>
          <p:nvPr>
            <p:ph type="body" sz="quarter" idx="12"/>
          </p:nvPr>
        </p:nvSpPr>
        <p:spPr>
          <a:xfrm>
            <a:off x="670983" y="1247572"/>
            <a:ext cx="5238295" cy="4360544"/>
          </a:xfrm>
          <a:prstGeom prst="rect">
            <a:avLst/>
          </a:prstGeom>
        </p:spPr>
        <p:txBody>
          <a:bodyPr lIns="0" tIns="0" rIns="0" bIns="0"/>
          <a:lstStyle>
            <a:lvl1pPr marL="0" indent="0">
              <a:lnSpc>
                <a:spcPct val="100000"/>
              </a:lnSpc>
              <a:spcBef>
                <a:spcPts val="0"/>
              </a:spcBef>
              <a:spcAft>
                <a:spcPts val="480"/>
              </a:spcAft>
              <a:buNone/>
              <a:defRPr sz="1440" b="0" i="0">
                <a:solidFill>
                  <a:schemeClr val="tx1"/>
                </a:solidFill>
                <a:latin typeface="Calibri Light" charset="0"/>
                <a:ea typeface="Calibri Light" charset="0"/>
                <a:cs typeface="Calibri Light" charset="0"/>
              </a:defRPr>
            </a:lvl1pPr>
            <a:lvl2pPr marL="604800" indent="-259200">
              <a:lnSpc>
                <a:spcPct val="100000"/>
              </a:lnSpc>
              <a:spcBef>
                <a:spcPts val="0"/>
              </a:spcBef>
              <a:spcAft>
                <a:spcPts val="480"/>
              </a:spcAft>
              <a:defRPr sz="1260" b="0" i="0">
                <a:latin typeface="Calibri Light" charset="0"/>
                <a:ea typeface="Calibri Light" charset="0"/>
                <a:cs typeface="Calibri Light" charset="0"/>
              </a:defRPr>
            </a:lvl2pPr>
            <a:lvl3pPr marL="950400" indent="-259200">
              <a:lnSpc>
                <a:spcPct val="100000"/>
              </a:lnSpc>
              <a:spcBef>
                <a:spcPts val="0"/>
              </a:spcBef>
              <a:spcAft>
                <a:spcPts val="480"/>
              </a:spcAft>
              <a:defRPr sz="1260" b="0" i="0">
                <a:latin typeface="Calibri Light" charset="0"/>
                <a:ea typeface="Calibri Light" charset="0"/>
                <a:cs typeface="Calibri Light" charset="0"/>
              </a:defRPr>
            </a:lvl3pPr>
            <a:lvl4pPr marL="1296000" indent="-259200">
              <a:lnSpc>
                <a:spcPct val="100000"/>
              </a:lnSpc>
              <a:spcBef>
                <a:spcPts val="0"/>
              </a:spcBef>
              <a:spcAft>
                <a:spcPts val="480"/>
              </a:spcAft>
              <a:defRPr sz="1200" b="0" i="0">
                <a:latin typeface="Calibri Light" charset="0"/>
                <a:ea typeface="Calibri Light" charset="0"/>
                <a:cs typeface="Calibri Light" charset="0"/>
              </a:defRPr>
            </a:lvl4pPr>
            <a:lvl5pPr marL="1641600" indent="-259200">
              <a:lnSpc>
                <a:spcPct val="100000"/>
              </a:lnSpc>
              <a:spcBef>
                <a:spcPts val="0"/>
              </a:spcBef>
              <a:spcAft>
                <a:spcPts val="480"/>
              </a:spcAft>
              <a:defRPr sz="1200" b="0" i="0">
                <a:latin typeface="Calibri Light" charset="0"/>
                <a:ea typeface="Calibri Light" charset="0"/>
                <a:cs typeface="Calibri Light" charset="0"/>
              </a:defRPr>
            </a:lvl5pPr>
          </a:lstStyle>
          <a:p>
            <a:pPr lvl="0"/>
            <a:r>
              <a:rPr lang="en-GB"/>
              <a:t>Click to edit Master text styles</a:t>
            </a:r>
          </a:p>
        </p:txBody>
      </p:sp>
      <p:sp>
        <p:nvSpPr>
          <p:cNvPr id="12" name="Title 1"/>
          <p:cNvSpPr>
            <a:spLocks noGrp="1"/>
          </p:cNvSpPr>
          <p:nvPr>
            <p:ph type="title" hasCustomPrompt="1"/>
          </p:nvPr>
        </p:nvSpPr>
        <p:spPr>
          <a:xfrm>
            <a:off x="670985" y="358015"/>
            <a:ext cx="10850032" cy="385445"/>
          </a:xfrm>
          <a:prstGeom prst="rect">
            <a:avLst/>
          </a:prstGeom>
        </p:spPr>
        <p:txBody>
          <a:bodyPr lIns="0" tIns="0" rIns="0" bIns="0" anchor="t"/>
          <a:lstStyle>
            <a:lvl1pPr>
              <a:lnSpc>
                <a:spcPct val="100000"/>
              </a:lnSpc>
              <a:defRPr sz="2160" spc="360">
                <a:solidFill>
                  <a:schemeClr val="accent3"/>
                </a:solidFill>
              </a:defRPr>
            </a:lvl1pPr>
          </a:lstStyle>
          <a:p>
            <a:r>
              <a:rPr lang="en-US"/>
              <a:t>Click to edit master title style</a:t>
            </a:r>
          </a:p>
        </p:txBody>
      </p:sp>
      <p:sp>
        <p:nvSpPr>
          <p:cNvPr id="10" name="Text Placeholder 16"/>
          <p:cNvSpPr>
            <a:spLocks noGrp="1"/>
          </p:cNvSpPr>
          <p:nvPr>
            <p:ph type="body" sz="quarter" idx="15"/>
          </p:nvPr>
        </p:nvSpPr>
        <p:spPr>
          <a:xfrm>
            <a:off x="6282725" y="1247572"/>
            <a:ext cx="5238295" cy="4360544"/>
          </a:xfrm>
          <a:prstGeom prst="rect">
            <a:avLst/>
          </a:prstGeom>
        </p:spPr>
        <p:txBody>
          <a:bodyPr lIns="0" tIns="0" rIns="0" bIns="0"/>
          <a:lstStyle>
            <a:lvl1pPr marL="0" indent="0">
              <a:lnSpc>
                <a:spcPct val="100000"/>
              </a:lnSpc>
              <a:spcBef>
                <a:spcPts val="0"/>
              </a:spcBef>
              <a:spcAft>
                <a:spcPts val="480"/>
              </a:spcAft>
              <a:buNone/>
              <a:defRPr sz="1440" b="0" i="0">
                <a:solidFill>
                  <a:schemeClr val="tx1"/>
                </a:solidFill>
                <a:latin typeface="Calibri Light" charset="0"/>
                <a:ea typeface="Calibri Light" charset="0"/>
                <a:cs typeface="Calibri Light" charset="0"/>
              </a:defRPr>
            </a:lvl1pPr>
            <a:lvl2pPr marL="604800" indent="-259200">
              <a:lnSpc>
                <a:spcPct val="100000"/>
              </a:lnSpc>
              <a:spcBef>
                <a:spcPts val="0"/>
              </a:spcBef>
              <a:spcAft>
                <a:spcPts val="480"/>
              </a:spcAft>
              <a:defRPr sz="1260" b="0" i="0">
                <a:latin typeface="Calibri Light" charset="0"/>
                <a:ea typeface="Calibri Light" charset="0"/>
                <a:cs typeface="Calibri Light" charset="0"/>
              </a:defRPr>
            </a:lvl2pPr>
            <a:lvl3pPr marL="950400" indent="-259200">
              <a:lnSpc>
                <a:spcPct val="100000"/>
              </a:lnSpc>
              <a:spcBef>
                <a:spcPts val="0"/>
              </a:spcBef>
              <a:spcAft>
                <a:spcPts val="480"/>
              </a:spcAft>
              <a:defRPr sz="1260" b="0" i="0">
                <a:latin typeface="Calibri Light" charset="0"/>
                <a:ea typeface="Calibri Light" charset="0"/>
                <a:cs typeface="Calibri Light" charset="0"/>
              </a:defRPr>
            </a:lvl3pPr>
            <a:lvl4pPr marL="1296000" indent="-259200">
              <a:lnSpc>
                <a:spcPct val="100000"/>
              </a:lnSpc>
              <a:spcBef>
                <a:spcPts val="0"/>
              </a:spcBef>
              <a:spcAft>
                <a:spcPts val="480"/>
              </a:spcAft>
              <a:defRPr sz="1200" b="0" i="0">
                <a:latin typeface="Calibri Light" charset="0"/>
                <a:ea typeface="Calibri Light" charset="0"/>
                <a:cs typeface="Calibri Light" charset="0"/>
              </a:defRPr>
            </a:lvl4pPr>
            <a:lvl5pPr marL="1641600" indent="-259200">
              <a:lnSpc>
                <a:spcPct val="100000"/>
              </a:lnSpc>
              <a:spcBef>
                <a:spcPts val="0"/>
              </a:spcBef>
              <a:spcAft>
                <a:spcPts val="480"/>
              </a:spcAft>
              <a:defRPr sz="1200" b="0" i="0">
                <a:latin typeface="Calibri Light" charset="0"/>
                <a:ea typeface="Calibri Light" charset="0"/>
                <a:cs typeface="Calibri Light" charset="0"/>
              </a:defRPr>
            </a:lvl5pPr>
          </a:lstStyle>
          <a:p>
            <a:pPr lvl="0"/>
            <a:r>
              <a:rPr lang="en-GB"/>
              <a:t>Click to edit Master text styles</a:t>
            </a:r>
          </a:p>
        </p:txBody>
      </p:sp>
      <p:cxnSp>
        <p:nvCxnSpPr>
          <p:cNvPr id="11" name="Straight Connector 10"/>
          <p:cNvCxnSpPr/>
          <p:nvPr/>
        </p:nvCxnSpPr>
        <p:spPr>
          <a:xfrm>
            <a:off x="0" y="800100"/>
            <a:ext cx="12192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8" name="Slide Number Placeholder 1"/>
          <p:cNvSpPr>
            <a:spLocks noGrp="1"/>
          </p:cNvSpPr>
          <p:nvPr>
            <p:ph type="sldNum" sz="quarter" idx="4"/>
          </p:nvPr>
        </p:nvSpPr>
        <p:spPr>
          <a:xfrm>
            <a:off x="10443760" y="6168501"/>
            <a:ext cx="1324464" cy="365125"/>
          </a:xfrm>
        </p:spPr>
        <p:txBody>
          <a:bodyPr/>
          <a:lstStyle>
            <a:lvl1pPr>
              <a:defRPr>
                <a:solidFill>
                  <a:schemeClr val="accent3"/>
                </a:solidFill>
              </a:defRPr>
            </a:lvl1pPr>
          </a:lstStyle>
          <a:p>
            <a:fld id="{FCF5D8D2-E8EB-45FE-957C-C662B0AABE13}" type="slidenum">
              <a:rPr lang="en-GB" smtClean="0"/>
              <a:t>‹#›</a:t>
            </a:fld>
            <a:endParaRPr lang="en-GB"/>
          </a:p>
        </p:txBody>
      </p:sp>
      <p:cxnSp>
        <p:nvCxnSpPr>
          <p:cNvPr id="9" name="Straight Connector 8">
            <a:extLst>
              <a:ext uri="{FF2B5EF4-FFF2-40B4-BE49-F238E27FC236}">
                <a16:creationId xmlns:a16="http://schemas.microsoft.com/office/drawing/2014/main" id="{D31E1B30-7DBF-4DDF-B453-3DB67ACD6373}"/>
              </a:ext>
            </a:extLst>
          </p:cNvPr>
          <p:cNvCxnSpPr/>
          <p:nvPr/>
        </p:nvCxnSpPr>
        <p:spPr>
          <a:xfrm>
            <a:off x="0" y="800100"/>
            <a:ext cx="12192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02981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Blank with Title (1 l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70985" y="358015"/>
            <a:ext cx="10850032" cy="385445"/>
          </a:xfrm>
          <a:prstGeom prst="rect">
            <a:avLst/>
          </a:prstGeom>
        </p:spPr>
        <p:txBody>
          <a:bodyPr lIns="0" tIns="0" rIns="0" bIns="0" anchor="t"/>
          <a:lstStyle>
            <a:lvl1pPr>
              <a:lnSpc>
                <a:spcPct val="100000"/>
              </a:lnSpc>
              <a:defRPr sz="2160" spc="360">
                <a:solidFill>
                  <a:schemeClr val="accent3"/>
                </a:solidFill>
              </a:defRPr>
            </a:lvl1pPr>
          </a:lstStyle>
          <a:p>
            <a:r>
              <a:rPr lang="en-US"/>
              <a:t>Click to edit master title style</a:t>
            </a:r>
          </a:p>
        </p:txBody>
      </p:sp>
      <p:cxnSp>
        <p:nvCxnSpPr>
          <p:cNvPr id="6" name="Straight Connector 5"/>
          <p:cNvCxnSpPr/>
          <p:nvPr/>
        </p:nvCxnSpPr>
        <p:spPr>
          <a:xfrm>
            <a:off x="0" y="800100"/>
            <a:ext cx="12192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5" name="Slide Number Placeholder 1"/>
          <p:cNvSpPr>
            <a:spLocks noGrp="1"/>
          </p:cNvSpPr>
          <p:nvPr>
            <p:ph type="sldNum" sz="quarter" idx="4"/>
          </p:nvPr>
        </p:nvSpPr>
        <p:spPr>
          <a:xfrm>
            <a:off x="10443760" y="6168501"/>
            <a:ext cx="1324464" cy="365125"/>
          </a:xfrm>
        </p:spPr>
        <p:txBody>
          <a:bodyPr/>
          <a:lstStyle>
            <a:lvl1pPr>
              <a:defRPr>
                <a:solidFill>
                  <a:schemeClr val="accent3"/>
                </a:solidFill>
              </a:defRPr>
            </a:lvl1pPr>
          </a:lstStyle>
          <a:p>
            <a:fld id="{FCF5D8D2-E8EB-45FE-957C-C662B0AABE13}" type="slidenum">
              <a:rPr lang="en-GB" smtClean="0"/>
              <a:t>‹#›</a:t>
            </a:fld>
            <a:endParaRPr lang="en-GB"/>
          </a:p>
        </p:txBody>
      </p:sp>
      <p:cxnSp>
        <p:nvCxnSpPr>
          <p:cNvPr id="7" name="Straight Connector 6">
            <a:extLst>
              <a:ext uri="{FF2B5EF4-FFF2-40B4-BE49-F238E27FC236}">
                <a16:creationId xmlns:a16="http://schemas.microsoft.com/office/drawing/2014/main" id="{C86C47BA-7B25-486A-811F-D5551BC1F8E0}"/>
              </a:ext>
            </a:extLst>
          </p:cNvPr>
          <p:cNvCxnSpPr/>
          <p:nvPr/>
        </p:nvCxnSpPr>
        <p:spPr>
          <a:xfrm>
            <a:off x="0" y="800100"/>
            <a:ext cx="12192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38857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1 line) and Content (1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70985" y="358015"/>
            <a:ext cx="10850032" cy="385445"/>
          </a:xfrm>
          <a:prstGeom prst="rect">
            <a:avLst/>
          </a:prstGeom>
        </p:spPr>
        <p:txBody>
          <a:bodyPr lIns="0" tIns="0" rIns="0" bIns="0" anchor="t"/>
          <a:lstStyle>
            <a:lvl1pPr>
              <a:lnSpc>
                <a:spcPct val="100000"/>
              </a:lnSpc>
              <a:defRPr sz="2160" spc="360">
                <a:solidFill>
                  <a:schemeClr val="accent3"/>
                </a:solidFill>
              </a:defRPr>
            </a:lvl1pPr>
          </a:lstStyle>
          <a:p>
            <a:r>
              <a:rPr lang="en-US"/>
              <a:t>Click to edit master title style</a:t>
            </a:r>
          </a:p>
        </p:txBody>
      </p:sp>
      <p:sp>
        <p:nvSpPr>
          <p:cNvPr id="17" name="Text Placeholder 16"/>
          <p:cNvSpPr>
            <a:spLocks noGrp="1"/>
          </p:cNvSpPr>
          <p:nvPr>
            <p:ph type="body" sz="quarter" idx="12" hasCustomPrompt="1"/>
          </p:nvPr>
        </p:nvSpPr>
        <p:spPr>
          <a:xfrm>
            <a:off x="670983" y="1247572"/>
            <a:ext cx="10847661" cy="4360544"/>
          </a:xfrm>
          <a:prstGeom prst="rect">
            <a:avLst/>
          </a:prstGeom>
        </p:spPr>
        <p:txBody>
          <a:bodyPr lIns="0" tIns="0" rIns="0" bIns="0"/>
          <a:lstStyle>
            <a:lvl1pPr marL="0" indent="0">
              <a:lnSpc>
                <a:spcPct val="100000"/>
              </a:lnSpc>
              <a:spcBef>
                <a:spcPts val="0"/>
              </a:spcBef>
              <a:spcAft>
                <a:spcPts val="480"/>
              </a:spcAft>
              <a:buNone/>
              <a:defRPr sz="1440" b="0" i="0">
                <a:solidFill>
                  <a:schemeClr val="tx1"/>
                </a:solidFill>
                <a:latin typeface="Calibri Light" charset="0"/>
                <a:ea typeface="Calibri Light" charset="0"/>
                <a:cs typeface="Calibri Light" charset="0"/>
              </a:defRPr>
            </a:lvl1pPr>
            <a:lvl2pPr marL="604800" indent="-259200">
              <a:lnSpc>
                <a:spcPct val="100000"/>
              </a:lnSpc>
              <a:spcBef>
                <a:spcPts val="0"/>
              </a:spcBef>
              <a:spcAft>
                <a:spcPts val="480"/>
              </a:spcAft>
              <a:defRPr sz="1260" b="0" i="0">
                <a:latin typeface="Calibri Light" charset="0"/>
                <a:ea typeface="Calibri Light" charset="0"/>
                <a:cs typeface="Calibri Light" charset="0"/>
              </a:defRPr>
            </a:lvl2pPr>
            <a:lvl3pPr marL="950400" indent="-259200">
              <a:lnSpc>
                <a:spcPct val="100000"/>
              </a:lnSpc>
              <a:spcBef>
                <a:spcPts val="0"/>
              </a:spcBef>
              <a:spcAft>
                <a:spcPts val="480"/>
              </a:spcAft>
              <a:defRPr sz="1260" b="0" i="0">
                <a:latin typeface="Calibri Light" charset="0"/>
                <a:ea typeface="Calibri Light" charset="0"/>
                <a:cs typeface="Calibri Light" charset="0"/>
              </a:defRPr>
            </a:lvl3pPr>
            <a:lvl4pPr marL="1296000" indent="-259200">
              <a:lnSpc>
                <a:spcPct val="100000"/>
              </a:lnSpc>
              <a:spcBef>
                <a:spcPts val="0"/>
              </a:spcBef>
              <a:spcAft>
                <a:spcPts val="480"/>
              </a:spcAft>
              <a:defRPr sz="1200" b="0" i="0">
                <a:latin typeface="Calibri Light" charset="0"/>
                <a:ea typeface="Calibri Light" charset="0"/>
                <a:cs typeface="Calibri Light" charset="0"/>
              </a:defRPr>
            </a:lvl4pPr>
            <a:lvl5pPr marL="1641600" indent="-259200">
              <a:lnSpc>
                <a:spcPct val="100000"/>
              </a:lnSpc>
              <a:spcBef>
                <a:spcPts val="0"/>
              </a:spcBef>
              <a:spcAft>
                <a:spcPts val="480"/>
              </a:spcAft>
              <a:defRPr sz="1200" b="0" i="0">
                <a:latin typeface="Calibri Light" charset="0"/>
                <a:ea typeface="Calibri Light" charset="0"/>
                <a:cs typeface="Calibri Light" charset="0"/>
              </a:defRPr>
            </a:lvl5pPr>
          </a:lstStyle>
          <a:p>
            <a:pPr lvl="0"/>
            <a:r>
              <a:rPr lang="en-US"/>
              <a:t>Click to edit master title style</a:t>
            </a:r>
          </a:p>
        </p:txBody>
      </p:sp>
      <p:cxnSp>
        <p:nvCxnSpPr>
          <p:cNvPr id="6" name="Straight Connector 5"/>
          <p:cNvCxnSpPr/>
          <p:nvPr/>
        </p:nvCxnSpPr>
        <p:spPr>
          <a:xfrm>
            <a:off x="0" y="800100"/>
            <a:ext cx="12192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7" name="Slide Number Placeholder 1"/>
          <p:cNvSpPr>
            <a:spLocks noGrp="1"/>
          </p:cNvSpPr>
          <p:nvPr>
            <p:ph type="sldNum" sz="quarter" idx="4"/>
          </p:nvPr>
        </p:nvSpPr>
        <p:spPr>
          <a:xfrm>
            <a:off x="10443760" y="6168501"/>
            <a:ext cx="1324464" cy="365125"/>
          </a:xfrm>
        </p:spPr>
        <p:txBody>
          <a:bodyPr/>
          <a:lstStyle>
            <a:lvl1pPr>
              <a:defRPr>
                <a:solidFill>
                  <a:schemeClr val="accent3"/>
                </a:solidFill>
              </a:defRPr>
            </a:lvl1pPr>
          </a:lstStyle>
          <a:p>
            <a:fld id="{FCF5D8D2-E8EB-45FE-957C-C662B0AABE13}" type="slidenum">
              <a:rPr lang="en-GB" smtClean="0"/>
              <a:t>‹#›</a:t>
            </a:fld>
            <a:endParaRPr lang="en-GB"/>
          </a:p>
        </p:txBody>
      </p:sp>
      <p:cxnSp>
        <p:nvCxnSpPr>
          <p:cNvPr id="8" name="Straight Connector 7">
            <a:extLst>
              <a:ext uri="{FF2B5EF4-FFF2-40B4-BE49-F238E27FC236}">
                <a16:creationId xmlns:a16="http://schemas.microsoft.com/office/drawing/2014/main" id="{135ABD28-D1F9-4D11-87C8-ED5613F19283}"/>
              </a:ext>
            </a:extLst>
          </p:cNvPr>
          <p:cNvCxnSpPr/>
          <p:nvPr/>
        </p:nvCxnSpPr>
        <p:spPr>
          <a:xfrm>
            <a:off x="0" y="800100"/>
            <a:ext cx="12192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4236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theme" Target="../theme/theme2.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userDrawn="1">
            <p:custDataLst>
              <p:tags r:id="rId25"/>
            </p:custDataLst>
            <p:extLst>
              <p:ext uri="{D42A27DB-BD31-4B8C-83A1-F6EECF244321}">
                <p14:modId xmlns:p14="http://schemas.microsoft.com/office/powerpoint/2010/main" val="34869332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6" imgW="347" imgH="348" progId="TCLayout.ActiveDocument.1">
                  <p:embed/>
                </p:oleObj>
              </mc:Choice>
              <mc:Fallback>
                <p:oleObj name="think-cell Slide" r:id="rId26" imgW="347" imgH="348" progId="TCLayout.ActiveDocument.1">
                  <p:embed/>
                  <p:pic>
                    <p:nvPicPr>
                      <p:cNvPr id="10" name="Object 9" hidden="1"/>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8" name="Rectangle 27">
            <a:extLst>
              <a:ext uri="{FF2B5EF4-FFF2-40B4-BE49-F238E27FC236}">
                <a16:creationId xmlns:a16="http://schemas.microsoft.com/office/drawing/2014/main" id="{74CC9CA8-BD74-DC43-CEF5-8D0A4FAB6DAD}"/>
              </a:ext>
            </a:extLst>
          </p:cNvPr>
          <p:cNvSpPr/>
          <p:nvPr userDrawn="1"/>
        </p:nvSpPr>
        <p:spPr>
          <a:xfrm>
            <a:off x="-973155" y="203272"/>
            <a:ext cx="831273" cy="291356"/>
          </a:xfrm>
          <a:prstGeom prst="rect">
            <a:avLst/>
          </a:prstGeom>
          <a:solidFill>
            <a:srgbClr val="6360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sz="800">
                <a:solidFill>
                  <a:schemeClr val="bg1"/>
                </a:solidFill>
                <a:latin typeface="Aptos" panose="020B0004020202020204" pitchFamily="34" charset="0"/>
                <a:sym typeface="Aptos" panose="020B0004020202020204" pitchFamily="34" charset="0"/>
              </a:rPr>
              <a:t>99-96-216</a:t>
            </a:r>
          </a:p>
        </p:txBody>
      </p:sp>
      <p:sp>
        <p:nvSpPr>
          <p:cNvPr id="29" name="Rectangle 28">
            <a:extLst>
              <a:ext uri="{FF2B5EF4-FFF2-40B4-BE49-F238E27FC236}">
                <a16:creationId xmlns:a16="http://schemas.microsoft.com/office/drawing/2014/main" id="{82EB5349-C4F3-B455-A67C-633969D9C9DE}"/>
              </a:ext>
            </a:extLst>
          </p:cNvPr>
          <p:cNvSpPr/>
          <p:nvPr userDrawn="1"/>
        </p:nvSpPr>
        <p:spPr>
          <a:xfrm>
            <a:off x="-973155" y="1367714"/>
            <a:ext cx="831273" cy="291356"/>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sz="800">
                <a:solidFill>
                  <a:schemeClr val="bg1"/>
                </a:solidFill>
                <a:latin typeface="Aptos" panose="020B0004020202020204" pitchFamily="34" charset="0"/>
                <a:sym typeface="Aptos" panose="020B0004020202020204" pitchFamily="34" charset="0"/>
              </a:rPr>
              <a:t>166-166-166</a:t>
            </a:r>
          </a:p>
        </p:txBody>
      </p:sp>
      <p:sp>
        <p:nvSpPr>
          <p:cNvPr id="30" name="Rectangle 29">
            <a:extLst>
              <a:ext uri="{FF2B5EF4-FFF2-40B4-BE49-F238E27FC236}">
                <a16:creationId xmlns:a16="http://schemas.microsoft.com/office/drawing/2014/main" id="{FE23C911-D509-099B-EAAA-FFD39129343D}"/>
              </a:ext>
            </a:extLst>
          </p:cNvPr>
          <p:cNvSpPr/>
          <p:nvPr userDrawn="1"/>
        </p:nvSpPr>
        <p:spPr>
          <a:xfrm>
            <a:off x="-973155" y="977059"/>
            <a:ext cx="831273" cy="291356"/>
          </a:xfrm>
          <a:prstGeom prst="rect">
            <a:avLst/>
          </a:prstGeom>
          <a:solidFill>
            <a:srgbClr val="F1F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sz="800">
                <a:solidFill>
                  <a:srgbClr val="595959"/>
                </a:solidFill>
                <a:latin typeface="Aptos" panose="020B0004020202020204" pitchFamily="34" charset="0"/>
                <a:sym typeface="Aptos" panose="020B0004020202020204" pitchFamily="34" charset="0"/>
              </a:rPr>
              <a:t>241-241-255</a:t>
            </a:r>
          </a:p>
        </p:txBody>
      </p:sp>
      <p:sp>
        <p:nvSpPr>
          <p:cNvPr id="31" name="Rectangle 30">
            <a:extLst>
              <a:ext uri="{FF2B5EF4-FFF2-40B4-BE49-F238E27FC236}">
                <a16:creationId xmlns:a16="http://schemas.microsoft.com/office/drawing/2014/main" id="{05236055-E898-A78B-9088-87C12ECD383E}"/>
              </a:ext>
            </a:extLst>
          </p:cNvPr>
          <p:cNvSpPr/>
          <p:nvPr userDrawn="1"/>
        </p:nvSpPr>
        <p:spPr>
          <a:xfrm>
            <a:off x="-973155" y="590166"/>
            <a:ext cx="831273" cy="291356"/>
          </a:xfrm>
          <a:prstGeom prst="rect">
            <a:avLst/>
          </a:prstGeom>
          <a:solidFill>
            <a:srgbClr val="060B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sz="800">
                <a:solidFill>
                  <a:schemeClr val="bg1"/>
                </a:solidFill>
                <a:latin typeface="Aptos" panose="020B0004020202020204" pitchFamily="34" charset="0"/>
                <a:sym typeface="Aptos" panose="020B0004020202020204" pitchFamily="34" charset="0"/>
              </a:rPr>
              <a:t>6-11-37</a:t>
            </a:r>
          </a:p>
        </p:txBody>
      </p:sp>
      <p:sp>
        <p:nvSpPr>
          <p:cNvPr id="2" name="Rectangle 1">
            <a:extLst>
              <a:ext uri="{FF2B5EF4-FFF2-40B4-BE49-F238E27FC236}">
                <a16:creationId xmlns:a16="http://schemas.microsoft.com/office/drawing/2014/main" id="{F420D3AD-B47B-B4FA-2073-69BA751E2BB6}"/>
              </a:ext>
            </a:extLst>
          </p:cNvPr>
          <p:cNvSpPr/>
          <p:nvPr userDrawn="1"/>
        </p:nvSpPr>
        <p:spPr>
          <a:xfrm>
            <a:off x="-973155" y="2322754"/>
            <a:ext cx="831273" cy="291356"/>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sz="800">
                <a:solidFill>
                  <a:schemeClr val="bg1"/>
                </a:solidFill>
                <a:latin typeface="Aptos" panose="020B0004020202020204" pitchFamily="34" charset="0"/>
                <a:sym typeface="Aptos" panose="020B0004020202020204" pitchFamily="34" charset="0"/>
              </a:rPr>
              <a:t>Text</a:t>
            </a:r>
          </a:p>
          <a:p>
            <a:pPr algn="ctr" rtl="0"/>
            <a:r>
              <a:rPr lang="en-US" sz="800">
                <a:solidFill>
                  <a:schemeClr val="bg1"/>
                </a:solidFill>
                <a:latin typeface="Aptos" panose="020B0004020202020204" pitchFamily="34" charset="0"/>
                <a:sym typeface="Aptos" panose="020B0004020202020204" pitchFamily="34" charset="0"/>
              </a:rPr>
              <a:t>89-89-89</a:t>
            </a:r>
          </a:p>
        </p:txBody>
      </p:sp>
      <p:sp>
        <p:nvSpPr>
          <p:cNvPr id="5" name="Rectangle 4">
            <a:extLst>
              <a:ext uri="{FF2B5EF4-FFF2-40B4-BE49-F238E27FC236}">
                <a16:creationId xmlns:a16="http://schemas.microsoft.com/office/drawing/2014/main" id="{8448FA59-D152-0719-28B8-E826426FAC57}"/>
              </a:ext>
            </a:extLst>
          </p:cNvPr>
          <p:cNvSpPr/>
          <p:nvPr userDrawn="1"/>
        </p:nvSpPr>
        <p:spPr>
          <a:xfrm>
            <a:off x="-973155" y="1758369"/>
            <a:ext cx="831273" cy="291356"/>
          </a:xfrm>
          <a:prstGeom prst="rect">
            <a:avLst/>
          </a:prstGeom>
          <a:solidFill>
            <a:srgbClr val="D7D6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sz="800">
                <a:solidFill>
                  <a:srgbClr val="595959"/>
                </a:solidFill>
                <a:latin typeface="Aptos" panose="020B0004020202020204" pitchFamily="34" charset="0"/>
                <a:sym typeface="Aptos" panose="020B0004020202020204" pitchFamily="34" charset="0"/>
              </a:rPr>
              <a:t>215, 214, 242</a:t>
            </a:r>
          </a:p>
        </p:txBody>
      </p:sp>
    </p:spTree>
    <p:extLst>
      <p:ext uri="{BB962C8B-B14F-4D97-AF65-F5344CB8AC3E}">
        <p14:creationId xmlns:p14="http://schemas.microsoft.com/office/powerpoint/2010/main" val="1575591558"/>
      </p:ext>
    </p:extLst>
  </p:cSld>
  <p:clrMap bg1="lt1" tx1="dk1" bg2="lt2" tx2="dk2" accent1="accent1" accent2="accent2" accent3="accent3" accent4="accent4" accent5="accent5" accent6="accent6" hlink="hlink" folHlink="folHlink"/>
  <p:sldLayoutIdLst>
    <p:sldLayoutId id="2147483951" r:id="rId1"/>
    <p:sldLayoutId id="2147483950" r:id="rId2"/>
    <p:sldLayoutId id="2147483955" r:id="rId3"/>
    <p:sldLayoutId id="2147483956" r:id="rId4"/>
    <p:sldLayoutId id="2147483957" r:id="rId5"/>
    <p:sldLayoutId id="2147483958" r:id="rId6"/>
    <p:sldLayoutId id="2147483959" r:id="rId7"/>
    <p:sldLayoutId id="2147483925" r:id="rId8"/>
    <p:sldLayoutId id="2147483936" r:id="rId9"/>
    <p:sldLayoutId id="2147483940" r:id="rId10"/>
    <p:sldLayoutId id="2147483938" r:id="rId11"/>
    <p:sldLayoutId id="2147483919" r:id="rId12"/>
    <p:sldLayoutId id="2147483929" r:id="rId13"/>
    <p:sldLayoutId id="2147483947" r:id="rId14"/>
    <p:sldLayoutId id="2147483949" r:id="rId15"/>
    <p:sldLayoutId id="2147483960" r:id="rId16"/>
    <p:sldLayoutId id="2147483948" r:id="rId17"/>
    <p:sldLayoutId id="2147483953" r:id="rId18"/>
    <p:sldLayoutId id="2147483954" r:id="rId19"/>
    <p:sldLayoutId id="2147483961" r:id="rId20"/>
    <p:sldLayoutId id="2147483962" r:id="rId21"/>
    <p:sldLayoutId id="2147483963" r:id="rId22"/>
    <p:sldLayoutId id="2147483964" r:id="rId2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8879697" y="6187540"/>
            <a:ext cx="3017520" cy="365125"/>
          </a:xfrm>
          <a:prstGeom prst="rect">
            <a:avLst/>
          </a:prstGeom>
        </p:spPr>
        <p:txBody>
          <a:bodyPr vert="horz" lIns="0" tIns="0" rIns="0" bIns="0" rtlCol="0" anchor="ctr"/>
          <a:lstStyle>
            <a:lvl1pPr algn="r">
              <a:defRPr sz="1080" spc="360">
                <a:solidFill>
                  <a:schemeClr val="accent3"/>
                </a:solidFill>
              </a:defRPr>
            </a:lvl1pPr>
          </a:lstStyle>
          <a:p>
            <a:fld id="{FCF5D8D2-E8EB-45FE-957C-C662B0AABE13}" type="slidenum">
              <a:rPr lang="en-GB" smtClean="0"/>
              <a:t>‹#›</a:t>
            </a:fld>
            <a:endParaRPr lang="en-GB"/>
          </a:p>
        </p:txBody>
      </p:sp>
      <p:pic>
        <p:nvPicPr>
          <p:cNvPr id="5" name="Picture 4"/>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372412" y="6060611"/>
            <a:ext cx="645451" cy="580906"/>
          </a:xfrm>
          <a:prstGeom prst="rect">
            <a:avLst/>
          </a:prstGeom>
        </p:spPr>
      </p:pic>
      <p:pic>
        <p:nvPicPr>
          <p:cNvPr id="4" name="Picture 3">
            <a:extLst>
              <a:ext uri="{FF2B5EF4-FFF2-40B4-BE49-F238E27FC236}">
                <a16:creationId xmlns:a16="http://schemas.microsoft.com/office/drawing/2014/main" id="{4AA2D371-8530-43BE-9A05-6756BEA52354}"/>
              </a:ext>
            </a:extLst>
          </p:cNvPr>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372412" y="6060611"/>
            <a:ext cx="645451" cy="580906"/>
          </a:xfrm>
          <a:prstGeom prst="rect">
            <a:avLst/>
          </a:prstGeom>
        </p:spPr>
      </p:pic>
    </p:spTree>
    <p:extLst>
      <p:ext uri="{BB962C8B-B14F-4D97-AF65-F5344CB8AC3E}">
        <p14:creationId xmlns:p14="http://schemas.microsoft.com/office/powerpoint/2010/main" val="4045943007"/>
      </p:ext>
    </p:extLst>
  </p:cSld>
  <p:clrMap bg1="lt1" tx1="dk1" bg2="lt2" tx2="dk2" accent1="accent1" accent2="accent2" accent3="accent3" accent4="accent4" accent5="accent5" accent6="accent6" hlink="hlink" folHlink="folHlink"/>
  <p:sldLayoutIdLst>
    <p:sldLayoutId id="2147483689" r:id="rId1"/>
  </p:sldLayoutIdLst>
  <p:txStyles>
    <p:titleStyle>
      <a:lvl1pPr algn="l" defTabSz="822960" rtl="0" eaLnBrk="1" latinLnBrk="0" hangingPunct="1">
        <a:lnSpc>
          <a:spcPct val="90000"/>
        </a:lnSpc>
        <a:spcBef>
          <a:spcPct val="0"/>
        </a:spcBef>
        <a:buNone/>
        <a:defRPr sz="3960" kern="1200">
          <a:solidFill>
            <a:schemeClr val="tx1"/>
          </a:solidFill>
          <a:latin typeface="+mj-lt"/>
          <a:ea typeface="+mj-ea"/>
          <a:cs typeface="+mj-cs"/>
        </a:defRPr>
      </a:lvl1pPr>
    </p:titleStyle>
    <p:bodyStyle>
      <a:lvl1pPr marL="205740" indent="-205740" algn="l" defTabSz="822960" rtl="0" eaLnBrk="1" latinLnBrk="0" hangingPunct="1">
        <a:lnSpc>
          <a:spcPct val="90000"/>
        </a:lnSpc>
        <a:spcBef>
          <a:spcPts val="900"/>
        </a:spcBef>
        <a:buFont typeface="Arial" panose="020B0604020202020204" pitchFamily="34" charset="0"/>
        <a:buChar char="•"/>
        <a:defRPr sz="2520" kern="1200">
          <a:solidFill>
            <a:schemeClr val="tx1"/>
          </a:solidFill>
          <a:latin typeface="+mn-lt"/>
          <a:ea typeface="+mn-ea"/>
          <a:cs typeface="+mn-cs"/>
        </a:defRPr>
      </a:lvl1pPr>
      <a:lvl2pPr marL="617220" indent="-205740" algn="l" defTabSz="822960" rtl="0" eaLnBrk="1" latinLnBrk="0" hangingPunct="1">
        <a:lnSpc>
          <a:spcPct val="90000"/>
        </a:lnSpc>
        <a:spcBef>
          <a:spcPts val="450"/>
        </a:spcBef>
        <a:buFont typeface="Arial" panose="020B0604020202020204" pitchFamily="34" charset="0"/>
        <a:buChar char="•"/>
        <a:defRPr sz="2160" kern="1200">
          <a:solidFill>
            <a:schemeClr val="tx1"/>
          </a:solidFill>
          <a:latin typeface="+mn-lt"/>
          <a:ea typeface="+mn-ea"/>
          <a:cs typeface="+mn-cs"/>
        </a:defRPr>
      </a:lvl2pPr>
      <a:lvl3pPr marL="1028700" indent="-205740" algn="l" defTabSz="822960" rtl="0" eaLnBrk="1" latinLnBrk="0" hangingPunct="1">
        <a:lnSpc>
          <a:spcPct val="90000"/>
        </a:lnSpc>
        <a:spcBef>
          <a:spcPts val="450"/>
        </a:spcBef>
        <a:buFont typeface="Arial" panose="020B0604020202020204" pitchFamily="34" charset="0"/>
        <a:buChar char="•"/>
        <a:defRPr sz="1800" kern="1200">
          <a:solidFill>
            <a:schemeClr val="tx1"/>
          </a:solidFill>
          <a:latin typeface="+mn-lt"/>
          <a:ea typeface="+mn-ea"/>
          <a:cs typeface="+mn-cs"/>
        </a:defRPr>
      </a:lvl3pPr>
      <a:lvl4pPr marL="14401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4pPr>
      <a:lvl5pPr marL="185166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5pPr>
      <a:lvl6pPr marL="226314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62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610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5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extLst>
    <p:ext uri="{27BBF7A9-308A-43DC-89C8-2F10F3537804}">
      <p15:sldGuideLst xmlns:p15="http://schemas.microsoft.com/office/powerpoint/2012/main">
        <p15:guide id="9" orient="horz" pos="1800">
          <p15:clr>
            <a:srgbClr val="F26B43"/>
          </p15:clr>
        </p15:guide>
        <p15:guide id="10" pos="2880">
          <p15:clr>
            <a:srgbClr val="F26B43"/>
          </p15:clr>
        </p15:guide>
        <p15:guide id="11" pos="317">
          <p15:clr>
            <a:srgbClr val="F26B43"/>
          </p15:clr>
        </p15:guide>
        <p15:guide id="12" pos="5443">
          <p15:clr>
            <a:srgbClr val="F26B43"/>
          </p15:clr>
        </p15:guide>
        <p15:guide id="13" orient="horz" pos="417">
          <p15:clr>
            <a:srgbClr val="F26B43"/>
          </p15:clr>
        </p15:guide>
        <p15:guide id="14" orient="horz" pos="3183">
          <p15:clr>
            <a:srgbClr val="F26B43"/>
          </p15:clr>
        </p15:guide>
        <p15:guide id="15" orient="horz" pos="711">
          <p15:clr>
            <a:srgbClr val="F26B43"/>
          </p15:clr>
        </p15:guide>
        <p15:guide id="16" orient="horz" pos="326">
          <p15:clr>
            <a:srgbClr val="F26B43"/>
          </p15:clr>
        </p15:guide>
        <p15:guide id="17" orient="horz" pos="1500">
          <p15:clr>
            <a:srgbClr val="F26B43"/>
          </p15:clr>
        </p15:guide>
        <p15:guide id="18" pos="2160">
          <p15:clr>
            <a:srgbClr val="F26B43"/>
          </p15:clr>
        </p15:guide>
        <p15:guide id="19" pos="238">
          <p15:clr>
            <a:srgbClr val="F26B43"/>
          </p15:clr>
        </p15:guide>
        <p15:guide id="20" pos="4082">
          <p15:clr>
            <a:srgbClr val="F26B43"/>
          </p15:clr>
        </p15:guide>
        <p15:guide id="21" orient="horz" pos="348">
          <p15:clr>
            <a:srgbClr val="F26B43"/>
          </p15:clr>
        </p15:guide>
        <p15:guide id="22" orient="horz" pos="2653">
          <p15:clr>
            <a:srgbClr val="F26B43"/>
          </p15:clr>
        </p15:guide>
        <p15:guide id="23" orient="horz" pos="593">
          <p15:clr>
            <a:srgbClr val="F26B43"/>
          </p15:clr>
        </p15:guide>
        <p15:guide id="24" orient="horz" pos="272">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notesSlide" Target="../notesSlides/notesSlide1.xml"/><Relationship Id="rId7"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ags" Target="../tags/tag45.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3.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46.xml"/><Relationship Id="rId6" Type="http://schemas.openxmlformats.org/officeDocument/2006/relationships/image" Target="../media/image12.png"/><Relationship Id="rId5" Type="http://schemas.openxmlformats.org/officeDocument/2006/relationships/image" Target="../media/image11.emf"/><Relationship Id="rId4" Type="http://schemas.openxmlformats.org/officeDocument/2006/relationships/oleObject" Target="../embeddings/oleObject14.bin"/></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notesSlide" Target="../notesSlides/notesSlide3.xml"/><Relationship Id="rId7" Type="http://schemas.openxmlformats.org/officeDocument/2006/relationships/image" Target="../media/image14.png"/><Relationship Id="rId2" Type="http://schemas.openxmlformats.org/officeDocument/2006/relationships/slideLayout" Target="../slideLayouts/slideLayout3.xml"/><Relationship Id="rId1" Type="http://schemas.openxmlformats.org/officeDocument/2006/relationships/tags" Target="../tags/tag47.xml"/><Relationship Id="rId6" Type="http://schemas.openxmlformats.org/officeDocument/2006/relationships/image" Target="../media/image7.png"/><Relationship Id="rId5" Type="http://schemas.openxmlformats.org/officeDocument/2006/relationships/image" Target="../media/image11.emf"/><Relationship Id="rId4" Type="http://schemas.openxmlformats.org/officeDocument/2006/relationships/oleObject" Target="../embeddings/oleObject15.bin"/><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notesSlide" Target="../notesSlides/notesSlide4.xml"/><Relationship Id="rId7"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ags" Target="../tags/tag48.xml"/><Relationship Id="rId6" Type="http://schemas.openxmlformats.org/officeDocument/2006/relationships/image" Target="../media/image17.svg"/><Relationship Id="rId11" Type="http://schemas.openxmlformats.org/officeDocument/2006/relationships/image" Target="../media/image7.png"/><Relationship Id="rId5" Type="http://schemas.openxmlformats.org/officeDocument/2006/relationships/image" Target="../media/image11.emf"/><Relationship Id="rId10" Type="http://schemas.openxmlformats.org/officeDocument/2006/relationships/image" Target="../media/image21.png"/><Relationship Id="rId4" Type="http://schemas.openxmlformats.org/officeDocument/2006/relationships/oleObject" Target="../embeddings/oleObject16.bin"/><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notesSlide" Target="../notesSlides/notesSlide5.xml"/><Relationship Id="rId7" Type="http://schemas.microsoft.com/office/2007/relationships/hdphoto" Target="../media/hdphoto1.wdp"/><Relationship Id="rId12" Type="http://schemas.openxmlformats.org/officeDocument/2006/relationships/image" Target="../media/image25.png"/><Relationship Id="rId2" Type="http://schemas.openxmlformats.org/officeDocument/2006/relationships/slideLayout" Target="../slideLayouts/slideLayout3.xml"/><Relationship Id="rId1" Type="http://schemas.openxmlformats.org/officeDocument/2006/relationships/tags" Target="../tags/tag49.xml"/><Relationship Id="rId6" Type="http://schemas.openxmlformats.org/officeDocument/2006/relationships/image" Target="../media/image22.png"/><Relationship Id="rId11" Type="http://schemas.openxmlformats.org/officeDocument/2006/relationships/image" Target="../media/image4.jpeg"/><Relationship Id="rId5" Type="http://schemas.openxmlformats.org/officeDocument/2006/relationships/image" Target="../media/image11.emf"/><Relationship Id="rId10" Type="http://schemas.microsoft.com/office/2007/relationships/hdphoto" Target="../media/hdphoto2.wdp"/><Relationship Id="rId4" Type="http://schemas.openxmlformats.org/officeDocument/2006/relationships/oleObject" Target="../embeddings/oleObject17.bin"/><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13" Type="http://schemas.openxmlformats.org/officeDocument/2006/relationships/image" Target="../media/image33.png"/><Relationship Id="rId18" Type="http://schemas.openxmlformats.org/officeDocument/2006/relationships/image" Target="../media/image38.png"/><Relationship Id="rId26" Type="http://schemas.openxmlformats.org/officeDocument/2006/relationships/image" Target="../media/image46.png"/><Relationship Id="rId21" Type="http://schemas.openxmlformats.org/officeDocument/2006/relationships/image" Target="../media/image41.png"/><Relationship Id="rId34" Type="http://schemas.openxmlformats.org/officeDocument/2006/relationships/image" Target="../media/image54.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png"/><Relationship Id="rId25" Type="http://schemas.openxmlformats.org/officeDocument/2006/relationships/image" Target="../media/image45.png"/><Relationship Id="rId33" Type="http://schemas.openxmlformats.org/officeDocument/2006/relationships/image" Target="../media/image53.png"/><Relationship Id="rId38" Type="http://schemas.microsoft.com/office/2007/relationships/hdphoto" Target="../media/hdphoto2.wdp"/><Relationship Id="rId2" Type="http://schemas.openxmlformats.org/officeDocument/2006/relationships/slideLayout" Target="../slideLayouts/slideLayout3.xml"/><Relationship Id="rId16" Type="http://schemas.openxmlformats.org/officeDocument/2006/relationships/image" Target="../media/image36.png"/><Relationship Id="rId20" Type="http://schemas.openxmlformats.org/officeDocument/2006/relationships/image" Target="../media/image40.png"/><Relationship Id="rId29" Type="http://schemas.openxmlformats.org/officeDocument/2006/relationships/image" Target="../media/image49.png"/><Relationship Id="rId1" Type="http://schemas.openxmlformats.org/officeDocument/2006/relationships/tags" Target="../tags/tag50.xml"/><Relationship Id="rId6" Type="http://schemas.openxmlformats.org/officeDocument/2006/relationships/image" Target="../media/image26.png"/><Relationship Id="rId11" Type="http://schemas.openxmlformats.org/officeDocument/2006/relationships/image" Target="../media/image31.png"/><Relationship Id="rId24" Type="http://schemas.openxmlformats.org/officeDocument/2006/relationships/image" Target="../media/image44.png"/><Relationship Id="rId32" Type="http://schemas.openxmlformats.org/officeDocument/2006/relationships/image" Target="../media/image52.png"/><Relationship Id="rId37" Type="http://schemas.openxmlformats.org/officeDocument/2006/relationships/image" Target="../media/image24.png"/><Relationship Id="rId5" Type="http://schemas.openxmlformats.org/officeDocument/2006/relationships/image" Target="../media/image11.emf"/><Relationship Id="rId15" Type="http://schemas.openxmlformats.org/officeDocument/2006/relationships/image" Target="../media/image35.png"/><Relationship Id="rId23" Type="http://schemas.openxmlformats.org/officeDocument/2006/relationships/image" Target="../media/image43.png"/><Relationship Id="rId28" Type="http://schemas.openxmlformats.org/officeDocument/2006/relationships/image" Target="../media/image48.png"/><Relationship Id="rId36" Type="http://schemas.openxmlformats.org/officeDocument/2006/relationships/image" Target="../media/image56.png"/><Relationship Id="rId10" Type="http://schemas.openxmlformats.org/officeDocument/2006/relationships/image" Target="../media/image30.png"/><Relationship Id="rId19" Type="http://schemas.openxmlformats.org/officeDocument/2006/relationships/image" Target="../media/image39.png"/><Relationship Id="rId31" Type="http://schemas.openxmlformats.org/officeDocument/2006/relationships/image" Target="../media/image51.png"/><Relationship Id="rId4" Type="http://schemas.openxmlformats.org/officeDocument/2006/relationships/oleObject" Target="../embeddings/oleObject18.bin"/><Relationship Id="rId9" Type="http://schemas.openxmlformats.org/officeDocument/2006/relationships/image" Target="../media/image29.png"/><Relationship Id="rId14" Type="http://schemas.openxmlformats.org/officeDocument/2006/relationships/image" Target="../media/image34.png"/><Relationship Id="rId22" Type="http://schemas.openxmlformats.org/officeDocument/2006/relationships/image" Target="../media/image42.png"/><Relationship Id="rId27" Type="http://schemas.openxmlformats.org/officeDocument/2006/relationships/image" Target="../media/image47.png"/><Relationship Id="rId30" Type="http://schemas.openxmlformats.org/officeDocument/2006/relationships/image" Target="../media/image50.png"/><Relationship Id="rId35" Type="http://schemas.openxmlformats.org/officeDocument/2006/relationships/image" Target="../media/image55.png"/><Relationship Id="rId8" Type="http://schemas.openxmlformats.org/officeDocument/2006/relationships/image" Target="../media/image2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notesSlide" Target="../notesSlides/notesSlide7.xml"/><Relationship Id="rId7" Type="http://schemas.openxmlformats.org/officeDocument/2006/relationships/image" Target="../media/image58.png"/><Relationship Id="rId2" Type="http://schemas.openxmlformats.org/officeDocument/2006/relationships/slideLayout" Target="../slideLayouts/slideLayout16.xml"/><Relationship Id="rId1" Type="http://schemas.openxmlformats.org/officeDocument/2006/relationships/tags" Target="../tags/tag51.xml"/><Relationship Id="rId6" Type="http://schemas.openxmlformats.org/officeDocument/2006/relationships/image" Target="../media/image57.png"/><Relationship Id="rId5" Type="http://schemas.openxmlformats.org/officeDocument/2006/relationships/image" Target="../media/image2.emf"/><Relationship Id="rId10" Type="http://schemas.openxmlformats.org/officeDocument/2006/relationships/image" Target="../media/image60.png"/><Relationship Id="rId4" Type="http://schemas.openxmlformats.org/officeDocument/2006/relationships/oleObject" Target="../embeddings/oleObject19.bin"/><Relationship Id="rId9" Type="http://schemas.openxmlformats.org/officeDocument/2006/relationships/image" Target="../media/image25.png"/></Relationships>
</file>

<file path=ppt/slides/_rels/slide8.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18" Type="http://schemas.openxmlformats.org/officeDocument/2006/relationships/image" Target="../media/image73.png"/><Relationship Id="rId26" Type="http://schemas.openxmlformats.org/officeDocument/2006/relationships/image" Target="../media/image81.png"/><Relationship Id="rId3" Type="http://schemas.openxmlformats.org/officeDocument/2006/relationships/notesSlide" Target="../notesSlides/notesSlide8.xml"/><Relationship Id="rId21" Type="http://schemas.openxmlformats.org/officeDocument/2006/relationships/image" Target="../media/image76.png"/><Relationship Id="rId7" Type="http://schemas.openxmlformats.org/officeDocument/2006/relationships/image" Target="../media/image62.png"/><Relationship Id="rId12" Type="http://schemas.openxmlformats.org/officeDocument/2006/relationships/image" Target="../media/image67.png"/><Relationship Id="rId17" Type="http://schemas.openxmlformats.org/officeDocument/2006/relationships/image" Target="../media/image72.png"/><Relationship Id="rId25" Type="http://schemas.openxmlformats.org/officeDocument/2006/relationships/image" Target="../media/image80.jpeg"/><Relationship Id="rId2" Type="http://schemas.openxmlformats.org/officeDocument/2006/relationships/slideLayout" Target="../slideLayouts/slideLayout3.xml"/><Relationship Id="rId16" Type="http://schemas.openxmlformats.org/officeDocument/2006/relationships/image" Target="../media/image71.png"/><Relationship Id="rId20" Type="http://schemas.openxmlformats.org/officeDocument/2006/relationships/image" Target="../media/image75.jpeg"/><Relationship Id="rId29" Type="http://schemas.openxmlformats.org/officeDocument/2006/relationships/image" Target="../media/image84.png"/><Relationship Id="rId1" Type="http://schemas.openxmlformats.org/officeDocument/2006/relationships/tags" Target="../tags/tag52.xml"/><Relationship Id="rId6" Type="http://schemas.openxmlformats.org/officeDocument/2006/relationships/image" Target="../media/image61.png"/><Relationship Id="rId11" Type="http://schemas.openxmlformats.org/officeDocument/2006/relationships/image" Target="../media/image66.png"/><Relationship Id="rId24" Type="http://schemas.openxmlformats.org/officeDocument/2006/relationships/image" Target="../media/image79.png"/><Relationship Id="rId5" Type="http://schemas.openxmlformats.org/officeDocument/2006/relationships/image" Target="../media/image2.emf"/><Relationship Id="rId15" Type="http://schemas.openxmlformats.org/officeDocument/2006/relationships/image" Target="../media/image70.png"/><Relationship Id="rId23" Type="http://schemas.openxmlformats.org/officeDocument/2006/relationships/image" Target="../media/image78.png"/><Relationship Id="rId28" Type="http://schemas.openxmlformats.org/officeDocument/2006/relationships/image" Target="../media/image83.png"/><Relationship Id="rId10" Type="http://schemas.openxmlformats.org/officeDocument/2006/relationships/image" Target="../media/image65.png"/><Relationship Id="rId19" Type="http://schemas.openxmlformats.org/officeDocument/2006/relationships/image" Target="../media/image74.png"/><Relationship Id="rId4" Type="http://schemas.openxmlformats.org/officeDocument/2006/relationships/oleObject" Target="../embeddings/oleObject20.bin"/><Relationship Id="rId9" Type="http://schemas.openxmlformats.org/officeDocument/2006/relationships/image" Target="../media/image64.png"/><Relationship Id="rId14" Type="http://schemas.openxmlformats.org/officeDocument/2006/relationships/image" Target="../media/image69.png"/><Relationship Id="rId22" Type="http://schemas.openxmlformats.org/officeDocument/2006/relationships/image" Target="../media/image77.png"/><Relationship Id="rId27" Type="http://schemas.openxmlformats.org/officeDocument/2006/relationships/image" Target="../media/image82.png"/></Relationships>
</file>

<file path=ppt/slides/_rels/slide9.xml.rels><?xml version="1.0" encoding="UTF-8" standalone="yes"?>
<Relationships xmlns="http://schemas.openxmlformats.org/package/2006/relationships"><Relationship Id="rId8" Type="http://schemas.openxmlformats.org/officeDocument/2006/relationships/image" Target="../media/image87.svg"/><Relationship Id="rId13" Type="http://schemas.openxmlformats.org/officeDocument/2006/relationships/image" Target="../media/image92.svg"/><Relationship Id="rId3" Type="http://schemas.openxmlformats.org/officeDocument/2006/relationships/notesSlide" Target="../notesSlides/notesSlide9.xml"/><Relationship Id="rId7" Type="http://schemas.openxmlformats.org/officeDocument/2006/relationships/image" Target="../media/image86.svg"/><Relationship Id="rId12" Type="http://schemas.openxmlformats.org/officeDocument/2006/relationships/image" Target="../media/image91.svg"/><Relationship Id="rId2" Type="http://schemas.openxmlformats.org/officeDocument/2006/relationships/slideLayout" Target="../slideLayouts/slideLayout3.xml"/><Relationship Id="rId1" Type="http://schemas.openxmlformats.org/officeDocument/2006/relationships/tags" Target="../tags/tag53.xml"/><Relationship Id="rId6" Type="http://schemas.openxmlformats.org/officeDocument/2006/relationships/image" Target="../media/image85.svg"/><Relationship Id="rId11" Type="http://schemas.openxmlformats.org/officeDocument/2006/relationships/image" Target="../media/image90.svg"/><Relationship Id="rId5" Type="http://schemas.openxmlformats.org/officeDocument/2006/relationships/image" Target="../media/image11.emf"/><Relationship Id="rId10" Type="http://schemas.openxmlformats.org/officeDocument/2006/relationships/image" Target="../media/image89.svg"/><Relationship Id="rId4" Type="http://schemas.openxmlformats.org/officeDocument/2006/relationships/oleObject" Target="../embeddings/oleObject18.bin"/><Relationship Id="rId9" Type="http://schemas.openxmlformats.org/officeDocument/2006/relationships/image" Target="../media/image88.sv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94.png"/><Relationship Id="rId2" Type="http://schemas.openxmlformats.org/officeDocument/2006/relationships/slideLayout" Target="../slideLayouts/slideLayout3.xml"/><Relationship Id="rId1" Type="http://schemas.openxmlformats.org/officeDocument/2006/relationships/tags" Target="../tags/tag54.xml"/><Relationship Id="rId6" Type="http://schemas.openxmlformats.org/officeDocument/2006/relationships/image" Target="../media/image93.png"/><Relationship Id="rId5" Type="http://schemas.openxmlformats.org/officeDocument/2006/relationships/image" Target="../media/image11.emf"/><Relationship Id="rId4" Type="http://schemas.openxmlformats.org/officeDocument/2006/relationships/oleObject" Target="../embeddings/oleObject14.bin"/></Relationships>
</file>

<file path=ppt/slides/_rels/slide11.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notesSlide" Target="../notesSlides/notesSlide11.xml"/><Relationship Id="rId7" Type="http://schemas.openxmlformats.org/officeDocument/2006/relationships/image" Target="../media/image94.png"/><Relationship Id="rId12" Type="http://schemas.openxmlformats.org/officeDocument/2006/relationships/image" Target="../media/image99.png"/><Relationship Id="rId2" Type="http://schemas.openxmlformats.org/officeDocument/2006/relationships/slideLayout" Target="../slideLayouts/slideLayout3.xml"/><Relationship Id="rId1" Type="http://schemas.openxmlformats.org/officeDocument/2006/relationships/tags" Target="../tags/tag55.xml"/><Relationship Id="rId6" Type="http://schemas.openxmlformats.org/officeDocument/2006/relationships/image" Target="../media/image93.png"/><Relationship Id="rId11" Type="http://schemas.openxmlformats.org/officeDocument/2006/relationships/image" Target="../media/image98.png"/><Relationship Id="rId5" Type="http://schemas.openxmlformats.org/officeDocument/2006/relationships/image" Target="../media/image11.emf"/><Relationship Id="rId10" Type="http://schemas.openxmlformats.org/officeDocument/2006/relationships/image" Target="../media/image97.png"/><Relationship Id="rId4" Type="http://schemas.openxmlformats.org/officeDocument/2006/relationships/oleObject" Target="../embeddings/oleObject21.bin"/><Relationship Id="rId9" Type="http://schemas.openxmlformats.org/officeDocument/2006/relationships/image" Target="../media/image9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tags" Target="../tags/tag56.xml"/><Relationship Id="rId5" Type="http://schemas.openxmlformats.org/officeDocument/2006/relationships/image" Target="../media/image11.emf"/><Relationship Id="rId4" Type="http://schemas.openxmlformats.org/officeDocument/2006/relationships/oleObject" Target="../embeddings/oleObject21.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ags" Target="../tags/tag57.xml"/><Relationship Id="rId5" Type="http://schemas.openxmlformats.org/officeDocument/2006/relationships/image" Target="../media/image11.emf"/><Relationship Id="rId4" Type="http://schemas.openxmlformats.org/officeDocument/2006/relationships/oleObject" Target="../embeddings/oleObject21.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58.xml"/><Relationship Id="rId5" Type="http://schemas.openxmlformats.org/officeDocument/2006/relationships/image" Target="../media/image11.emf"/><Relationship Id="rId4" Type="http://schemas.openxmlformats.org/officeDocument/2006/relationships/oleObject" Target="../embeddings/oleObject21.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tags" Target="../tags/tag59.xml"/><Relationship Id="rId5" Type="http://schemas.openxmlformats.org/officeDocument/2006/relationships/image" Target="../media/image11.emf"/><Relationship Id="rId4" Type="http://schemas.openxmlformats.org/officeDocument/2006/relationships/oleObject" Target="../embeddings/oleObject21.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tags" Target="../tags/tag60.xml"/><Relationship Id="rId5" Type="http://schemas.openxmlformats.org/officeDocument/2006/relationships/image" Target="../media/image11.emf"/><Relationship Id="rId4" Type="http://schemas.openxmlformats.org/officeDocument/2006/relationships/oleObject" Target="../embeddings/oleObject21.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tags" Target="../tags/tag61.xml"/><Relationship Id="rId5" Type="http://schemas.openxmlformats.org/officeDocument/2006/relationships/image" Target="../media/image11.emf"/><Relationship Id="rId4" Type="http://schemas.openxmlformats.org/officeDocument/2006/relationships/oleObject" Target="../embeddings/oleObject21.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tags" Target="../tags/tag62.xml"/><Relationship Id="rId5" Type="http://schemas.openxmlformats.org/officeDocument/2006/relationships/image" Target="../media/image11.emf"/><Relationship Id="rId4" Type="http://schemas.openxmlformats.org/officeDocument/2006/relationships/oleObject" Target="../embeddings/oleObject21.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tags" Target="../tags/tag63.xml"/><Relationship Id="rId5" Type="http://schemas.openxmlformats.org/officeDocument/2006/relationships/image" Target="../media/image11.emf"/><Relationship Id="rId4" Type="http://schemas.openxmlformats.org/officeDocument/2006/relationships/oleObject" Target="../embeddings/oleObject21.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tags" Target="../tags/tag64.xml"/><Relationship Id="rId5" Type="http://schemas.openxmlformats.org/officeDocument/2006/relationships/image" Target="../media/image11.emf"/><Relationship Id="rId4" Type="http://schemas.openxmlformats.org/officeDocument/2006/relationships/oleObject" Target="../embeddings/oleObject21.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tags" Target="../tags/tag65.xml"/><Relationship Id="rId5" Type="http://schemas.openxmlformats.org/officeDocument/2006/relationships/image" Target="../media/image11.emf"/><Relationship Id="rId4" Type="http://schemas.openxmlformats.org/officeDocument/2006/relationships/oleObject" Target="../embeddings/oleObject21.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tags" Target="../tags/tag66.xml"/><Relationship Id="rId5" Type="http://schemas.openxmlformats.org/officeDocument/2006/relationships/image" Target="../media/image11.emf"/><Relationship Id="rId4" Type="http://schemas.openxmlformats.org/officeDocument/2006/relationships/oleObject" Target="../embeddings/oleObject21.bin"/></Relationships>
</file>

<file path=ppt/slides/_rels/slide2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1.xml"/><Relationship Id="rId6" Type="http://schemas.openxmlformats.org/officeDocument/2006/relationships/image" Target="../media/image104.png"/><Relationship Id="rId5" Type="http://schemas.openxmlformats.org/officeDocument/2006/relationships/image" Target="../media/image103.svg"/><Relationship Id="rId4" Type="http://schemas.openxmlformats.org/officeDocument/2006/relationships/image" Target="../media/image102.svg"/></Relationships>
</file>

<file path=ppt/slides/_rels/slide29.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1.xml"/><Relationship Id="rId5" Type="http://schemas.openxmlformats.org/officeDocument/2006/relationships/image" Target="../media/image103.svg"/><Relationship Id="rId4" Type="http://schemas.openxmlformats.org/officeDocument/2006/relationships/image" Target="../media/image102.svg"/></Relationships>
</file>

<file path=ppt/slides/_rels/slide3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1.xml"/><Relationship Id="rId6" Type="http://schemas.openxmlformats.org/officeDocument/2006/relationships/image" Target="../media/image105.png"/><Relationship Id="rId5" Type="http://schemas.openxmlformats.org/officeDocument/2006/relationships/image" Target="../media/image103.svg"/><Relationship Id="rId4" Type="http://schemas.openxmlformats.org/officeDocument/2006/relationships/image" Target="../media/image102.svg"/></Relationships>
</file>

<file path=ppt/slides/_rels/slide3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1.xml"/><Relationship Id="rId5" Type="http://schemas.openxmlformats.org/officeDocument/2006/relationships/image" Target="../media/image103.svg"/><Relationship Id="rId4" Type="http://schemas.openxmlformats.org/officeDocument/2006/relationships/image" Target="../media/image102.svg"/></Relationships>
</file>

<file path=ppt/slides/_rels/slide3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1.xml"/><Relationship Id="rId5" Type="http://schemas.openxmlformats.org/officeDocument/2006/relationships/image" Target="../media/image103.svg"/><Relationship Id="rId4" Type="http://schemas.openxmlformats.org/officeDocument/2006/relationships/image" Target="../media/image102.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image" Target="../media/image106.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1.xml"/><Relationship Id="rId5" Type="http://schemas.openxmlformats.org/officeDocument/2006/relationships/image" Target="../media/image103.svg"/><Relationship Id="rId4" Type="http://schemas.openxmlformats.org/officeDocument/2006/relationships/image" Target="../media/image102.svg"/></Relationships>
</file>

<file path=ppt/slides/_rels/slide4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61.png"/><Relationship Id="rId1" Type="http://schemas.openxmlformats.org/officeDocument/2006/relationships/slideLayout" Target="../slideLayouts/slideLayout19.xml"/><Relationship Id="rId5" Type="http://schemas.openxmlformats.org/officeDocument/2006/relationships/image" Target="../media/image112.png"/><Relationship Id="rId4" Type="http://schemas.openxmlformats.org/officeDocument/2006/relationships/image" Target="../media/image1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3" Type="http://schemas.openxmlformats.org/officeDocument/2006/relationships/image" Target="../media/image114.png"/><Relationship Id="rId7" Type="http://schemas.openxmlformats.org/officeDocument/2006/relationships/image" Target="../media/image118.png"/><Relationship Id="rId2" Type="http://schemas.openxmlformats.org/officeDocument/2006/relationships/image" Target="../media/image113.png"/><Relationship Id="rId1" Type="http://schemas.openxmlformats.org/officeDocument/2006/relationships/slideLayout" Target="../slideLayouts/slideLayout3.xml"/><Relationship Id="rId6" Type="http://schemas.openxmlformats.org/officeDocument/2006/relationships/image" Target="../media/image117.png"/><Relationship Id="rId5" Type="http://schemas.openxmlformats.org/officeDocument/2006/relationships/image" Target="../media/image116.png"/><Relationship Id="rId4" Type="http://schemas.openxmlformats.org/officeDocument/2006/relationships/image" Target="../media/image115.png"/></Relationships>
</file>

<file path=ppt/slides/_rels/slide45.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image" Target="../media/image120.png"/><Relationship Id="rId7" Type="http://schemas.openxmlformats.org/officeDocument/2006/relationships/image" Target="../media/image124.svg"/><Relationship Id="rId2" Type="http://schemas.openxmlformats.org/officeDocument/2006/relationships/image" Target="../media/image119.png"/><Relationship Id="rId1" Type="http://schemas.openxmlformats.org/officeDocument/2006/relationships/slideLayout" Target="../slideLayouts/slideLayout3.xml"/><Relationship Id="rId6" Type="http://schemas.openxmlformats.org/officeDocument/2006/relationships/image" Target="../media/image123.png"/><Relationship Id="rId5" Type="http://schemas.openxmlformats.org/officeDocument/2006/relationships/image" Target="../media/image122.png"/><Relationship Id="rId10" Type="http://schemas.openxmlformats.org/officeDocument/2006/relationships/image" Target="../media/image127.svg"/><Relationship Id="rId4" Type="http://schemas.openxmlformats.org/officeDocument/2006/relationships/image" Target="../media/image121.png"/><Relationship Id="rId9" Type="http://schemas.openxmlformats.org/officeDocument/2006/relationships/image" Target="../media/image126.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tags" Target="../tags/tag67.xml"/><Relationship Id="rId5" Type="http://schemas.openxmlformats.org/officeDocument/2006/relationships/image" Target="../media/image11.emf"/><Relationship Id="rId4" Type="http://schemas.openxmlformats.org/officeDocument/2006/relationships/oleObject" Target="../embeddings/oleObject21.bin"/></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2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4.png"/><Relationship Id="rId1" Type="http://schemas.openxmlformats.org/officeDocument/2006/relationships/slideLayout" Target="../slideLayouts/slideLayout21.xml"/><Relationship Id="rId4" Type="http://schemas.openxmlformats.org/officeDocument/2006/relationships/image" Target="../media/image131.png"/></Relationships>
</file>

<file path=ppt/slides/_rels/slide52.xml.rels><?xml version="1.0" encoding="UTF-8" standalone="yes"?>
<Relationships xmlns="http://schemas.openxmlformats.org/package/2006/relationships"><Relationship Id="rId3" Type="http://schemas.openxmlformats.org/officeDocument/2006/relationships/image" Target="../media/image132.png"/><Relationship Id="rId7" Type="http://schemas.openxmlformats.org/officeDocument/2006/relationships/image" Target="../media/image135.svg"/><Relationship Id="rId2" Type="http://schemas.openxmlformats.org/officeDocument/2006/relationships/notesSlide" Target="../notesSlides/notesSlide27.xml"/><Relationship Id="rId1" Type="http://schemas.openxmlformats.org/officeDocument/2006/relationships/slideLayout" Target="../slideLayouts/slideLayout23.xml"/><Relationship Id="rId6" Type="http://schemas.openxmlformats.org/officeDocument/2006/relationships/image" Target="../media/image91.svg"/><Relationship Id="rId5" Type="http://schemas.openxmlformats.org/officeDocument/2006/relationships/image" Target="../media/image134.svg"/><Relationship Id="rId4" Type="http://schemas.openxmlformats.org/officeDocument/2006/relationships/image" Target="../media/image13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8.xml"/><Relationship Id="rId1" Type="http://schemas.openxmlformats.org/officeDocument/2006/relationships/slideLayout" Target="../slideLayouts/slideLayout2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E747C-C934-0DE3-0B6E-878338A0EB37}"/>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FB4C1A8-82D0-26D3-154C-BBD454B425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5" name="think-cell data - do not delete" hidden="1">
                        <a:extLst>
                          <a:ext uri="{FF2B5EF4-FFF2-40B4-BE49-F238E27FC236}">
                            <a16:creationId xmlns:a16="http://schemas.microsoft.com/office/drawing/2014/main" id="{6FB4C1A8-82D0-26D3-154C-BBD454B425C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042" name="Picture 18">
            <a:extLst>
              <a:ext uri="{FF2B5EF4-FFF2-40B4-BE49-F238E27FC236}">
                <a16:creationId xmlns:a16="http://schemas.microsoft.com/office/drawing/2014/main" id="{1799D5D3-379A-FB8F-CCF2-83D16C8F886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19225"/>
          <a:stretch/>
        </p:blipFill>
        <p:spPr bwMode="auto">
          <a:xfrm>
            <a:off x="5956147" y="-14264"/>
            <a:ext cx="6235853"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2">
            <a:extLst>
              <a:ext uri="{FF2B5EF4-FFF2-40B4-BE49-F238E27FC236}">
                <a16:creationId xmlns:a16="http://schemas.microsoft.com/office/drawing/2014/main" id="{BC7899E2-27F9-97CF-5BFA-A1078AD72755}"/>
              </a:ext>
            </a:extLst>
          </p:cNvPr>
          <p:cNvSpPr txBox="1">
            <a:spLocks/>
          </p:cNvSpPr>
          <p:nvPr/>
        </p:nvSpPr>
        <p:spPr>
          <a:xfrm>
            <a:off x="879701" y="3117185"/>
            <a:ext cx="5343817" cy="1227139"/>
          </a:xfrm>
          <a:prstGeom prst="rect">
            <a:avLst/>
          </a:prstGeom>
        </p:spPr>
        <p:txBody>
          <a:bodyPr vert="horz" lIns="91440" tIns="45720" rIns="91440" bIns="45720" rtlCol="0" anchor="t">
            <a:normAutofit fontScale="85000" lnSpcReduction="10000"/>
          </a:bodyPr>
          <a:lstStyle>
            <a:lvl1pPr marL="0" indent="0" algn="just" defTabSz="1219170" rtl="0" eaLnBrk="1" latinLnBrk="0" hangingPunct="1">
              <a:lnSpc>
                <a:spcPts val="2267"/>
              </a:lnSpc>
              <a:spcBef>
                <a:spcPts val="0"/>
              </a:spcBef>
              <a:buFont typeface="Arial" panose="020B0604020202020204" pitchFamily="34" charset="0"/>
              <a:buNone/>
              <a:defRPr sz="1867" b="0" kern="1200">
                <a:solidFill>
                  <a:srgbClr val="ECECF2"/>
                </a:solidFill>
                <a:latin typeface="Bariol" charset="0"/>
                <a:ea typeface="Bariol" charset="0"/>
                <a:cs typeface="Bariol" charset="0"/>
              </a:defRPr>
            </a:lvl1pPr>
            <a:lvl2pPr marL="457189" indent="0" algn="l" defTabSz="1219170" rtl="0" eaLnBrk="1" latinLnBrk="0" hangingPunct="1">
              <a:lnSpc>
                <a:spcPts val="2267"/>
              </a:lnSpc>
              <a:spcBef>
                <a:spcPts val="0"/>
              </a:spcBef>
              <a:buFont typeface="Arial" panose="020B0604020202020204" pitchFamily="34" charset="0"/>
              <a:buNone/>
              <a:defRPr sz="1467" kern="1200">
                <a:solidFill>
                  <a:schemeClr val="tx1"/>
                </a:solidFill>
                <a:latin typeface="+mn-lt"/>
                <a:ea typeface="+mn-ea"/>
                <a:cs typeface="+mn-cs"/>
              </a:defRPr>
            </a:lvl2pPr>
            <a:lvl3pPr marL="0" indent="0" algn="l" defTabSz="1219170" rtl="0" eaLnBrk="1" latinLnBrk="0" hangingPunct="1">
              <a:lnSpc>
                <a:spcPts val="2267"/>
              </a:lnSpc>
              <a:spcBef>
                <a:spcPts val="0"/>
              </a:spcBef>
              <a:buFont typeface="Arial" panose="020B0604020202020204" pitchFamily="34" charset="0"/>
              <a:buNone/>
              <a:defRPr sz="1467" kern="1200">
                <a:solidFill>
                  <a:schemeClr val="tx1"/>
                </a:solidFill>
                <a:latin typeface="+mn-lt"/>
                <a:ea typeface="+mn-ea"/>
                <a:cs typeface="+mn-cs"/>
              </a:defRPr>
            </a:lvl3pPr>
            <a:lvl4pPr marL="0" indent="0" algn="l" defTabSz="1219170" rtl="0" eaLnBrk="1" latinLnBrk="0" hangingPunct="1">
              <a:lnSpc>
                <a:spcPts val="2267"/>
              </a:lnSpc>
              <a:spcBef>
                <a:spcPts val="0"/>
              </a:spcBef>
              <a:buFont typeface="Arial" panose="020B0604020202020204" pitchFamily="34" charset="0"/>
              <a:buNone/>
              <a:defRPr sz="1467" kern="1200">
                <a:solidFill>
                  <a:schemeClr val="tx1"/>
                </a:solidFill>
                <a:latin typeface="+mn-lt"/>
                <a:ea typeface="+mn-ea"/>
                <a:cs typeface="+mn-cs"/>
              </a:defRPr>
            </a:lvl4pPr>
            <a:lvl5pPr marL="0" indent="0" algn="l" defTabSz="1219170" rtl="0" eaLnBrk="1" latinLnBrk="0" hangingPunct="1">
              <a:lnSpc>
                <a:spcPts val="2267"/>
              </a:lnSpc>
              <a:spcBef>
                <a:spcPts val="0"/>
              </a:spcBef>
              <a:buFont typeface="Arial" panose="020B0604020202020204" pitchFamily="34" charset="0"/>
              <a:buNone/>
              <a:defRPr sz="14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100000"/>
              </a:lnSpc>
              <a:spcAft>
                <a:spcPts val="300"/>
              </a:spcAft>
              <a:defRPr/>
            </a:pPr>
            <a:r>
              <a:rPr kumimoji="0" lang="en-US" sz="3600" b="1" i="0" u="none" strike="noStrike" kern="1200" cap="none" spc="0" normalizeH="0" baseline="0" noProof="0" dirty="0">
                <a:ln>
                  <a:noFill/>
                </a:ln>
                <a:solidFill>
                  <a:srgbClr val="595959"/>
                </a:solidFill>
                <a:effectLst/>
                <a:uLnTx/>
                <a:uFillTx/>
                <a:latin typeface="Aptos"/>
                <a:ea typeface="+mn-lt"/>
                <a:cs typeface="+mn-lt"/>
                <a:sym typeface="Aptos" panose="020B0004020202020204" pitchFamily="34" charset="0"/>
              </a:rPr>
              <a:t>Overview for </a:t>
            </a:r>
            <a:r>
              <a:rPr lang="en-US" sz="3600" b="1" dirty="0">
                <a:solidFill>
                  <a:srgbClr val="595959"/>
                </a:solidFill>
                <a:highlight>
                  <a:srgbClr val="FFFF00"/>
                </a:highlight>
                <a:latin typeface="Aptos"/>
                <a:ea typeface="+mn-lt"/>
                <a:cs typeface="+mn-lt"/>
                <a:sym typeface="Aptos" panose="020B0004020202020204" pitchFamily="34" charset="0"/>
              </a:rPr>
              <a:t>[*Client Name]</a:t>
            </a:r>
          </a:p>
          <a:p>
            <a:pPr marL="0" marR="0" lvl="0" indent="0" algn="just" defTabSz="1219170" eaLnBrk="1" fontAlgn="auto" latinLnBrk="0" hangingPunct="1">
              <a:lnSpc>
                <a:spcPct val="100000"/>
              </a:lnSpc>
              <a:spcBef>
                <a:spcPts val="0"/>
              </a:spcBef>
              <a:spcAft>
                <a:spcPts val="0"/>
              </a:spcAft>
              <a:buClrTx/>
              <a:buSzTx/>
              <a:buFont typeface="Arial" panose="020B0604020202020204" pitchFamily="34" charset="0"/>
              <a:buNone/>
              <a:tabLst/>
              <a:defRPr/>
            </a:pPr>
            <a:r>
              <a:rPr lang="en-US" sz="2600" dirty="0">
                <a:solidFill>
                  <a:srgbClr val="6360D8"/>
                </a:solidFill>
                <a:highlight>
                  <a:srgbClr val="FFFF00"/>
                </a:highlight>
                <a:latin typeface="Aptos"/>
                <a:ea typeface="+mn-lt"/>
                <a:cs typeface="+mn-lt"/>
                <a:sym typeface="Aptos" panose="020B0004020202020204" pitchFamily="34" charset="0"/>
              </a:rPr>
              <a:t>[*Month]</a:t>
            </a:r>
            <a:r>
              <a:rPr kumimoji="0" lang="en-US" sz="2600" b="0" i="0" u="none" strike="noStrike" kern="1200" cap="none" spc="0" normalizeH="0" baseline="0" noProof="0" dirty="0">
                <a:ln>
                  <a:noFill/>
                </a:ln>
                <a:solidFill>
                  <a:srgbClr val="6360D8"/>
                </a:solidFill>
                <a:effectLst/>
                <a:uLnTx/>
                <a:uFillTx/>
                <a:latin typeface="Aptos"/>
                <a:ea typeface="+mn-lt"/>
                <a:cs typeface="+mn-lt"/>
                <a:sym typeface="Aptos" panose="020B0004020202020204" pitchFamily="34" charset="0"/>
              </a:rPr>
              <a:t> 2026</a:t>
            </a:r>
          </a:p>
        </p:txBody>
      </p:sp>
      <p:pic>
        <p:nvPicPr>
          <p:cNvPr id="10" name="Picture 2" descr="Cyber Risk Management Company ISTARI Invests in Security Data Science  Pioneer Prevalent AI">
            <a:extLst>
              <a:ext uri="{FF2B5EF4-FFF2-40B4-BE49-F238E27FC236}">
                <a16:creationId xmlns:a16="http://schemas.microsoft.com/office/drawing/2014/main" id="{698538EB-84E4-E12B-8D47-DEF936D2A809}"/>
              </a:ext>
            </a:extLst>
          </p:cNvPr>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30424" y="2492979"/>
            <a:ext cx="2918668" cy="62325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6">
            <a:extLst>
              <a:ext uri="{FF2B5EF4-FFF2-40B4-BE49-F238E27FC236}">
                <a16:creationId xmlns:a16="http://schemas.microsoft.com/office/drawing/2014/main" id="{5F5CF4D2-6CEF-9180-14D1-A77738BF12A9}"/>
              </a:ext>
            </a:extLst>
          </p:cNvPr>
          <p:cNvPicPr>
            <a:picLocks noChangeAspect="1" noChangeArrowheads="1"/>
          </p:cNvPicPr>
          <p:nvPr/>
        </p:nvPicPr>
        <p:blipFill>
          <a:blip r:embed="rId8">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flipH="1">
            <a:off x="0" y="-14264"/>
            <a:ext cx="3227364" cy="197938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1169E60E-72C8-140D-1FA8-6AFCC73F944F}"/>
              </a:ext>
            </a:extLst>
          </p:cNvPr>
          <p:cNvSpPr/>
          <p:nvPr/>
        </p:nvSpPr>
        <p:spPr>
          <a:xfrm>
            <a:off x="8692055" y="-24978"/>
            <a:ext cx="3502062" cy="3286863"/>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b="1" i="1">
                <a:solidFill>
                  <a:srgbClr val="000000"/>
                </a:solidFill>
              </a:rPr>
              <a:t>** V0.1 - Last updated 20260507 **</a:t>
            </a:r>
            <a:endParaRPr lang="en-GB" sz="1600" b="1" i="1" dirty="0">
              <a:solidFill>
                <a:srgbClr val="000000"/>
              </a:solidFill>
            </a:endParaRPr>
          </a:p>
          <a:p>
            <a:pPr algn="ctr"/>
            <a:endParaRPr lang="en-GB" sz="1600" b="1" i="1" dirty="0">
              <a:solidFill>
                <a:srgbClr val="000000"/>
              </a:solidFill>
            </a:endParaRPr>
          </a:p>
          <a:p>
            <a:pPr algn="ctr"/>
            <a:r>
              <a:rPr lang="en-GB" sz="1600" b="1" i="1">
                <a:solidFill>
                  <a:srgbClr val="000000"/>
                </a:solidFill>
              </a:rPr>
              <a:t>*Please make a copy of this deck </a:t>
            </a:r>
            <a:r>
              <a:rPr lang="en-GB" sz="1600" b="1" i="1" dirty="0">
                <a:solidFill>
                  <a:srgbClr val="000000"/>
                </a:solidFill>
              </a:rPr>
              <a:t>when using for specific-client purposes</a:t>
            </a:r>
            <a:endParaRPr lang="en-GB"/>
          </a:p>
          <a:p>
            <a:pPr algn="ctr"/>
            <a:endParaRPr lang="en-GB" sz="1600" b="1" i="1" dirty="0">
              <a:solidFill>
                <a:srgbClr val="000000"/>
              </a:solidFill>
            </a:endParaRPr>
          </a:p>
          <a:p>
            <a:pPr algn="ctr"/>
            <a:r>
              <a:rPr lang="en-GB" sz="1600" b="1" i="1" dirty="0">
                <a:solidFill>
                  <a:srgbClr val="000000"/>
                </a:solidFill>
              </a:rPr>
              <a:t>And ensure all highlighted references with a * are removed</a:t>
            </a:r>
            <a:r>
              <a:rPr lang="en-GB" sz="1600" b="1" i="1">
                <a:solidFill>
                  <a:srgbClr val="000000"/>
                </a:solidFill>
              </a:rPr>
              <a:t> and the highlighting also</a:t>
            </a:r>
            <a:endParaRPr lang="en-GB" sz="1600" b="1" i="1" dirty="0">
              <a:solidFill>
                <a:srgbClr val="000000"/>
              </a:solidFill>
            </a:endParaRPr>
          </a:p>
        </p:txBody>
      </p:sp>
    </p:spTree>
    <p:extLst>
      <p:ext uri="{BB962C8B-B14F-4D97-AF65-F5344CB8AC3E}">
        <p14:creationId xmlns:p14="http://schemas.microsoft.com/office/powerpoint/2010/main" val="1582360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BFE4E-E674-A828-4580-31E15A1304DD}"/>
            </a:ext>
          </a:extLst>
        </p:cNvPr>
        <p:cNvGrpSpPr/>
        <p:nvPr/>
      </p:nvGrpSpPr>
      <p:grpSpPr>
        <a:xfrm>
          <a:off x="0" y="0"/>
          <a:ext cx="0" cy="0"/>
          <a:chOff x="0" y="0"/>
          <a:chExt cx="0" cy="0"/>
        </a:xfrm>
      </p:grpSpPr>
      <p:graphicFrame>
        <p:nvGraphicFramePr>
          <p:cNvPr id="41" name="think-cell data - do not delete" hidden="1">
            <a:extLst>
              <a:ext uri="{FF2B5EF4-FFF2-40B4-BE49-F238E27FC236}">
                <a16:creationId xmlns:a16="http://schemas.microsoft.com/office/drawing/2014/main" id="{52EF01BD-AE58-D1D6-69EB-F80D3C55244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41" name="think-cell data - do not delete" hidden="1">
                        <a:extLst>
                          <a:ext uri="{FF2B5EF4-FFF2-40B4-BE49-F238E27FC236}">
                            <a16:creationId xmlns:a16="http://schemas.microsoft.com/office/drawing/2014/main" id="{52EF01BD-AE58-D1D6-69EB-F80D3C55244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object 8">
            <a:extLst>
              <a:ext uri="{FF2B5EF4-FFF2-40B4-BE49-F238E27FC236}">
                <a16:creationId xmlns:a16="http://schemas.microsoft.com/office/drawing/2014/main" id="{A69ABF48-0CCF-924A-BEEE-2E5DEE6CF982}"/>
              </a:ext>
            </a:extLst>
          </p:cNvPr>
          <p:cNvSpPr txBox="1"/>
          <p:nvPr/>
        </p:nvSpPr>
        <p:spPr>
          <a:xfrm>
            <a:off x="647998" y="525983"/>
            <a:ext cx="10834941" cy="461665"/>
          </a:xfrm>
          <a:prstGeom prst="rect">
            <a:avLst/>
          </a:prstGeom>
        </p:spPr>
        <p:txBody>
          <a:bodyPr vert="horz" wrap="square" lIns="0" tIns="0" rIns="0" bIns="0" rtlCol="0">
            <a:spAutoFit/>
          </a:bodyPr>
          <a:lstStyle/>
          <a:p>
            <a:pPr marL="20319" marR="0" lvl="0" indent="0" algn="l" defTabSz="1219170" eaLnBrk="1" fontAlgn="auto" latinLnBrk="0" hangingPunct="1">
              <a:spcBef>
                <a:spcPts val="0"/>
              </a:spcBef>
              <a:spcAft>
                <a:spcPts val="0"/>
              </a:spcAft>
              <a:buClrTx/>
              <a:buSzTx/>
              <a:buFontTx/>
              <a:buNone/>
              <a:tabLst/>
              <a:defRPr/>
            </a:pPr>
            <a:r>
              <a:rPr lang="en-US" sz="3000" b="1" spc="-100">
                <a:solidFill>
                  <a:srgbClr val="060B25"/>
                </a:solidFill>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Prevalent AI Overview</a:t>
            </a:r>
            <a:endParaRPr kumimoji="0" lang="en-US" sz="3000" b="1" i="0" u="none" strike="noStrike" kern="1200" cap="none" spc="-100" normalizeH="0" noProof="0">
              <a:ln>
                <a:noFill/>
              </a:ln>
              <a:solidFill>
                <a:srgbClr val="060B25"/>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endParaRPr>
          </a:p>
        </p:txBody>
      </p:sp>
      <p:sp>
        <p:nvSpPr>
          <p:cNvPr id="16" name="Rectangle 15">
            <a:extLst>
              <a:ext uri="{FF2B5EF4-FFF2-40B4-BE49-F238E27FC236}">
                <a16:creationId xmlns:a16="http://schemas.microsoft.com/office/drawing/2014/main" id="{33AA2CF9-F74A-4EF9-4396-D54B73CB7D33}"/>
              </a:ext>
            </a:extLst>
          </p:cNvPr>
          <p:cNvSpPr/>
          <p:nvPr/>
        </p:nvSpPr>
        <p:spPr>
          <a:xfrm>
            <a:off x="533929" y="5397748"/>
            <a:ext cx="10994014" cy="850383"/>
          </a:xfrm>
          <a:prstGeom prst="rect">
            <a:avLst/>
          </a:prstGeom>
          <a:solidFill>
            <a:srgbClr val="D5C8E8">
              <a:alpha val="3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1200" b="1">
                <a:solidFill>
                  <a:schemeClr val="tx2"/>
                </a:solidFill>
                <a:latin typeface="Aptos" panose="020B0004020202020204" pitchFamily="34" charset="0"/>
                <a:ea typeface="Open Sans" pitchFamily="2" charset="0"/>
                <a:cs typeface="Open Sans" pitchFamily="2" charset="0"/>
              </a:rPr>
              <a:t>Founders with two decades of unparalleled security data </a:t>
            </a:r>
          </a:p>
          <a:p>
            <a:r>
              <a:rPr lang="en-GB" sz="1200" b="1">
                <a:solidFill>
                  <a:schemeClr val="tx2"/>
                </a:solidFill>
                <a:latin typeface="Aptos" panose="020B0004020202020204" pitchFamily="34" charset="0"/>
                <a:ea typeface="Open Sans" pitchFamily="2" charset="0"/>
                <a:cs typeface="Open Sans" pitchFamily="2" charset="0"/>
              </a:rPr>
              <a:t>science expertise and proven success</a:t>
            </a:r>
          </a:p>
        </p:txBody>
      </p:sp>
      <p:sp>
        <p:nvSpPr>
          <p:cNvPr id="17" name="Text Placeholder 2">
            <a:extLst>
              <a:ext uri="{FF2B5EF4-FFF2-40B4-BE49-F238E27FC236}">
                <a16:creationId xmlns:a16="http://schemas.microsoft.com/office/drawing/2014/main" id="{1465F37D-14D1-9F97-8A00-4BB31F05B05B}"/>
              </a:ext>
            </a:extLst>
          </p:cNvPr>
          <p:cNvSpPr txBox="1">
            <a:spLocks/>
          </p:cNvSpPr>
          <p:nvPr/>
        </p:nvSpPr>
        <p:spPr>
          <a:xfrm>
            <a:off x="533928" y="1595593"/>
            <a:ext cx="10995193" cy="2510947"/>
          </a:xfrm>
          <a:prstGeom prst="rect">
            <a:avLst/>
          </a:prstGeom>
          <a:solidFill>
            <a:schemeClr val="bg1"/>
          </a:solidFill>
          <a:ln>
            <a:solidFill>
              <a:schemeClr val="bg1">
                <a:lumMod val="85000"/>
              </a:schemeClr>
            </a:solidFill>
          </a:ln>
        </p:spPr>
        <p:txBody>
          <a:bodyPr lIns="36000" tIns="108000" rIns="36000" bIns="108000" anchor="t"/>
          <a:lstStyle>
            <a:lvl1pPr marL="205740" indent="-205740" algn="l" defTabSz="822960" rtl="0" eaLnBrk="1" latinLnBrk="0" hangingPunct="1">
              <a:lnSpc>
                <a:spcPct val="90000"/>
              </a:lnSpc>
              <a:spcBef>
                <a:spcPts val="900"/>
              </a:spcBef>
              <a:buFont typeface="Arial" panose="020B0604020202020204" pitchFamily="34" charset="0"/>
              <a:buChar char="•"/>
              <a:defRPr sz="2520" kern="1200">
                <a:solidFill>
                  <a:schemeClr val="tx1"/>
                </a:solidFill>
                <a:latin typeface="+mn-lt"/>
                <a:ea typeface="+mn-ea"/>
                <a:cs typeface="+mn-cs"/>
              </a:defRPr>
            </a:lvl1pPr>
            <a:lvl2pPr marL="617220" indent="-205740" algn="l" defTabSz="822960" rtl="0" eaLnBrk="1" latinLnBrk="0" hangingPunct="1">
              <a:lnSpc>
                <a:spcPct val="90000"/>
              </a:lnSpc>
              <a:spcBef>
                <a:spcPts val="450"/>
              </a:spcBef>
              <a:buFont typeface="Arial" panose="020B0604020202020204" pitchFamily="34" charset="0"/>
              <a:buChar char="•"/>
              <a:defRPr sz="2160" kern="1200">
                <a:solidFill>
                  <a:schemeClr val="tx1"/>
                </a:solidFill>
                <a:latin typeface="+mn-lt"/>
                <a:ea typeface="+mn-ea"/>
                <a:cs typeface="+mn-cs"/>
              </a:defRPr>
            </a:lvl2pPr>
            <a:lvl3pPr marL="1028700" indent="-205740" algn="l" defTabSz="822960" rtl="0" eaLnBrk="1" latinLnBrk="0" hangingPunct="1">
              <a:lnSpc>
                <a:spcPct val="90000"/>
              </a:lnSpc>
              <a:spcBef>
                <a:spcPts val="450"/>
              </a:spcBef>
              <a:buFont typeface="Arial" panose="020B0604020202020204" pitchFamily="34" charset="0"/>
              <a:buChar char="•"/>
              <a:defRPr sz="1800" kern="1200">
                <a:solidFill>
                  <a:schemeClr val="tx1"/>
                </a:solidFill>
                <a:latin typeface="+mn-lt"/>
                <a:ea typeface="+mn-ea"/>
                <a:cs typeface="+mn-cs"/>
              </a:defRPr>
            </a:lvl3pPr>
            <a:lvl4pPr marL="14401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4pPr>
            <a:lvl5pPr marL="185166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5pPr>
            <a:lvl6pPr marL="226314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62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610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5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a:lstStyle>
          <a:p>
            <a:pPr marL="267970" indent="-175895">
              <a:lnSpc>
                <a:spcPct val="110000"/>
              </a:lnSpc>
              <a:spcBef>
                <a:spcPts val="300"/>
              </a:spcBef>
              <a:buFont typeface="Wingdings" panose="05000000000000000000" pitchFamily="2" charset="2"/>
              <a:buChar char="§"/>
            </a:pPr>
            <a:r>
              <a:rPr lang="en-US" sz="1400">
                <a:solidFill>
                  <a:srgbClr val="595959"/>
                </a:solidFill>
                <a:latin typeface="Aptos" panose="020B0004020202020204" pitchFamily="34" charset="0"/>
                <a:ea typeface="Open Sans" pitchFamily="2" charset="0"/>
                <a:cs typeface="Open Sans" pitchFamily="2" charset="0"/>
              </a:rPr>
              <a:t>PAI is a UK / India company, founded in 2017 with 150+ employees</a:t>
            </a:r>
          </a:p>
          <a:p>
            <a:pPr marL="267970" indent="-175895">
              <a:lnSpc>
                <a:spcPct val="110000"/>
              </a:lnSpc>
              <a:spcBef>
                <a:spcPts val="300"/>
              </a:spcBef>
              <a:buFont typeface="Wingdings" panose="05000000000000000000" pitchFamily="2" charset="2"/>
              <a:buChar char="§"/>
            </a:pPr>
            <a:r>
              <a:rPr lang="en-US" sz="1400">
                <a:solidFill>
                  <a:srgbClr val="595959"/>
                </a:solidFill>
                <a:latin typeface="Aptos" panose="020B0004020202020204" pitchFamily="34" charset="0"/>
                <a:ea typeface="Open Sans" pitchFamily="2" charset="0"/>
                <a:cs typeface="Open Sans" pitchFamily="2" charset="0"/>
              </a:rPr>
              <a:t>We deliver an AI powered Data Fabric Platform, that provides an unparalleled level of Visibility for our client environments</a:t>
            </a:r>
          </a:p>
          <a:p>
            <a:pPr marL="267970" indent="-175895">
              <a:lnSpc>
                <a:spcPct val="110000"/>
              </a:lnSpc>
              <a:spcBef>
                <a:spcPts val="300"/>
              </a:spcBef>
              <a:buFont typeface="Wingdings" panose="05000000000000000000" pitchFamily="2" charset="2"/>
              <a:buChar char="§"/>
            </a:pPr>
            <a:r>
              <a:rPr lang="en-US" sz="1400">
                <a:solidFill>
                  <a:srgbClr val="595959"/>
                </a:solidFill>
                <a:latin typeface="Aptos" panose="020B0004020202020204" pitchFamily="34" charset="0"/>
                <a:ea typeface="Open Sans" pitchFamily="2" charset="0"/>
                <a:cs typeface="Open Sans" pitchFamily="2" charset="0"/>
              </a:rPr>
              <a:t>On top of the Data Fabric an almost unlimited set of cyber solutions can be delivered, starting with Exposure Management</a:t>
            </a:r>
          </a:p>
          <a:p>
            <a:pPr marL="267970" indent="-175895">
              <a:lnSpc>
                <a:spcPct val="110000"/>
              </a:lnSpc>
              <a:spcBef>
                <a:spcPts val="300"/>
              </a:spcBef>
              <a:buFont typeface="Wingdings" panose="05000000000000000000" pitchFamily="2" charset="2"/>
              <a:buChar char="§"/>
            </a:pPr>
            <a:r>
              <a:rPr lang="en-US" sz="1400">
                <a:solidFill>
                  <a:srgbClr val="595959"/>
                </a:solidFill>
                <a:latin typeface="Aptos" panose="020B0004020202020204" pitchFamily="34" charset="0"/>
                <a:ea typeface="Open Sans" pitchFamily="2" charset="0"/>
                <a:cs typeface="Open Sans" pitchFamily="2" charset="0"/>
              </a:rPr>
              <a:t>Exposure Management is made up of several Modules including Attack Surface Management, Risk Based Vulnerability Management, and Continuous Controls Monitoring</a:t>
            </a:r>
          </a:p>
          <a:p>
            <a:pPr marL="267970" indent="-175895">
              <a:lnSpc>
                <a:spcPct val="110000"/>
              </a:lnSpc>
              <a:spcBef>
                <a:spcPts val="300"/>
              </a:spcBef>
              <a:buFont typeface="Wingdings" panose="05000000000000000000" pitchFamily="2" charset="2"/>
              <a:buChar char="§"/>
            </a:pPr>
            <a:r>
              <a:rPr lang="en-US" sz="1400">
                <a:solidFill>
                  <a:srgbClr val="595959"/>
                </a:solidFill>
                <a:latin typeface="Aptos" panose="020B0004020202020204" pitchFamily="34" charset="0"/>
                <a:ea typeface="Open Sans" pitchFamily="2" charset="0"/>
                <a:cs typeface="Open Sans" pitchFamily="2" charset="0"/>
              </a:rPr>
              <a:t>Our Data Fabric and Knowledge Graph enables “Navigator”, the most accurate Generative AI Assistant for cyber</a:t>
            </a:r>
          </a:p>
          <a:p>
            <a:pPr marL="267970" indent="-175895">
              <a:lnSpc>
                <a:spcPct val="110000"/>
              </a:lnSpc>
              <a:spcBef>
                <a:spcPts val="300"/>
              </a:spcBef>
              <a:buFont typeface="Wingdings" panose="05000000000000000000" pitchFamily="2" charset="2"/>
              <a:buChar char="§"/>
            </a:pPr>
            <a:r>
              <a:rPr lang="en-US" sz="1400">
                <a:solidFill>
                  <a:srgbClr val="595959"/>
                </a:solidFill>
                <a:latin typeface="Aptos" panose="020B0004020202020204" pitchFamily="34" charset="0"/>
                <a:ea typeface="Open Sans" pitchFamily="2" charset="0"/>
                <a:cs typeface="Open Sans" pitchFamily="2" charset="0"/>
              </a:rPr>
              <a:t>Clients use our Data Fabric for a wide range of use cases, including SIEM enhancement/replacement, Threat Hunting, Insider Threat……</a:t>
            </a:r>
          </a:p>
          <a:p>
            <a:pPr marL="267970" indent="-175895">
              <a:lnSpc>
                <a:spcPct val="110000"/>
              </a:lnSpc>
              <a:spcBef>
                <a:spcPts val="300"/>
              </a:spcBef>
              <a:buFont typeface="Wingdings" panose="05000000000000000000" pitchFamily="2" charset="2"/>
              <a:buChar char="§"/>
            </a:pPr>
            <a:r>
              <a:rPr lang="en-US" sz="1400">
                <a:solidFill>
                  <a:srgbClr val="595959"/>
                </a:solidFill>
                <a:latin typeface="Aptos" panose="020B0004020202020204" pitchFamily="34" charset="0"/>
                <a:ea typeface="Open Sans" pitchFamily="2" charset="0"/>
                <a:cs typeface="Open Sans" pitchFamily="2" charset="0"/>
              </a:rPr>
              <a:t>Our clients are typically large Enterprises (largest customer is 500k FTE)</a:t>
            </a:r>
          </a:p>
          <a:p>
            <a:pPr marL="267970" indent="-175895">
              <a:lnSpc>
                <a:spcPct val="110000"/>
              </a:lnSpc>
              <a:spcBef>
                <a:spcPts val="300"/>
              </a:spcBef>
              <a:buFont typeface="Wingdings" panose="05000000000000000000" pitchFamily="2" charset="2"/>
              <a:buChar char="§"/>
            </a:pPr>
            <a:r>
              <a:rPr lang="en-US" sz="1400">
                <a:solidFill>
                  <a:srgbClr val="595959"/>
                </a:solidFill>
                <a:latin typeface="Aptos" panose="020B0004020202020204" pitchFamily="34" charset="0"/>
                <a:ea typeface="Open Sans" pitchFamily="2" charset="0"/>
                <a:cs typeface="Open Sans" pitchFamily="2" charset="0"/>
              </a:rPr>
              <a:t>Long-term, high-value client relationships, 0% attrition</a:t>
            </a:r>
          </a:p>
        </p:txBody>
      </p:sp>
      <p:sp>
        <p:nvSpPr>
          <p:cNvPr id="18" name="Rectangle 17">
            <a:extLst>
              <a:ext uri="{FF2B5EF4-FFF2-40B4-BE49-F238E27FC236}">
                <a16:creationId xmlns:a16="http://schemas.microsoft.com/office/drawing/2014/main" id="{6C97B70C-FFBF-EE67-3BE2-039001B03275}"/>
              </a:ext>
            </a:extLst>
          </p:cNvPr>
          <p:cNvSpPr/>
          <p:nvPr/>
        </p:nvSpPr>
        <p:spPr>
          <a:xfrm>
            <a:off x="533928" y="1248568"/>
            <a:ext cx="10987087" cy="347026"/>
          </a:xfrm>
          <a:prstGeom prst="rect">
            <a:avLst/>
          </a:prstGeom>
          <a:solidFill>
            <a:srgbClr val="6360D8"/>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bg1"/>
                </a:solidFill>
                <a:latin typeface="Aptos" panose="020B0004020202020204" pitchFamily="34" charset="0"/>
                <a:ea typeface="Open Sans" pitchFamily="2" charset="0"/>
                <a:cs typeface="Open Sans" pitchFamily="2" charset="0"/>
              </a:rPr>
              <a:t>Company Overview</a:t>
            </a:r>
          </a:p>
        </p:txBody>
      </p:sp>
      <p:sp>
        <p:nvSpPr>
          <p:cNvPr id="19" name="Rectangle 18">
            <a:extLst>
              <a:ext uri="{FF2B5EF4-FFF2-40B4-BE49-F238E27FC236}">
                <a16:creationId xmlns:a16="http://schemas.microsoft.com/office/drawing/2014/main" id="{D1D2CB80-865A-09F9-BB27-AC26F43ABC2E}"/>
              </a:ext>
            </a:extLst>
          </p:cNvPr>
          <p:cNvSpPr/>
          <p:nvPr/>
        </p:nvSpPr>
        <p:spPr>
          <a:xfrm>
            <a:off x="533929" y="4106540"/>
            <a:ext cx="10987088" cy="347026"/>
          </a:xfrm>
          <a:prstGeom prst="rect">
            <a:avLst/>
          </a:prstGeom>
          <a:solidFill>
            <a:srgbClr val="8059BB">
              <a:alpha val="8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bg1"/>
                </a:solidFill>
                <a:latin typeface="Aptos" panose="020B0004020202020204" pitchFamily="34" charset="0"/>
                <a:ea typeface="Open Sans" pitchFamily="2" charset="0"/>
                <a:cs typeface="Open Sans" pitchFamily="2" charset="0"/>
              </a:rPr>
              <a:t>What Differentiates PAI …</a:t>
            </a:r>
          </a:p>
        </p:txBody>
      </p:sp>
      <p:sp>
        <p:nvSpPr>
          <p:cNvPr id="20" name="Rectangle 19">
            <a:extLst>
              <a:ext uri="{FF2B5EF4-FFF2-40B4-BE49-F238E27FC236}">
                <a16:creationId xmlns:a16="http://schemas.microsoft.com/office/drawing/2014/main" id="{B988EAA3-E169-FA4C-170B-4EB8D4633635}"/>
              </a:ext>
            </a:extLst>
          </p:cNvPr>
          <p:cNvSpPr/>
          <p:nvPr/>
        </p:nvSpPr>
        <p:spPr>
          <a:xfrm>
            <a:off x="533929" y="4531523"/>
            <a:ext cx="3470803" cy="662876"/>
          </a:xfrm>
          <a:prstGeom prst="rect">
            <a:avLst/>
          </a:prstGeom>
          <a:solidFill>
            <a:srgbClr val="D5C8E8">
              <a:alpha val="3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a:solidFill>
                  <a:schemeClr val="tx2"/>
                </a:solidFill>
                <a:latin typeface="Aptos" panose="020B0004020202020204" pitchFamily="34" charset="0"/>
                <a:ea typeface="Open Sans" pitchFamily="2" charset="0"/>
                <a:cs typeface="Open Sans" pitchFamily="2" charset="0"/>
              </a:rPr>
              <a:t>Data Fabric that provides unmatched visibility for complex enterprise environments</a:t>
            </a:r>
          </a:p>
        </p:txBody>
      </p:sp>
      <p:sp>
        <p:nvSpPr>
          <p:cNvPr id="21" name="Rectangle 20">
            <a:extLst>
              <a:ext uri="{FF2B5EF4-FFF2-40B4-BE49-F238E27FC236}">
                <a16:creationId xmlns:a16="http://schemas.microsoft.com/office/drawing/2014/main" id="{71C1ED8F-84B5-C2D1-0479-52549FDDE62E}"/>
              </a:ext>
            </a:extLst>
          </p:cNvPr>
          <p:cNvSpPr/>
          <p:nvPr/>
        </p:nvSpPr>
        <p:spPr>
          <a:xfrm>
            <a:off x="4299000" y="4531523"/>
            <a:ext cx="3470802" cy="662876"/>
          </a:xfrm>
          <a:prstGeom prst="rect">
            <a:avLst/>
          </a:prstGeom>
          <a:solidFill>
            <a:srgbClr val="D5C8E8">
              <a:alpha val="3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a:solidFill>
                  <a:schemeClr val="tx2"/>
                </a:solidFill>
                <a:latin typeface="Aptos" panose="020B0004020202020204" pitchFamily="34" charset="0"/>
                <a:ea typeface="Open Sans" pitchFamily="2" charset="0"/>
                <a:cs typeface="Open Sans" pitchFamily="2" charset="0"/>
              </a:rPr>
              <a:t>Integration of multiple cyber products for complete Exposure Management</a:t>
            </a:r>
          </a:p>
        </p:txBody>
      </p:sp>
      <p:sp>
        <p:nvSpPr>
          <p:cNvPr id="22" name="Rectangle 21">
            <a:extLst>
              <a:ext uri="{FF2B5EF4-FFF2-40B4-BE49-F238E27FC236}">
                <a16:creationId xmlns:a16="http://schemas.microsoft.com/office/drawing/2014/main" id="{57EFC012-EB56-1A0B-640E-C54A850DA6AD}"/>
              </a:ext>
            </a:extLst>
          </p:cNvPr>
          <p:cNvSpPr/>
          <p:nvPr/>
        </p:nvSpPr>
        <p:spPr>
          <a:xfrm>
            <a:off x="8064071" y="4531523"/>
            <a:ext cx="3470802" cy="662876"/>
          </a:xfrm>
          <a:prstGeom prst="rect">
            <a:avLst/>
          </a:prstGeom>
          <a:solidFill>
            <a:srgbClr val="D5C8E8">
              <a:alpha val="3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b="1">
                <a:solidFill>
                  <a:schemeClr val="tx2"/>
                </a:solidFill>
                <a:latin typeface="Aptos" panose="020B0004020202020204" pitchFamily="34" charset="0"/>
                <a:ea typeface="Open Sans" pitchFamily="2" charset="0"/>
                <a:cs typeface="Open Sans" pitchFamily="2" charset="0"/>
              </a:rPr>
              <a:t>Proven in the most complex environments, delivering outstanding customer loyalty</a:t>
            </a:r>
          </a:p>
        </p:txBody>
      </p:sp>
      <p:grpSp>
        <p:nvGrpSpPr>
          <p:cNvPr id="23" name="Group 22">
            <a:extLst>
              <a:ext uri="{FF2B5EF4-FFF2-40B4-BE49-F238E27FC236}">
                <a16:creationId xmlns:a16="http://schemas.microsoft.com/office/drawing/2014/main" id="{96F8F193-F8FC-95A7-C702-A6FE432C2097}"/>
              </a:ext>
            </a:extLst>
          </p:cNvPr>
          <p:cNvGrpSpPr/>
          <p:nvPr/>
        </p:nvGrpSpPr>
        <p:grpSpPr>
          <a:xfrm>
            <a:off x="5074090" y="5475703"/>
            <a:ext cx="3980572" cy="694471"/>
            <a:chOff x="2327786" y="1674566"/>
            <a:chExt cx="3980572" cy="694471"/>
          </a:xfrm>
        </p:grpSpPr>
        <p:pic>
          <p:nvPicPr>
            <p:cNvPr id="24" name="Picture 23">
              <a:extLst>
                <a:ext uri="{FF2B5EF4-FFF2-40B4-BE49-F238E27FC236}">
                  <a16:creationId xmlns:a16="http://schemas.microsoft.com/office/drawing/2014/main" id="{A6DD886E-110C-2F80-8D43-0107AC4FDD48}"/>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2327786" y="1674566"/>
              <a:ext cx="3551615" cy="694471"/>
            </a:xfrm>
            <a:prstGeom prst="rect">
              <a:avLst/>
            </a:prstGeom>
          </p:spPr>
        </p:pic>
        <p:sp>
          <p:nvSpPr>
            <p:cNvPr id="25" name="Arrow: Right 24">
              <a:extLst>
                <a:ext uri="{FF2B5EF4-FFF2-40B4-BE49-F238E27FC236}">
                  <a16:creationId xmlns:a16="http://schemas.microsoft.com/office/drawing/2014/main" id="{7E660119-EAD9-9510-BA28-A7FA67A9334F}"/>
                </a:ext>
              </a:extLst>
            </p:cNvPr>
            <p:cNvSpPr/>
            <p:nvPr/>
          </p:nvSpPr>
          <p:spPr>
            <a:xfrm>
              <a:off x="5896228" y="1988656"/>
              <a:ext cx="412130" cy="58590"/>
            </a:xfrm>
            <a:prstGeom prst="rightArrow">
              <a:avLst/>
            </a:prstGeom>
            <a:solidFill>
              <a:schemeClr val="tx1">
                <a:lumMod val="50000"/>
              </a:schemeClr>
            </a:solidFill>
            <a:ln>
              <a:solidFill>
                <a:schemeClr val="tx1">
                  <a:lumMod val="75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sz="1685"/>
            </a:p>
          </p:txBody>
        </p:sp>
      </p:grpSp>
      <p:pic>
        <p:nvPicPr>
          <p:cNvPr id="26" name="Picture 25" descr="A black background with a black square&#10;&#10;Description automatically generated with medium confidence">
            <a:extLst>
              <a:ext uri="{FF2B5EF4-FFF2-40B4-BE49-F238E27FC236}">
                <a16:creationId xmlns:a16="http://schemas.microsoft.com/office/drawing/2014/main" id="{36FDA3F4-8A0E-95EC-C47A-381713D49E4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401176" y="5613089"/>
            <a:ext cx="1791034" cy="396711"/>
          </a:xfrm>
          <a:prstGeom prst="rect">
            <a:avLst/>
          </a:prstGeom>
        </p:spPr>
      </p:pic>
    </p:spTree>
    <p:extLst>
      <p:ext uri="{BB962C8B-B14F-4D97-AF65-F5344CB8AC3E}">
        <p14:creationId xmlns:p14="http://schemas.microsoft.com/office/powerpoint/2010/main" val="1197312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33030-33E7-20FA-F591-D9EF95BA25FB}"/>
            </a:ext>
          </a:extLst>
        </p:cNvPr>
        <p:cNvGrpSpPr/>
        <p:nvPr/>
      </p:nvGrpSpPr>
      <p:grpSpPr>
        <a:xfrm>
          <a:off x="0" y="0"/>
          <a:ext cx="0" cy="0"/>
          <a:chOff x="0" y="0"/>
          <a:chExt cx="0" cy="0"/>
        </a:xfrm>
      </p:grpSpPr>
      <p:graphicFrame>
        <p:nvGraphicFramePr>
          <p:cNvPr id="41" name="think-cell data - do not delete" hidden="1">
            <a:extLst>
              <a:ext uri="{FF2B5EF4-FFF2-40B4-BE49-F238E27FC236}">
                <a16:creationId xmlns:a16="http://schemas.microsoft.com/office/drawing/2014/main" id="{960C7318-A673-6CD5-01FC-40E8E4AF2C4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41" name="think-cell data - do not delete" hidden="1">
                        <a:extLst>
                          <a:ext uri="{FF2B5EF4-FFF2-40B4-BE49-F238E27FC236}">
                            <a16:creationId xmlns:a16="http://schemas.microsoft.com/office/drawing/2014/main" id="{960C7318-A673-6CD5-01FC-40E8E4AF2C4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1C44152-4FB8-C692-E12B-13F6FC5D4AE1}"/>
              </a:ext>
            </a:extLst>
          </p:cNvPr>
          <p:cNvSpPr/>
          <p:nvPr/>
        </p:nvSpPr>
        <p:spPr>
          <a:xfrm>
            <a:off x="0" y="-2"/>
            <a:ext cx="4584190" cy="6858001"/>
          </a:xfrm>
          <a:prstGeom prst="rect">
            <a:avLst/>
          </a:prstGeom>
          <a:solidFill>
            <a:srgbClr val="060B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sym typeface="Aptos" panose="020B0004020202020204" pitchFamily="34" charset="0"/>
            </a:endParaRPr>
          </a:p>
        </p:txBody>
      </p:sp>
      <p:pic>
        <p:nvPicPr>
          <p:cNvPr id="2" name="Picture 16">
            <a:extLst>
              <a:ext uri="{FF2B5EF4-FFF2-40B4-BE49-F238E27FC236}">
                <a16:creationId xmlns:a16="http://schemas.microsoft.com/office/drawing/2014/main" id="{6A70E2C9-9010-9009-D646-1CF4E8588B25}"/>
              </a:ext>
            </a:extLst>
          </p:cNvPr>
          <p:cNvPicPr>
            <a:picLocks noChangeAspect="1" noChangeArrowheads="1"/>
          </p:cNvPicPr>
          <p:nvPr/>
        </p:nvPicPr>
        <p:blipFill>
          <a:blip r:embed="rId6">
            <a:alphaModFix amt="35000"/>
            <a:extLst>
              <a:ext uri="{28A0092B-C50C-407E-A947-70E740481C1C}">
                <a14:useLocalDpi xmlns:a14="http://schemas.microsoft.com/office/drawing/2010/main" val="0"/>
              </a:ext>
            </a:extLst>
          </a:blip>
          <a:srcRect/>
          <a:stretch>
            <a:fillRect/>
          </a:stretch>
        </p:blipFill>
        <p:spPr bwMode="auto">
          <a:xfrm rot="5400000" flipH="1">
            <a:off x="1203494" y="810304"/>
            <a:ext cx="4191000" cy="257039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2716406-4303-31B9-B36E-9DCD05911DCC}"/>
              </a:ext>
            </a:extLst>
          </p:cNvPr>
          <p:cNvSpPr txBox="1"/>
          <p:nvPr/>
        </p:nvSpPr>
        <p:spPr>
          <a:xfrm>
            <a:off x="392668" y="1371600"/>
            <a:ext cx="3784696" cy="4003725"/>
          </a:xfrm>
          <a:prstGeom prst="rect">
            <a:avLst/>
          </a:prstGeom>
          <a:noFill/>
        </p:spPr>
        <p:txBody>
          <a:bodyPr wrap="square" lIns="91440" tIns="45720" rIns="91440" bIns="45720" rtlCol="0" anchor="t">
            <a:spAutoFit/>
          </a:bodyPr>
          <a:lstStyle/>
          <a:p>
            <a:pPr>
              <a:lnSpc>
                <a:spcPct val="120000"/>
              </a:lnSpc>
              <a:spcAft>
                <a:spcPts val="900"/>
              </a:spcAft>
            </a:pPr>
            <a:r>
              <a:rPr lang="en-US" sz="3200" b="1">
                <a:solidFill>
                  <a:srgbClr val="F1F1FF"/>
                </a:solidFill>
                <a:latin typeface="Aptos" panose="020B0004020202020204" pitchFamily="34" charset="0"/>
                <a:ea typeface="Open Sans Bold" pitchFamily="2" charset="0"/>
                <a:cs typeface="Open Sans Bold" pitchFamily="2" charset="0"/>
                <a:sym typeface="Aptos" panose="020B0004020202020204" pitchFamily="34" charset="0"/>
              </a:rPr>
              <a:t>The Challenge</a:t>
            </a:r>
            <a:endParaRPr lang="en-US" sz="1600" b="1">
              <a:solidFill>
                <a:srgbClr val="F1F1FF"/>
              </a:solidFill>
              <a:latin typeface="Aptos" panose="020B0004020202020204" pitchFamily="34" charset="0"/>
              <a:ea typeface="Open Sans Bold" pitchFamily="2" charset="0"/>
              <a:cs typeface="Open Sans Bold" pitchFamily="2" charset="0"/>
              <a:sym typeface="Aptos" panose="020B0004020202020204" pitchFamily="34" charset="0"/>
            </a:endParaRPr>
          </a:p>
          <a:p>
            <a:pPr algn="l">
              <a:lnSpc>
                <a:spcPct val="120000"/>
              </a:lnSpc>
            </a:pPr>
            <a:r>
              <a:rPr lang="en-US" sz="2500">
                <a:solidFill>
                  <a:schemeClr val="bg1"/>
                </a:solidFill>
                <a:latin typeface="Aptos" panose="020B0004020202020204" pitchFamily="34" charset="0"/>
                <a:ea typeface="Open Sans Bold" pitchFamily="2" charset="0"/>
                <a:cs typeface="Open Sans Bold" pitchFamily="2" charset="0"/>
                <a:sym typeface="Aptos" panose="020B0004020202020204" pitchFamily="34" charset="0"/>
              </a:rPr>
              <a:t>Fragmented tooling, poor data quality, and legacy approaches leave security teams and management exposed – unable to monitor, prioritize, or act effectively</a:t>
            </a:r>
          </a:p>
        </p:txBody>
      </p:sp>
      <p:sp>
        <p:nvSpPr>
          <p:cNvPr id="3" name="TextBox 2">
            <a:extLst>
              <a:ext uri="{FF2B5EF4-FFF2-40B4-BE49-F238E27FC236}">
                <a16:creationId xmlns:a16="http://schemas.microsoft.com/office/drawing/2014/main" id="{EE9901EB-3B45-3A93-17BC-4FBA4528CA7A}"/>
              </a:ext>
            </a:extLst>
          </p:cNvPr>
          <p:cNvSpPr txBox="1"/>
          <p:nvPr/>
        </p:nvSpPr>
        <p:spPr>
          <a:xfrm>
            <a:off x="6024064" y="3043840"/>
            <a:ext cx="5922120" cy="1200329"/>
          </a:xfrm>
          <a:prstGeom prst="rect">
            <a:avLst/>
          </a:prstGeom>
          <a:noFill/>
        </p:spPr>
        <p:txBody>
          <a:bodyPr wrap="square" rtlCol="0">
            <a:spAutoFit/>
          </a:bodyPr>
          <a:lstStyle/>
          <a:p>
            <a:r>
              <a:rPr lang="en-US" sz="1600" b="1" i="0" u="none" strike="noStrike" dirty="0">
                <a:solidFill>
                  <a:srgbClr val="6360D8"/>
                </a:solidFill>
                <a:effectLst/>
                <a:latin typeface="Aptos" panose="020B0004020202020204" pitchFamily="34" charset="0"/>
                <a:ea typeface="Open Sans" pitchFamily="2" charset="0"/>
                <a:cs typeface="Open Sans" pitchFamily="2" charset="0"/>
                <a:sym typeface="Aptos" panose="020B0004020202020204" pitchFamily="34" charset="0"/>
              </a:rPr>
              <a:t>Poor Data Quality Undermines AI Effectiveness</a:t>
            </a:r>
            <a:br>
              <a:rPr lang="en-US" sz="1600" b="1" i="0" u="none" strike="noStrike" dirty="0">
                <a:solidFill>
                  <a:srgbClr val="003D59"/>
                </a:solidFill>
                <a:effectLst/>
                <a:latin typeface="Aptos" panose="020B0004020202020204" pitchFamily="34" charset="0"/>
                <a:ea typeface="Open Sans" pitchFamily="2" charset="0"/>
                <a:cs typeface="Open Sans" pitchFamily="2" charset="0"/>
                <a:sym typeface="Aptos" panose="020B0004020202020204" pitchFamily="34" charset="0"/>
              </a:rPr>
            </a:br>
            <a:r>
              <a:rPr lang="en-US" sz="1400" b="1" dirty="0">
                <a:solidFill>
                  <a:srgbClr val="595959"/>
                </a:solidFill>
                <a:latin typeface="Aptos" panose="020B0004020202020204" pitchFamily="34" charset="0"/>
                <a:ea typeface="Open Sans" pitchFamily="2" charset="0"/>
                <a:cs typeface="Open Sans" pitchFamily="2" charset="0"/>
                <a:sym typeface="Aptos" panose="020B0004020202020204" pitchFamily="34" charset="0"/>
              </a:rPr>
              <a:t>AI depends on high-quality datasets</a:t>
            </a:r>
            <a:r>
              <a:rPr lang="en-US" sz="1400" dirty="0">
                <a:solidFill>
                  <a:srgbClr val="595959"/>
                </a:solidFill>
                <a:latin typeface="Aptos" panose="020B0004020202020204" pitchFamily="34" charset="0"/>
                <a:ea typeface="Open Sans" pitchFamily="2" charset="0"/>
                <a:cs typeface="Open Sans" pitchFamily="2" charset="0"/>
                <a:sym typeface="Aptos" panose="020B0004020202020204" pitchFamily="34" charset="0"/>
              </a:rPr>
              <a:t>. However, most cybersecurity data is </a:t>
            </a:r>
            <a:r>
              <a:rPr lang="en-US" sz="1400" b="1" dirty="0">
                <a:solidFill>
                  <a:srgbClr val="595959"/>
                </a:solidFill>
                <a:latin typeface="Aptos" panose="020B0004020202020204" pitchFamily="34" charset="0"/>
                <a:ea typeface="Open Sans" pitchFamily="2" charset="0"/>
                <a:cs typeface="Open Sans" pitchFamily="2" charset="0"/>
                <a:sym typeface="Aptos" panose="020B0004020202020204" pitchFamily="34" charset="0"/>
              </a:rPr>
              <a:t>incomplete</a:t>
            </a:r>
            <a:r>
              <a:rPr lang="en-US" sz="1400" dirty="0">
                <a:solidFill>
                  <a:srgbClr val="595959"/>
                </a:solidFill>
                <a:latin typeface="Aptos" panose="020B0004020202020204" pitchFamily="34" charset="0"/>
                <a:ea typeface="Open Sans" pitchFamily="2" charset="0"/>
                <a:cs typeface="Open Sans" pitchFamily="2" charset="0"/>
                <a:sym typeface="Aptos" panose="020B0004020202020204" pitchFamily="34" charset="0"/>
              </a:rPr>
              <a:t>, </a:t>
            </a:r>
            <a:r>
              <a:rPr lang="en-US" sz="1400" b="1" dirty="0">
                <a:solidFill>
                  <a:srgbClr val="595959"/>
                </a:solidFill>
                <a:latin typeface="Aptos" panose="020B0004020202020204" pitchFamily="34" charset="0"/>
                <a:ea typeface="Open Sans" pitchFamily="2" charset="0"/>
                <a:cs typeface="Open Sans" pitchFamily="2" charset="0"/>
                <a:sym typeface="Aptos" panose="020B0004020202020204" pitchFamily="34" charset="0"/>
              </a:rPr>
              <a:t>inconsistent</a:t>
            </a:r>
            <a:r>
              <a:rPr lang="en-US" sz="1400" dirty="0">
                <a:solidFill>
                  <a:srgbClr val="595959"/>
                </a:solidFill>
                <a:latin typeface="Aptos" panose="020B0004020202020204" pitchFamily="34" charset="0"/>
                <a:ea typeface="Open Sans" pitchFamily="2" charset="0"/>
                <a:cs typeface="Open Sans" pitchFamily="2" charset="0"/>
                <a:sym typeface="Aptos" panose="020B0004020202020204" pitchFamily="34" charset="0"/>
              </a:rPr>
              <a:t>, and </a:t>
            </a:r>
            <a:r>
              <a:rPr lang="en-US" sz="1400" b="1" dirty="0">
                <a:solidFill>
                  <a:srgbClr val="595959"/>
                </a:solidFill>
                <a:latin typeface="Aptos" panose="020B0004020202020204" pitchFamily="34" charset="0"/>
                <a:ea typeface="Open Sans" pitchFamily="2" charset="0"/>
                <a:cs typeface="Open Sans" pitchFamily="2" charset="0"/>
                <a:sym typeface="Aptos" panose="020B0004020202020204" pitchFamily="34" charset="0"/>
              </a:rPr>
              <a:t>duplicative</a:t>
            </a:r>
            <a:r>
              <a:rPr lang="en-US" sz="1400" dirty="0">
                <a:solidFill>
                  <a:srgbClr val="595959"/>
                </a:solidFill>
                <a:latin typeface="Aptos" panose="020B0004020202020204" pitchFamily="34" charset="0"/>
                <a:ea typeface="Open Sans" pitchFamily="2" charset="0"/>
                <a:cs typeface="Open Sans" pitchFamily="2" charset="0"/>
                <a:sym typeface="Aptos" panose="020B0004020202020204" pitchFamily="34" charset="0"/>
              </a:rPr>
              <a:t>. Without clean, contextualized data, AI-driven initiatives produce inaccurate and unreliable results. </a:t>
            </a:r>
            <a:r>
              <a:rPr lang="en-US" sz="1400" b="1" dirty="0">
                <a:solidFill>
                  <a:srgbClr val="595959"/>
                </a:solidFill>
                <a:latin typeface="Aptos" panose="020B0004020202020204" pitchFamily="34" charset="0"/>
                <a:ea typeface="Open Sans" pitchFamily="2" charset="0"/>
                <a:cs typeface="Open Sans" pitchFamily="2" charset="0"/>
                <a:sym typeface="Aptos" panose="020B0004020202020204" pitchFamily="34" charset="0"/>
              </a:rPr>
              <a:t>Knowledge and Context Graphs are critical enablers.</a:t>
            </a:r>
          </a:p>
        </p:txBody>
      </p:sp>
      <p:sp>
        <p:nvSpPr>
          <p:cNvPr id="9" name="TextBox 8">
            <a:extLst>
              <a:ext uri="{FF2B5EF4-FFF2-40B4-BE49-F238E27FC236}">
                <a16:creationId xmlns:a16="http://schemas.microsoft.com/office/drawing/2014/main" id="{517FCB86-68C1-B998-6FA2-A595CBE90254}"/>
              </a:ext>
            </a:extLst>
          </p:cNvPr>
          <p:cNvSpPr txBox="1"/>
          <p:nvPr/>
        </p:nvSpPr>
        <p:spPr>
          <a:xfrm>
            <a:off x="6024064" y="4401283"/>
            <a:ext cx="5664106" cy="1631216"/>
          </a:xfrm>
          <a:prstGeom prst="rect">
            <a:avLst/>
          </a:prstGeom>
          <a:noFill/>
        </p:spPr>
        <p:txBody>
          <a:bodyPr wrap="square" rtlCol="0">
            <a:spAutoFit/>
          </a:bodyPr>
          <a:lstStyle/>
          <a:p>
            <a:r>
              <a:rPr lang="en-US" sz="1600" b="1" u="none" strike="noStrike">
                <a:solidFill>
                  <a:srgbClr val="6360D8"/>
                </a:solidFill>
                <a:effectLst/>
                <a:latin typeface="Aptos" panose="020B0004020202020204" pitchFamily="34" charset="0"/>
                <a:ea typeface="Open Sans" pitchFamily="2" charset="0"/>
                <a:cs typeface="Open Sans" pitchFamily="2" charset="0"/>
                <a:sym typeface="Aptos" panose="020B0004020202020204" pitchFamily="34" charset="0"/>
              </a:rPr>
              <a:t>Legacy Tooling Falls Short</a:t>
            </a:r>
          </a:p>
          <a:p>
            <a:r>
              <a:rPr lang="en-US" sz="1400">
                <a:solidFill>
                  <a:srgbClr val="595959"/>
                </a:solidFill>
                <a:latin typeface="Aptos" panose="020B0004020202020204" pitchFamily="34" charset="0"/>
                <a:ea typeface="Open Sans" pitchFamily="2" charset="0"/>
                <a:cs typeface="Open Sans" pitchFamily="2" charset="0"/>
                <a:sym typeface="Aptos" panose="020B0004020202020204" pitchFamily="34" charset="0"/>
              </a:rPr>
              <a:t>Traditional Exposure Management tools operate </a:t>
            </a:r>
            <a:r>
              <a:rPr lang="en-US" sz="1400" b="1">
                <a:solidFill>
                  <a:srgbClr val="595959"/>
                </a:solidFill>
                <a:latin typeface="Aptos" panose="020B0004020202020204" pitchFamily="34" charset="0"/>
                <a:ea typeface="Open Sans" pitchFamily="2" charset="0"/>
                <a:cs typeface="Open Sans" pitchFamily="2" charset="0"/>
                <a:sym typeface="Aptos" panose="020B0004020202020204" pitchFamily="34" charset="0"/>
              </a:rPr>
              <a:t>reactively</a:t>
            </a:r>
            <a:r>
              <a:rPr lang="en-US" sz="1400">
                <a:solidFill>
                  <a:srgbClr val="595959"/>
                </a:solidFill>
                <a:latin typeface="Aptos" panose="020B0004020202020204" pitchFamily="34" charset="0"/>
                <a:ea typeface="Open Sans" pitchFamily="2" charset="0"/>
                <a:cs typeface="Open Sans" pitchFamily="2" charset="0"/>
                <a:sym typeface="Aptos" panose="020B0004020202020204" pitchFamily="34" charset="0"/>
              </a:rPr>
              <a:t> and </a:t>
            </a:r>
            <a:r>
              <a:rPr lang="en-US" sz="1400" b="1">
                <a:solidFill>
                  <a:srgbClr val="595959"/>
                </a:solidFill>
                <a:latin typeface="Aptos" panose="020B0004020202020204" pitchFamily="34" charset="0"/>
                <a:ea typeface="Open Sans" pitchFamily="2" charset="0"/>
                <a:cs typeface="Open Sans" pitchFamily="2" charset="0"/>
                <a:sym typeface="Aptos" panose="020B0004020202020204" pitchFamily="34" charset="0"/>
              </a:rPr>
              <a:t>lack the context needed to prioritize real risks</a:t>
            </a:r>
            <a:r>
              <a:rPr lang="en-US" sz="1400">
                <a:solidFill>
                  <a:srgbClr val="595959"/>
                </a:solidFill>
                <a:latin typeface="Aptos" panose="020B0004020202020204" pitchFamily="34" charset="0"/>
                <a:ea typeface="Open Sans" pitchFamily="2" charset="0"/>
                <a:cs typeface="Open Sans" pitchFamily="2" charset="0"/>
                <a:sym typeface="Aptos" panose="020B0004020202020204" pitchFamily="34" charset="0"/>
              </a:rPr>
              <a:t>. GRC tools rely on untimely and unreliable manual attestations. Without a data-driven unified view of assets, controls, and threats, security teams struggle with inefficient remediation, and management lack a consistent and reliable view of their control, risk, and compliance posture</a:t>
            </a:r>
          </a:p>
        </p:txBody>
      </p:sp>
      <p:sp>
        <p:nvSpPr>
          <p:cNvPr id="24" name="TextBox 23">
            <a:extLst>
              <a:ext uri="{FF2B5EF4-FFF2-40B4-BE49-F238E27FC236}">
                <a16:creationId xmlns:a16="http://schemas.microsoft.com/office/drawing/2014/main" id="{A138D6C2-9858-E6E9-BA32-3C8206C0DA37}"/>
              </a:ext>
            </a:extLst>
          </p:cNvPr>
          <p:cNvSpPr txBox="1"/>
          <p:nvPr/>
        </p:nvSpPr>
        <p:spPr>
          <a:xfrm>
            <a:off x="6024064" y="1257300"/>
            <a:ext cx="5550744" cy="1415772"/>
          </a:xfrm>
          <a:prstGeom prst="rect">
            <a:avLst/>
          </a:prstGeom>
          <a:noFill/>
        </p:spPr>
        <p:txBody>
          <a:bodyPr wrap="square" rtlCol="0">
            <a:spAutoFit/>
          </a:bodyPr>
          <a:lstStyle/>
          <a:p>
            <a:pPr>
              <a:spcBef>
                <a:spcPts val="0"/>
              </a:spcBef>
              <a:spcAft>
                <a:spcPts val="0"/>
              </a:spcAft>
            </a:pPr>
            <a:r>
              <a:rPr lang="en-US" sz="1600" b="1" i="0" strike="noStrike">
                <a:solidFill>
                  <a:srgbClr val="6360D8"/>
                </a:solidFill>
                <a:effectLst/>
                <a:latin typeface="Aptos" panose="020B0004020202020204" pitchFamily="34" charset="0"/>
                <a:ea typeface="Open Sans" pitchFamily="2" charset="0"/>
                <a:cs typeface="Open Sans" pitchFamily="2" charset="0"/>
                <a:sym typeface="Aptos" panose="020B0004020202020204" pitchFamily="34" charset="0"/>
              </a:rPr>
              <a:t>Fragmented Tooling &amp; Growing Complexity</a:t>
            </a:r>
          </a:p>
          <a:p>
            <a:pPr>
              <a:spcBef>
                <a:spcPts val="0"/>
              </a:spcBef>
              <a:spcAft>
                <a:spcPts val="0"/>
              </a:spcAft>
            </a:pPr>
            <a:r>
              <a:rPr lang="en-US" sz="1400">
                <a:solidFill>
                  <a:srgbClr val="595959"/>
                </a:solidFill>
                <a:latin typeface="Aptos" panose="020B0004020202020204" pitchFamily="34" charset="0"/>
                <a:ea typeface="Open Sans" pitchFamily="2" charset="0"/>
                <a:cs typeface="Open Sans" pitchFamily="2" charset="0"/>
                <a:sym typeface="Aptos" panose="020B0004020202020204" pitchFamily="34" charset="0"/>
              </a:rPr>
              <a:t>Enterprises often rely on </a:t>
            </a:r>
            <a:r>
              <a:rPr lang="en-US" sz="1400" b="1">
                <a:solidFill>
                  <a:srgbClr val="595959"/>
                </a:solidFill>
                <a:latin typeface="Aptos" panose="020B0004020202020204" pitchFamily="34" charset="0"/>
                <a:ea typeface="Open Sans" pitchFamily="2" charset="0"/>
                <a:cs typeface="Open Sans" pitchFamily="2" charset="0"/>
                <a:sym typeface="Aptos" panose="020B0004020202020204" pitchFamily="34" charset="0"/>
              </a:rPr>
              <a:t>100+ cybersecurity tools </a:t>
            </a:r>
            <a:r>
              <a:rPr lang="en-US" sz="1400">
                <a:solidFill>
                  <a:srgbClr val="595959"/>
                </a:solidFill>
                <a:latin typeface="Aptos" panose="020B0004020202020204" pitchFamily="34" charset="0"/>
                <a:ea typeface="Open Sans" pitchFamily="2" charset="0"/>
                <a:cs typeface="Open Sans" pitchFamily="2" charset="0"/>
                <a:sym typeface="Aptos" panose="020B0004020202020204" pitchFamily="34" charset="0"/>
              </a:rPr>
              <a:t>spread across </a:t>
            </a:r>
            <a:r>
              <a:rPr lang="en-US" sz="1400" b="1">
                <a:solidFill>
                  <a:srgbClr val="595959"/>
                </a:solidFill>
                <a:latin typeface="Aptos" panose="020B0004020202020204" pitchFamily="34" charset="0"/>
                <a:ea typeface="Open Sans" pitchFamily="2" charset="0"/>
                <a:cs typeface="Open Sans" pitchFamily="2" charset="0"/>
                <a:sym typeface="Aptos" panose="020B0004020202020204" pitchFamily="34" charset="0"/>
              </a:rPr>
              <a:t>disconnected environments</a:t>
            </a:r>
            <a:r>
              <a:rPr lang="en-US" sz="1400">
                <a:solidFill>
                  <a:srgbClr val="595959"/>
                </a:solidFill>
                <a:latin typeface="Aptos" panose="020B0004020202020204" pitchFamily="34" charset="0"/>
                <a:ea typeface="Open Sans" pitchFamily="2" charset="0"/>
                <a:cs typeface="Open Sans" pitchFamily="2" charset="0"/>
                <a:sym typeface="Aptos" panose="020B0004020202020204" pitchFamily="34" charset="0"/>
              </a:rPr>
              <a:t>, and </a:t>
            </a:r>
            <a:r>
              <a:rPr lang="en-US" sz="1400" b="1">
                <a:solidFill>
                  <a:srgbClr val="595959"/>
                </a:solidFill>
                <a:latin typeface="Aptos" panose="020B0004020202020204" pitchFamily="34" charset="0"/>
                <a:ea typeface="Open Sans" pitchFamily="2" charset="0"/>
                <a:cs typeface="Open Sans" pitchFamily="2" charset="0"/>
                <a:sym typeface="Aptos" panose="020B0004020202020204" pitchFamily="34" charset="0"/>
              </a:rPr>
              <a:t>isolated</a:t>
            </a:r>
            <a:r>
              <a:rPr lang="en-US" sz="1400">
                <a:solidFill>
                  <a:srgbClr val="595959"/>
                </a:solidFill>
                <a:latin typeface="Aptos" panose="020B0004020202020204" pitchFamily="34" charset="0"/>
                <a:ea typeface="Open Sans" pitchFamily="2" charset="0"/>
                <a:cs typeface="Open Sans" pitchFamily="2" charset="0"/>
                <a:sym typeface="Aptos" panose="020B0004020202020204" pitchFamily="34" charset="0"/>
              </a:rPr>
              <a:t> </a:t>
            </a:r>
            <a:r>
              <a:rPr lang="en-US" sz="1400" b="1">
                <a:solidFill>
                  <a:srgbClr val="595959"/>
                </a:solidFill>
                <a:latin typeface="Aptos" panose="020B0004020202020204" pitchFamily="34" charset="0"/>
                <a:ea typeface="Open Sans" pitchFamily="2" charset="0"/>
                <a:cs typeface="Open Sans" pitchFamily="2" charset="0"/>
                <a:sym typeface="Aptos" panose="020B0004020202020204" pitchFamily="34" charset="0"/>
              </a:rPr>
              <a:t>from non-cyber tools</a:t>
            </a:r>
            <a:r>
              <a:rPr lang="en-US" sz="1400">
                <a:solidFill>
                  <a:srgbClr val="595959"/>
                </a:solidFill>
                <a:latin typeface="Aptos" panose="020B0004020202020204" pitchFamily="34" charset="0"/>
                <a:ea typeface="Open Sans" pitchFamily="2" charset="0"/>
                <a:cs typeface="Open Sans" pitchFamily="2" charset="0"/>
                <a:sym typeface="Aptos" panose="020B0004020202020204" pitchFamily="34" charset="0"/>
              </a:rPr>
              <a:t>. This creates data silos, duplicative workflows, and </a:t>
            </a:r>
            <a:r>
              <a:rPr lang="en-US" sz="1400" b="1">
                <a:solidFill>
                  <a:srgbClr val="595959"/>
                </a:solidFill>
                <a:latin typeface="Aptos" panose="020B0004020202020204" pitchFamily="34" charset="0"/>
                <a:ea typeface="Open Sans" pitchFamily="2" charset="0"/>
                <a:cs typeface="Open Sans" pitchFamily="2" charset="0"/>
                <a:sym typeface="Aptos" panose="020B0004020202020204" pitchFamily="34" charset="0"/>
              </a:rPr>
              <a:t>operational blind spots </a:t>
            </a:r>
            <a:r>
              <a:rPr lang="en-US" sz="1400">
                <a:solidFill>
                  <a:srgbClr val="595959"/>
                </a:solidFill>
                <a:latin typeface="Aptos" panose="020B0004020202020204" pitchFamily="34" charset="0"/>
                <a:ea typeface="Open Sans" pitchFamily="2" charset="0"/>
                <a:cs typeface="Open Sans" pitchFamily="2" charset="0"/>
                <a:sym typeface="Aptos" panose="020B0004020202020204" pitchFamily="34" charset="0"/>
              </a:rPr>
              <a:t>– overwhelming security teams and preventing a unified view of enterprise risk for executives</a:t>
            </a:r>
            <a:endParaRPr lang="en-US" sz="1400">
              <a:solidFill>
                <a:srgbClr val="595959"/>
              </a:solidFill>
              <a:effectLst/>
              <a:latin typeface="Aptos" panose="020B0004020202020204" pitchFamily="34" charset="0"/>
              <a:ea typeface="Open Sans" pitchFamily="2" charset="0"/>
              <a:cs typeface="Open Sans" pitchFamily="2" charset="0"/>
              <a:sym typeface="Aptos" panose="020B0004020202020204" pitchFamily="34" charset="0"/>
            </a:endParaRPr>
          </a:p>
        </p:txBody>
      </p:sp>
      <p:grpSp>
        <p:nvGrpSpPr>
          <p:cNvPr id="49" name="Group 48">
            <a:extLst>
              <a:ext uri="{FF2B5EF4-FFF2-40B4-BE49-F238E27FC236}">
                <a16:creationId xmlns:a16="http://schemas.microsoft.com/office/drawing/2014/main" id="{619A0126-A975-739C-35AC-A3D01AC7717D}"/>
              </a:ext>
            </a:extLst>
          </p:cNvPr>
          <p:cNvGrpSpPr/>
          <p:nvPr/>
        </p:nvGrpSpPr>
        <p:grpSpPr>
          <a:xfrm>
            <a:off x="4938986" y="1496967"/>
            <a:ext cx="690217" cy="690217"/>
            <a:chOff x="4938986" y="1496967"/>
            <a:chExt cx="690217" cy="690217"/>
          </a:xfrm>
        </p:grpSpPr>
        <p:sp>
          <p:nvSpPr>
            <p:cNvPr id="27" name="Oval 26">
              <a:extLst>
                <a:ext uri="{FF2B5EF4-FFF2-40B4-BE49-F238E27FC236}">
                  <a16:creationId xmlns:a16="http://schemas.microsoft.com/office/drawing/2014/main" id="{02D91A96-5672-C5CA-A4EB-E10D4AE0A3E4}"/>
                </a:ext>
              </a:extLst>
            </p:cNvPr>
            <p:cNvSpPr/>
            <p:nvPr/>
          </p:nvSpPr>
          <p:spPr>
            <a:xfrm>
              <a:off x="4938986" y="1496967"/>
              <a:ext cx="690217" cy="690217"/>
            </a:xfrm>
            <a:prstGeom prst="ellipse">
              <a:avLst/>
            </a:prstGeom>
            <a:solidFill>
              <a:srgbClr val="6360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sym typeface="Aptos" panose="020B0004020202020204" pitchFamily="34" charset="0"/>
              </a:endParaRPr>
            </a:p>
          </p:txBody>
        </p:sp>
        <p:pic>
          <p:nvPicPr>
            <p:cNvPr id="18" name="Picture 17">
              <a:extLst>
                <a:ext uri="{FF2B5EF4-FFF2-40B4-BE49-F238E27FC236}">
                  <a16:creationId xmlns:a16="http://schemas.microsoft.com/office/drawing/2014/main" id="{16FB5513-B102-5516-4F35-251D235D9E28}"/>
                </a:ext>
              </a:extLst>
            </p:cNvPr>
            <p:cNvPicPr>
              <a:picLocks noChangeAspect="1"/>
            </p:cNvPicPr>
            <p:nvPr/>
          </p:nvPicPr>
          <p:blipFill>
            <a:blip r:embed="rId7"/>
            <a:stretch>
              <a:fillRect/>
            </a:stretch>
          </p:blipFill>
          <p:spPr>
            <a:xfrm>
              <a:off x="4996383" y="1554364"/>
              <a:ext cx="575423" cy="575423"/>
            </a:xfrm>
            <a:prstGeom prst="rect">
              <a:avLst/>
            </a:prstGeom>
          </p:spPr>
        </p:pic>
      </p:grpSp>
      <p:grpSp>
        <p:nvGrpSpPr>
          <p:cNvPr id="7" name="Group 6">
            <a:extLst>
              <a:ext uri="{FF2B5EF4-FFF2-40B4-BE49-F238E27FC236}">
                <a16:creationId xmlns:a16="http://schemas.microsoft.com/office/drawing/2014/main" id="{E5E6A064-8140-3A74-C6C9-34C958DC0E71}"/>
              </a:ext>
            </a:extLst>
          </p:cNvPr>
          <p:cNvGrpSpPr/>
          <p:nvPr/>
        </p:nvGrpSpPr>
        <p:grpSpPr>
          <a:xfrm>
            <a:off x="4938986" y="3175785"/>
            <a:ext cx="690217" cy="690217"/>
            <a:chOff x="4938986" y="3417691"/>
            <a:chExt cx="690217" cy="690217"/>
          </a:xfrm>
        </p:grpSpPr>
        <p:sp>
          <p:nvSpPr>
            <p:cNvPr id="4" name="Oval 3">
              <a:extLst>
                <a:ext uri="{FF2B5EF4-FFF2-40B4-BE49-F238E27FC236}">
                  <a16:creationId xmlns:a16="http://schemas.microsoft.com/office/drawing/2014/main" id="{59709A87-E8FD-F5F1-7F98-0532C35BE878}"/>
                </a:ext>
              </a:extLst>
            </p:cNvPr>
            <p:cNvSpPr/>
            <p:nvPr/>
          </p:nvSpPr>
          <p:spPr>
            <a:xfrm>
              <a:off x="4938986" y="3417691"/>
              <a:ext cx="690217" cy="690217"/>
            </a:xfrm>
            <a:prstGeom prst="ellipse">
              <a:avLst/>
            </a:prstGeom>
            <a:solidFill>
              <a:srgbClr val="6360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sym typeface="Aptos" panose="020B0004020202020204" pitchFamily="34" charset="0"/>
              </a:endParaRPr>
            </a:p>
          </p:txBody>
        </p:sp>
        <p:pic>
          <p:nvPicPr>
            <p:cNvPr id="20" name="Picture 19">
              <a:extLst>
                <a:ext uri="{FF2B5EF4-FFF2-40B4-BE49-F238E27FC236}">
                  <a16:creationId xmlns:a16="http://schemas.microsoft.com/office/drawing/2014/main" id="{9C7ED47C-4304-FF14-CDF9-59D7C0FDA3E2}"/>
                </a:ext>
              </a:extLst>
            </p:cNvPr>
            <p:cNvPicPr>
              <a:picLocks noChangeAspect="1"/>
            </p:cNvPicPr>
            <p:nvPr/>
          </p:nvPicPr>
          <p:blipFill>
            <a:blip r:embed="rId8"/>
            <a:stretch>
              <a:fillRect/>
            </a:stretch>
          </p:blipFill>
          <p:spPr>
            <a:xfrm>
              <a:off x="5053936" y="3532641"/>
              <a:ext cx="475556" cy="475556"/>
            </a:xfrm>
            <a:prstGeom prst="rect">
              <a:avLst/>
            </a:prstGeom>
          </p:spPr>
        </p:pic>
      </p:grpSp>
      <p:grpSp>
        <p:nvGrpSpPr>
          <p:cNvPr id="8" name="Group 7">
            <a:extLst>
              <a:ext uri="{FF2B5EF4-FFF2-40B4-BE49-F238E27FC236}">
                <a16:creationId xmlns:a16="http://schemas.microsoft.com/office/drawing/2014/main" id="{831CE1BA-15D6-C921-5E5E-03D8E93E6CCF}"/>
              </a:ext>
            </a:extLst>
          </p:cNvPr>
          <p:cNvGrpSpPr/>
          <p:nvPr/>
        </p:nvGrpSpPr>
        <p:grpSpPr>
          <a:xfrm>
            <a:off x="4942752" y="4818774"/>
            <a:ext cx="690217" cy="690217"/>
            <a:chOff x="4942752" y="5338413"/>
            <a:chExt cx="690217" cy="690217"/>
          </a:xfrm>
        </p:grpSpPr>
        <p:sp>
          <p:nvSpPr>
            <p:cNvPr id="10" name="Oval 9">
              <a:extLst>
                <a:ext uri="{FF2B5EF4-FFF2-40B4-BE49-F238E27FC236}">
                  <a16:creationId xmlns:a16="http://schemas.microsoft.com/office/drawing/2014/main" id="{9E305AE4-D793-F915-90DD-4F40A37B8C9B}"/>
                </a:ext>
              </a:extLst>
            </p:cNvPr>
            <p:cNvSpPr/>
            <p:nvPr/>
          </p:nvSpPr>
          <p:spPr>
            <a:xfrm>
              <a:off x="4942752" y="5338413"/>
              <a:ext cx="690217" cy="690217"/>
            </a:xfrm>
            <a:prstGeom prst="ellipse">
              <a:avLst/>
            </a:prstGeom>
            <a:solidFill>
              <a:srgbClr val="6360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sym typeface="Aptos" panose="020B0004020202020204" pitchFamily="34" charset="0"/>
              </a:endParaRPr>
            </a:p>
          </p:txBody>
        </p:sp>
        <p:pic>
          <p:nvPicPr>
            <p:cNvPr id="22" name="Picture 21">
              <a:extLst>
                <a:ext uri="{FF2B5EF4-FFF2-40B4-BE49-F238E27FC236}">
                  <a16:creationId xmlns:a16="http://schemas.microsoft.com/office/drawing/2014/main" id="{B5B5C0B9-2AFC-8096-B0C1-3E9BF30ADCDC}"/>
                </a:ext>
              </a:extLst>
            </p:cNvPr>
            <p:cNvPicPr>
              <a:picLocks noChangeAspect="1"/>
            </p:cNvPicPr>
            <p:nvPr/>
          </p:nvPicPr>
          <p:blipFill>
            <a:blip r:embed="rId9"/>
            <a:stretch>
              <a:fillRect/>
            </a:stretch>
          </p:blipFill>
          <p:spPr>
            <a:xfrm rot="19049157">
              <a:off x="5000149" y="5395810"/>
              <a:ext cx="575423" cy="575423"/>
            </a:xfrm>
            <a:prstGeom prst="rect">
              <a:avLst/>
            </a:prstGeom>
          </p:spPr>
        </p:pic>
      </p:grpSp>
      <p:pic>
        <p:nvPicPr>
          <p:cNvPr id="11" name="Picture 16">
            <a:extLst>
              <a:ext uri="{FF2B5EF4-FFF2-40B4-BE49-F238E27FC236}">
                <a16:creationId xmlns:a16="http://schemas.microsoft.com/office/drawing/2014/main" id="{E022CF00-6B1B-335B-D76A-9D80C3E347C2}"/>
              </a:ext>
            </a:extLst>
          </p:cNvPr>
          <p:cNvPicPr>
            <a:picLocks noChangeAspect="1" noChangeArrowheads="1"/>
          </p:cNvPicPr>
          <p:nvPr/>
        </p:nvPicPr>
        <p:blipFill rotWithShape="1">
          <a:blip r:embed="rId6">
            <a:alphaModFix amt="35000"/>
            <a:extLst>
              <a:ext uri="{28A0092B-C50C-407E-A947-70E740481C1C}">
                <a14:useLocalDpi xmlns:a14="http://schemas.microsoft.com/office/drawing/2010/main" val="0"/>
              </a:ext>
            </a:extLst>
          </a:blip>
          <a:srcRect t="24073" r="58466" b="11694"/>
          <a:stretch/>
        </p:blipFill>
        <p:spPr bwMode="auto">
          <a:xfrm flipH="1">
            <a:off x="0" y="5207000"/>
            <a:ext cx="1740704" cy="1650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11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CC5A1-0E12-9100-76BD-A7332A90EADF}"/>
            </a:ext>
          </a:extLst>
        </p:cNvPr>
        <p:cNvGrpSpPr/>
        <p:nvPr/>
      </p:nvGrpSpPr>
      <p:grpSpPr>
        <a:xfrm>
          <a:off x="0" y="0"/>
          <a:ext cx="0" cy="0"/>
          <a:chOff x="0" y="0"/>
          <a:chExt cx="0" cy="0"/>
        </a:xfrm>
      </p:grpSpPr>
      <p:graphicFrame>
        <p:nvGraphicFramePr>
          <p:cNvPr id="41" name="think-cell data - do not delete" hidden="1">
            <a:extLst>
              <a:ext uri="{FF2B5EF4-FFF2-40B4-BE49-F238E27FC236}">
                <a16:creationId xmlns:a16="http://schemas.microsoft.com/office/drawing/2014/main" id="{15477665-5AB6-BE90-CFF5-CB73E36E7D5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41" name="think-cell data - do not delete" hidden="1">
                        <a:extLst>
                          <a:ext uri="{FF2B5EF4-FFF2-40B4-BE49-F238E27FC236}">
                            <a16:creationId xmlns:a16="http://schemas.microsoft.com/office/drawing/2014/main" id="{15477665-5AB6-BE90-CFF5-CB73E36E7D5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2B2E634B-23B4-BF88-C663-4E2D8173A865}"/>
              </a:ext>
            </a:extLst>
          </p:cNvPr>
          <p:cNvSpPr/>
          <p:nvPr/>
        </p:nvSpPr>
        <p:spPr>
          <a:xfrm>
            <a:off x="0" y="-2"/>
            <a:ext cx="4584190" cy="6858001"/>
          </a:xfrm>
          <a:prstGeom prst="rect">
            <a:avLst/>
          </a:prstGeom>
          <a:solidFill>
            <a:srgbClr val="060B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sym typeface="Aptos" panose="020B0004020202020204" pitchFamily="34" charset="0"/>
            </a:endParaRPr>
          </a:p>
        </p:txBody>
      </p:sp>
      <p:sp>
        <p:nvSpPr>
          <p:cNvPr id="9" name="Google Shape;389;p9">
            <a:extLst>
              <a:ext uri="{FF2B5EF4-FFF2-40B4-BE49-F238E27FC236}">
                <a16:creationId xmlns:a16="http://schemas.microsoft.com/office/drawing/2014/main" id="{550B1D25-5E4E-31B8-738A-2475EDA24E53}"/>
              </a:ext>
            </a:extLst>
          </p:cNvPr>
          <p:cNvSpPr/>
          <p:nvPr/>
        </p:nvSpPr>
        <p:spPr>
          <a:xfrm rot="-2700000">
            <a:off x="4699038" y="4703416"/>
            <a:ext cx="2577216" cy="941249"/>
          </a:xfrm>
          <a:custGeom>
            <a:avLst/>
            <a:gdLst/>
            <a:ahLst/>
            <a:cxnLst/>
            <a:rect l="l" t="t" r="r" b="b"/>
            <a:pathLst>
              <a:path w="861" h="324" extrusionOk="0">
                <a:moveTo>
                  <a:pt x="541" y="125"/>
                </a:moveTo>
                <a:cubicBezTo>
                  <a:pt x="320" y="125"/>
                  <a:pt x="320" y="125"/>
                  <a:pt x="320" y="125"/>
                </a:cubicBezTo>
                <a:cubicBezTo>
                  <a:pt x="125" y="125"/>
                  <a:pt x="125" y="125"/>
                  <a:pt x="125" y="125"/>
                </a:cubicBezTo>
                <a:cubicBezTo>
                  <a:pt x="125" y="58"/>
                  <a:pt x="125" y="58"/>
                  <a:pt x="125" y="58"/>
                </a:cubicBezTo>
                <a:cubicBezTo>
                  <a:pt x="125" y="4"/>
                  <a:pt x="125" y="4"/>
                  <a:pt x="125" y="4"/>
                </a:cubicBezTo>
                <a:cubicBezTo>
                  <a:pt x="53" y="21"/>
                  <a:pt x="0" y="85"/>
                  <a:pt x="0" y="162"/>
                </a:cubicBezTo>
                <a:cubicBezTo>
                  <a:pt x="0" y="251"/>
                  <a:pt x="73" y="324"/>
                  <a:pt x="162" y="324"/>
                </a:cubicBezTo>
                <a:cubicBezTo>
                  <a:pt x="239" y="324"/>
                  <a:pt x="303" y="270"/>
                  <a:pt x="320" y="198"/>
                </a:cubicBezTo>
                <a:cubicBezTo>
                  <a:pt x="541" y="198"/>
                  <a:pt x="541" y="198"/>
                  <a:pt x="541" y="198"/>
                </a:cubicBezTo>
                <a:cubicBezTo>
                  <a:pt x="558" y="270"/>
                  <a:pt x="622" y="324"/>
                  <a:pt x="699" y="324"/>
                </a:cubicBezTo>
                <a:cubicBezTo>
                  <a:pt x="788" y="324"/>
                  <a:pt x="861" y="251"/>
                  <a:pt x="861" y="162"/>
                </a:cubicBezTo>
                <a:cubicBezTo>
                  <a:pt x="861" y="72"/>
                  <a:pt x="788" y="0"/>
                  <a:pt x="699" y="0"/>
                </a:cubicBezTo>
                <a:cubicBezTo>
                  <a:pt x="622" y="0"/>
                  <a:pt x="558" y="53"/>
                  <a:pt x="541" y="125"/>
                </a:cubicBezTo>
                <a:close/>
              </a:path>
            </a:pathLst>
          </a:custGeom>
          <a:solidFill>
            <a:srgbClr val="060B25"/>
          </a:solidFill>
          <a:ln>
            <a:noFill/>
          </a:ln>
        </p:spPr>
        <p:txBody>
          <a:bodyPr spcFirstLastPara="1" wrap="square" lIns="91425" tIns="45700" rIns="91425" bIns="45700" anchor="t" anchorCtr="0">
            <a:noAutofit/>
          </a:bodyPr>
          <a:lstStyle/>
          <a:p>
            <a:pPr marL="0" marR="0" lvl="0" indent="0" algn="l">
              <a:lnSpc>
                <a:spcPct val="100000"/>
              </a:lnSpc>
              <a:spcBef>
                <a:spcPts val="0"/>
              </a:spcBef>
              <a:spcAft>
                <a:spcPts val="0"/>
              </a:spcAft>
              <a:buClr>
                <a:schemeClr val="dk1"/>
              </a:buClr>
              <a:buSzPts val="1800"/>
              <a:buFont typeface="Arial"/>
              <a:buNone/>
            </a:pPr>
            <a:endParaRPr lang="en-US" sz="1800" b="0" i="0" u="none" strike="noStrike" cap="none">
              <a:solidFill>
                <a:srgbClr val="000000"/>
              </a:solidFill>
              <a:latin typeface="Aptos" panose="020B0004020202020204" pitchFamily="34" charset="0"/>
              <a:ea typeface="+mn-lt"/>
              <a:cs typeface="+mn-lt"/>
              <a:sym typeface="Aptos" panose="020B0004020202020204" pitchFamily="34" charset="0"/>
            </a:endParaRPr>
          </a:p>
        </p:txBody>
      </p:sp>
      <p:sp>
        <p:nvSpPr>
          <p:cNvPr id="10" name="Google Shape;390;p9">
            <a:extLst>
              <a:ext uri="{FF2B5EF4-FFF2-40B4-BE49-F238E27FC236}">
                <a16:creationId xmlns:a16="http://schemas.microsoft.com/office/drawing/2014/main" id="{3052DA10-8613-C2A0-25FB-455D7ACC1891}"/>
              </a:ext>
            </a:extLst>
          </p:cNvPr>
          <p:cNvSpPr/>
          <p:nvPr/>
        </p:nvSpPr>
        <p:spPr>
          <a:xfrm rot="2726543">
            <a:off x="5031208" y="5013724"/>
            <a:ext cx="969771" cy="1250095"/>
          </a:xfrm>
          <a:custGeom>
            <a:avLst/>
            <a:gdLst/>
            <a:ahLst/>
            <a:cxnLst/>
            <a:rect l="l" t="t" r="r" b="b"/>
            <a:pathLst>
              <a:path w="1219200" h="1619250" extrusionOk="0">
                <a:moveTo>
                  <a:pt x="470370" y="0"/>
                </a:moveTo>
                <a:lnTo>
                  <a:pt x="748830" y="0"/>
                </a:lnTo>
                <a:lnTo>
                  <a:pt x="748830" y="28495"/>
                </a:lnTo>
                <a:cubicBezTo>
                  <a:pt x="748830" y="131852"/>
                  <a:pt x="748830" y="259061"/>
                  <a:pt x="748830" y="415626"/>
                </a:cubicBezTo>
                <a:cubicBezTo>
                  <a:pt x="1016000" y="479569"/>
                  <a:pt x="1219200" y="720294"/>
                  <a:pt x="1219200" y="1009916"/>
                </a:cubicBezTo>
                <a:cubicBezTo>
                  <a:pt x="1219200" y="1344673"/>
                  <a:pt x="944504" y="1619250"/>
                  <a:pt x="609600" y="1619250"/>
                </a:cubicBezTo>
                <a:cubicBezTo>
                  <a:pt x="270933" y="1619250"/>
                  <a:pt x="0" y="1344673"/>
                  <a:pt x="0" y="1009916"/>
                </a:cubicBezTo>
                <a:cubicBezTo>
                  <a:pt x="0" y="720294"/>
                  <a:pt x="203200" y="475808"/>
                  <a:pt x="470370" y="415626"/>
                </a:cubicBezTo>
                <a:cubicBezTo>
                  <a:pt x="470370" y="415626"/>
                  <a:pt x="470370" y="415626"/>
                  <a:pt x="470370" y="63355"/>
                </a:cubicBezTo>
                <a:close/>
              </a:path>
            </a:pathLst>
          </a:custGeom>
          <a:solidFill>
            <a:srgbClr val="060B25"/>
          </a:solidFill>
          <a:ln>
            <a:noFill/>
          </a:ln>
        </p:spPr>
        <p:txBody>
          <a:bodyPr spcFirstLastPara="1" wrap="square" lIns="91425" tIns="45700" rIns="91425" bIns="45700" anchor="t" anchorCtr="0">
            <a:noAutofit/>
          </a:bodyPr>
          <a:lstStyle/>
          <a:p>
            <a:pPr marL="0" marR="0" lvl="0" indent="0" algn="l">
              <a:lnSpc>
                <a:spcPct val="100000"/>
              </a:lnSpc>
              <a:spcBef>
                <a:spcPts val="0"/>
              </a:spcBef>
              <a:spcAft>
                <a:spcPts val="0"/>
              </a:spcAft>
              <a:buClr>
                <a:schemeClr val="dk1"/>
              </a:buClr>
              <a:buSzPts val="1800"/>
              <a:buFont typeface="Arial"/>
              <a:buNone/>
            </a:pPr>
            <a:endParaRPr lang="en-US" sz="1800" b="0" i="0" u="none" strike="noStrike" cap="none">
              <a:solidFill>
                <a:srgbClr val="000000"/>
              </a:solidFill>
              <a:latin typeface="Aptos" panose="020B0004020202020204" pitchFamily="34" charset="0"/>
              <a:ea typeface="+mn-lt"/>
              <a:cs typeface="+mn-lt"/>
              <a:sym typeface="Aptos" panose="020B0004020202020204" pitchFamily="34" charset="0"/>
            </a:endParaRPr>
          </a:p>
        </p:txBody>
      </p:sp>
      <p:sp>
        <p:nvSpPr>
          <p:cNvPr id="12" name="Google Shape;392;p9">
            <a:extLst>
              <a:ext uri="{FF2B5EF4-FFF2-40B4-BE49-F238E27FC236}">
                <a16:creationId xmlns:a16="http://schemas.microsoft.com/office/drawing/2014/main" id="{DE0BFED6-DCDA-5508-0491-22E7C5F6971F}"/>
              </a:ext>
            </a:extLst>
          </p:cNvPr>
          <p:cNvSpPr/>
          <p:nvPr/>
        </p:nvSpPr>
        <p:spPr>
          <a:xfrm rot="18900000">
            <a:off x="5066059" y="5420596"/>
            <a:ext cx="667978" cy="644657"/>
          </a:xfrm>
          <a:prstGeom prst="ellipse">
            <a:avLst/>
          </a:prstGeom>
          <a:solidFill>
            <a:srgbClr val="FFFFFF"/>
          </a:solidFill>
          <a:ln>
            <a:noFill/>
          </a:ln>
          <a:effectLst>
            <a:outerShdw blurRad="50800" dist="38100" dir="5400000" algn="t" rotWithShape="0">
              <a:srgbClr val="000000">
                <a:alpha val="40000"/>
              </a:srgbClr>
            </a:outerShdw>
          </a:effectLst>
        </p:spPr>
        <p:txBody>
          <a:bodyPr spcFirstLastPara="1" wrap="square" lIns="91425" tIns="45700" rIns="91425" bIns="45700" anchor="t" anchorCtr="0">
            <a:noAutofit/>
          </a:bodyPr>
          <a:lstStyle/>
          <a:p>
            <a:pPr marL="0" marR="0" lvl="0" indent="0" algn="l">
              <a:lnSpc>
                <a:spcPct val="100000"/>
              </a:lnSpc>
              <a:spcBef>
                <a:spcPts val="0"/>
              </a:spcBef>
              <a:spcAft>
                <a:spcPts val="0"/>
              </a:spcAft>
              <a:buClr>
                <a:schemeClr val="dk1"/>
              </a:buClr>
              <a:buSzPts val="1800"/>
              <a:buFont typeface="Arial"/>
              <a:buNone/>
            </a:pPr>
            <a:endParaRPr lang="en-US" sz="1800" b="0" i="0" u="none" strike="noStrike" cap="none">
              <a:solidFill>
                <a:srgbClr val="000000"/>
              </a:solidFill>
              <a:latin typeface="Aptos" panose="020B0004020202020204" pitchFamily="34" charset="0"/>
              <a:ea typeface="+mn-lt"/>
              <a:cs typeface="+mn-lt"/>
              <a:sym typeface="Aptos" panose="020B0004020202020204" pitchFamily="34" charset="0"/>
            </a:endParaRPr>
          </a:p>
        </p:txBody>
      </p:sp>
      <p:sp>
        <p:nvSpPr>
          <p:cNvPr id="14" name="Google Shape;394;p9">
            <a:extLst>
              <a:ext uri="{FF2B5EF4-FFF2-40B4-BE49-F238E27FC236}">
                <a16:creationId xmlns:a16="http://schemas.microsoft.com/office/drawing/2014/main" id="{B5F8AFD9-3D69-570D-46C9-313754C9D949}"/>
              </a:ext>
            </a:extLst>
          </p:cNvPr>
          <p:cNvSpPr/>
          <p:nvPr/>
        </p:nvSpPr>
        <p:spPr>
          <a:xfrm rot="18900000">
            <a:off x="5488114" y="2820330"/>
            <a:ext cx="973558" cy="2500192"/>
          </a:xfrm>
          <a:custGeom>
            <a:avLst/>
            <a:gdLst/>
            <a:ahLst/>
            <a:cxnLst/>
            <a:rect l="l" t="t" r="r" b="b"/>
            <a:pathLst>
              <a:path w="325" h="861" extrusionOk="0">
                <a:moveTo>
                  <a:pt x="126" y="319"/>
                </a:moveTo>
                <a:cubicBezTo>
                  <a:pt x="126" y="541"/>
                  <a:pt x="126" y="541"/>
                  <a:pt x="126" y="541"/>
                </a:cubicBezTo>
                <a:cubicBezTo>
                  <a:pt x="126" y="736"/>
                  <a:pt x="126" y="736"/>
                  <a:pt x="126" y="736"/>
                </a:cubicBezTo>
                <a:cubicBezTo>
                  <a:pt x="59" y="736"/>
                  <a:pt x="59" y="736"/>
                  <a:pt x="59" y="736"/>
                </a:cubicBezTo>
                <a:cubicBezTo>
                  <a:pt x="5" y="736"/>
                  <a:pt x="5" y="736"/>
                  <a:pt x="5" y="736"/>
                </a:cubicBezTo>
                <a:cubicBezTo>
                  <a:pt x="22" y="807"/>
                  <a:pt x="86" y="861"/>
                  <a:pt x="163" y="861"/>
                </a:cubicBezTo>
                <a:cubicBezTo>
                  <a:pt x="252" y="861"/>
                  <a:pt x="325" y="788"/>
                  <a:pt x="325" y="699"/>
                </a:cubicBezTo>
                <a:cubicBezTo>
                  <a:pt x="325" y="622"/>
                  <a:pt x="271" y="557"/>
                  <a:pt x="199" y="541"/>
                </a:cubicBezTo>
                <a:cubicBezTo>
                  <a:pt x="199" y="319"/>
                  <a:pt x="199" y="319"/>
                  <a:pt x="199" y="319"/>
                </a:cubicBezTo>
                <a:cubicBezTo>
                  <a:pt x="271" y="303"/>
                  <a:pt x="325" y="238"/>
                  <a:pt x="325" y="162"/>
                </a:cubicBezTo>
                <a:cubicBezTo>
                  <a:pt x="325" y="72"/>
                  <a:pt x="252" y="0"/>
                  <a:pt x="163" y="0"/>
                </a:cubicBezTo>
                <a:cubicBezTo>
                  <a:pt x="73" y="0"/>
                  <a:pt x="0" y="72"/>
                  <a:pt x="0" y="162"/>
                </a:cubicBezTo>
                <a:cubicBezTo>
                  <a:pt x="0" y="238"/>
                  <a:pt x="54" y="303"/>
                  <a:pt x="126" y="319"/>
                </a:cubicBezTo>
                <a:close/>
              </a:path>
            </a:pathLst>
          </a:custGeom>
          <a:solidFill>
            <a:srgbClr val="6360D8"/>
          </a:solidFill>
          <a:ln>
            <a:noFill/>
          </a:ln>
        </p:spPr>
        <p:txBody>
          <a:bodyPr spcFirstLastPara="1" wrap="square" lIns="91425" tIns="45700" rIns="91425" bIns="45700" anchor="t" anchorCtr="0">
            <a:noAutofit/>
          </a:bodyPr>
          <a:lstStyle/>
          <a:p>
            <a:pPr marL="0" marR="0" lvl="0" indent="0" algn="l">
              <a:lnSpc>
                <a:spcPct val="100000"/>
              </a:lnSpc>
              <a:spcBef>
                <a:spcPts val="0"/>
              </a:spcBef>
              <a:spcAft>
                <a:spcPts val="0"/>
              </a:spcAft>
              <a:buClr>
                <a:schemeClr val="dk1"/>
              </a:buClr>
              <a:buSzPts val="1800"/>
              <a:buFont typeface="Arial"/>
              <a:buNone/>
            </a:pPr>
            <a:endParaRPr lang="en-US" sz="1800" b="0" i="0" u="none" strike="noStrike" cap="none">
              <a:solidFill>
                <a:srgbClr val="000000"/>
              </a:solidFill>
              <a:latin typeface="Aptos" panose="020B0004020202020204" pitchFamily="34" charset="0"/>
              <a:ea typeface="+mn-lt"/>
              <a:cs typeface="+mn-lt"/>
              <a:sym typeface="Aptos" panose="020B0004020202020204" pitchFamily="34" charset="0"/>
            </a:endParaRPr>
          </a:p>
        </p:txBody>
      </p:sp>
      <p:sp>
        <p:nvSpPr>
          <p:cNvPr id="15" name="Google Shape;395;p9">
            <a:extLst>
              <a:ext uri="{FF2B5EF4-FFF2-40B4-BE49-F238E27FC236}">
                <a16:creationId xmlns:a16="http://schemas.microsoft.com/office/drawing/2014/main" id="{F5A9CDA7-DCAC-65CB-E8D1-CD66D0E75696}"/>
              </a:ext>
            </a:extLst>
          </p:cNvPr>
          <p:cNvSpPr/>
          <p:nvPr/>
        </p:nvSpPr>
        <p:spPr>
          <a:xfrm rot="18900000">
            <a:off x="5488484" y="598059"/>
            <a:ext cx="973558" cy="2500192"/>
          </a:xfrm>
          <a:custGeom>
            <a:avLst/>
            <a:gdLst/>
            <a:ahLst/>
            <a:cxnLst/>
            <a:rect l="l" t="t" r="r" b="b"/>
            <a:pathLst>
              <a:path w="325" h="861" extrusionOk="0">
                <a:moveTo>
                  <a:pt x="126" y="319"/>
                </a:moveTo>
                <a:cubicBezTo>
                  <a:pt x="126" y="541"/>
                  <a:pt x="126" y="541"/>
                  <a:pt x="126" y="541"/>
                </a:cubicBezTo>
                <a:cubicBezTo>
                  <a:pt x="126" y="736"/>
                  <a:pt x="126" y="736"/>
                  <a:pt x="126" y="736"/>
                </a:cubicBezTo>
                <a:cubicBezTo>
                  <a:pt x="59" y="736"/>
                  <a:pt x="59" y="736"/>
                  <a:pt x="59" y="736"/>
                </a:cubicBezTo>
                <a:cubicBezTo>
                  <a:pt x="5" y="736"/>
                  <a:pt x="5" y="736"/>
                  <a:pt x="5" y="736"/>
                </a:cubicBezTo>
                <a:cubicBezTo>
                  <a:pt x="22" y="807"/>
                  <a:pt x="86" y="861"/>
                  <a:pt x="163" y="861"/>
                </a:cubicBezTo>
                <a:cubicBezTo>
                  <a:pt x="252" y="861"/>
                  <a:pt x="325" y="788"/>
                  <a:pt x="325" y="699"/>
                </a:cubicBezTo>
                <a:cubicBezTo>
                  <a:pt x="325" y="622"/>
                  <a:pt x="271" y="557"/>
                  <a:pt x="199" y="541"/>
                </a:cubicBezTo>
                <a:cubicBezTo>
                  <a:pt x="199" y="319"/>
                  <a:pt x="199" y="319"/>
                  <a:pt x="199" y="319"/>
                </a:cubicBezTo>
                <a:cubicBezTo>
                  <a:pt x="271" y="303"/>
                  <a:pt x="325" y="238"/>
                  <a:pt x="325" y="162"/>
                </a:cubicBezTo>
                <a:cubicBezTo>
                  <a:pt x="325" y="72"/>
                  <a:pt x="252" y="0"/>
                  <a:pt x="163" y="0"/>
                </a:cubicBezTo>
                <a:cubicBezTo>
                  <a:pt x="73" y="0"/>
                  <a:pt x="0" y="72"/>
                  <a:pt x="0" y="162"/>
                </a:cubicBezTo>
                <a:cubicBezTo>
                  <a:pt x="0" y="238"/>
                  <a:pt x="54" y="303"/>
                  <a:pt x="126" y="319"/>
                </a:cubicBezTo>
                <a:close/>
              </a:path>
            </a:pathLst>
          </a:custGeom>
          <a:solidFill>
            <a:srgbClr val="6360D8"/>
          </a:solidFill>
          <a:ln>
            <a:noFill/>
          </a:ln>
        </p:spPr>
        <p:txBody>
          <a:bodyPr spcFirstLastPara="1" wrap="square" lIns="91425" tIns="45700" rIns="91425" bIns="45700" anchor="t" anchorCtr="0">
            <a:noAutofit/>
          </a:bodyPr>
          <a:lstStyle/>
          <a:p>
            <a:pPr marL="0" marR="0" lvl="0" indent="0" algn="l">
              <a:lnSpc>
                <a:spcPct val="100000"/>
              </a:lnSpc>
              <a:spcBef>
                <a:spcPts val="0"/>
              </a:spcBef>
              <a:spcAft>
                <a:spcPts val="0"/>
              </a:spcAft>
              <a:buClr>
                <a:schemeClr val="dk1"/>
              </a:buClr>
              <a:buSzPts val="1800"/>
              <a:buFont typeface="Arial"/>
              <a:buNone/>
            </a:pPr>
            <a:endParaRPr lang="en-US" sz="1800" b="0" i="0" u="none" strike="noStrike" cap="none">
              <a:solidFill>
                <a:srgbClr val="000000"/>
              </a:solidFill>
              <a:latin typeface="Aptos" panose="020B0004020202020204" pitchFamily="34" charset="0"/>
              <a:ea typeface="+mn-lt"/>
              <a:cs typeface="+mn-lt"/>
              <a:sym typeface="Aptos" panose="020B0004020202020204" pitchFamily="34" charset="0"/>
            </a:endParaRPr>
          </a:p>
        </p:txBody>
      </p:sp>
      <p:sp>
        <p:nvSpPr>
          <p:cNvPr id="17" name="Google Shape;396;p9">
            <a:extLst>
              <a:ext uri="{FF2B5EF4-FFF2-40B4-BE49-F238E27FC236}">
                <a16:creationId xmlns:a16="http://schemas.microsoft.com/office/drawing/2014/main" id="{5BBA4C37-DC22-4E65-83D8-8AD91CD8C059}"/>
              </a:ext>
            </a:extLst>
          </p:cNvPr>
          <p:cNvSpPr/>
          <p:nvPr/>
        </p:nvSpPr>
        <p:spPr>
          <a:xfrm rot="18900000">
            <a:off x="4689626" y="2480009"/>
            <a:ext cx="2577216" cy="960168"/>
          </a:xfrm>
          <a:custGeom>
            <a:avLst/>
            <a:gdLst/>
            <a:ahLst/>
            <a:cxnLst/>
            <a:rect l="l" t="t" r="r" b="b"/>
            <a:pathLst>
              <a:path w="861" h="324" extrusionOk="0">
                <a:moveTo>
                  <a:pt x="541" y="125"/>
                </a:moveTo>
                <a:cubicBezTo>
                  <a:pt x="320" y="125"/>
                  <a:pt x="320" y="125"/>
                  <a:pt x="320" y="125"/>
                </a:cubicBezTo>
                <a:cubicBezTo>
                  <a:pt x="125" y="125"/>
                  <a:pt x="125" y="125"/>
                  <a:pt x="125" y="125"/>
                </a:cubicBezTo>
                <a:cubicBezTo>
                  <a:pt x="125" y="58"/>
                  <a:pt x="125" y="58"/>
                  <a:pt x="125" y="58"/>
                </a:cubicBezTo>
                <a:cubicBezTo>
                  <a:pt x="125" y="4"/>
                  <a:pt x="125" y="4"/>
                  <a:pt x="125" y="4"/>
                </a:cubicBezTo>
                <a:cubicBezTo>
                  <a:pt x="53" y="21"/>
                  <a:pt x="0" y="85"/>
                  <a:pt x="0" y="162"/>
                </a:cubicBezTo>
                <a:cubicBezTo>
                  <a:pt x="0" y="251"/>
                  <a:pt x="73" y="324"/>
                  <a:pt x="162" y="324"/>
                </a:cubicBezTo>
                <a:cubicBezTo>
                  <a:pt x="239" y="324"/>
                  <a:pt x="303" y="270"/>
                  <a:pt x="320" y="198"/>
                </a:cubicBezTo>
                <a:cubicBezTo>
                  <a:pt x="541" y="198"/>
                  <a:pt x="541" y="198"/>
                  <a:pt x="541" y="198"/>
                </a:cubicBezTo>
                <a:cubicBezTo>
                  <a:pt x="558" y="270"/>
                  <a:pt x="622" y="324"/>
                  <a:pt x="699" y="324"/>
                </a:cubicBezTo>
                <a:cubicBezTo>
                  <a:pt x="788" y="324"/>
                  <a:pt x="861" y="251"/>
                  <a:pt x="861" y="162"/>
                </a:cubicBezTo>
                <a:cubicBezTo>
                  <a:pt x="861" y="72"/>
                  <a:pt x="788" y="0"/>
                  <a:pt x="699" y="0"/>
                </a:cubicBezTo>
                <a:cubicBezTo>
                  <a:pt x="622" y="0"/>
                  <a:pt x="558" y="53"/>
                  <a:pt x="541" y="125"/>
                </a:cubicBezTo>
                <a:close/>
              </a:path>
            </a:pathLst>
          </a:custGeom>
          <a:solidFill>
            <a:srgbClr val="060B25"/>
          </a:solidFill>
          <a:ln>
            <a:noFill/>
          </a:ln>
        </p:spPr>
        <p:txBody>
          <a:bodyPr spcFirstLastPara="1" wrap="square" lIns="91425" tIns="45700" rIns="91425" bIns="45700" anchor="t" anchorCtr="0">
            <a:noAutofit/>
          </a:bodyPr>
          <a:lstStyle/>
          <a:p>
            <a:pPr marL="0" marR="0" lvl="0" indent="0" algn="l">
              <a:lnSpc>
                <a:spcPct val="100000"/>
              </a:lnSpc>
              <a:spcBef>
                <a:spcPts val="0"/>
              </a:spcBef>
              <a:spcAft>
                <a:spcPts val="0"/>
              </a:spcAft>
              <a:buClr>
                <a:schemeClr val="dk1"/>
              </a:buClr>
              <a:buSzPts val="1800"/>
              <a:buFont typeface="Arial"/>
              <a:buNone/>
            </a:pPr>
            <a:endParaRPr lang="en-US" sz="1800" b="0" i="0" u="none" strike="noStrike" cap="none">
              <a:solidFill>
                <a:srgbClr val="000000"/>
              </a:solidFill>
              <a:latin typeface="Aptos" panose="020B0004020202020204" pitchFamily="34" charset="0"/>
              <a:ea typeface="+mn-lt"/>
              <a:cs typeface="+mn-lt"/>
              <a:sym typeface="Aptos" panose="020B0004020202020204" pitchFamily="34" charset="0"/>
            </a:endParaRPr>
          </a:p>
        </p:txBody>
      </p:sp>
      <p:sp>
        <p:nvSpPr>
          <p:cNvPr id="19" name="Google Shape;397;p9">
            <a:extLst>
              <a:ext uri="{FF2B5EF4-FFF2-40B4-BE49-F238E27FC236}">
                <a16:creationId xmlns:a16="http://schemas.microsoft.com/office/drawing/2014/main" id="{E2B6367B-C945-0B4C-7768-D5E279BA2A40}"/>
              </a:ext>
            </a:extLst>
          </p:cNvPr>
          <p:cNvSpPr/>
          <p:nvPr/>
        </p:nvSpPr>
        <p:spPr>
          <a:xfrm rot="18796853">
            <a:off x="5953160" y="3879767"/>
            <a:ext cx="969771" cy="1250095"/>
          </a:xfrm>
          <a:custGeom>
            <a:avLst/>
            <a:gdLst/>
            <a:ahLst/>
            <a:cxnLst/>
            <a:rect l="l" t="t" r="r" b="b"/>
            <a:pathLst>
              <a:path w="1219200" h="1619250" extrusionOk="0">
                <a:moveTo>
                  <a:pt x="470370" y="0"/>
                </a:moveTo>
                <a:lnTo>
                  <a:pt x="748830" y="0"/>
                </a:lnTo>
                <a:lnTo>
                  <a:pt x="748830" y="28495"/>
                </a:lnTo>
                <a:cubicBezTo>
                  <a:pt x="748830" y="131852"/>
                  <a:pt x="748830" y="259061"/>
                  <a:pt x="748830" y="415626"/>
                </a:cubicBezTo>
                <a:cubicBezTo>
                  <a:pt x="1016000" y="479569"/>
                  <a:pt x="1219200" y="720294"/>
                  <a:pt x="1219200" y="1009916"/>
                </a:cubicBezTo>
                <a:cubicBezTo>
                  <a:pt x="1219200" y="1344673"/>
                  <a:pt x="944504" y="1619250"/>
                  <a:pt x="609600" y="1619250"/>
                </a:cubicBezTo>
                <a:cubicBezTo>
                  <a:pt x="270933" y="1619250"/>
                  <a:pt x="0" y="1344673"/>
                  <a:pt x="0" y="1009916"/>
                </a:cubicBezTo>
                <a:cubicBezTo>
                  <a:pt x="0" y="720294"/>
                  <a:pt x="203200" y="475808"/>
                  <a:pt x="470370" y="415626"/>
                </a:cubicBezTo>
                <a:cubicBezTo>
                  <a:pt x="470370" y="415626"/>
                  <a:pt x="470370" y="415626"/>
                  <a:pt x="470370" y="63355"/>
                </a:cubicBezTo>
                <a:close/>
              </a:path>
            </a:pathLst>
          </a:custGeom>
          <a:solidFill>
            <a:srgbClr val="6360D8"/>
          </a:solidFill>
          <a:ln>
            <a:noFill/>
          </a:ln>
        </p:spPr>
        <p:txBody>
          <a:bodyPr spcFirstLastPara="1" wrap="square" lIns="91425" tIns="45700" rIns="91425" bIns="45700" anchor="t" anchorCtr="0">
            <a:noAutofit/>
          </a:bodyPr>
          <a:lstStyle/>
          <a:p>
            <a:pPr marL="0" marR="0" lvl="0" indent="0" algn="l">
              <a:lnSpc>
                <a:spcPct val="100000"/>
              </a:lnSpc>
              <a:spcBef>
                <a:spcPts val="0"/>
              </a:spcBef>
              <a:spcAft>
                <a:spcPts val="0"/>
              </a:spcAft>
              <a:buClr>
                <a:schemeClr val="dk1"/>
              </a:buClr>
              <a:buSzPts val="1800"/>
              <a:buFont typeface="Arial"/>
              <a:buNone/>
            </a:pPr>
            <a:endParaRPr lang="en-US" sz="1800" b="0" i="0" u="none" strike="noStrike" cap="none">
              <a:solidFill>
                <a:srgbClr val="000000"/>
              </a:solidFill>
              <a:latin typeface="Aptos" panose="020B0004020202020204" pitchFamily="34" charset="0"/>
              <a:ea typeface="+mn-lt"/>
              <a:cs typeface="+mn-lt"/>
              <a:sym typeface="Aptos" panose="020B0004020202020204" pitchFamily="34" charset="0"/>
            </a:endParaRPr>
          </a:p>
        </p:txBody>
      </p:sp>
      <p:sp>
        <p:nvSpPr>
          <p:cNvPr id="27" name="Google Shape;399;p9">
            <a:extLst>
              <a:ext uri="{FF2B5EF4-FFF2-40B4-BE49-F238E27FC236}">
                <a16:creationId xmlns:a16="http://schemas.microsoft.com/office/drawing/2014/main" id="{42302E33-2D70-6212-BCD0-F682F1053BA4}"/>
              </a:ext>
            </a:extLst>
          </p:cNvPr>
          <p:cNvSpPr/>
          <p:nvPr/>
        </p:nvSpPr>
        <p:spPr>
          <a:xfrm rot="18900000">
            <a:off x="5086668" y="955156"/>
            <a:ext cx="667979" cy="663854"/>
          </a:xfrm>
          <a:prstGeom prst="ellipse">
            <a:avLst/>
          </a:prstGeom>
          <a:solidFill>
            <a:srgbClr val="FFFFFF"/>
          </a:solidFill>
          <a:ln>
            <a:noFill/>
          </a:ln>
          <a:effectLst>
            <a:outerShdw blurRad="50800" dist="38100" dir="5400000" algn="t" rotWithShape="0">
              <a:srgbClr val="000000">
                <a:alpha val="40000"/>
              </a:srgbClr>
            </a:outerShdw>
          </a:effectLst>
        </p:spPr>
        <p:txBody>
          <a:bodyPr spcFirstLastPara="1" wrap="square" lIns="91425" tIns="45700" rIns="91425" bIns="45700" anchor="t" anchorCtr="0">
            <a:noAutofit/>
          </a:bodyPr>
          <a:lstStyle/>
          <a:p>
            <a:pPr marL="0" marR="0" lvl="0" indent="0" algn="l">
              <a:lnSpc>
                <a:spcPct val="100000"/>
              </a:lnSpc>
              <a:spcBef>
                <a:spcPts val="0"/>
              </a:spcBef>
              <a:spcAft>
                <a:spcPts val="0"/>
              </a:spcAft>
              <a:buClr>
                <a:schemeClr val="dk1"/>
              </a:buClr>
              <a:buSzPts val="1800"/>
              <a:buFont typeface="Arial"/>
              <a:buNone/>
            </a:pPr>
            <a:endParaRPr lang="en-US" sz="1800" b="0" i="0" u="none" strike="noStrike" cap="none">
              <a:solidFill>
                <a:srgbClr val="000000"/>
              </a:solidFill>
              <a:latin typeface="Aptos" panose="020B0004020202020204" pitchFamily="34" charset="0"/>
              <a:ea typeface="+mn-lt"/>
              <a:cs typeface="+mn-lt"/>
              <a:sym typeface="Aptos" panose="020B0004020202020204" pitchFamily="34" charset="0"/>
            </a:endParaRPr>
          </a:p>
        </p:txBody>
      </p:sp>
      <p:sp>
        <p:nvSpPr>
          <p:cNvPr id="40" name="Google Shape;402;p9">
            <a:extLst>
              <a:ext uri="{FF2B5EF4-FFF2-40B4-BE49-F238E27FC236}">
                <a16:creationId xmlns:a16="http://schemas.microsoft.com/office/drawing/2014/main" id="{90E4AC46-C8B2-4D3E-EEBD-1ED2BC1B266E}"/>
              </a:ext>
            </a:extLst>
          </p:cNvPr>
          <p:cNvSpPr/>
          <p:nvPr/>
        </p:nvSpPr>
        <p:spPr>
          <a:xfrm rot="18900000">
            <a:off x="6217800" y="4267696"/>
            <a:ext cx="667978" cy="663854"/>
          </a:xfrm>
          <a:prstGeom prst="ellipse">
            <a:avLst/>
          </a:prstGeom>
          <a:solidFill>
            <a:srgbClr val="FFFFFF"/>
          </a:solidFill>
          <a:ln>
            <a:noFill/>
          </a:ln>
          <a:effectLst>
            <a:outerShdw blurRad="50800" dist="38100" dir="5400000" algn="t" rotWithShape="0">
              <a:srgbClr val="000000">
                <a:alpha val="40000"/>
              </a:srgbClr>
            </a:outerShdw>
          </a:effectLst>
        </p:spPr>
        <p:txBody>
          <a:bodyPr spcFirstLastPara="1" wrap="square" lIns="91425" tIns="45700" rIns="91425" bIns="45700" anchor="t" anchorCtr="0">
            <a:noAutofit/>
          </a:bodyPr>
          <a:lstStyle/>
          <a:p>
            <a:pPr marL="0" marR="0" lvl="0" indent="0" algn="l">
              <a:lnSpc>
                <a:spcPct val="100000"/>
              </a:lnSpc>
              <a:spcBef>
                <a:spcPts val="0"/>
              </a:spcBef>
              <a:spcAft>
                <a:spcPts val="0"/>
              </a:spcAft>
              <a:buClr>
                <a:schemeClr val="dk1"/>
              </a:buClr>
              <a:buSzPts val="1800"/>
              <a:buFont typeface="Arial"/>
              <a:buNone/>
            </a:pPr>
            <a:endParaRPr lang="en-US" b="0" i="0" u="none" strike="noStrike" cap="none">
              <a:solidFill>
                <a:srgbClr val="000000"/>
              </a:solidFill>
              <a:latin typeface="Aptos" panose="020B0004020202020204" pitchFamily="34" charset="0"/>
              <a:ea typeface="Arial"/>
              <a:cs typeface="Arial"/>
              <a:sym typeface="Aptos" panose="020B0004020202020204" pitchFamily="34" charset="0"/>
            </a:endParaRPr>
          </a:p>
        </p:txBody>
      </p:sp>
      <p:sp>
        <p:nvSpPr>
          <p:cNvPr id="48" name="Google Shape;405;p9">
            <a:extLst>
              <a:ext uri="{FF2B5EF4-FFF2-40B4-BE49-F238E27FC236}">
                <a16:creationId xmlns:a16="http://schemas.microsoft.com/office/drawing/2014/main" id="{E8B1B6B0-BE48-50AB-AAA1-52B0F778A89E}"/>
              </a:ext>
            </a:extLst>
          </p:cNvPr>
          <p:cNvSpPr/>
          <p:nvPr/>
        </p:nvSpPr>
        <p:spPr>
          <a:xfrm rot="18900000">
            <a:off x="6211938" y="2048892"/>
            <a:ext cx="664192" cy="663854"/>
          </a:xfrm>
          <a:prstGeom prst="ellipse">
            <a:avLst/>
          </a:prstGeom>
          <a:solidFill>
            <a:srgbClr val="FFFFFF"/>
          </a:solidFill>
          <a:ln>
            <a:noFill/>
          </a:ln>
          <a:effectLst>
            <a:outerShdw blurRad="50800" dist="38100" dir="5400000" algn="t" rotWithShape="0">
              <a:srgbClr val="000000">
                <a:alpha val="40000"/>
              </a:srgbClr>
            </a:outerShdw>
          </a:effectLst>
        </p:spPr>
        <p:txBody>
          <a:bodyPr spcFirstLastPara="1" wrap="square" lIns="91425" tIns="45700" rIns="91425" bIns="45700" anchor="t" anchorCtr="0">
            <a:noAutofit/>
          </a:bodyPr>
          <a:lstStyle/>
          <a:p>
            <a:pPr marL="0" marR="0" lvl="0" indent="0" algn="l">
              <a:lnSpc>
                <a:spcPct val="100000"/>
              </a:lnSpc>
              <a:spcBef>
                <a:spcPts val="0"/>
              </a:spcBef>
              <a:spcAft>
                <a:spcPts val="0"/>
              </a:spcAft>
              <a:buClr>
                <a:schemeClr val="dk1"/>
              </a:buClr>
              <a:buSzPts val="1800"/>
              <a:buFont typeface="Arial"/>
              <a:buNone/>
            </a:pPr>
            <a:endParaRPr lang="en-US" sz="1800" b="0" i="0" u="none" strike="noStrike" cap="none">
              <a:solidFill>
                <a:srgbClr val="000000"/>
              </a:solidFill>
              <a:latin typeface="Aptos" panose="020B0004020202020204" pitchFamily="34" charset="0"/>
              <a:ea typeface="+mn-lt"/>
              <a:cs typeface="+mn-lt"/>
              <a:sym typeface="Aptos" panose="020B0004020202020204" pitchFamily="34" charset="0"/>
            </a:endParaRPr>
          </a:p>
        </p:txBody>
      </p:sp>
      <p:sp>
        <p:nvSpPr>
          <p:cNvPr id="50" name="Google Shape;407;p9">
            <a:extLst>
              <a:ext uri="{FF2B5EF4-FFF2-40B4-BE49-F238E27FC236}">
                <a16:creationId xmlns:a16="http://schemas.microsoft.com/office/drawing/2014/main" id="{BF9CB041-9641-80E6-F0F5-9C076E088A17}"/>
              </a:ext>
            </a:extLst>
          </p:cNvPr>
          <p:cNvSpPr/>
          <p:nvPr/>
        </p:nvSpPr>
        <p:spPr>
          <a:xfrm rot="2726543">
            <a:off x="5041846" y="2778586"/>
            <a:ext cx="969771" cy="1250095"/>
          </a:xfrm>
          <a:custGeom>
            <a:avLst/>
            <a:gdLst/>
            <a:ahLst/>
            <a:cxnLst/>
            <a:rect l="l" t="t" r="r" b="b"/>
            <a:pathLst>
              <a:path w="1219200" h="1619250" extrusionOk="0">
                <a:moveTo>
                  <a:pt x="470370" y="0"/>
                </a:moveTo>
                <a:lnTo>
                  <a:pt x="748830" y="0"/>
                </a:lnTo>
                <a:lnTo>
                  <a:pt x="748830" y="28495"/>
                </a:lnTo>
                <a:cubicBezTo>
                  <a:pt x="748830" y="131852"/>
                  <a:pt x="748830" y="259061"/>
                  <a:pt x="748830" y="415626"/>
                </a:cubicBezTo>
                <a:cubicBezTo>
                  <a:pt x="1016000" y="479569"/>
                  <a:pt x="1219200" y="720294"/>
                  <a:pt x="1219200" y="1009916"/>
                </a:cubicBezTo>
                <a:cubicBezTo>
                  <a:pt x="1219200" y="1344673"/>
                  <a:pt x="944504" y="1619250"/>
                  <a:pt x="609600" y="1619250"/>
                </a:cubicBezTo>
                <a:cubicBezTo>
                  <a:pt x="270933" y="1619250"/>
                  <a:pt x="0" y="1344673"/>
                  <a:pt x="0" y="1009916"/>
                </a:cubicBezTo>
                <a:cubicBezTo>
                  <a:pt x="0" y="720294"/>
                  <a:pt x="203200" y="475808"/>
                  <a:pt x="470370" y="415626"/>
                </a:cubicBezTo>
                <a:cubicBezTo>
                  <a:pt x="470370" y="415626"/>
                  <a:pt x="470370" y="415626"/>
                  <a:pt x="470370" y="63355"/>
                </a:cubicBezTo>
                <a:close/>
              </a:path>
            </a:pathLst>
          </a:custGeom>
          <a:solidFill>
            <a:srgbClr val="060B25"/>
          </a:solidFill>
          <a:ln>
            <a:noFill/>
          </a:ln>
        </p:spPr>
        <p:txBody>
          <a:bodyPr spcFirstLastPara="1" wrap="square" lIns="91425" tIns="45700" rIns="91425" bIns="45700" anchor="t" anchorCtr="0">
            <a:noAutofit/>
          </a:bodyPr>
          <a:lstStyle/>
          <a:p>
            <a:pPr marL="0" marR="0" lvl="0" indent="0" algn="l">
              <a:lnSpc>
                <a:spcPct val="100000"/>
              </a:lnSpc>
              <a:spcBef>
                <a:spcPts val="0"/>
              </a:spcBef>
              <a:spcAft>
                <a:spcPts val="0"/>
              </a:spcAft>
              <a:buClr>
                <a:schemeClr val="dk1"/>
              </a:buClr>
              <a:buSzPts val="1800"/>
              <a:buFont typeface="Arial"/>
              <a:buNone/>
            </a:pPr>
            <a:endParaRPr lang="en-US" sz="1800" b="0" i="0" u="none" strike="noStrike" cap="none">
              <a:solidFill>
                <a:srgbClr val="000000"/>
              </a:solidFill>
              <a:latin typeface="Aptos" panose="020B0004020202020204" pitchFamily="34" charset="0"/>
              <a:ea typeface="+mn-lt"/>
              <a:cs typeface="+mn-lt"/>
              <a:sym typeface="Aptos" panose="020B0004020202020204" pitchFamily="34" charset="0"/>
            </a:endParaRPr>
          </a:p>
        </p:txBody>
      </p:sp>
      <p:sp>
        <p:nvSpPr>
          <p:cNvPr id="53" name="Google Shape;409;p9">
            <a:extLst>
              <a:ext uri="{FF2B5EF4-FFF2-40B4-BE49-F238E27FC236}">
                <a16:creationId xmlns:a16="http://schemas.microsoft.com/office/drawing/2014/main" id="{2EAD78D9-1B26-F709-7051-D170A1DB5C09}"/>
              </a:ext>
            </a:extLst>
          </p:cNvPr>
          <p:cNvSpPr/>
          <p:nvPr/>
        </p:nvSpPr>
        <p:spPr>
          <a:xfrm rot="18900000">
            <a:off x="5078086" y="3187880"/>
            <a:ext cx="667979" cy="663854"/>
          </a:xfrm>
          <a:prstGeom prst="ellipse">
            <a:avLst/>
          </a:prstGeom>
          <a:solidFill>
            <a:srgbClr val="FFFFFF"/>
          </a:solidFill>
          <a:ln>
            <a:noFill/>
          </a:ln>
          <a:effectLst>
            <a:outerShdw blurRad="50800" dist="38100" dir="5400000" algn="t" rotWithShape="0">
              <a:srgbClr val="000000">
                <a:alpha val="40000"/>
              </a:srgbClr>
            </a:outerShdw>
          </a:effectLst>
        </p:spPr>
        <p:txBody>
          <a:bodyPr spcFirstLastPara="1" wrap="square" lIns="91425" tIns="45700" rIns="91425" bIns="45700" anchor="t" anchorCtr="0">
            <a:noAutofit/>
          </a:bodyPr>
          <a:lstStyle/>
          <a:p>
            <a:pPr marL="0" marR="0" lvl="0" indent="0" algn="l">
              <a:lnSpc>
                <a:spcPct val="100000"/>
              </a:lnSpc>
              <a:spcBef>
                <a:spcPts val="0"/>
              </a:spcBef>
              <a:spcAft>
                <a:spcPts val="0"/>
              </a:spcAft>
              <a:buClr>
                <a:schemeClr val="dk1"/>
              </a:buClr>
              <a:buSzPts val="1800"/>
              <a:buFont typeface="Arial"/>
              <a:buNone/>
            </a:pPr>
            <a:endParaRPr lang="en-US" sz="1800" b="0" i="0" u="none" strike="noStrike" cap="none">
              <a:solidFill>
                <a:srgbClr val="000000"/>
              </a:solidFill>
              <a:latin typeface="Aptos" panose="020B0004020202020204" pitchFamily="34" charset="0"/>
              <a:ea typeface="+mn-lt"/>
              <a:cs typeface="+mn-lt"/>
              <a:sym typeface="Aptos" panose="020B0004020202020204" pitchFamily="34" charset="0"/>
            </a:endParaRPr>
          </a:p>
        </p:txBody>
      </p:sp>
      <p:pic>
        <p:nvPicPr>
          <p:cNvPr id="59" name="Graphic 58">
            <a:extLst>
              <a:ext uri="{FF2B5EF4-FFF2-40B4-BE49-F238E27FC236}">
                <a16:creationId xmlns:a16="http://schemas.microsoft.com/office/drawing/2014/main" id="{9219DDE6-607E-C548-F6E8-F9C42A1A71A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72525" y="937265"/>
            <a:ext cx="696262" cy="696262"/>
          </a:xfrm>
          <a:prstGeom prst="rect">
            <a:avLst/>
          </a:prstGeom>
        </p:spPr>
      </p:pic>
      <p:pic>
        <p:nvPicPr>
          <p:cNvPr id="63" name="Picture 62">
            <a:extLst>
              <a:ext uri="{FF2B5EF4-FFF2-40B4-BE49-F238E27FC236}">
                <a16:creationId xmlns:a16="http://schemas.microsoft.com/office/drawing/2014/main" id="{55591A36-ACDB-7B97-8817-DFA0F57A96CF}"/>
              </a:ext>
            </a:extLst>
          </p:cNvPr>
          <p:cNvPicPr>
            <a:picLocks noChangeAspect="1"/>
          </p:cNvPicPr>
          <p:nvPr/>
        </p:nvPicPr>
        <p:blipFill>
          <a:blip r:embed="rId7"/>
          <a:stretch>
            <a:fillRect/>
          </a:stretch>
        </p:blipFill>
        <p:spPr>
          <a:xfrm>
            <a:off x="6245797" y="2047519"/>
            <a:ext cx="632965" cy="632965"/>
          </a:xfrm>
          <a:prstGeom prst="rect">
            <a:avLst/>
          </a:prstGeom>
        </p:spPr>
      </p:pic>
      <p:pic>
        <p:nvPicPr>
          <p:cNvPr id="67" name="Picture 66">
            <a:extLst>
              <a:ext uri="{FF2B5EF4-FFF2-40B4-BE49-F238E27FC236}">
                <a16:creationId xmlns:a16="http://schemas.microsoft.com/office/drawing/2014/main" id="{00D8685A-151E-4018-3A3C-92EDEA5E3083}"/>
              </a:ext>
            </a:extLst>
          </p:cNvPr>
          <p:cNvPicPr>
            <a:picLocks noChangeAspect="1"/>
          </p:cNvPicPr>
          <p:nvPr/>
        </p:nvPicPr>
        <p:blipFill>
          <a:blip r:embed="rId8"/>
          <a:stretch>
            <a:fillRect/>
          </a:stretch>
        </p:blipFill>
        <p:spPr>
          <a:xfrm>
            <a:off x="5112417" y="3253169"/>
            <a:ext cx="523112" cy="523112"/>
          </a:xfrm>
          <a:prstGeom prst="rect">
            <a:avLst/>
          </a:prstGeom>
        </p:spPr>
      </p:pic>
      <p:pic>
        <p:nvPicPr>
          <p:cNvPr id="70" name="Picture 69">
            <a:extLst>
              <a:ext uri="{FF2B5EF4-FFF2-40B4-BE49-F238E27FC236}">
                <a16:creationId xmlns:a16="http://schemas.microsoft.com/office/drawing/2014/main" id="{F550F781-C799-0745-1BC6-4EC7A3AB39E5}"/>
              </a:ext>
            </a:extLst>
          </p:cNvPr>
          <p:cNvPicPr>
            <a:picLocks noChangeAspect="1"/>
          </p:cNvPicPr>
          <p:nvPr/>
        </p:nvPicPr>
        <p:blipFill>
          <a:blip r:embed="rId9"/>
          <a:stretch>
            <a:fillRect/>
          </a:stretch>
        </p:blipFill>
        <p:spPr>
          <a:xfrm>
            <a:off x="6290233" y="4338067"/>
            <a:ext cx="523112" cy="523112"/>
          </a:xfrm>
          <a:prstGeom prst="rect">
            <a:avLst/>
          </a:prstGeom>
        </p:spPr>
      </p:pic>
      <p:pic>
        <p:nvPicPr>
          <p:cNvPr id="75" name="Picture 74">
            <a:extLst>
              <a:ext uri="{FF2B5EF4-FFF2-40B4-BE49-F238E27FC236}">
                <a16:creationId xmlns:a16="http://schemas.microsoft.com/office/drawing/2014/main" id="{F65D09E5-8636-47FB-0B24-409C39446252}"/>
              </a:ext>
            </a:extLst>
          </p:cNvPr>
          <p:cNvPicPr>
            <a:picLocks noChangeAspect="1"/>
          </p:cNvPicPr>
          <p:nvPr/>
        </p:nvPicPr>
        <p:blipFill>
          <a:blip r:embed="rId10"/>
          <a:stretch>
            <a:fillRect/>
          </a:stretch>
        </p:blipFill>
        <p:spPr>
          <a:xfrm>
            <a:off x="5138492" y="5481368"/>
            <a:ext cx="523112" cy="523112"/>
          </a:xfrm>
          <a:prstGeom prst="rect">
            <a:avLst/>
          </a:prstGeom>
        </p:spPr>
      </p:pic>
      <p:pic>
        <p:nvPicPr>
          <p:cNvPr id="3" name="Picture 16">
            <a:extLst>
              <a:ext uri="{FF2B5EF4-FFF2-40B4-BE49-F238E27FC236}">
                <a16:creationId xmlns:a16="http://schemas.microsoft.com/office/drawing/2014/main" id="{45615388-5B6A-0508-8D4D-C135272B2300}"/>
              </a:ext>
            </a:extLst>
          </p:cNvPr>
          <p:cNvPicPr>
            <a:picLocks noChangeAspect="1" noChangeArrowheads="1"/>
          </p:cNvPicPr>
          <p:nvPr/>
        </p:nvPicPr>
        <p:blipFill>
          <a:blip r:embed="rId11">
            <a:alphaModFix amt="35000"/>
            <a:extLst>
              <a:ext uri="{28A0092B-C50C-407E-A947-70E740481C1C}">
                <a14:useLocalDpi xmlns:a14="http://schemas.microsoft.com/office/drawing/2010/main" val="0"/>
              </a:ext>
            </a:extLst>
          </a:blip>
          <a:srcRect/>
          <a:stretch>
            <a:fillRect/>
          </a:stretch>
        </p:blipFill>
        <p:spPr bwMode="auto">
          <a:xfrm rot="10800000" flipH="1">
            <a:off x="393189" y="4287607"/>
            <a:ext cx="4191000" cy="257039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6">
            <a:extLst>
              <a:ext uri="{FF2B5EF4-FFF2-40B4-BE49-F238E27FC236}">
                <a16:creationId xmlns:a16="http://schemas.microsoft.com/office/drawing/2014/main" id="{0BB7F72D-7598-97B6-AC1A-79BB94B1AA33}"/>
              </a:ext>
            </a:extLst>
          </p:cNvPr>
          <p:cNvPicPr>
            <a:picLocks noChangeAspect="1" noChangeArrowheads="1"/>
          </p:cNvPicPr>
          <p:nvPr/>
        </p:nvPicPr>
        <p:blipFill rotWithShape="1">
          <a:blip r:embed="rId11">
            <a:alphaModFix amt="35000"/>
            <a:extLst>
              <a:ext uri="{28A0092B-C50C-407E-A947-70E740481C1C}">
                <a14:useLocalDpi xmlns:a14="http://schemas.microsoft.com/office/drawing/2010/main" val="0"/>
              </a:ext>
            </a:extLst>
          </a:blip>
          <a:srcRect t="24073" r="58466" b="11694"/>
          <a:stretch/>
        </p:blipFill>
        <p:spPr bwMode="auto">
          <a:xfrm rot="10800000" flipH="1">
            <a:off x="2843486" y="0"/>
            <a:ext cx="1740704" cy="1650999"/>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6672BFC1-4071-9C65-A613-AD2228A043F5}"/>
              </a:ext>
            </a:extLst>
          </p:cNvPr>
          <p:cNvSpPr txBox="1"/>
          <p:nvPr/>
        </p:nvSpPr>
        <p:spPr>
          <a:xfrm>
            <a:off x="392668" y="1371600"/>
            <a:ext cx="3784696" cy="4465390"/>
          </a:xfrm>
          <a:prstGeom prst="rect">
            <a:avLst/>
          </a:prstGeom>
          <a:noFill/>
        </p:spPr>
        <p:txBody>
          <a:bodyPr wrap="square" lIns="91440" tIns="45720" rIns="91440" bIns="45720" rtlCol="0" anchor="t">
            <a:spAutoFit/>
          </a:bodyPr>
          <a:lstStyle/>
          <a:p>
            <a:pPr>
              <a:lnSpc>
                <a:spcPct val="120000"/>
              </a:lnSpc>
              <a:spcAft>
                <a:spcPts val="900"/>
              </a:spcAft>
            </a:pPr>
            <a:r>
              <a:rPr lang="en-US" sz="3200" b="1">
                <a:solidFill>
                  <a:srgbClr val="F1F1FF"/>
                </a:solidFill>
                <a:latin typeface="Aptos" panose="020B0004020202020204" pitchFamily="34" charset="0"/>
                <a:ea typeface="Open Sans Bold" pitchFamily="2" charset="0"/>
                <a:cs typeface="Open Sans Bold" pitchFamily="2" charset="0"/>
                <a:sym typeface="Aptos" panose="020B0004020202020204" pitchFamily="34" charset="0"/>
              </a:rPr>
              <a:t>The Solution</a:t>
            </a:r>
            <a:endParaRPr lang="en-US" sz="1600" b="1">
              <a:solidFill>
                <a:srgbClr val="F1F1FF"/>
              </a:solidFill>
              <a:latin typeface="Aptos" panose="020B0004020202020204" pitchFamily="34" charset="0"/>
              <a:ea typeface="Open Sans Bold" pitchFamily="2" charset="0"/>
              <a:cs typeface="Open Sans Bold" pitchFamily="2" charset="0"/>
              <a:sym typeface="Aptos" panose="020B0004020202020204" pitchFamily="34" charset="0"/>
            </a:endParaRPr>
          </a:p>
          <a:p>
            <a:pPr algn="l">
              <a:lnSpc>
                <a:spcPct val="120000"/>
              </a:lnSpc>
            </a:pPr>
            <a:r>
              <a:rPr lang="en-US" sz="2500">
                <a:solidFill>
                  <a:schemeClr val="bg1"/>
                </a:solidFill>
                <a:latin typeface="Aptos" panose="020B0004020202020204" pitchFamily="34" charset="0"/>
                <a:ea typeface="Open Sans Bold" pitchFamily="2" charset="0"/>
                <a:cs typeface="Open Sans Bold" pitchFamily="2" charset="0"/>
                <a:sym typeface="Aptos" panose="020B0004020202020204" pitchFamily="34" charset="0"/>
              </a:rPr>
              <a:t>Prevalent AI consolidates signals across the stack into a contextualized data fabric that enables visibility into system integrity and operational resilience, and unleashes AI-powered operations</a:t>
            </a:r>
          </a:p>
        </p:txBody>
      </p:sp>
      <p:sp>
        <p:nvSpPr>
          <p:cNvPr id="4" name="Google Shape;386;p9">
            <a:extLst>
              <a:ext uri="{FF2B5EF4-FFF2-40B4-BE49-F238E27FC236}">
                <a16:creationId xmlns:a16="http://schemas.microsoft.com/office/drawing/2014/main" id="{5C18B3BB-6D23-DC41-3D45-F8D0442BB931}"/>
              </a:ext>
            </a:extLst>
          </p:cNvPr>
          <p:cNvSpPr txBox="1"/>
          <p:nvPr/>
        </p:nvSpPr>
        <p:spPr>
          <a:xfrm>
            <a:off x="7308529" y="2014512"/>
            <a:ext cx="4475427" cy="754053"/>
          </a:xfrm>
          <a:prstGeom prst="rect">
            <a:avLst/>
          </a:prstGeom>
          <a:noFill/>
          <a:ln>
            <a:noFill/>
          </a:ln>
        </p:spPr>
        <p:txBody>
          <a:bodyPr spcFirstLastPara="1" wrap="square" lIns="0" tIns="0" rIns="0" bIns="0" anchor="t" anchorCtr="0">
            <a:spAutoFit/>
          </a:bodyPr>
          <a:lstStyle/>
          <a:p>
            <a:pPr marL="0" marR="0" lvl="0" indent="0" algn="just">
              <a:lnSpc>
                <a:spcPct val="100000"/>
              </a:lnSpc>
              <a:spcBef>
                <a:spcPts val="0"/>
              </a:spcBef>
              <a:spcAft>
                <a:spcPts val="0"/>
              </a:spcAft>
              <a:buClr>
                <a:srgbClr val="250831"/>
              </a:buClr>
              <a:buSzPts val="1400"/>
              <a:buFont typeface="Montserrat"/>
              <a:buNone/>
            </a:pPr>
            <a:r>
              <a:rPr lang="en-US" sz="1600" b="1" i="0" u="none" strike="noStrike" cap="none">
                <a:solidFill>
                  <a:srgbClr val="6360D8"/>
                </a:solidFill>
                <a:latin typeface="Aptos" panose="020B0004020202020204" pitchFamily="34" charset="0"/>
                <a:ea typeface="Montserrat"/>
                <a:cs typeface="Montserrat"/>
                <a:sym typeface="Aptos" panose="020B0004020202020204" pitchFamily="34" charset="0"/>
              </a:rPr>
              <a:t>Delivers Clean, Contextualized Data </a:t>
            </a:r>
          </a:p>
          <a:p>
            <a:pPr marL="0" marR="0" lvl="0" indent="0" algn="just">
              <a:lnSpc>
                <a:spcPct val="100000"/>
              </a:lnSpc>
              <a:spcBef>
                <a:spcPts val="0"/>
              </a:spcBef>
              <a:spcAft>
                <a:spcPts val="0"/>
              </a:spcAft>
              <a:buClr>
                <a:srgbClr val="250831"/>
              </a:buClr>
              <a:buSzPts val="1400"/>
              <a:buFont typeface="Montserrat"/>
              <a:buNone/>
            </a:pPr>
            <a:r>
              <a:rPr lang="en-US" sz="1100" b="0" i="0" u="none" strike="noStrike" cap="none">
                <a:solidFill>
                  <a:srgbClr val="595959"/>
                </a:solidFill>
                <a:latin typeface="Aptos" panose="020B0004020202020204" pitchFamily="34" charset="0"/>
                <a:ea typeface="Montserrat"/>
                <a:cs typeface="Montserrat"/>
                <a:sym typeface="Aptos" panose="020B0004020202020204" pitchFamily="34" charset="0"/>
              </a:rPr>
              <a:t>By cleansing, deduplicating, and normalizing data, Prevalent AI ensures trustworthy, structured inputs, solving the “garbage in, garbage out” dilemma and enabling reliable AI and analytics outcomes</a:t>
            </a:r>
            <a:endParaRPr lang="en-US">
              <a:solidFill>
                <a:srgbClr val="595959"/>
              </a:solidFill>
              <a:latin typeface="Aptos" panose="020B0004020202020204" pitchFamily="34" charset="0"/>
              <a:sym typeface="Aptos" panose="020B0004020202020204" pitchFamily="34" charset="0"/>
            </a:endParaRPr>
          </a:p>
        </p:txBody>
      </p:sp>
      <p:sp>
        <p:nvSpPr>
          <p:cNvPr id="18" name="Google Shape;387;p9">
            <a:extLst>
              <a:ext uri="{FF2B5EF4-FFF2-40B4-BE49-F238E27FC236}">
                <a16:creationId xmlns:a16="http://schemas.microsoft.com/office/drawing/2014/main" id="{5D71FFD9-534A-A6C9-D891-CFB55F58CCB3}"/>
              </a:ext>
            </a:extLst>
          </p:cNvPr>
          <p:cNvSpPr txBox="1"/>
          <p:nvPr/>
        </p:nvSpPr>
        <p:spPr>
          <a:xfrm>
            <a:off x="6960715" y="3152464"/>
            <a:ext cx="4475427" cy="754053"/>
          </a:xfrm>
          <a:prstGeom prst="rect">
            <a:avLst/>
          </a:prstGeom>
          <a:noFill/>
          <a:ln>
            <a:noFill/>
          </a:ln>
        </p:spPr>
        <p:txBody>
          <a:bodyPr spcFirstLastPara="1" wrap="square" lIns="0" tIns="0" rIns="0" bIns="0" anchor="t" anchorCtr="0">
            <a:spAutoFit/>
          </a:bodyPr>
          <a:lstStyle/>
          <a:p>
            <a:pPr marL="0" marR="0" lvl="0" indent="0" algn="just">
              <a:lnSpc>
                <a:spcPct val="100000"/>
              </a:lnSpc>
              <a:spcBef>
                <a:spcPts val="0"/>
              </a:spcBef>
              <a:spcAft>
                <a:spcPts val="0"/>
              </a:spcAft>
              <a:buClr>
                <a:srgbClr val="250831"/>
              </a:buClr>
              <a:buSzPts val="1400"/>
              <a:buFont typeface="Montserrat"/>
              <a:buNone/>
            </a:pPr>
            <a:r>
              <a:rPr lang="en-US" sz="1600" b="1" i="0" u="none" strike="noStrike" cap="none">
                <a:solidFill>
                  <a:srgbClr val="6360D8"/>
                </a:solidFill>
                <a:latin typeface="Aptos" panose="020B0004020202020204" pitchFamily="34" charset="0"/>
                <a:ea typeface="Montserrat"/>
                <a:cs typeface="Montserrat"/>
                <a:sym typeface="Aptos" panose="020B0004020202020204" pitchFamily="34" charset="0"/>
              </a:rPr>
              <a:t>Enables Continuous Exposure Management</a:t>
            </a:r>
          </a:p>
          <a:p>
            <a:pPr marL="0" marR="0" lvl="0" indent="0" algn="just">
              <a:lnSpc>
                <a:spcPct val="100000"/>
              </a:lnSpc>
              <a:spcBef>
                <a:spcPts val="0"/>
              </a:spcBef>
              <a:spcAft>
                <a:spcPts val="0"/>
              </a:spcAft>
              <a:buClr>
                <a:srgbClr val="250831"/>
              </a:buClr>
              <a:buSzPts val="1400"/>
              <a:buFont typeface="Montserrat"/>
              <a:buNone/>
            </a:pPr>
            <a:r>
              <a:rPr lang="en-US" sz="1100" b="0" i="0" u="none" strike="noStrike" cap="none">
                <a:solidFill>
                  <a:srgbClr val="595959"/>
                </a:solidFill>
                <a:latin typeface="Aptos" panose="020B0004020202020204" pitchFamily="34" charset="0"/>
                <a:ea typeface="Montserrat"/>
                <a:cs typeface="Montserrat"/>
                <a:sym typeface="Aptos" panose="020B0004020202020204" pitchFamily="34" charset="0"/>
              </a:rPr>
              <a:t>Through continuous mapping of assets, controls, and threats, Prevalent AI’s Exposure Management modules provide a contextual, up-to-date view of enterprise risk across hybrid environments</a:t>
            </a:r>
            <a:endParaRPr lang="en-US">
              <a:solidFill>
                <a:srgbClr val="595959"/>
              </a:solidFill>
              <a:latin typeface="Aptos" panose="020B0004020202020204" pitchFamily="34" charset="0"/>
              <a:sym typeface="Aptos" panose="020B0004020202020204" pitchFamily="34" charset="0"/>
            </a:endParaRPr>
          </a:p>
        </p:txBody>
      </p:sp>
      <p:sp>
        <p:nvSpPr>
          <p:cNvPr id="20" name="Google Shape;411;p9">
            <a:extLst>
              <a:ext uri="{FF2B5EF4-FFF2-40B4-BE49-F238E27FC236}">
                <a16:creationId xmlns:a16="http://schemas.microsoft.com/office/drawing/2014/main" id="{4D943747-8462-FFBA-FF9F-11570AAD2C4C}"/>
              </a:ext>
            </a:extLst>
          </p:cNvPr>
          <p:cNvSpPr txBox="1"/>
          <p:nvPr/>
        </p:nvSpPr>
        <p:spPr>
          <a:xfrm>
            <a:off x="7308529" y="4290416"/>
            <a:ext cx="4475427" cy="779701"/>
          </a:xfrm>
          <a:prstGeom prst="rect">
            <a:avLst/>
          </a:prstGeom>
          <a:noFill/>
          <a:ln>
            <a:noFill/>
          </a:ln>
        </p:spPr>
        <p:txBody>
          <a:bodyPr spcFirstLastPara="1" wrap="square" lIns="0" tIns="0" rIns="0" bIns="0" anchor="t" anchorCtr="0">
            <a:spAutoFit/>
          </a:bodyPr>
          <a:lstStyle/>
          <a:p>
            <a:pPr marL="0" marR="0" lvl="0" indent="0" algn="just">
              <a:lnSpc>
                <a:spcPct val="100000"/>
              </a:lnSpc>
              <a:spcBef>
                <a:spcPts val="0"/>
              </a:spcBef>
              <a:spcAft>
                <a:spcPts val="0"/>
              </a:spcAft>
              <a:buClr>
                <a:srgbClr val="250831"/>
              </a:buClr>
              <a:buSzPts val="1400"/>
              <a:buFont typeface="Montserrat"/>
              <a:buNone/>
            </a:pPr>
            <a:r>
              <a:rPr lang="en-US" sz="1600" b="1" i="0" u="none" strike="noStrike" cap="none">
                <a:solidFill>
                  <a:srgbClr val="6360D8"/>
                </a:solidFill>
                <a:latin typeface="Aptos" panose="020B0004020202020204" pitchFamily="34" charset="0"/>
                <a:ea typeface="Montserrat"/>
                <a:cs typeface="Montserrat"/>
                <a:sym typeface="Aptos" panose="020B0004020202020204" pitchFamily="34" charset="0"/>
              </a:rPr>
              <a:t>Knowledge Graph for Ultimate Query Flexibility </a:t>
            </a:r>
            <a:endParaRPr lang="en-US" sz="2000">
              <a:solidFill>
                <a:srgbClr val="6360D8"/>
              </a:solidFill>
              <a:latin typeface="Aptos" panose="020B0004020202020204" pitchFamily="34" charset="0"/>
              <a:sym typeface="Aptos" panose="020B0004020202020204" pitchFamily="34" charset="0"/>
            </a:endParaRPr>
          </a:p>
          <a:p>
            <a:pPr marL="0" marR="0" lvl="0" indent="0" algn="just">
              <a:lnSpc>
                <a:spcPct val="100000"/>
              </a:lnSpc>
              <a:spcBef>
                <a:spcPts val="200"/>
              </a:spcBef>
              <a:spcAft>
                <a:spcPts val="0"/>
              </a:spcAft>
              <a:buClr>
                <a:srgbClr val="250831"/>
              </a:buClr>
              <a:buSzPts val="1100"/>
              <a:buFont typeface="Montserrat"/>
              <a:buNone/>
            </a:pPr>
            <a:r>
              <a:rPr lang="en-US" sz="1100" b="0" i="0" u="none" strike="noStrike" cap="none">
                <a:solidFill>
                  <a:srgbClr val="595959"/>
                </a:solidFill>
                <a:latin typeface="Aptos" panose="020B0004020202020204" pitchFamily="34" charset="0"/>
                <a:ea typeface="Montserrat"/>
                <a:cs typeface="Montserrat"/>
                <a:sym typeface="Aptos" panose="020B0004020202020204" pitchFamily="34" charset="0"/>
              </a:rPr>
              <a:t>The Knowledge Graph architecture transforms data into an enterprise-wide source of truth, enabling fast, flexible querying for investigation, compliance, and decision-making </a:t>
            </a:r>
            <a:endParaRPr lang="en-US">
              <a:solidFill>
                <a:srgbClr val="595959"/>
              </a:solidFill>
              <a:latin typeface="Aptos" panose="020B0004020202020204" pitchFamily="34" charset="0"/>
              <a:sym typeface="Aptos" panose="020B0004020202020204" pitchFamily="34" charset="0"/>
            </a:endParaRPr>
          </a:p>
        </p:txBody>
      </p:sp>
      <p:sp>
        <p:nvSpPr>
          <p:cNvPr id="21" name="Google Shape;388;p9">
            <a:extLst>
              <a:ext uri="{FF2B5EF4-FFF2-40B4-BE49-F238E27FC236}">
                <a16:creationId xmlns:a16="http://schemas.microsoft.com/office/drawing/2014/main" id="{F494666A-5F66-B9CD-1DE5-DEF98CF87152}"/>
              </a:ext>
            </a:extLst>
          </p:cNvPr>
          <p:cNvSpPr txBox="1"/>
          <p:nvPr/>
        </p:nvSpPr>
        <p:spPr>
          <a:xfrm>
            <a:off x="6960715" y="5454015"/>
            <a:ext cx="4475427" cy="584775"/>
          </a:xfrm>
          <a:prstGeom prst="rect">
            <a:avLst/>
          </a:prstGeom>
          <a:noFill/>
          <a:ln>
            <a:noFill/>
          </a:ln>
        </p:spPr>
        <p:txBody>
          <a:bodyPr spcFirstLastPara="1" wrap="square" lIns="0" tIns="0" rIns="0" bIns="0" anchor="t" anchorCtr="0">
            <a:spAutoFit/>
          </a:bodyPr>
          <a:lstStyle/>
          <a:p>
            <a:pPr marL="0" marR="0" lvl="0" indent="0" algn="just">
              <a:lnSpc>
                <a:spcPct val="100000"/>
              </a:lnSpc>
              <a:spcBef>
                <a:spcPts val="0"/>
              </a:spcBef>
              <a:spcAft>
                <a:spcPts val="0"/>
              </a:spcAft>
              <a:buClr>
                <a:srgbClr val="250831"/>
              </a:buClr>
              <a:buSzPts val="1400"/>
              <a:buFont typeface="Montserrat"/>
              <a:buNone/>
            </a:pPr>
            <a:r>
              <a:rPr lang="en-US" sz="1600" b="1" i="0" u="none" strike="noStrike" cap="none">
                <a:solidFill>
                  <a:srgbClr val="6360D8"/>
                </a:solidFill>
                <a:latin typeface="Aptos" panose="020B0004020202020204" pitchFamily="34" charset="0"/>
                <a:ea typeface="Montserrat"/>
                <a:cs typeface="Montserrat"/>
                <a:sym typeface="Aptos" panose="020B0004020202020204" pitchFamily="34" charset="0"/>
              </a:rPr>
              <a:t>Supports Cyber Operations with </a:t>
            </a:r>
            <a:r>
              <a:rPr lang="en-US" sz="1600" b="1">
                <a:solidFill>
                  <a:srgbClr val="6360D8"/>
                </a:solidFill>
                <a:latin typeface="Aptos" panose="020B0004020202020204" pitchFamily="34" charset="0"/>
                <a:ea typeface="Montserrat"/>
                <a:cs typeface="Montserrat"/>
                <a:sym typeface="Aptos" panose="020B0004020202020204" pitchFamily="34" charset="0"/>
              </a:rPr>
              <a:t>GenAI</a:t>
            </a:r>
            <a:endParaRPr lang="en-US" sz="1600" b="1" i="0" u="none" strike="noStrike" cap="none">
              <a:solidFill>
                <a:srgbClr val="6360D8"/>
              </a:solidFill>
              <a:latin typeface="Aptos" panose="020B0004020202020204" pitchFamily="34" charset="0"/>
              <a:ea typeface="Montserrat"/>
              <a:cs typeface="Montserrat"/>
              <a:sym typeface="Aptos" panose="020B0004020202020204" pitchFamily="34" charset="0"/>
            </a:endParaRPr>
          </a:p>
          <a:p>
            <a:pPr marL="0" marR="0" lvl="0" indent="0" algn="just">
              <a:lnSpc>
                <a:spcPct val="100000"/>
              </a:lnSpc>
              <a:spcBef>
                <a:spcPts val="0"/>
              </a:spcBef>
              <a:spcAft>
                <a:spcPts val="0"/>
              </a:spcAft>
              <a:buClr>
                <a:srgbClr val="250831"/>
              </a:buClr>
              <a:buSzPts val="1400"/>
              <a:buFont typeface="Montserrat"/>
              <a:buNone/>
            </a:pPr>
            <a:r>
              <a:rPr lang="en-US" sz="1100" b="0" i="0" u="none" strike="noStrike" cap="none">
                <a:solidFill>
                  <a:srgbClr val="595959"/>
                </a:solidFill>
                <a:latin typeface="Aptos" panose="020B0004020202020204" pitchFamily="34" charset="0"/>
                <a:ea typeface="Montserrat"/>
                <a:cs typeface="Montserrat"/>
                <a:sym typeface="Aptos" panose="020B0004020202020204" pitchFamily="34" charset="0"/>
              </a:rPr>
              <a:t>Prevalent AI’s generative AI-powered assistant, and advanced threat correlation turn raw security data into actionable insights</a:t>
            </a:r>
            <a:endParaRPr lang="en-US">
              <a:solidFill>
                <a:srgbClr val="595959"/>
              </a:solidFill>
              <a:latin typeface="Aptos" panose="020B0004020202020204" pitchFamily="34" charset="0"/>
              <a:sym typeface="Aptos" panose="020B0004020202020204" pitchFamily="34" charset="0"/>
            </a:endParaRPr>
          </a:p>
        </p:txBody>
      </p:sp>
      <p:sp>
        <p:nvSpPr>
          <p:cNvPr id="22" name="Google Shape;385;p9">
            <a:extLst>
              <a:ext uri="{FF2B5EF4-FFF2-40B4-BE49-F238E27FC236}">
                <a16:creationId xmlns:a16="http://schemas.microsoft.com/office/drawing/2014/main" id="{4FB927E0-121D-CBD5-FAC5-09CFB981560D}"/>
              </a:ext>
            </a:extLst>
          </p:cNvPr>
          <p:cNvSpPr txBox="1"/>
          <p:nvPr/>
        </p:nvSpPr>
        <p:spPr>
          <a:xfrm>
            <a:off x="6960716" y="850912"/>
            <a:ext cx="4475427" cy="923330"/>
          </a:xfrm>
          <a:prstGeom prst="rect">
            <a:avLst/>
          </a:prstGeom>
          <a:noFill/>
          <a:ln>
            <a:noFill/>
          </a:ln>
        </p:spPr>
        <p:txBody>
          <a:bodyPr spcFirstLastPara="1" wrap="square" lIns="0" tIns="0" rIns="0" bIns="0" anchor="t" anchorCtr="0">
            <a:spAutoFit/>
          </a:bodyPr>
          <a:lstStyle/>
          <a:p>
            <a:pPr marL="0" marR="0" lvl="0" indent="0" algn="just">
              <a:lnSpc>
                <a:spcPct val="100000"/>
              </a:lnSpc>
              <a:spcBef>
                <a:spcPts val="0"/>
              </a:spcBef>
              <a:spcAft>
                <a:spcPts val="0"/>
              </a:spcAft>
              <a:buClr>
                <a:srgbClr val="250831"/>
              </a:buClr>
              <a:buSzPts val="1400"/>
              <a:buFont typeface="Montserrat"/>
              <a:buNone/>
            </a:pPr>
            <a:r>
              <a:rPr lang="en-US" sz="1600" b="1" i="0" u="none" strike="noStrike" cap="none">
                <a:solidFill>
                  <a:srgbClr val="6360D8"/>
                </a:solidFill>
                <a:latin typeface="Aptos" panose="020B0004020202020204" pitchFamily="34" charset="0"/>
                <a:ea typeface="Montserrat"/>
                <a:cs typeface="Montserrat"/>
                <a:sym typeface="Aptos" panose="020B0004020202020204" pitchFamily="34" charset="0"/>
              </a:rPr>
              <a:t>Unifies Fragmented Cybersecurity Environments</a:t>
            </a:r>
          </a:p>
          <a:p>
            <a:pPr marL="0" marR="0" lvl="0" indent="0" algn="just">
              <a:lnSpc>
                <a:spcPct val="100000"/>
              </a:lnSpc>
              <a:spcBef>
                <a:spcPts val="0"/>
              </a:spcBef>
              <a:spcAft>
                <a:spcPts val="0"/>
              </a:spcAft>
              <a:buClr>
                <a:srgbClr val="250831"/>
              </a:buClr>
              <a:buSzPts val="1400"/>
              <a:buFont typeface="Montserrat"/>
              <a:buNone/>
            </a:pPr>
            <a:r>
              <a:rPr lang="en-US" sz="1100" b="0" i="0" u="none" strike="noStrike" cap="none">
                <a:solidFill>
                  <a:srgbClr val="595959"/>
                </a:solidFill>
                <a:latin typeface="Aptos" panose="020B0004020202020204" pitchFamily="34" charset="0"/>
                <a:ea typeface="Montserrat"/>
                <a:cs typeface="Montserrat"/>
                <a:sym typeface="Aptos" panose="020B0004020202020204" pitchFamily="34" charset="0"/>
              </a:rPr>
              <a:t>Prevalent AI’s Data Fabric can consolidate data from more than 100 disparate cybersecurity tools and enterprise solutions into a unified, entity-resolved platform, eliminating silos and blind spots across the enterprise</a:t>
            </a:r>
            <a:endParaRPr lang="en-US">
              <a:solidFill>
                <a:srgbClr val="595959"/>
              </a:solidFill>
              <a:latin typeface="Aptos" panose="020B0004020202020204" pitchFamily="34" charset="0"/>
              <a:sym typeface="Aptos" panose="020B0004020202020204" pitchFamily="34" charset="0"/>
            </a:endParaRPr>
          </a:p>
        </p:txBody>
      </p:sp>
    </p:spTree>
    <p:extLst>
      <p:ext uri="{BB962C8B-B14F-4D97-AF65-F5344CB8AC3E}">
        <p14:creationId xmlns:p14="http://schemas.microsoft.com/office/powerpoint/2010/main" val="3113009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CC778-DF88-67CC-F066-7D99C71D6B43}"/>
            </a:ext>
          </a:extLst>
        </p:cNvPr>
        <p:cNvGrpSpPr/>
        <p:nvPr/>
      </p:nvGrpSpPr>
      <p:grpSpPr>
        <a:xfrm>
          <a:off x="0" y="0"/>
          <a:ext cx="0" cy="0"/>
          <a:chOff x="0" y="0"/>
          <a:chExt cx="0" cy="0"/>
        </a:xfrm>
      </p:grpSpPr>
      <p:graphicFrame>
        <p:nvGraphicFramePr>
          <p:cNvPr id="41" name="think-cell data - do not delete" hidden="1">
            <a:extLst>
              <a:ext uri="{FF2B5EF4-FFF2-40B4-BE49-F238E27FC236}">
                <a16:creationId xmlns:a16="http://schemas.microsoft.com/office/drawing/2014/main" id="{49C55443-EF74-4389-4315-92C1A86AF2B2}"/>
              </a:ext>
            </a:extLst>
          </p:cNvPr>
          <p:cNvGraphicFramePr>
            <a:graphicFrameLocks noChangeAspect="1"/>
          </p:cNvGraphicFramePr>
          <p:nvPr>
            <p:custDataLst>
              <p:tags r:id="rId1"/>
            </p:custDataLst>
            <p:extLst>
              <p:ext uri="{D42A27DB-BD31-4B8C-83A1-F6EECF244321}">
                <p14:modId xmlns:p14="http://schemas.microsoft.com/office/powerpoint/2010/main" val="35996287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41" name="think-cell data - do not delete" hidden="1">
                        <a:extLst>
                          <a:ext uri="{FF2B5EF4-FFF2-40B4-BE49-F238E27FC236}">
                            <a16:creationId xmlns:a16="http://schemas.microsoft.com/office/drawing/2014/main" id="{49C55443-EF74-4389-4315-92C1A86AF2B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46" name="Group 45">
            <a:extLst>
              <a:ext uri="{FF2B5EF4-FFF2-40B4-BE49-F238E27FC236}">
                <a16:creationId xmlns:a16="http://schemas.microsoft.com/office/drawing/2014/main" id="{91CCFA3B-86C1-BF2E-C03F-CEAFBFCA4E0A}"/>
              </a:ext>
            </a:extLst>
          </p:cNvPr>
          <p:cNvGrpSpPr/>
          <p:nvPr/>
        </p:nvGrpSpPr>
        <p:grpSpPr>
          <a:xfrm>
            <a:off x="6566182" y="2761202"/>
            <a:ext cx="1908103" cy="1011499"/>
            <a:chOff x="6566182" y="2964402"/>
            <a:chExt cx="1908103" cy="1011499"/>
          </a:xfrm>
        </p:grpSpPr>
        <p:pic>
          <p:nvPicPr>
            <p:cNvPr id="3" name="Picture 2" descr="Diagram&#10;&#10;Description automatically generated">
              <a:extLst>
                <a:ext uri="{FF2B5EF4-FFF2-40B4-BE49-F238E27FC236}">
                  <a16:creationId xmlns:a16="http://schemas.microsoft.com/office/drawing/2014/main" id="{CE066635-F9F6-B792-0A75-0E17CC68AC8F}"/>
                </a:ext>
              </a:extLst>
            </p:cNvPr>
            <p:cNvPicPr>
              <a:picLocks noChangeAspect="1"/>
            </p:cNvPicPr>
            <p:nvPr/>
          </p:nvPicPr>
          <p:blipFill rotWithShape="1">
            <a:blip r:embed="rId6">
              <a:alphaModFix amt="85000"/>
              <a:extLst>
                <a:ext uri="{BEBA8EAE-BF5A-486C-A8C5-ECC9F3942E4B}">
                  <a14:imgProps xmlns:a14="http://schemas.microsoft.com/office/drawing/2010/main">
                    <a14:imgLayer r:embed="rId7">
                      <a14:imgEffect>
                        <a14:saturation sat="0"/>
                      </a14:imgEffect>
                      <a14:imgEffect>
                        <a14:brightnessContrast bright="-20000" contrast="40000"/>
                      </a14:imgEffect>
                    </a14:imgLayer>
                  </a14:imgProps>
                </a:ext>
              </a:extLst>
            </a:blip>
            <a:srcRect l="21375" t="22886" r="67764" b="40909"/>
            <a:stretch/>
          </p:blipFill>
          <p:spPr>
            <a:xfrm flipH="1">
              <a:off x="6566182" y="2964402"/>
              <a:ext cx="1746043" cy="1011499"/>
            </a:xfrm>
            <a:prstGeom prst="rect">
              <a:avLst/>
            </a:prstGeom>
            <a:noFill/>
          </p:spPr>
        </p:pic>
        <p:grpSp>
          <p:nvGrpSpPr>
            <p:cNvPr id="45" name="Group 44">
              <a:extLst>
                <a:ext uri="{FF2B5EF4-FFF2-40B4-BE49-F238E27FC236}">
                  <a16:creationId xmlns:a16="http://schemas.microsoft.com/office/drawing/2014/main" id="{A7FA4DA3-4208-A606-1763-B961EA8DC90E}"/>
                </a:ext>
              </a:extLst>
            </p:cNvPr>
            <p:cNvGrpSpPr/>
            <p:nvPr/>
          </p:nvGrpSpPr>
          <p:grpSpPr>
            <a:xfrm>
              <a:off x="7920395" y="3409191"/>
              <a:ext cx="553890" cy="490046"/>
              <a:chOff x="7920395" y="3409191"/>
              <a:chExt cx="553890" cy="490046"/>
            </a:xfrm>
          </p:grpSpPr>
          <p:sp>
            <p:nvSpPr>
              <p:cNvPr id="154" name="Arrow: Chevron 153">
                <a:extLst>
                  <a:ext uri="{FF2B5EF4-FFF2-40B4-BE49-F238E27FC236}">
                    <a16:creationId xmlns:a16="http://schemas.microsoft.com/office/drawing/2014/main" id="{D00478AD-CB30-4CAD-3EC9-09A99314D47D}"/>
                  </a:ext>
                </a:extLst>
              </p:cNvPr>
              <p:cNvSpPr/>
              <p:nvPr/>
            </p:nvSpPr>
            <p:spPr>
              <a:xfrm>
                <a:off x="7920395" y="3409191"/>
                <a:ext cx="467947" cy="490046"/>
              </a:xfrm>
              <a:prstGeom prst="chevron">
                <a:avLst/>
              </a:prstGeom>
              <a:solidFill>
                <a:srgbClr val="F2F2F2">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40" name="Arrow: Chevron 39">
                <a:extLst>
                  <a:ext uri="{FF2B5EF4-FFF2-40B4-BE49-F238E27FC236}">
                    <a16:creationId xmlns:a16="http://schemas.microsoft.com/office/drawing/2014/main" id="{BD663F71-EBD2-4CFE-AF9C-EC2CAF71CB64}"/>
                  </a:ext>
                </a:extLst>
              </p:cNvPr>
              <p:cNvSpPr/>
              <p:nvPr/>
            </p:nvSpPr>
            <p:spPr>
              <a:xfrm>
                <a:off x="7945996" y="3409191"/>
                <a:ext cx="467947" cy="490046"/>
              </a:xfrm>
              <a:prstGeom prst="chevron">
                <a:avLst/>
              </a:prstGeom>
              <a:solidFill>
                <a:srgbClr val="F2F2F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42" name="Arrow: Chevron 41">
                <a:extLst>
                  <a:ext uri="{FF2B5EF4-FFF2-40B4-BE49-F238E27FC236}">
                    <a16:creationId xmlns:a16="http://schemas.microsoft.com/office/drawing/2014/main" id="{7F998736-9081-C209-6D2B-F49892D36480}"/>
                  </a:ext>
                </a:extLst>
              </p:cNvPr>
              <p:cNvSpPr/>
              <p:nvPr/>
            </p:nvSpPr>
            <p:spPr>
              <a:xfrm>
                <a:off x="7975639" y="3409191"/>
                <a:ext cx="467947" cy="490046"/>
              </a:xfrm>
              <a:prstGeom prst="chevron">
                <a:avLst/>
              </a:prstGeom>
              <a:solidFill>
                <a:srgbClr val="F2F2F2">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43" name="Arrow: Chevron 42">
                <a:extLst>
                  <a:ext uri="{FF2B5EF4-FFF2-40B4-BE49-F238E27FC236}">
                    <a16:creationId xmlns:a16="http://schemas.microsoft.com/office/drawing/2014/main" id="{73F0A309-708A-FD7C-597A-1F63CB2FB3C1}"/>
                  </a:ext>
                </a:extLst>
              </p:cNvPr>
              <p:cNvSpPr/>
              <p:nvPr/>
            </p:nvSpPr>
            <p:spPr>
              <a:xfrm>
                <a:off x="8006338" y="3409191"/>
                <a:ext cx="467947" cy="490046"/>
              </a:xfrm>
              <a:prstGeom prst="chevron">
                <a:avLst/>
              </a:prstGeom>
              <a:solidFill>
                <a:srgbClr val="F2F2F2">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grpSp>
      </p:grpSp>
      <p:sp>
        <p:nvSpPr>
          <p:cNvPr id="84" name="Oval 83">
            <a:extLst>
              <a:ext uri="{FF2B5EF4-FFF2-40B4-BE49-F238E27FC236}">
                <a16:creationId xmlns:a16="http://schemas.microsoft.com/office/drawing/2014/main" id="{876B0592-3460-5577-AA0D-E1735B09F572}"/>
              </a:ext>
            </a:extLst>
          </p:cNvPr>
          <p:cNvSpPr>
            <a:spLocks noChangeAspect="1"/>
          </p:cNvSpPr>
          <p:nvPr/>
        </p:nvSpPr>
        <p:spPr>
          <a:xfrm>
            <a:off x="7007983" y="3299212"/>
            <a:ext cx="274320" cy="274320"/>
          </a:xfrm>
          <a:prstGeom prst="ellipse">
            <a:avLst/>
          </a:prstGeom>
          <a:solidFill>
            <a:srgbClr val="6360D8"/>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85" name="Oval 84">
            <a:extLst>
              <a:ext uri="{FF2B5EF4-FFF2-40B4-BE49-F238E27FC236}">
                <a16:creationId xmlns:a16="http://schemas.microsoft.com/office/drawing/2014/main" id="{E627BA69-834E-377C-EA2C-7E201117073C}"/>
              </a:ext>
            </a:extLst>
          </p:cNvPr>
          <p:cNvSpPr>
            <a:spLocks noChangeAspect="1"/>
          </p:cNvSpPr>
          <p:nvPr/>
        </p:nvSpPr>
        <p:spPr>
          <a:xfrm>
            <a:off x="7640977" y="3299212"/>
            <a:ext cx="274320" cy="274320"/>
          </a:xfrm>
          <a:prstGeom prst="ellipse">
            <a:avLst/>
          </a:prstGeom>
          <a:solidFill>
            <a:srgbClr val="6360D8"/>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pic>
        <p:nvPicPr>
          <p:cNvPr id="4" name="Picture 3" descr="Diagram&#10;&#10;Description automatically generated">
            <a:extLst>
              <a:ext uri="{FF2B5EF4-FFF2-40B4-BE49-F238E27FC236}">
                <a16:creationId xmlns:a16="http://schemas.microsoft.com/office/drawing/2014/main" id="{0881C432-5E2D-F22A-2295-4E139C7FBF28}"/>
              </a:ext>
            </a:extLst>
          </p:cNvPr>
          <p:cNvPicPr>
            <a:picLocks noChangeAspect="1"/>
          </p:cNvPicPr>
          <p:nvPr/>
        </p:nvPicPr>
        <p:blipFill rotWithShape="1">
          <a:blip r:embed="rId6">
            <a:alphaModFix amt="85000"/>
            <a:extLst>
              <a:ext uri="{BEBA8EAE-BF5A-486C-A8C5-ECC9F3942E4B}">
                <a14:imgProps xmlns:a14="http://schemas.microsoft.com/office/drawing/2010/main">
                  <a14:imgLayer r:embed="rId7">
                    <a14:imgEffect>
                      <a14:saturation sat="0"/>
                    </a14:imgEffect>
                    <a14:imgEffect>
                      <a14:brightnessContrast bright="-20000" contrast="40000"/>
                    </a14:imgEffect>
                  </a14:imgLayer>
                </a14:imgProps>
              </a:ext>
            </a:extLst>
          </a:blip>
          <a:srcRect l="19449" t="30561" r="66852" b="38742"/>
          <a:stretch/>
        </p:blipFill>
        <p:spPr>
          <a:xfrm>
            <a:off x="3978726" y="2977854"/>
            <a:ext cx="1509868" cy="857642"/>
          </a:xfrm>
          <a:prstGeom prst="rect">
            <a:avLst/>
          </a:prstGeom>
          <a:solidFill>
            <a:srgbClr val="F2F2F2"/>
          </a:solidFill>
        </p:spPr>
      </p:pic>
      <p:sp>
        <p:nvSpPr>
          <p:cNvPr id="7" name="Oval 6">
            <a:extLst>
              <a:ext uri="{FF2B5EF4-FFF2-40B4-BE49-F238E27FC236}">
                <a16:creationId xmlns:a16="http://schemas.microsoft.com/office/drawing/2014/main" id="{B0506327-8A89-47B6-32A2-E89792512FFC}"/>
              </a:ext>
            </a:extLst>
          </p:cNvPr>
          <p:cNvSpPr/>
          <p:nvPr/>
        </p:nvSpPr>
        <p:spPr>
          <a:xfrm>
            <a:off x="5312062" y="2564825"/>
            <a:ext cx="1567875" cy="1595542"/>
          </a:xfrm>
          <a:prstGeom prst="ellipse">
            <a:avLst/>
          </a:prstGeom>
          <a:solidFill>
            <a:schemeClr val="bg1"/>
          </a:solidFill>
          <a:ln w="19050">
            <a:solidFill>
              <a:srgbClr val="636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sym typeface="Aptos" panose="020B0004020202020204" pitchFamily="34" charset="0"/>
            </a:endParaRPr>
          </a:p>
        </p:txBody>
      </p:sp>
      <p:sp>
        <p:nvSpPr>
          <p:cNvPr id="80" name="Arrow: Right 79">
            <a:extLst>
              <a:ext uri="{FF2B5EF4-FFF2-40B4-BE49-F238E27FC236}">
                <a16:creationId xmlns:a16="http://schemas.microsoft.com/office/drawing/2014/main" id="{7F772514-7B94-B4EF-95CF-60E28DD22AC8}"/>
              </a:ext>
            </a:extLst>
          </p:cNvPr>
          <p:cNvSpPr/>
          <p:nvPr/>
        </p:nvSpPr>
        <p:spPr>
          <a:xfrm rot="1626275">
            <a:off x="807096" y="2085467"/>
            <a:ext cx="715910" cy="395273"/>
          </a:xfrm>
          <a:prstGeom prst="rightArrow">
            <a:avLst/>
          </a:prstGeom>
          <a:gradFill>
            <a:gsLst>
              <a:gs pos="19000">
                <a:srgbClr val="F2F2F2"/>
              </a:gs>
              <a:gs pos="100000">
                <a:srgbClr val="7A78DE"/>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20" name="Google Shape;335;p23">
            <a:extLst>
              <a:ext uri="{FF2B5EF4-FFF2-40B4-BE49-F238E27FC236}">
                <a16:creationId xmlns:a16="http://schemas.microsoft.com/office/drawing/2014/main" id="{42993135-AC74-42C3-2768-EAB476DECFA4}"/>
              </a:ext>
            </a:extLst>
          </p:cNvPr>
          <p:cNvSpPr/>
          <p:nvPr/>
        </p:nvSpPr>
        <p:spPr>
          <a:xfrm rot="16200000">
            <a:off x="3408776" y="3419610"/>
            <a:ext cx="96579" cy="257757"/>
          </a:xfrm>
          <a:custGeom>
            <a:avLst/>
            <a:gdLst/>
            <a:ahLst/>
            <a:cxnLst/>
            <a:rect l="l" t="t" r="r" b="b"/>
            <a:pathLst>
              <a:path w="7560" h="15696" extrusionOk="0">
                <a:moveTo>
                  <a:pt x="4158" y="438"/>
                </a:moveTo>
                <a:cubicBezTo>
                  <a:pt x="3999" y="418"/>
                  <a:pt x="3859" y="418"/>
                  <a:pt x="3700" y="398"/>
                </a:cubicBezTo>
                <a:lnTo>
                  <a:pt x="3700" y="398"/>
                </a:lnTo>
                <a:cubicBezTo>
                  <a:pt x="3462" y="378"/>
                  <a:pt x="3243" y="358"/>
                  <a:pt x="3024" y="339"/>
                </a:cubicBezTo>
                <a:cubicBezTo>
                  <a:pt x="3004" y="339"/>
                  <a:pt x="3004" y="339"/>
                  <a:pt x="3004" y="339"/>
                </a:cubicBezTo>
                <a:cubicBezTo>
                  <a:pt x="2785" y="319"/>
                  <a:pt x="2566" y="299"/>
                  <a:pt x="2348" y="279"/>
                </a:cubicBezTo>
                <a:cubicBezTo>
                  <a:pt x="2348" y="279"/>
                  <a:pt x="2328" y="279"/>
                  <a:pt x="2328" y="279"/>
                </a:cubicBezTo>
                <a:cubicBezTo>
                  <a:pt x="2109" y="259"/>
                  <a:pt x="1910" y="239"/>
                  <a:pt x="1711" y="219"/>
                </a:cubicBezTo>
                <a:cubicBezTo>
                  <a:pt x="1691" y="219"/>
                  <a:pt x="1691" y="219"/>
                  <a:pt x="1691" y="199"/>
                </a:cubicBezTo>
                <a:cubicBezTo>
                  <a:pt x="1472" y="179"/>
                  <a:pt x="1273" y="160"/>
                  <a:pt x="1074" y="140"/>
                </a:cubicBezTo>
                <a:cubicBezTo>
                  <a:pt x="1074" y="140"/>
                  <a:pt x="1074" y="140"/>
                  <a:pt x="1055" y="140"/>
                </a:cubicBezTo>
                <a:cubicBezTo>
                  <a:pt x="856" y="120"/>
                  <a:pt x="677" y="80"/>
                  <a:pt x="478" y="60"/>
                </a:cubicBezTo>
                <a:cubicBezTo>
                  <a:pt x="478" y="60"/>
                  <a:pt x="478" y="60"/>
                  <a:pt x="458" y="60"/>
                </a:cubicBezTo>
                <a:cubicBezTo>
                  <a:pt x="299" y="40"/>
                  <a:pt x="159" y="20"/>
                  <a:pt x="0" y="0"/>
                </a:cubicBezTo>
                <a:lnTo>
                  <a:pt x="5113" y="15278"/>
                </a:lnTo>
                <a:cubicBezTo>
                  <a:pt x="5113" y="15278"/>
                  <a:pt x="5113" y="15298"/>
                  <a:pt x="5133" y="15298"/>
                </a:cubicBezTo>
                <a:cubicBezTo>
                  <a:pt x="5152" y="15298"/>
                  <a:pt x="5172" y="15298"/>
                  <a:pt x="5192" y="15298"/>
                </a:cubicBezTo>
                <a:cubicBezTo>
                  <a:pt x="5212" y="15318"/>
                  <a:pt x="5232" y="15318"/>
                  <a:pt x="5252" y="15318"/>
                </a:cubicBezTo>
                <a:lnTo>
                  <a:pt x="5331" y="15338"/>
                </a:lnTo>
                <a:cubicBezTo>
                  <a:pt x="5331" y="15338"/>
                  <a:pt x="5331" y="15338"/>
                  <a:pt x="5331" y="15338"/>
                </a:cubicBezTo>
                <a:lnTo>
                  <a:pt x="5331" y="15338"/>
                </a:lnTo>
                <a:cubicBezTo>
                  <a:pt x="5351" y="15338"/>
                  <a:pt x="5371" y="15358"/>
                  <a:pt x="5391" y="15358"/>
                </a:cubicBezTo>
                <a:cubicBezTo>
                  <a:pt x="5411" y="15358"/>
                  <a:pt x="5451" y="15358"/>
                  <a:pt x="5471" y="15377"/>
                </a:cubicBezTo>
                <a:cubicBezTo>
                  <a:pt x="5491" y="15377"/>
                  <a:pt x="5511" y="15377"/>
                  <a:pt x="5530" y="15377"/>
                </a:cubicBezTo>
                <a:cubicBezTo>
                  <a:pt x="5550" y="15397"/>
                  <a:pt x="5590" y="15397"/>
                  <a:pt x="5610" y="15397"/>
                </a:cubicBezTo>
                <a:cubicBezTo>
                  <a:pt x="5630" y="15397"/>
                  <a:pt x="5650" y="15417"/>
                  <a:pt x="5690" y="15417"/>
                </a:cubicBezTo>
                <a:lnTo>
                  <a:pt x="5749" y="15437"/>
                </a:lnTo>
                <a:lnTo>
                  <a:pt x="5829" y="15437"/>
                </a:lnTo>
                <a:cubicBezTo>
                  <a:pt x="5829" y="15437"/>
                  <a:pt x="5829" y="15437"/>
                  <a:pt x="5849" y="15437"/>
                </a:cubicBezTo>
                <a:lnTo>
                  <a:pt x="5849" y="15437"/>
                </a:lnTo>
                <a:cubicBezTo>
                  <a:pt x="5869" y="15457"/>
                  <a:pt x="5888" y="15457"/>
                  <a:pt x="5908" y="15457"/>
                </a:cubicBezTo>
                <a:cubicBezTo>
                  <a:pt x="5928" y="15457"/>
                  <a:pt x="5948" y="15477"/>
                  <a:pt x="5988" y="15477"/>
                </a:cubicBezTo>
                <a:cubicBezTo>
                  <a:pt x="6008" y="15477"/>
                  <a:pt x="6028" y="15477"/>
                  <a:pt x="6048" y="15497"/>
                </a:cubicBezTo>
                <a:cubicBezTo>
                  <a:pt x="6087" y="15497"/>
                  <a:pt x="6107" y="15497"/>
                  <a:pt x="6127" y="15497"/>
                </a:cubicBezTo>
                <a:cubicBezTo>
                  <a:pt x="6167" y="15517"/>
                  <a:pt x="6187" y="15517"/>
                  <a:pt x="6207" y="15517"/>
                </a:cubicBezTo>
                <a:cubicBezTo>
                  <a:pt x="6247" y="15517"/>
                  <a:pt x="6266" y="15517"/>
                  <a:pt x="6286" y="15537"/>
                </a:cubicBezTo>
                <a:cubicBezTo>
                  <a:pt x="6326" y="15537"/>
                  <a:pt x="6346" y="15537"/>
                  <a:pt x="6366" y="15537"/>
                </a:cubicBezTo>
                <a:cubicBezTo>
                  <a:pt x="6386" y="15537"/>
                  <a:pt x="6386" y="15537"/>
                  <a:pt x="6386" y="15537"/>
                </a:cubicBezTo>
                <a:lnTo>
                  <a:pt x="6386" y="15537"/>
                </a:lnTo>
                <a:lnTo>
                  <a:pt x="6386" y="15537"/>
                </a:lnTo>
                <a:cubicBezTo>
                  <a:pt x="6406" y="15537"/>
                  <a:pt x="6445" y="15556"/>
                  <a:pt x="6465" y="15556"/>
                </a:cubicBezTo>
                <a:cubicBezTo>
                  <a:pt x="6485" y="15556"/>
                  <a:pt x="6505" y="15556"/>
                  <a:pt x="6545" y="15556"/>
                </a:cubicBezTo>
                <a:cubicBezTo>
                  <a:pt x="6565" y="15576"/>
                  <a:pt x="6605" y="15576"/>
                  <a:pt x="6625" y="15576"/>
                </a:cubicBezTo>
                <a:cubicBezTo>
                  <a:pt x="6644" y="15576"/>
                  <a:pt x="6684" y="15576"/>
                  <a:pt x="6704" y="15596"/>
                </a:cubicBezTo>
                <a:cubicBezTo>
                  <a:pt x="6744" y="15596"/>
                  <a:pt x="6764" y="15596"/>
                  <a:pt x="6804" y="15596"/>
                </a:cubicBezTo>
                <a:cubicBezTo>
                  <a:pt x="6823" y="15616"/>
                  <a:pt x="6863" y="15616"/>
                  <a:pt x="6883" y="15616"/>
                </a:cubicBezTo>
                <a:cubicBezTo>
                  <a:pt x="6923" y="15616"/>
                  <a:pt x="6943" y="15616"/>
                  <a:pt x="6983" y="15636"/>
                </a:cubicBezTo>
                <a:cubicBezTo>
                  <a:pt x="6983" y="15636"/>
                  <a:pt x="6983" y="15636"/>
                  <a:pt x="7002" y="15636"/>
                </a:cubicBezTo>
                <a:lnTo>
                  <a:pt x="7002" y="15636"/>
                </a:lnTo>
                <a:cubicBezTo>
                  <a:pt x="7022" y="15636"/>
                  <a:pt x="7042" y="15636"/>
                  <a:pt x="7062" y="15636"/>
                </a:cubicBezTo>
                <a:cubicBezTo>
                  <a:pt x="7102" y="15636"/>
                  <a:pt x="7122" y="15656"/>
                  <a:pt x="7162" y="15656"/>
                </a:cubicBezTo>
                <a:cubicBezTo>
                  <a:pt x="7201" y="15656"/>
                  <a:pt x="7221" y="15656"/>
                  <a:pt x="7261" y="15656"/>
                </a:cubicBezTo>
                <a:cubicBezTo>
                  <a:pt x="7281" y="15676"/>
                  <a:pt x="7321" y="15676"/>
                  <a:pt x="7361" y="15676"/>
                </a:cubicBezTo>
                <a:cubicBezTo>
                  <a:pt x="7380" y="15676"/>
                  <a:pt x="7420" y="15676"/>
                  <a:pt x="7460" y="15696"/>
                </a:cubicBezTo>
                <a:cubicBezTo>
                  <a:pt x="7480" y="15696"/>
                  <a:pt x="7520" y="15696"/>
                  <a:pt x="7559" y="15696"/>
                </a:cubicBezTo>
                <a:lnTo>
                  <a:pt x="7559" y="15696"/>
                </a:lnTo>
                <a:close/>
              </a:path>
            </a:pathLst>
          </a:custGeom>
          <a:solidFill>
            <a:srgbClr val="FFFFFF">
              <a:alpha val="34120"/>
            </a:srgb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sym typeface="Aptos" panose="020B0004020202020204" pitchFamily="34" charset="0"/>
            </a:endParaRPr>
          </a:p>
        </p:txBody>
      </p:sp>
      <p:sp>
        <p:nvSpPr>
          <p:cNvPr id="21" name="Google Shape;336;p23">
            <a:extLst>
              <a:ext uri="{FF2B5EF4-FFF2-40B4-BE49-F238E27FC236}">
                <a16:creationId xmlns:a16="http://schemas.microsoft.com/office/drawing/2014/main" id="{DB493B44-5B3C-13D4-DEFF-30FD5C4327BC}"/>
              </a:ext>
            </a:extLst>
          </p:cNvPr>
          <p:cNvSpPr/>
          <p:nvPr/>
        </p:nvSpPr>
        <p:spPr>
          <a:xfrm rot="16200000">
            <a:off x="3408287" y="3211899"/>
            <a:ext cx="101153" cy="257445"/>
          </a:xfrm>
          <a:custGeom>
            <a:avLst/>
            <a:gdLst/>
            <a:ahLst/>
            <a:cxnLst/>
            <a:rect l="l" t="t" r="r" b="b"/>
            <a:pathLst>
              <a:path w="7918" h="15677" extrusionOk="0">
                <a:moveTo>
                  <a:pt x="7460" y="60"/>
                </a:moveTo>
                <a:cubicBezTo>
                  <a:pt x="7460" y="60"/>
                  <a:pt x="7440" y="60"/>
                  <a:pt x="7420" y="60"/>
                </a:cubicBezTo>
                <a:cubicBezTo>
                  <a:pt x="7241" y="80"/>
                  <a:pt x="7042" y="100"/>
                  <a:pt x="6863" y="120"/>
                </a:cubicBezTo>
                <a:cubicBezTo>
                  <a:pt x="6844" y="120"/>
                  <a:pt x="6844" y="120"/>
                  <a:pt x="6844" y="120"/>
                </a:cubicBezTo>
                <a:cubicBezTo>
                  <a:pt x="6645" y="140"/>
                  <a:pt x="6426" y="160"/>
                  <a:pt x="6227" y="180"/>
                </a:cubicBezTo>
                <a:cubicBezTo>
                  <a:pt x="6227" y="180"/>
                  <a:pt x="6207" y="180"/>
                  <a:pt x="6207" y="180"/>
                </a:cubicBezTo>
                <a:cubicBezTo>
                  <a:pt x="6008" y="200"/>
                  <a:pt x="5789" y="220"/>
                  <a:pt x="5590" y="239"/>
                </a:cubicBezTo>
                <a:cubicBezTo>
                  <a:pt x="5570" y="239"/>
                  <a:pt x="5570" y="239"/>
                  <a:pt x="5570" y="239"/>
                </a:cubicBezTo>
                <a:cubicBezTo>
                  <a:pt x="5352" y="259"/>
                  <a:pt x="5133" y="279"/>
                  <a:pt x="4914" y="299"/>
                </a:cubicBezTo>
                <a:cubicBezTo>
                  <a:pt x="4914" y="299"/>
                  <a:pt x="4894" y="299"/>
                  <a:pt x="4894" y="299"/>
                </a:cubicBezTo>
                <a:cubicBezTo>
                  <a:pt x="4675" y="319"/>
                  <a:pt x="4456" y="339"/>
                  <a:pt x="4238" y="359"/>
                </a:cubicBezTo>
                <a:cubicBezTo>
                  <a:pt x="4218" y="359"/>
                  <a:pt x="4218" y="359"/>
                  <a:pt x="4198" y="359"/>
                </a:cubicBezTo>
                <a:cubicBezTo>
                  <a:pt x="3979" y="359"/>
                  <a:pt x="3760" y="379"/>
                  <a:pt x="3521" y="399"/>
                </a:cubicBezTo>
                <a:lnTo>
                  <a:pt x="3502" y="399"/>
                </a:lnTo>
                <a:cubicBezTo>
                  <a:pt x="3462" y="399"/>
                  <a:pt x="3442" y="399"/>
                  <a:pt x="3402" y="399"/>
                </a:cubicBezTo>
                <a:lnTo>
                  <a:pt x="0" y="15676"/>
                </a:lnTo>
                <a:lnTo>
                  <a:pt x="0" y="15676"/>
                </a:lnTo>
                <a:lnTo>
                  <a:pt x="20" y="15676"/>
                </a:lnTo>
                <a:cubicBezTo>
                  <a:pt x="20" y="15676"/>
                  <a:pt x="20" y="15676"/>
                  <a:pt x="20" y="15676"/>
                </a:cubicBezTo>
                <a:cubicBezTo>
                  <a:pt x="60" y="15676"/>
                  <a:pt x="100" y="15656"/>
                  <a:pt x="140" y="15656"/>
                </a:cubicBezTo>
                <a:cubicBezTo>
                  <a:pt x="179" y="15656"/>
                  <a:pt x="219" y="15656"/>
                  <a:pt x="259" y="15656"/>
                </a:cubicBezTo>
                <a:cubicBezTo>
                  <a:pt x="299" y="15656"/>
                  <a:pt x="339" y="15656"/>
                  <a:pt x="378" y="15636"/>
                </a:cubicBezTo>
                <a:cubicBezTo>
                  <a:pt x="418" y="15636"/>
                  <a:pt x="458" y="15636"/>
                  <a:pt x="498" y="15636"/>
                </a:cubicBezTo>
                <a:cubicBezTo>
                  <a:pt x="518" y="15636"/>
                  <a:pt x="557" y="15617"/>
                  <a:pt x="597" y="15617"/>
                </a:cubicBezTo>
                <a:cubicBezTo>
                  <a:pt x="617" y="15617"/>
                  <a:pt x="637" y="15617"/>
                  <a:pt x="677" y="15617"/>
                </a:cubicBezTo>
                <a:lnTo>
                  <a:pt x="677" y="15617"/>
                </a:lnTo>
                <a:cubicBezTo>
                  <a:pt x="677" y="15617"/>
                  <a:pt x="697" y="15617"/>
                  <a:pt x="697" y="15617"/>
                </a:cubicBezTo>
                <a:cubicBezTo>
                  <a:pt x="736" y="15617"/>
                  <a:pt x="776" y="15597"/>
                  <a:pt x="796" y="15597"/>
                </a:cubicBezTo>
                <a:cubicBezTo>
                  <a:pt x="836" y="15597"/>
                  <a:pt x="876" y="15597"/>
                  <a:pt x="896" y="15597"/>
                </a:cubicBezTo>
                <a:cubicBezTo>
                  <a:pt x="935" y="15577"/>
                  <a:pt x="975" y="15577"/>
                  <a:pt x="995" y="15577"/>
                </a:cubicBezTo>
                <a:cubicBezTo>
                  <a:pt x="1035" y="15577"/>
                  <a:pt x="1055" y="15577"/>
                  <a:pt x="1095" y="15557"/>
                </a:cubicBezTo>
                <a:cubicBezTo>
                  <a:pt x="1134" y="15557"/>
                  <a:pt x="1154" y="15557"/>
                  <a:pt x="1194" y="15557"/>
                </a:cubicBezTo>
                <a:cubicBezTo>
                  <a:pt x="1214" y="15537"/>
                  <a:pt x="1254" y="15537"/>
                  <a:pt x="1293" y="15537"/>
                </a:cubicBezTo>
                <a:cubicBezTo>
                  <a:pt x="1293" y="15537"/>
                  <a:pt x="1293" y="15537"/>
                  <a:pt x="1293" y="15537"/>
                </a:cubicBezTo>
                <a:lnTo>
                  <a:pt x="1313" y="15537"/>
                </a:lnTo>
                <a:cubicBezTo>
                  <a:pt x="1333" y="15537"/>
                  <a:pt x="1353" y="15537"/>
                  <a:pt x="1373" y="15517"/>
                </a:cubicBezTo>
                <a:cubicBezTo>
                  <a:pt x="1413" y="15517"/>
                  <a:pt x="1433" y="15517"/>
                  <a:pt x="1453" y="15517"/>
                </a:cubicBezTo>
                <a:cubicBezTo>
                  <a:pt x="1492" y="15517"/>
                  <a:pt x="1512" y="15497"/>
                  <a:pt x="1552" y="15497"/>
                </a:cubicBezTo>
                <a:cubicBezTo>
                  <a:pt x="1572" y="15497"/>
                  <a:pt x="1612" y="15497"/>
                  <a:pt x="1632" y="15497"/>
                </a:cubicBezTo>
                <a:cubicBezTo>
                  <a:pt x="1671" y="15477"/>
                  <a:pt x="1691" y="15477"/>
                  <a:pt x="1711" y="15477"/>
                </a:cubicBezTo>
                <a:cubicBezTo>
                  <a:pt x="1751" y="15477"/>
                  <a:pt x="1771" y="15477"/>
                  <a:pt x="1811" y="15457"/>
                </a:cubicBezTo>
                <a:cubicBezTo>
                  <a:pt x="1831" y="15457"/>
                  <a:pt x="1850" y="15457"/>
                  <a:pt x="1890" y="15457"/>
                </a:cubicBezTo>
                <a:cubicBezTo>
                  <a:pt x="1910" y="15437"/>
                  <a:pt x="1950" y="15437"/>
                  <a:pt x="1970" y="15437"/>
                </a:cubicBezTo>
                <a:cubicBezTo>
                  <a:pt x="1990" y="15437"/>
                  <a:pt x="2029" y="15437"/>
                  <a:pt x="2049" y="15418"/>
                </a:cubicBezTo>
                <a:cubicBezTo>
                  <a:pt x="2069" y="15418"/>
                  <a:pt x="2109" y="15418"/>
                  <a:pt x="2129" y="15418"/>
                </a:cubicBezTo>
                <a:cubicBezTo>
                  <a:pt x="2149" y="15418"/>
                  <a:pt x="2169" y="15398"/>
                  <a:pt x="2209" y="15398"/>
                </a:cubicBezTo>
                <a:cubicBezTo>
                  <a:pt x="2228" y="15398"/>
                  <a:pt x="2248" y="15398"/>
                  <a:pt x="2268" y="15398"/>
                </a:cubicBezTo>
                <a:lnTo>
                  <a:pt x="2348" y="15378"/>
                </a:lnTo>
                <a:cubicBezTo>
                  <a:pt x="2368" y="15378"/>
                  <a:pt x="2388" y="15358"/>
                  <a:pt x="2407" y="15358"/>
                </a:cubicBezTo>
                <a:lnTo>
                  <a:pt x="2427" y="15358"/>
                </a:lnTo>
                <a:cubicBezTo>
                  <a:pt x="2427" y="15358"/>
                  <a:pt x="2427" y="15358"/>
                  <a:pt x="2427" y="15358"/>
                </a:cubicBezTo>
                <a:cubicBezTo>
                  <a:pt x="2447" y="15358"/>
                  <a:pt x="2467" y="15358"/>
                  <a:pt x="2507" y="15338"/>
                </a:cubicBezTo>
                <a:cubicBezTo>
                  <a:pt x="2527" y="15338"/>
                  <a:pt x="2547" y="15338"/>
                  <a:pt x="2567" y="15338"/>
                </a:cubicBezTo>
                <a:cubicBezTo>
                  <a:pt x="2586" y="15318"/>
                  <a:pt x="2626" y="15318"/>
                  <a:pt x="2646" y="15318"/>
                </a:cubicBezTo>
                <a:cubicBezTo>
                  <a:pt x="2666" y="15318"/>
                  <a:pt x="2686" y="15298"/>
                  <a:pt x="2706" y="15298"/>
                </a:cubicBezTo>
                <a:cubicBezTo>
                  <a:pt x="2726" y="15298"/>
                  <a:pt x="2766" y="15298"/>
                  <a:pt x="2785" y="15278"/>
                </a:cubicBezTo>
                <a:cubicBezTo>
                  <a:pt x="2785" y="15278"/>
                  <a:pt x="2805" y="15278"/>
                  <a:pt x="2825" y="15278"/>
                </a:cubicBezTo>
                <a:lnTo>
                  <a:pt x="7918" y="1"/>
                </a:lnTo>
                <a:cubicBezTo>
                  <a:pt x="7759" y="21"/>
                  <a:pt x="7619" y="41"/>
                  <a:pt x="7460" y="60"/>
                </a:cubicBezTo>
                <a:close/>
              </a:path>
            </a:pathLst>
          </a:custGeom>
          <a:solidFill>
            <a:srgbClr val="FFFFFF">
              <a:alpha val="34120"/>
            </a:srgb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sym typeface="Aptos" panose="020B0004020202020204" pitchFamily="34" charset="0"/>
            </a:endParaRPr>
          </a:p>
        </p:txBody>
      </p:sp>
      <p:sp>
        <p:nvSpPr>
          <p:cNvPr id="22" name="Google Shape;340;p23">
            <a:extLst>
              <a:ext uri="{FF2B5EF4-FFF2-40B4-BE49-F238E27FC236}">
                <a16:creationId xmlns:a16="http://schemas.microsoft.com/office/drawing/2014/main" id="{E698ED3E-16D2-5622-98A6-6AD1D4F36874}"/>
              </a:ext>
            </a:extLst>
          </p:cNvPr>
          <p:cNvSpPr/>
          <p:nvPr/>
        </p:nvSpPr>
        <p:spPr>
          <a:xfrm rot="16200000">
            <a:off x="3404185" y="3253499"/>
            <a:ext cx="795816" cy="374971"/>
          </a:xfrm>
          <a:custGeom>
            <a:avLst/>
            <a:gdLst/>
            <a:ahLst/>
            <a:cxnLst/>
            <a:rect l="l" t="t" r="r" b="b"/>
            <a:pathLst>
              <a:path w="51483" h="18879" extrusionOk="0">
                <a:moveTo>
                  <a:pt x="51363" y="379"/>
                </a:moveTo>
                <a:cubicBezTo>
                  <a:pt x="51363" y="379"/>
                  <a:pt x="51363" y="379"/>
                  <a:pt x="51363" y="379"/>
                </a:cubicBezTo>
                <a:cubicBezTo>
                  <a:pt x="51323" y="438"/>
                  <a:pt x="51264" y="478"/>
                  <a:pt x="51204" y="518"/>
                </a:cubicBezTo>
                <a:cubicBezTo>
                  <a:pt x="51204" y="538"/>
                  <a:pt x="51184" y="538"/>
                  <a:pt x="51184" y="558"/>
                </a:cubicBezTo>
                <a:cubicBezTo>
                  <a:pt x="51125" y="597"/>
                  <a:pt x="51065" y="637"/>
                  <a:pt x="50985" y="697"/>
                </a:cubicBezTo>
                <a:cubicBezTo>
                  <a:pt x="50985" y="697"/>
                  <a:pt x="50965" y="697"/>
                  <a:pt x="50965" y="717"/>
                </a:cubicBezTo>
                <a:cubicBezTo>
                  <a:pt x="50886" y="756"/>
                  <a:pt x="50806" y="796"/>
                  <a:pt x="50727" y="836"/>
                </a:cubicBezTo>
                <a:cubicBezTo>
                  <a:pt x="50707" y="856"/>
                  <a:pt x="50707" y="856"/>
                  <a:pt x="50687" y="856"/>
                </a:cubicBezTo>
                <a:cubicBezTo>
                  <a:pt x="50607" y="896"/>
                  <a:pt x="50508" y="936"/>
                  <a:pt x="50408" y="995"/>
                </a:cubicBezTo>
                <a:cubicBezTo>
                  <a:pt x="50388" y="995"/>
                  <a:pt x="50388" y="995"/>
                  <a:pt x="50369" y="995"/>
                </a:cubicBezTo>
                <a:cubicBezTo>
                  <a:pt x="50269" y="1055"/>
                  <a:pt x="50150" y="1095"/>
                  <a:pt x="50030" y="1134"/>
                </a:cubicBezTo>
                <a:cubicBezTo>
                  <a:pt x="50011" y="1134"/>
                  <a:pt x="50011" y="1154"/>
                  <a:pt x="50011" y="1154"/>
                </a:cubicBezTo>
                <a:cubicBezTo>
                  <a:pt x="49752" y="1254"/>
                  <a:pt x="49454" y="1333"/>
                  <a:pt x="49155" y="1433"/>
                </a:cubicBezTo>
                <a:cubicBezTo>
                  <a:pt x="49135" y="1433"/>
                  <a:pt x="49135" y="1433"/>
                  <a:pt x="49135" y="1433"/>
                </a:cubicBezTo>
                <a:cubicBezTo>
                  <a:pt x="48976" y="1473"/>
                  <a:pt x="48797" y="1532"/>
                  <a:pt x="48638" y="1572"/>
                </a:cubicBezTo>
                <a:cubicBezTo>
                  <a:pt x="48618" y="1572"/>
                  <a:pt x="48618" y="1572"/>
                  <a:pt x="48618" y="1572"/>
                </a:cubicBezTo>
                <a:cubicBezTo>
                  <a:pt x="48439" y="1612"/>
                  <a:pt x="48260" y="1672"/>
                  <a:pt x="48061" y="1711"/>
                </a:cubicBezTo>
                <a:cubicBezTo>
                  <a:pt x="48061" y="1711"/>
                  <a:pt x="48061" y="1711"/>
                  <a:pt x="48061" y="1711"/>
                </a:cubicBezTo>
                <a:cubicBezTo>
                  <a:pt x="47862" y="1751"/>
                  <a:pt x="47663" y="1791"/>
                  <a:pt x="47464" y="1831"/>
                </a:cubicBezTo>
                <a:cubicBezTo>
                  <a:pt x="47464" y="1831"/>
                  <a:pt x="47444" y="1831"/>
                  <a:pt x="47444" y="1851"/>
                </a:cubicBezTo>
                <a:cubicBezTo>
                  <a:pt x="47245" y="1890"/>
                  <a:pt x="47047" y="1930"/>
                  <a:pt x="46828" y="1970"/>
                </a:cubicBezTo>
                <a:cubicBezTo>
                  <a:pt x="46808" y="1970"/>
                  <a:pt x="46808" y="1970"/>
                  <a:pt x="46788" y="1970"/>
                </a:cubicBezTo>
                <a:cubicBezTo>
                  <a:pt x="46569" y="2010"/>
                  <a:pt x="46350" y="2050"/>
                  <a:pt x="46112" y="2089"/>
                </a:cubicBezTo>
                <a:lnTo>
                  <a:pt x="46112" y="2089"/>
                </a:lnTo>
                <a:cubicBezTo>
                  <a:pt x="45873" y="2129"/>
                  <a:pt x="45654" y="2169"/>
                  <a:pt x="45395" y="2209"/>
                </a:cubicBezTo>
                <a:cubicBezTo>
                  <a:pt x="45395" y="2209"/>
                  <a:pt x="45376" y="2209"/>
                  <a:pt x="45376" y="2209"/>
                </a:cubicBezTo>
                <a:cubicBezTo>
                  <a:pt x="45117" y="2248"/>
                  <a:pt x="44878" y="2288"/>
                  <a:pt x="44620" y="2328"/>
                </a:cubicBezTo>
                <a:cubicBezTo>
                  <a:pt x="44620" y="2328"/>
                  <a:pt x="44620" y="2328"/>
                  <a:pt x="44600" y="2328"/>
                </a:cubicBezTo>
                <a:cubicBezTo>
                  <a:pt x="44341" y="2368"/>
                  <a:pt x="44083" y="2388"/>
                  <a:pt x="43804" y="2427"/>
                </a:cubicBezTo>
                <a:cubicBezTo>
                  <a:pt x="43804" y="2427"/>
                  <a:pt x="43804" y="2427"/>
                  <a:pt x="43784" y="2427"/>
                </a:cubicBezTo>
                <a:cubicBezTo>
                  <a:pt x="43526" y="2467"/>
                  <a:pt x="43247" y="2507"/>
                  <a:pt x="42969" y="2527"/>
                </a:cubicBezTo>
                <a:cubicBezTo>
                  <a:pt x="42949" y="2547"/>
                  <a:pt x="42949" y="2547"/>
                  <a:pt x="42929" y="2547"/>
                </a:cubicBezTo>
                <a:cubicBezTo>
                  <a:pt x="42650" y="2567"/>
                  <a:pt x="42372" y="2607"/>
                  <a:pt x="42073" y="2646"/>
                </a:cubicBezTo>
                <a:cubicBezTo>
                  <a:pt x="42073" y="2646"/>
                  <a:pt x="42053" y="2646"/>
                  <a:pt x="42034" y="2646"/>
                </a:cubicBezTo>
                <a:cubicBezTo>
                  <a:pt x="41735" y="2666"/>
                  <a:pt x="41437" y="2706"/>
                  <a:pt x="41138" y="2726"/>
                </a:cubicBezTo>
                <a:lnTo>
                  <a:pt x="41119" y="2726"/>
                </a:lnTo>
                <a:cubicBezTo>
                  <a:pt x="40820" y="2766"/>
                  <a:pt x="40502" y="2786"/>
                  <a:pt x="40164" y="2825"/>
                </a:cubicBezTo>
                <a:lnTo>
                  <a:pt x="40164" y="2825"/>
                </a:lnTo>
                <a:cubicBezTo>
                  <a:pt x="39845" y="2845"/>
                  <a:pt x="39527" y="2885"/>
                  <a:pt x="39189" y="2905"/>
                </a:cubicBezTo>
                <a:cubicBezTo>
                  <a:pt x="39189" y="2905"/>
                  <a:pt x="39169" y="2905"/>
                  <a:pt x="39149" y="2905"/>
                </a:cubicBezTo>
                <a:cubicBezTo>
                  <a:pt x="38831" y="2925"/>
                  <a:pt x="38513" y="2965"/>
                  <a:pt x="38174" y="2984"/>
                </a:cubicBezTo>
                <a:cubicBezTo>
                  <a:pt x="38154" y="2984"/>
                  <a:pt x="38135" y="2984"/>
                  <a:pt x="38115" y="2984"/>
                </a:cubicBezTo>
                <a:cubicBezTo>
                  <a:pt x="37796" y="3004"/>
                  <a:pt x="37458" y="3024"/>
                  <a:pt x="37120" y="3044"/>
                </a:cubicBezTo>
                <a:cubicBezTo>
                  <a:pt x="37100" y="3044"/>
                  <a:pt x="37080" y="3044"/>
                  <a:pt x="37041" y="3064"/>
                </a:cubicBezTo>
                <a:cubicBezTo>
                  <a:pt x="36722" y="3084"/>
                  <a:pt x="36384" y="3104"/>
                  <a:pt x="36046" y="3124"/>
                </a:cubicBezTo>
                <a:cubicBezTo>
                  <a:pt x="36026" y="3124"/>
                  <a:pt x="36006" y="3124"/>
                  <a:pt x="35966" y="3124"/>
                </a:cubicBezTo>
                <a:cubicBezTo>
                  <a:pt x="35628" y="3144"/>
                  <a:pt x="35270" y="3163"/>
                  <a:pt x="34912" y="3183"/>
                </a:cubicBezTo>
                <a:cubicBezTo>
                  <a:pt x="34872" y="3183"/>
                  <a:pt x="34852" y="3183"/>
                  <a:pt x="34832" y="3183"/>
                </a:cubicBezTo>
                <a:cubicBezTo>
                  <a:pt x="34474" y="3203"/>
                  <a:pt x="34116" y="3203"/>
                  <a:pt x="33758" y="3223"/>
                </a:cubicBezTo>
                <a:lnTo>
                  <a:pt x="33738" y="3223"/>
                </a:lnTo>
                <a:lnTo>
                  <a:pt x="33718" y="3223"/>
                </a:lnTo>
                <a:cubicBezTo>
                  <a:pt x="33360" y="3243"/>
                  <a:pt x="33002" y="3243"/>
                  <a:pt x="32644" y="3263"/>
                </a:cubicBezTo>
                <a:cubicBezTo>
                  <a:pt x="32604" y="3263"/>
                  <a:pt x="32585" y="3263"/>
                  <a:pt x="32545" y="3263"/>
                </a:cubicBezTo>
                <a:cubicBezTo>
                  <a:pt x="32286" y="3283"/>
                  <a:pt x="32008" y="3283"/>
                  <a:pt x="31729" y="3283"/>
                </a:cubicBezTo>
                <a:cubicBezTo>
                  <a:pt x="31610" y="3303"/>
                  <a:pt x="31490" y="3303"/>
                  <a:pt x="31371" y="3303"/>
                </a:cubicBezTo>
                <a:cubicBezTo>
                  <a:pt x="30973" y="3303"/>
                  <a:pt x="30575" y="3323"/>
                  <a:pt x="30178" y="3323"/>
                </a:cubicBezTo>
                <a:cubicBezTo>
                  <a:pt x="30058" y="3323"/>
                  <a:pt x="29919" y="3343"/>
                  <a:pt x="29780" y="3343"/>
                </a:cubicBezTo>
                <a:cubicBezTo>
                  <a:pt x="29521" y="3343"/>
                  <a:pt x="29243" y="3343"/>
                  <a:pt x="28984" y="3343"/>
                </a:cubicBezTo>
                <a:cubicBezTo>
                  <a:pt x="28805" y="3343"/>
                  <a:pt x="28646" y="3343"/>
                  <a:pt x="28467" y="3362"/>
                </a:cubicBezTo>
                <a:cubicBezTo>
                  <a:pt x="28208" y="3362"/>
                  <a:pt x="27969" y="3362"/>
                  <a:pt x="27711" y="3362"/>
                </a:cubicBezTo>
                <a:lnTo>
                  <a:pt x="27651" y="3362"/>
                </a:lnTo>
                <a:cubicBezTo>
                  <a:pt x="27233" y="3362"/>
                  <a:pt x="26816" y="3362"/>
                  <a:pt x="26418" y="3362"/>
                </a:cubicBezTo>
                <a:cubicBezTo>
                  <a:pt x="26000" y="3362"/>
                  <a:pt x="25582" y="3362"/>
                  <a:pt x="25165" y="3362"/>
                </a:cubicBezTo>
                <a:cubicBezTo>
                  <a:pt x="25005" y="3362"/>
                  <a:pt x="24846" y="3362"/>
                  <a:pt x="24687" y="3362"/>
                </a:cubicBezTo>
                <a:cubicBezTo>
                  <a:pt x="24429" y="3343"/>
                  <a:pt x="24170" y="3343"/>
                  <a:pt x="23911" y="3343"/>
                </a:cubicBezTo>
                <a:cubicBezTo>
                  <a:pt x="23732" y="3343"/>
                  <a:pt x="23553" y="3343"/>
                  <a:pt x="23374" y="3343"/>
                </a:cubicBezTo>
                <a:cubicBezTo>
                  <a:pt x="23136" y="3343"/>
                  <a:pt x="22897" y="3323"/>
                  <a:pt x="22678" y="3323"/>
                </a:cubicBezTo>
                <a:cubicBezTo>
                  <a:pt x="22479" y="3323"/>
                  <a:pt x="22300" y="3323"/>
                  <a:pt x="22121" y="3323"/>
                </a:cubicBezTo>
                <a:cubicBezTo>
                  <a:pt x="21902" y="3303"/>
                  <a:pt x="21663" y="3303"/>
                  <a:pt x="21445" y="3303"/>
                </a:cubicBezTo>
                <a:lnTo>
                  <a:pt x="20908" y="3283"/>
                </a:lnTo>
                <a:cubicBezTo>
                  <a:pt x="20629" y="3283"/>
                  <a:pt x="20351" y="3263"/>
                  <a:pt x="20072" y="3263"/>
                </a:cubicBezTo>
                <a:cubicBezTo>
                  <a:pt x="20032" y="3263"/>
                  <a:pt x="19992" y="3263"/>
                  <a:pt x="19953" y="3243"/>
                </a:cubicBezTo>
                <a:cubicBezTo>
                  <a:pt x="19575" y="3243"/>
                  <a:pt x="19217" y="3223"/>
                  <a:pt x="18859" y="3203"/>
                </a:cubicBezTo>
                <a:cubicBezTo>
                  <a:pt x="18819" y="3203"/>
                  <a:pt x="18759" y="3203"/>
                  <a:pt x="18719" y="3203"/>
                </a:cubicBezTo>
                <a:cubicBezTo>
                  <a:pt x="18341" y="3183"/>
                  <a:pt x="17963" y="3163"/>
                  <a:pt x="17605" y="3144"/>
                </a:cubicBezTo>
                <a:cubicBezTo>
                  <a:pt x="17585" y="3144"/>
                  <a:pt x="17566" y="3144"/>
                  <a:pt x="17546" y="3144"/>
                </a:cubicBezTo>
                <a:cubicBezTo>
                  <a:pt x="17168" y="3124"/>
                  <a:pt x="16810" y="3104"/>
                  <a:pt x="16432" y="3084"/>
                </a:cubicBezTo>
                <a:cubicBezTo>
                  <a:pt x="16392" y="3084"/>
                  <a:pt x="16372" y="3084"/>
                  <a:pt x="16332" y="3084"/>
                </a:cubicBezTo>
                <a:cubicBezTo>
                  <a:pt x="15974" y="3064"/>
                  <a:pt x="15616" y="3044"/>
                  <a:pt x="15258" y="3024"/>
                </a:cubicBezTo>
                <a:lnTo>
                  <a:pt x="15238" y="3024"/>
                </a:lnTo>
                <a:cubicBezTo>
                  <a:pt x="14880" y="3004"/>
                  <a:pt x="14522" y="2965"/>
                  <a:pt x="14164" y="2945"/>
                </a:cubicBezTo>
                <a:cubicBezTo>
                  <a:pt x="14144" y="2945"/>
                  <a:pt x="14144" y="2945"/>
                  <a:pt x="14124" y="2945"/>
                </a:cubicBezTo>
                <a:cubicBezTo>
                  <a:pt x="13766" y="2925"/>
                  <a:pt x="13428" y="2885"/>
                  <a:pt x="13090" y="2865"/>
                </a:cubicBezTo>
                <a:cubicBezTo>
                  <a:pt x="13070" y="2865"/>
                  <a:pt x="13050" y="2865"/>
                  <a:pt x="13030" y="2865"/>
                </a:cubicBezTo>
                <a:cubicBezTo>
                  <a:pt x="12692" y="2825"/>
                  <a:pt x="12354" y="2805"/>
                  <a:pt x="12035" y="2766"/>
                </a:cubicBezTo>
                <a:cubicBezTo>
                  <a:pt x="12016" y="2766"/>
                  <a:pt x="12016" y="2766"/>
                  <a:pt x="11996" y="2766"/>
                </a:cubicBezTo>
                <a:cubicBezTo>
                  <a:pt x="11657" y="2746"/>
                  <a:pt x="11319" y="2706"/>
                  <a:pt x="11001" y="2666"/>
                </a:cubicBezTo>
                <a:cubicBezTo>
                  <a:pt x="11001" y="2666"/>
                  <a:pt x="10981" y="2666"/>
                  <a:pt x="10981" y="2666"/>
                </a:cubicBezTo>
                <a:cubicBezTo>
                  <a:pt x="10663" y="2646"/>
                  <a:pt x="10345" y="2607"/>
                  <a:pt x="10026" y="2567"/>
                </a:cubicBezTo>
                <a:cubicBezTo>
                  <a:pt x="10006" y="2567"/>
                  <a:pt x="10006" y="2567"/>
                  <a:pt x="9986" y="2567"/>
                </a:cubicBezTo>
                <a:cubicBezTo>
                  <a:pt x="9668" y="2527"/>
                  <a:pt x="9370" y="2507"/>
                  <a:pt x="9071" y="2467"/>
                </a:cubicBezTo>
                <a:cubicBezTo>
                  <a:pt x="9071" y="2467"/>
                  <a:pt x="9071" y="2467"/>
                  <a:pt x="9051" y="2467"/>
                </a:cubicBezTo>
                <a:cubicBezTo>
                  <a:pt x="8753" y="2427"/>
                  <a:pt x="8455" y="2388"/>
                  <a:pt x="8176" y="2348"/>
                </a:cubicBezTo>
                <a:cubicBezTo>
                  <a:pt x="8156" y="2348"/>
                  <a:pt x="8156" y="2348"/>
                  <a:pt x="8136" y="2348"/>
                </a:cubicBezTo>
                <a:cubicBezTo>
                  <a:pt x="7858" y="2308"/>
                  <a:pt x="7579" y="2268"/>
                  <a:pt x="7301" y="2229"/>
                </a:cubicBezTo>
                <a:cubicBezTo>
                  <a:pt x="7301" y="2229"/>
                  <a:pt x="7301" y="2229"/>
                  <a:pt x="7301" y="2229"/>
                </a:cubicBezTo>
                <a:cubicBezTo>
                  <a:pt x="7022" y="2189"/>
                  <a:pt x="6764" y="2149"/>
                  <a:pt x="6505" y="2109"/>
                </a:cubicBezTo>
                <a:cubicBezTo>
                  <a:pt x="6485" y="2109"/>
                  <a:pt x="6465" y="2109"/>
                  <a:pt x="6465" y="2109"/>
                </a:cubicBezTo>
                <a:cubicBezTo>
                  <a:pt x="6207" y="2069"/>
                  <a:pt x="5948" y="2030"/>
                  <a:pt x="5710" y="1990"/>
                </a:cubicBezTo>
                <a:cubicBezTo>
                  <a:pt x="5710" y="1990"/>
                  <a:pt x="5710" y="1970"/>
                  <a:pt x="5690" y="1970"/>
                </a:cubicBezTo>
                <a:cubicBezTo>
                  <a:pt x="5451" y="1930"/>
                  <a:pt x="5212" y="1890"/>
                  <a:pt x="4973" y="1851"/>
                </a:cubicBezTo>
                <a:cubicBezTo>
                  <a:pt x="4973" y="1851"/>
                  <a:pt x="4954" y="1851"/>
                  <a:pt x="4954" y="1851"/>
                </a:cubicBezTo>
                <a:cubicBezTo>
                  <a:pt x="4715" y="1811"/>
                  <a:pt x="4516" y="1751"/>
                  <a:pt x="4297" y="1711"/>
                </a:cubicBezTo>
                <a:cubicBezTo>
                  <a:pt x="4277" y="1711"/>
                  <a:pt x="4277" y="1711"/>
                  <a:pt x="4257" y="1711"/>
                </a:cubicBezTo>
                <a:cubicBezTo>
                  <a:pt x="4039" y="1672"/>
                  <a:pt x="3840" y="1612"/>
                  <a:pt x="3641" y="1572"/>
                </a:cubicBezTo>
                <a:cubicBezTo>
                  <a:pt x="3641" y="1572"/>
                  <a:pt x="3641" y="1572"/>
                  <a:pt x="3621" y="1572"/>
                </a:cubicBezTo>
                <a:cubicBezTo>
                  <a:pt x="3422" y="1532"/>
                  <a:pt x="3223" y="1473"/>
                  <a:pt x="3044" y="1433"/>
                </a:cubicBezTo>
                <a:cubicBezTo>
                  <a:pt x="3044" y="1433"/>
                  <a:pt x="3024" y="1433"/>
                  <a:pt x="3024" y="1433"/>
                </a:cubicBezTo>
                <a:cubicBezTo>
                  <a:pt x="2845" y="1373"/>
                  <a:pt x="2666" y="1333"/>
                  <a:pt x="2487" y="1274"/>
                </a:cubicBezTo>
                <a:cubicBezTo>
                  <a:pt x="2487" y="1274"/>
                  <a:pt x="2487" y="1274"/>
                  <a:pt x="2467" y="1274"/>
                </a:cubicBezTo>
                <a:cubicBezTo>
                  <a:pt x="2308" y="1234"/>
                  <a:pt x="2149" y="1174"/>
                  <a:pt x="1990" y="1134"/>
                </a:cubicBezTo>
                <a:lnTo>
                  <a:pt x="1990" y="1134"/>
                </a:lnTo>
                <a:cubicBezTo>
                  <a:pt x="1850" y="1075"/>
                  <a:pt x="1711" y="1035"/>
                  <a:pt x="1572" y="975"/>
                </a:cubicBezTo>
                <a:cubicBezTo>
                  <a:pt x="1552" y="975"/>
                  <a:pt x="1552" y="975"/>
                  <a:pt x="1532" y="975"/>
                </a:cubicBezTo>
                <a:cubicBezTo>
                  <a:pt x="1413" y="916"/>
                  <a:pt x="1273" y="876"/>
                  <a:pt x="1154" y="816"/>
                </a:cubicBezTo>
                <a:cubicBezTo>
                  <a:pt x="1154" y="816"/>
                  <a:pt x="1154" y="816"/>
                  <a:pt x="1154" y="816"/>
                </a:cubicBezTo>
                <a:cubicBezTo>
                  <a:pt x="1035" y="776"/>
                  <a:pt x="935" y="717"/>
                  <a:pt x="836" y="657"/>
                </a:cubicBezTo>
                <a:cubicBezTo>
                  <a:pt x="816" y="657"/>
                  <a:pt x="816" y="657"/>
                  <a:pt x="796" y="657"/>
                </a:cubicBezTo>
                <a:cubicBezTo>
                  <a:pt x="716" y="597"/>
                  <a:pt x="617" y="558"/>
                  <a:pt x="537" y="498"/>
                </a:cubicBezTo>
                <a:cubicBezTo>
                  <a:pt x="537" y="498"/>
                  <a:pt x="537" y="498"/>
                  <a:pt x="537" y="498"/>
                </a:cubicBezTo>
                <a:cubicBezTo>
                  <a:pt x="458" y="458"/>
                  <a:pt x="378" y="398"/>
                  <a:pt x="319" y="359"/>
                </a:cubicBezTo>
                <a:cubicBezTo>
                  <a:pt x="319" y="339"/>
                  <a:pt x="299" y="339"/>
                  <a:pt x="299" y="319"/>
                </a:cubicBezTo>
                <a:cubicBezTo>
                  <a:pt x="239" y="279"/>
                  <a:pt x="179" y="239"/>
                  <a:pt x="140" y="180"/>
                </a:cubicBezTo>
                <a:cubicBezTo>
                  <a:pt x="120" y="180"/>
                  <a:pt x="120" y="160"/>
                  <a:pt x="120" y="160"/>
                </a:cubicBezTo>
                <a:cubicBezTo>
                  <a:pt x="80" y="100"/>
                  <a:pt x="40" y="60"/>
                  <a:pt x="0" y="1"/>
                </a:cubicBezTo>
                <a:lnTo>
                  <a:pt x="0" y="1"/>
                </a:lnTo>
                <a:lnTo>
                  <a:pt x="0" y="1"/>
                </a:lnTo>
                <a:lnTo>
                  <a:pt x="0" y="1"/>
                </a:lnTo>
                <a:lnTo>
                  <a:pt x="8634" y="16094"/>
                </a:lnTo>
                <a:cubicBezTo>
                  <a:pt x="8654" y="16134"/>
                  <a:pt x="8654" y="16153"/>
                  <a:pt x="8693" y="16173"/>
                </a:cubicBezTo>
                <a:cubicBezTo>
                  <a:pt x="8693" y="16193"/>
                  <a:pt x="8713" y="16213"/>
                  <a:pt x="8713" y="16213"/>
                </a:cubicBezTo>
                <a:cubicBezTo>
                  <a:pt x="8713" y="16233"/>
                  <a:pt x="8733" y="16233"/>
                  <a:pt x="8733" y="16253"/>
                </a:cubicBezTo>
                <a:cubicBezTo>
                  <a:pt x="8733" y="16253"/>
                  <a:pt x="8753" y="16253"/>
                  <a:pt x="8753" y="16273"/>
                </a:cubicBezTo>
                <a:cubicBezTo>
                  <a:pt x="8773" y="16293"/>
                  <a:pt x="8813" y="16332"/>
                  <a:pt x="8833" y="16352"/>
                </a:cubicBezTo>
                <a:cubicBezTo>
                  <a:pt x="8833" y="16352"/>
                  <a:pt x="8853" y="16352"/>
                  <a:pt x="8853" y="16372"/>
                </a:cubicBezTo>
                <a:cubicBezTo>
                  <a:pt x="8853" y="16372"/>
                  <a:pt x="8872" y="16372"/>
                  <a:pt x="8872" y="16392"/>
                </a:cubicBezTo>
                <a:cubicBezTo>
                  <a:pt x="8892" y="16412"/>
                  <a:pt x="8912" y="16412"/>
                  <a:pt x="8932" y="16432"/>
                </a:cubicBezTo>
                <a:cubicBezTo>
                  <a:pt x="8952" y="16452"/>
                  <a:pt x="8992" y="16492"/>
                  <a:pt x="9032" y="16512"/>
                </a:cubicBezTo>
                <a:lnTo>
                  <a:pt x="9032" y="16512"/>
                </a:lnTo>
                <a:lnTo>
                  <a:pt x="9032" y="16512"/>
                </a:lnTo>
                <a:cubicBezTo>
                  <a:pt x="9051" y="16531"/>
                  <a:pt x="9091" y="16551"/>
                  <a:pt x="9131" y="16571"/>
                </a:cubicBezTo>
                <a:cubicBezTo>
                  <a:pt x="9151" y="16591"/>
                  <a:pt x="9191" y="16611"/>
                  <a:pt x="9211" y="16631"/>
                </a:cubicBezTo>
                <a:cubicBezTo>
                  <a:pt x="9231" y="16631"/>
                  <a:pt x="9231" y="16651"/>
                  <a:pt x="9231" y="16651"/>
                </a:cubicBezTo>
                <a:cubicBezTo>
                  <a:pt x="9231" y="16651"/>
                  <a:pt x="9231" y="16651"/>
                  <a:pt x="9250" y="16651"/>
                </a:cubicBezTo>
                <a:cubicBezTo>
                  <a:pt x="9290" y="16671"/>
                  <a:pt x="9330" y="16691"/>
                  <a:pt x="9370" y="16730"/>
                </a:cubicBezTo>
                <a:cubicBezTo>
                  <a:pt x="9390" y="16730"/>
                  <a:pt x="9429" y="16750"/>
                  <a:pt x="9469" y="16770"/>
                </a:cubicBezTo>
                <a:cubicBezTo>
                  <a:pt x="9469" y="16770"/>
                  <a:pt x="9469" y="16770"/>
                  <a:pt x="9469" y="16770"/>
                </a:cubicBezTo>
                <a:cubicBezTo>
                  <a:pt x="9469" y="16770"/>
                  <a:pt x="9469" y="16770"/>
                  <a:pt x="9469" y="16770"/>
                </a:cubicBezTo>
                <a:cubicBezTo>
                  <a:pt x="9509" y="16790"/>
                  <a:pt x="9549" y="16810"/>
                  <a:pt x="9589" y="16830"/>
                </a:cubicBezTo>
                <a:cubicBezTo>
                  <a:pt x="9608" y="16850"/>
                  <a:pt x="9648" y="16870"/>
                  <a:pt x="9688" y="16889"/>
                </a:cubicBezTo>
                <a:cubicBezTo>
                  <a:pt x="9708" y="16889"/>
                  <a:pt x="9708" y="16889"/>
                  <a:pt x="9728" y="16909"/>
                </a:cubicBezTo>
                <a:cubicBezTo>
                  <a:pt x="9728" y="16909"/>
                  <a:pt x="9748" y="16909"/>
                  <a:pt x="9748" y="16909"/>
                </a:cubicBezTo>
                <a:cubicBezTo>
                  <a:pt x="9768" y="16929"/>
                  <a:pt x="9788" y="16929"/>
                  <a:pt x="9807" y="16949"/>
                </a:cubicBezTo>
                <a:cubicBezTo>
                  <a:pt x="9847" y="16949"/>
                  <a:pt x="9887" y="16969"/>
                  <a:pt x="9927" y="16989"/>
                </a:cubicBezTo>
                <a:cubicBezTo>
                  <a:pt x="9967" y="17009"/>
                  <a:pt x="10006" y="17009"/>
                  <a:pt x="10046" y="17029"/>
                </a:cubicBezTo>
                <a:lnTo>
                  <a:pt x="10046" y="17029"/>
                </a:lnTo>
                <a:lnTo>
                  <a:pt x="10046" y="17029"/>
                </a:lnTo>
                <a:cubicBezTo>
                  <a:pt x="10086" y="17049"/>
                  <a:pt x="10126" y="17069"/>
                  <a:pt x="10165" y="17069"/>
                </a:cubicBezTo>
                <a:cubicBezTo>
                  <a:pt x="10205" y="17088"/>
                  <a:pt x="10245" y="17108"/>
                  <a:pt x="10285" y="17128"/>
                </a:cubicBezTo>
                <a:cubicBezTo>
                  <a:pt x="10305" y="17128"/>
                  <a:pt x="10345" y="17148"/>
                  <a:pt x="10364" y="17148"/>
                </a:cubicBezTo>
                <a:cubicBezTo>
                  <a:pt x="10384" y="17148"/>
                  <a:pt x="10384" y="17168"/>
                  <a:pt x="10384" y="17168"/>
                </a:cubicBezTo>
                <a:cubicBezTo>
                  <a:pt x="10384" y="17168"/>
                  <a:pt x="10384" y="17168"/>
                  <a:pt x="10384" y="17168"/>
                </a:cubicBezTo>
                <a:cubicBezTo>
                  <a:pt x="10384" y="17168"/>
                  <a:pt x="10404" y="17168"/>
                  <a:pt x="10404" y="17168"/>
                </a:cubicBezTo>
                <a:cubicBezTo>
                  <a:pt x="10444" y="17188"/>
                  <a:pt x="10484" y="17188"/>
                  <a:pt x="10524" y="17208"/>
                </a:cubicBezTo>
                <a:cubicBezTo>
                  <a:pt x="10563" y="17228"/>
                  <a:pt x="10603" y="17228"/>
                  <a:pt x="10643" y="17248"/>
                </a:cubicBezTo>
                <a:cubicBezTo>
                  <a:pt x="10683" y="17267"/>
                  <a:pt x="10703" y="17267"/>
                  <a:pt x="10742" y="17287"/>
                </a:cubicBezTo>
                <a:cubicBezTo>
                  <a:pt x="10742" y="17287"/>
                  <a:pt x="10762" y="17287"/>
                  <a:pt x="10762" y="17287"/>
                </a:cubicBezTo>
                <a:cubicBezTo>
                  <a:pt x="10762" y="17287"/>
                  <a:pt x="10762" y="17287"/>
                  <a:pt x="10782" y="17287"/>
                </a:cubicBezTo>
                <a:cubicBezTo>
                  <a:pt x="10822" y="17307"/>
                  <a:pt x="10862" y="17307"/>
                  <a:pt x="10902" y="17327"/>
                </a:cubicBezTo>
                <a:lnTo>
                  <a:pt x="11021" y="17367"/>
                </a:lnTo>
                <a:cubicBezTo>
                  <a:pt x="11061" y="17367"/>
                  <a:pt x="11120" y="17387"/>
                  <a:pt x="11160" y="17407"/>
                </a:cubicBezTo>
                <a:lnTo>
                  <a:pt x="11160" y="17407"/>
                </a:lnTo>
                <a:lnTo>
                  <a:pt x="11160" y="17407"/>
                </a:lnTo>
                <a:cubicBezTo>
                  <a:pt x="11200" y="17407"/>
                  <a:pt x="11240" y="17427"/>
                  <a:pt x="11279" y="17427"/>
                </a:cubicBezTo>
                <a:cubicBezTo>
                  <a:pt x="11339" y="17446"/>
                  <a:pt x="11379" y="17466"/>
                  <a:pt x="11419" y="17466"/>
                </a:cubicBezTo>
                <a:cubicBezTo>
                  <a:pt x="11459" y="17486"/>
                  <a:pt x="11518" y="17486"/>
                  <a:pt x="11558" y="17506"/>
                </a:cubicBezTo>
                <a:lnTo>
                  <a:pt x="11578" y="17506"/>
                </a:lnTo>
                <a:cubicBezTo>
                  <a:pt x="11598" y="17506"/>
                  <a:pt x="11598" y="17506"/>
                  <a:pt x="11598" y="17526"/>
                </a:cubicBezTo>
                <a:cubicBezTo>
                  <a:pt x="11638" y="17526"/>
                  <a:pt x="11657" y="17526"/>
                  <a:pt x="11697" y="17546"/>
                </a:cubicBezTo>
                <a:cubicBezTo>
                  <a:pt x="11737" y="17546"/>
                  <a:pt x="11777" y="17566"/>
                  <a:pt x="11836" y="17566"/>
                </a:cubicBezTo>
                <a:cubicBezTo>
                  <a:pt x="11876" y="17586"/>
                  <a:pt x="11916" y="17606"/>
                  <a:pt x="11956" y="17606"/>
                </a:cubicBezTo>
                <a:cubicBezTo>
                  <a:pt x="11996" y="17606"/>
                  <a:pt x="12016" y="17626"/>
                  <a:pt x="12035" y="17626"/>
                </a:cubicBezTo>
                <a:cubicBezTo>
                  <a:pt x="12055" y="17626"/>
                  <a:pt x="12055" y="17626"/>
                  <a:pt x="12055" y="17626"/>
                </a:cubicBezTo>
                <a:cubicBezTo>
                  <a:pt x="12075" y="17626"/>
                  <a:pt x="12095" y="17645"/>
                  <a:pt x="12095" y="17645"/>
                </a:cubicBezTo>
                <a:cubicBezTo>
                  <a:pt x="12155" y="17645"/>
                  <a:pt x="12195" y="17665"/>
                  <a:pt x="12234" y="17665"/>
                </a:cubicBezTo>
                <a:cubicBezTo>
                  <a:pt x="12294" y="17685"/>
                  <a:pt x="12334" y="17705"/>
                  <a:pt x="12374" y="17705"/>
                </a:cubicBezTo>
                <a:cubicBezTo>
                  <a:pt x="12433" y="17725"/>
                  <a:pt x="12473" y="17725"/>
                  <a:pt x="12533" y="17745"/>
                </a:cubicBezTo>
                <a:cubicBezTo>
                  <a:pt x="12533" y="17745"/>
                  <a:pt x="12533" y="17745"/>
                  <a:pt x="12533" y="17745"/>
                </a:cubicBezTo>
                <a:cubicBezTo>
                  <a:pt x="12533" y="17745"/>
                  <a:pt x="12553" y="17745"/>
                  <a:pt x="12553" y="17745"/>
                </a:cubicBezTo>
                <a:cubicBezTo>
                  <a:pt x="12592" y="17745"/>
                  <a:pt x="12632" y="17765"/>
                  <a:pt x="12672" y="17765"/>
                </a:cubicBezTo>
                <a:lnTo>
                  <a:pt x="12811" y="17805"/>
                </a:lnTo>
                <a:lnTo>
                  <a:pt x="12970" y="17824"/>
                </a:lnTo>
                <a:cubicBezTo>
                  <a:pt x="12990" y="17824"/>
                  <a:pt x="13030" y="17844"/>
                  <a:pt x="13050" y="17844"/>
                </a:cubicBezTo>
                <a:cubicBezTo>
                  <a:pt x="13050" y="17844"/>
                  <a:pt x="13070" y="17844"/>
                  <a:pt x="13070" y="17844"/>
                </a:cubicBezTo>
                <a:cubicBezTo>
                  <a:pt x="13090" y="17844"/>
                  <a:pt x="13110" y="17864"/>
                  <a:pt x="13129" y="17864"/>
                </a:cubicBezTo>
                <a:cubicBezTo>
                  <a:pt x="13169" y="17864"/>
                  <a:pt x="13229" y="17884"/>
                  <a:pt x="13269" y="17884"/>
                </a:cubicBezTo>
                <a:lnTo>
                  <a:pt x="13428" y="17924"/>
                </a:lnTo>
                <a:cubicBezTo>
                  <a:pt x="13488" y="17924"/>
                  <a:pt x="13527" y="17944"/>
                  <a:pt x="13587" y="17944"/>
                </a:cubicBezTo>
                <a:cubicBezTo>
                  <a:pt x="13587" y="17944"/>
                  <a:pt x="13587" y="17944"/>
                  <a:pt x="13607" y="17944"/>
                </a:cubicBezTo>
                <a:cubicBezTo>
                  <a:pt x="13607" y="17944"/>
                  <a:pt x="13607" y="17944"/>
                  <a:pt x="13607" y="17944"/>
                </a:cubicBezTo>
                <a:cubicBezTo>
                  <a:pt x="13647" y="17964"/>
                  <a:pt x="13706" y="17964"/>
                  <a:pt x="13746" y="17984"/>
                </a:cubicBezTo>
                <a:cubicBezTo>
                  <a:pt x="13806" y="17984"/>
                  <a:pt x="13846" y="17984"/>
                  <a:pt x="13905" y="18003"/>
                </a:cubicBezTo>
                <a:cubicBezTo>
                  <a:pt x="13965" y="18003"/>
                  <a:pt x="14025" y="18023"/>
                  <a:pt x="14064" y="18023"/>
                </a:cubicBezTo>
                <a:cubicBezTo>
                  <a:pt x="14104" y="18023"/>
                  <a:pt x="14124" y="18043"/>
                  <a:pt x="14164" y="18043"/>
                </a:cubicBezTo>
                <a:cubicBezTo>
                  <a:pt x="14164" y="18043"/>
                  <a:pt x="14164" y="18043"/>
                  <a:pt x="14164" y="18043"/>
                </a:cubicBezTo>
                <a:cubicBezTo>
                  <a:pt x="14184" y="18043"/>
                  <a:pt x="14184" y="18043"/>
                  <a:pt x="14184" y="18043"/>
                </a:cubicBezTo>
                <a:cubicBezTo>
                  <a:pt x="14204" y="18043"/>
                  <a:pt x="14224" y="18043"/>
                  <a:pt x="14243" y="18063"/>
                </a:cubicBezTo>
                <a:cubicBezTo>
                  <a:pt x="14303" y="18063"/>
                  <a:pt x="14363" y="18083"/>
                  <a:pt x="14403" y="18083"/>
                </a:cubicBezTo>
                <a:cubicBezTo>
                  <a:pt x="14462" y="18103"/>
                  <a:pt x="14522" y="18103"/>
                  <a:pt x="14582" y="18103"/>
                </a:cubicBezTo>
                <a:cubicBezTo>
                  <a:pt x="14641" y="18123"/>
                  <a:pt x="14701" y="18123"/>
                  <a:pt x="14761" y="18143"/>
                </a:cubicBezTo>
                <a:cubicBezTo>
                  <a:pt x="14761" y="18143"/>
                  <a:pt x="14761" y="18143"/>
                  <a:pt x="14761" y="18143"/>
                </a:cubicBezTo>
                <a:lnTo>
                  <a:pt x="14781" y="18143"/>
                </a:lnTo>
                <a:cubicBezTo>
                  <a:pt x="14820" y="18143"/>
                  <a:pt x="14880" y="18163"/>
                  <a:pt x="14940" y="18163"/>
                </a:cubicBezTo>
                <a:cubicBezTo>
                  <a:pt x="14999" y="18183"/>
                  <a:pt x="15059" y="18183"/>
                  <a:pt x="15119" y="18183"/>
                </a:cubicBezTo>
                <a:cubicBezTo>
                  <a:pt x="15178" y="18202"/>
                  <a:pt x="15238" y="18202"/>
                  <a:pt x="15298" y="18222"/>
                </a:cubicBezTo>
                <a:cubicBezTo>
                  <a:pt x="15318" y="18222"/>
                  <a:pt x="15357" y="18222"/>
                  <a:pt x="15377" y="18222"/>
                </a:cubicBezTo>
                <a:cubicBezTo>
                  <a:pt x="15397" y="18222"/>
                  <a:pt x="15397" y="18222"/>
                  <a:pt x="15417" y="18222"/>
                </a:cubicBezTo>
                <a:cubicBezTo>
                  <a:pt x="15437" y="18222"/>
                  <a:pt x="15457" y="18242"/>
                  <a:pt x="15477" y="18242"/>
                </a:cubicBezTo>
                <a:cubicBezTo>
                  <a:pt x="15537" y="18242"/>
                  <a:pt x="15616" y="18262"/>
                  <a:pt x="15676" y="18262"/>
                </a:cubicBezTo>
                <a:cubicBezTo>
                  <a:pt x="15735" y="18262"/>
                  <a:pt x="15795" y="18282"/>
                  <a:pt x="15875" y="18282"/>
                </a:cubicBezTo>
                <a:cubicBezTo>
                  <a:pt x="15914" y="18302"/>
                  <a:pt x="15974" y="18302"/>
                  <a:pt x="16034" y="18302"/>
                </a:cubicBezTo>
                <a:cubicBezTo>
                  <a:pt x="16034" y="18302"/>
                  <a:pt x="16034" y="18302"/>
                  <a:pt x="16054" y="18302"/>
                </a:cubicBezTo>
                <a:cubicBezTo>
                  <a:pt x="16054" y="18302"/>
                  <a:pt x="16054" y="18322"/>
                  <a:pt x="16074" y="18322"/>
                </a:cubicBezTo>
                <a:cubicBezTo>
                  <a:pt x="16133" y="18322"/>
                  <a:pt x="16193" y="18322"/>
                  <a:pt x="16273" y="18342"/>
                </a:cubicBezTo>
                <a:cubicBezTo>
                  <a:pt x="16332" y="18342"/>
                  <a:pt x="16392" y="18362"/>
                  <a:pt x="16471" y="18362"/>
                </a:cubicBezTo>
                <a:cubicBezTo>
                  <a:pt x="16531" y="18362"/>
                  <a:pt x="16611" y="18381"/>
                  <a:pt x="16670" y="18381"/>
                </a:cubicBezTo>
                <a:cubicBezTo>
                  <a:pt x="16690" y="18381"/>
                  <a:pt x="16690" y="18381"/>
                  <a:pt x="16690" y="18381"/>
                </a:cubicBezTo>
                <a:cubicBezTo>
                  <a:pt x="16710" y="18381"/>
                  <a:pt x="16710" y="18401"/>
                  <a:pt x="16710" y="18401"/>
                </a:cubicBezTo>
                <a:cubicBezTo>
                  <a:pt x="16770" y="18401"/>
                  <a:pt x="16830" y="18401"/>
                  <a:pt x="16889" y="18421"/>
                </a:cubicBezTo>
                <a:cubicBezTo>
                  <a:pt x="16969" y="18421"/>
                  <a:pt x="17048" y="18421"/>
                  <a:pt x="17108" y="18441"/>
                </a:cubicBezTo>
                <a:cubicBezTo>
                  <a:pt x="17188" y="18441"/>
                  <a:pt x="17267" y="18441"/>
                  <a:pt x="17327" y="18461"/>
                </a:cubicBezTo>
                <a:cubicBezTo>
                  <a:pt x="17347" y="18461"/>
                  <a:pt x="17367" y="18461"/>
                  <a:pt x="17387" y="18461"/>
                </a:cubicBezTo>
                <a:cubicBezTo>
                  <a:pt x="17387" y="18461"/>
                  <a:pt x="17406" y="18461"/>
                  <a:pt x="17426" y="18461"/>
                </a:cubicBezTo>
                <a:cubicBezTo>
                  <a:pt x="17466" y="18461"/>
                  <a:pt x="17526" y="18481"/>
                  <a:pt x="17566" y="18481"/>
                </a:cubicBezTo>
                <a:lnTo>
                  <a:pt x="17804" y="18501"/>
                </a:lnTo>
                <a:lnTo>
                  <a:pt x="18043" y="18521"/>
                </a:lnTo>
                <a:cubicBezTo>
                  <a:pt x="18063" y="18521"/>
                  <a:pt x="18083" y="18521"/>
                  <a:pt x="18083" y="18521"/>
                </a:cubicBezTo>
                <a:cubicBezTo>
                  <a:pt x="18103" y="18521"/>
                  <a:pt x="18123" y="18541"/>
                  <a:pt x="18123" y="18541"/>
                </a:cubicBezTo>
                <a:cubicBezTo>
                  <a:pt x="18182" y="18541"/>
                  <a:pt x="18242" y="18541"/>
                  <a:pt x="18282" y="18541"/>
                </a:cubicBezTo>
                <a:cubicBezTo>
                  <a:pt x="18381" y="18560"/>
                  <a:pt x="18461" y="18560"/>
                  <a:pt x="18560" y="18560"/>
                </a:cubicBezTo>
                <a:cubicBezTo>
                  <a:pt x="18640" y="18580"/>
                  <a:pt x="18739" y="18580"/>
                  <a:pt x="18819" y="18600"/>
                </a:cubicBezTo>
                <a:lnTo>
                  <a:pt x="18819" y="18600"/>
                </a:lnTo>
                <a:lnTo>
                  <a:pt x="18839" y="18600"/>
                </a:lnTo>
                <a:cubicBezTo>
                  <a:pt x="18918" y="18600"/>
                  <a:pt x="18998" y="18600"/>
                  <a:pt x="19097" y="18620"/>
                </a:cubicBezTo>
                <a:cubicBezTo>
                  <a:pt x="19177" y="18620"/>
                  <a:pt x="19276" y="18620"/>
                  <a:pt x="19356" y="18640"/>
                </a:cubicBezTo>
                <a:cubicBezTo>
                  <a:pt x="19416" y="18640"/>
                  <a:pt x="19475" y="18640"/>
                  <a:pt x="19535" y="18640"/>
                </a:cubicBezTo>
                <a:cubicBezTo>
                  <a:pt x="19555" y="18640"/>
                  <a:pt x="19555" y="18640"/>
                  <a:pt x="19575" y="18640"/>
                </a:cubicBezTo>
                <a:lnTo>
                  <a:pt x="19595" y="18640"/>
                </a:lnTo>
                <a:cubicBezTo>
                  <a:pt x="19615" y="18640"/>
                  <a:pt x="19634" y="18660"/>
                  <a:pt x="19674" y="18660"/>
                </a:cubicBezTo>
                <a:lnTo>
                  <a:pt x="19992" y="18680"/>
                </a:lnTo>
                <a:cubicBezTo>
                  <a:pt x="20092" y="18680"/>
                  <a:pt x="20191" y="18680"/>
                  <a:pt x="20291" y="18700"/>
                </a:cubicBezTo>
                <a:cubicBezTo>
                  <a:pt x="20410" y="18700"/>
                  <a:pt x="20510" y="18700"/>
                  <a:pt x="20629" y="18720"/>
                </a:cubicBezTo>
                <a:cubicBezTo>
                  <a:pt x="20748" y="18720"/>
                  <a:pt x="20888" y="18720"/>
                  <a:pt x="21027" y="18740"/>
                </a:cubicBezTo>
                <a:cubicBezTo>
                  <a:pt x="21047" y="18740"/>
                  <a:pt x="21067" y="18740"/>
                  <a:pt x="21106" y="18740"/>
                </a:cubicBezTo>
                <a:cubicBezTo>
                  <a:pt x="21106" y="18740"/>
                  <a:pt x="21126" y="18740"/>
                  <a:pt x="21146" y="18740"/>
                </a:cubicBezTo>
                <a:lnTo>
                  <a:pt x="21425" y="18759"/>
                </a:lnTo>
                <a:cubicBezTo>
                  <a:pt x="21564" y="18759"/>
                  <a:pt x="21703" y="18779"/>
                  <a:pt x="21823" y="18779"/>
                </a:cubicBezTo>
                <a:cubicBezTo>
                  <a:pt x="21962" y="18779"/>
                  <a:pt x="22101" y="18799"/>
                  <a:pt x="22240" y="18799"/>
                </a:cubicBezTo>
                <a:lnTo>
                  <a:pt x="22638" y="18819"/>
                </a:lnTo>
                <a:cubicBezTo>
                  <a:pt x="22678" y="18819"/>
                  <a:pt x="22738" y="18819"/>
                  <a:pt x="22797" y="18819"/>
                </a:cubicBezTo>
                <a:lnTo>
                  <a:pt x="22996" y="18819"/>
                </a:lnTo>
                <a:cubicBezTo>
                  <a:pt x="23255" y="18839"/>
                  <a:pt x="23513" y="18839"/>
                  <a:pt x="23772" y="18839"/>
                </a:cubicBezTo>
                <a:cubicBezTo>
                  <a:pt x="23931" y="18859"/>
                  <a:pt x="24130" y="18859"/>
                  <a:pt x="24309" y="18859"/>
                </a:cubicBezTo>
                <a:cubicBezTo>
                  <a:pt x="24349" y="18859"/>
                  <a:pt x="24389" y="18859"/>
                  <a:pt x="24429" y="18859"/>
                </a:cubicBezTo>
                <a:cubicBezTo>
                  <a:pt x="24468" y="18859"/>
                  <a:pt x="24508" y="18859"/>
                  <a:pt x="24548" y="18859"/>
                </a:cubicBezTo>
                <a:cubicBezTo>
                  <a:pt x="24806" y="18859"/>
                  <a:pt x="25065" y="18859"/>
                  <a:pt x="25324" y="18879"/>
                </a:cubicBezTo>
                <a:cubicBezTo>
                  <a:pt x="25383" y="18879"/>
                  <a:pt x="25443" y="18879"/>
                  <a:pt x="25503" y="18879"/>
                </a:cubicBezTo>
                <a:lnTo>
                  <a:pt x="25702" y="18879"/>
                </a:lnTo>
                <a:lnTo>
                  <a:pt x="25881" y="18879"/>
                </a:lnTo>
                <a:lnTo>
                  <a:pt x="26080" y="18879"/>
                </a:lnTo>
                <a:lnTo>
                  <a:pt x="26318" y="18879"/>
                </a:lnTo>
                <a:lnTo>
                  <a:pt x="26537" y="18879"/>
                </a:lnTo>
                <a:lnTo>
                  <a:pt x="26756" y="18879"/>
                </a:lnTo>
                <a:cubicBezTo>
                  <a:pt x="26836" y="18879"/>
                  <a:pt x="26915" y="18879"/>
                  <a:pt x="26995" y="18879"/>
                </a:cubicBezTo>
                <a:cubicBezTo>
                  <a:pt x="27214" y="18859"/>
                  <a:pt x="27452" y="18859"/>
                  <a:pt x="27671" y="18859"/>
                </a:cubicBezTo>
                <a:lnTo>
                  <a:pt x="27731" y="18859"/>
                </a:lnTo>
                <a:lnTo>
                  <a:pt x="27771" y="18859"/>
                </a:lnTo>
                <a:cubicBezTo>
                  <a:pt x="28029" y="18859"/>
                  <a:pt x="28288" y="18859"/>
                  <a:pt x="28526" y="18839"/>
                </a:cubicBezTo>
                <a:cubicBezTo>
                  <a:pt x="28785" y="18839"/>
                  <a:pt x="29044" y="18839"/>
                  <a:pt x="29282" y="18819"/>
                </a:cubicBezTo>
                <a:lnTo>
                  <a:pt x="29302" y="18819"/>
                </a:lnTo>
                <a:lnTo>
                  <a:pt x="29322" y="18819"/>
                </a:lnTo>
                <a:cubicBezTo>
                  <a:pt x="29561" y="18819"/>
                  <a:pt x="29800" y="18799"/>
                  <a:pt x="30038" y="18799"/>
                </a:cubicBezTo>
                <a:cubicBezTo>
                  <a:pt x="30178" y="18799"/>
                  <a:pt x="30297" y="18779"/>
                  <a:pt x="30436" y="18779"/>
                </a:cubicBezTo>
                <a:cubicBezTo>
                  <a:pt x="30575" y="18779"/>
                  <a:pt x="30715" y="18779"/>
                  <a:pt x="30834" y="18759"/>
                </a:cubicBezTo>
                <a:lnTo>
                  <a:pt x="30834" y="18759"/>
                </a:lnTo>
                <a:cubicBezTo>
                  <a:pt x="30973" y="18759"/>
                  <a:pt x="31112" y="18759"/>
                  <a:pt x="31232" y="18740"/>
                </a:cubicBezTo>
                <a:cubicBezTo>
                  <a:pt x="31371" y="18740"/>
                  <a:pt x="31490" y="18720"/>
                  <a:pt x="31630" y="18720"/>
                </a:cubicBezTo>
                <a:cubicBezTo>
                  <a:pt x="31729" y="18720"/>
                  <a:pt x="31829" y="18700"/>
                  <a:pt x="31948" y="18700"/>
                </a:cubicBezTo>
                <a:cubicBezTo>
                  <a:pt x="32047" y="18700"/>
                  <a:pt x="32147" y="18680"/>
                  <a:pt x="32246" y="18680"/>
                </a:cubicBezTo>
                <a:cubicBezTo>
                  <a:pt x="32266" y="18680"/>
                  <a:pt x="32286" y="18680"/>
                  <a:pt x="32306" y="18680"/>
                </a:cubicBezTo>
                <a:lnTo>
                  <a:pt x="32306" y="18680"/>
                </a:lnTo>
                <a:cubicBezTo>
                  <a:pt x="32326" y="18680"/>
                  <a:pt x="32326" y="18680"/>
                  <a:pt x="32346" y="18680"/>
                </a:cubicBezTo>
                <a:cubicBezTo>
                  <a:pt x="32406" y="18660"/>
                  <a:pt x="32485" y="18660"/>
                  <a:pt x="32565" y="18660"/>
                </a:cubicBezTo>
                <a:cubicBezTo>
                  <a:pt x="32664" y="18660"/>
                  <a:pt x="32764" y="18640"/>
                  <a:pt x="32863" y="18640"/>
                </a:cubicBezTo>
                <a:cubicBezTo>
                  <a:pt x="32903" y="18640"/>
                  <a:pt x="32943" y="18620"/>
                  <a:pt x="33002" y="18620"/>
                </a:cubicBezTo>
                <a:cubicBezTo>
                  <a:pt x="33022" y="18620"/>
                  <a:pt x="33022" y="18620"/>
                  <a:pt x="33042" y="18620"/>
                </a:cubicBezTo>
                <a:cubicBezTo>
                  <a:pt x="33062" y="18620"/>
                  <a:pt x="33102" y="18620"/>
                  <a:pt x="33122" y="18620"/>
                </a:cubicBezTo>
                <a:lnTo>
                  <a:pt x="33380" y="18600"/>
                </a:lnTo>
                <a:cubicBezTo>
                  <a:pt x="33480" y="18580"/>
                  <a:pt x="33559" y="18580"/>
                  <a:pt x="33639" y="18580"/>
                </a:cubicBezTo>
                <a:cubicBezTo>
                  <a:pt x="33659" y="18560"/>
                  <a:pt x="33679" y="18560"/>
                  <a:pt x="33699" y="18560"/>
                </a:cubicBezTo>
                <a:cubicBezTo>
                  <a:pt x="33718" y="18560"/>
                  <a:pt x="33718" y="18560"/>
                  <a:pt x="33738" y="18560"/>
                </a:cubicBezTo>
                <a:cubicBezTo>
                  <a:pt x="33798" y="18560"/>
                  <a:pt x="33838" y="18560"/>
                  <a:pt x="33897" y="18541"/>
                </a:cubicBezTo>
                <a:cubicBezTo>
                  <a:pt x="33977" y="18541"/>
                  <a:pt x="34057" y="18541"/>
                  <a:pt x="34136" y="18521"/>
                </a:cubicBezTo>
                <a:lnTo>
                  <a:pt x="34355" y="18501"/>
                </a:lnTo>
                <a:cubicBezTo>
                  <a:pt x="34375" y="18501"/>
                  <a:pt x="34375" y="18501"/>
                  <a:pt x="34375" y="18501"/>
                </a:cubicBezTo>
                <a:cubicBezTo>
                  <a:pt x="34375" y="18501"/>
                  <a:pt x="34395" y="18501"/>
                  <a:pt x="34395" y="18501"/>
                </a:cubicBezTo>
                <a:cubicBezTo>
                  <a:pt x="34454" y="18501"/>
                  <a:pt x="34534" y="18481"/>
                  <a:pt x="34594" y="18481"/>
                </a:cubicBezTo>
                <a:cubicBezTo>
                  <a:pt x="34673" y="18481"/>
                  <a:pt x="34753" y="18461"/>
                  <a:pt x="34813" y="18461"/>
                </a:cubicBezTo>
                <a:cubicBezTo>
                  <a:pt x="34892" y="18441"/>
                  <a:pt x="34952" y="18441"/>
                  <a:pt x="35031" y="18441"/>
                </a:cubicBezTo>
                <a:lnTo>
                  <a:pt x="35031" y="18441"/>
                </a:lnTo>
                <a:lnTo>
                  <a:pt x="35051" y="18441"/>
                </a:lnTo>
                <a:cubicBezTo>
                  <a:pt x="35111" y="18421"/>
                  <a:pt x="35171" y="18421"/>
                  <a:pt x="35250" y="18421"/>
                </a:cubicBezTo>
                <a:cubicBezTo>
                  <a:pt x="35310" y="18401"/>
                  <a:pt x="35389" y="18401"/>
                  <a:pt x="35449" y="18381"/>
                </a:cubicBezTo>
                <a:cubicBezTo>
                  <a:pt x="35529" y="18381"/>
                  <a:pt x="35588" y="18381"/>
                  <a:pt x="35648" y="18362"/>
                </a:cubicBezTo>
                <a:lnTo>
                  <a:pt x="35668" y="18362"/>
                </a:lnTo>
                <a:cubicBezTo>
                  <a:pt x="35668" y="18362"/>
                  <a:pt x="35668" y="18362"/>
                  <a:pt x="35668" y="18362"/>
                </a:cubicBezTo>
                <a:cubicBezTo>
                  <a:pt x="35728" y="18362"/>
                  <a:pt x="35787" y="18342"/>
                  <a:pt x="35847" y="18342"/>
                </a:cubicBezTo>
                <a:cubicBezTo>
                  <a:pt x="35907" y="18322"/>
                  <a:pt x="35986" y="18322"/>
                  <a:pt x="36046" y="18322"/>
                </a:cubicBezTo>
                <a:cubicBezTo>
                  <a:pt x="36106" y="18302"/>
                  <a:pt x="36165" y="18302"/>
                  <a:pt x="36245" y="18282"/>
                </a:cubicBezTo>
                <a:cubicBezTo>
                  <a:pt x="36245" y="18282"/>
                  <a:pt x="36265" y="18282"/>
                  <a:pt x="36265" y="18282"/>
                </a:cubicBezTo>
                <a:cubicBezTo>
                  <a:pt x="36285" y="18282"/>
                  <a:pt x="36285" y="18282"/>
                  <a:pt x="36304" y="18282"/>
                </a:cubicBezTo>
                <a:cubicBezTo>
                  <a:pt x="36344" y="18282"/>
                  <a:pt x="36384" y="18262"/>
                  <a:pt x="36424" y="18262"/>
                </a:cubicBezTo>
                <a:cubicBezTo>
                  <a:pt x="36484" y="18262"/>
                  <a:pt x="36543" y="18242"/>
                  <a:pt x="36603" y="18242"/>
                </a:cubicBezTo>
                <a:cubicBezTo>
                  <a:pt x="36663" y="18222"/>
                  <a:pt x="36722" y="18222"/>
                  <a:pt x="36782" y="18222"/>
                </a:cubicBezTo>
                <a:cubicBezTo>
                  <a:pt x="36802" y="18202"/>
                  <a:pt x="36842" y="18202"/>
                  <a:pt x="36861" y="18202"/>
                </a:cubicBezTo>
                <a:cubicBezTo>
                  <a:pt x="36861" y="18202"/>
                  <a:pt x="36881" y="18202"/>
                  <a:pt x="36881" y="18202"/>
                </a:cubicBezTo>
                <a:cubicBezTo>
                  <a:pt x="36901" y="18202"/>
                  <a:pt x="36921" y="18183"/>
                  <a:pt x="36961" y="18183"/>
                </a:cubicBezTo>
                <a:cubicBezTo>
                  <a:pt x="37021" y="18183"/>
                  <a:pt x="37060" y="18163"/>
                  <a:pt x="37120" y="18163"/>
                </a:cubicBezTo>
                <a:cubicBezTo>
                  <a:pt x="37180" y="18163"/>
                  <a:pt x="37239" y="18143"/>
                  <a:pt x="37299" y="18143"/>
                </a:cubicBezTo>
                <a:lnTo>
                  <a:pt x="37418" y="18123"/>
                </a:lnTo>
                <a:lnTo>
                  <a:pt x="37438" y="18123"/>
                </a:lnTo>
                <a:lnTo>
                  <a:pt x="37438" y="18123"/>
                </a:lnTo>
                <a:cubicBezTo>
                  <a:pt x="37438" y="18123"/>
                  <a:pt x="37458" y="18103"/>
                  <a:pt x="37458" y="18103"/>
                </a:cubicBezTo>
                <a:cubicBezTo>
                  <a:pt x="37518" y="18103"/>
                  <a:pt x="37578" y="18103"/>
                  <a:pt x="37617" y="18083"/>
                </a:cubicBezTo>
                <a:cubicBezTo>
                  <a:pt x="37677" y="18083"/>
                  <a:pt x="37737" y="18063"/>
                  <a:pt x="37777" y="18063"/>
                </a:cubicBezTo>
                <a:cubicBezTo>
                  <a:pt x="37836" y="18043"/>
                  <a:pt x="37896" y="18043"/>
                  <a:pt x="37936" y="18023"/>
                </a:cubicBezTo>
                <a:cubicBezTo>
                  <a:pt x="37956" y="18023"/>
                  <a:pt x="37956" y="18023"/>
                  <a:pt x="37975" y="18023"/>
                </a:cubicBezTo>
                <a:cubicBezTo>
                  <a:pt x="37975" y="18023"/>
                  <a:pt x="37975" y="18023"/>
                  <a:pt x="37975" y="18023"/>
                </a:cubicBezTo>
                <a:cubicBezTo>
                  <a:pt x="38015" y="18023"/>
                  <a:pt x="38055" y="18003"/>
                  <a:pt x="38095" y="18003"/>
                </a:cubicBezTo>
                <a:cubicBezTo>
                  <a:pt x="38154" y="17984"/>
                  <a:pt x="38194" y="17984"/>
                  <a:pt x="38254" y="17984"/>
                </a:cubicBezTo>
                <a:cubicBezTo>
                  <a:pt x="38294" y="17964"/>
                  <a:pt x="38353" y="17964"/>
                  <a:pt x="38393" y="17944"/>
                </a:cubicBezTo>
                <a:lnTo>
                  <a:pt x="38473" y="17944"/>
                </a:lnTo>
                <a:cubicBezTo>
                  <a:pt x="38473" y="17924"/>
                  <a:pt x="38493" y="17924"/>
                  <a:pt x="38493" y="17924"/>
                </a:cubicBezTo>
                <a:cubicBezTo>
                  <a:pt x="38513" y="17924"/>
                  <a:pt x="38532" y="17924"/>
                  <a:pt x="38552" y="17924"/>
                </a:cubicBezTo>
                <a:cubicBezTo>
                  <a:pt x="38592" y="17904"/>
                  <a:pt x="38632" y="17904"/>
                  <a:pt x="38692" y="17884"/>
                </a:cubicBezTo>
                <a:cubicBezTo>
                  <a:pt x="38731" y="17884"/>
                  <a:pt x="38791" y="17864"/>
                  <a:pt x="38831" y="17864"/>
                </a:cubicBezTo>
                <a:cubicBezTo>
                  <a:pt x="38871" y="17844"/>
                  <a:pt x="38930" y="17844"/>
                  <a:pt x="38970" y="17824"/>
                </a:cubicBezTo>
                <a:lnTo>
                  <a:pt x="38970" y="17824"/>
                </a:lnTo>
                <a:lnTo>
                  <a:pt x="38970" y="17824"/>
                </a:lnTo>
                <a:cubicBezTo>
                  <a:pt x="39030" y="17824"/>
                  <a:pt x="39070" y="17805"/>
                  <a:pt x="39109" y="17805"/>
                </a:cubicBezTo>
                <a:cubicBezTo>
                  <a:pt x="39169" y="17785"/>
                  <a:pt x="39209" y="17785"/>
                  <a:pt x="39249" y="17765"/>
                </a:cubicBezTo>
                <a:lnTo>
                  <a:pt x="39388" y="17745"/>
                </a:lnTo>
                <a:cubicBezTo>
                  <a:pt x="39408" y="17745"/>
                  <a:pt x="39408" y="17745"/>
                  <a:pt x="39428" y="17745"/>
                </a:cubicBezTo>
                <a:cubicBezTo>
                  <a:pt x="39428" y="17725"/>
                  <a:pt x="39428" y="17725"/>
                  <a:pt x="39448" y="17725"/>
                </a:cubicBezTo>
                <a:cubicBezTo>
                  <a:pt x="39467" y="17725"/>
                  <a:pt x="39487" y="17725"/>
                  <a:pt x="39527" y="17705"/>
                </a:cubicBezTo>
                <a:cubicBezTo>
                  <a:pt x="39567" y="17705"/>
                  <a:pt x="39607" y="17685"/>
                  <a:pt x="39646" y="17685"/>
                </a:cubicBezTo>
                <a:cubicBezTo>
                  <a:pt x="39686" y="17665"/>
                  <a:pt x="39746" y="17665"/>
                  <a:pt x="39786" y="17645"/>
                </a:cubicBezTo>
                <a:cubicBezTo>
                  <a:pt x="39806" y="17645"/>
                  <a:pt x="39825" y="17645"/>
                  <a:pt x="39845" y="17626"/>
                </a:cubicBezTo>
                <a:cubicBezTo>
                  <a:pt x="39865" y="17626"/>
                  <a:pt x="39865" y="17626"/>
                  <a:pt x="39865" y="17626"/>
                </a:cubicBezTo>
                <a:cubicBezTo>
                  <a:pt x="39885" y="17626"/>
                  <a:pt x="39905" y="17626"/>
                  <a:pt x="39905" y="17626"/>
                </a:cubicBezTo>
                <a:cubicBezTo>
                  <a:pt x="39945" y="17606"/>
                  <a:pt x="39985" y="17586"/>
                  <a:pt x="40024" y="17586"/>
                </a:cubicBezTo>
                <a:cubicBezTo>
                  <a:pt x="40084" y="17566"/>
                  <a:pt x="40124" y="17566"/>
                  <a:pt x="40164" y="17546"/>
                </a:cubicBezTo>
                <a:cubicBezTo>
                  <a:pt x="40203" y="17546"/>
                  <a:pt x="40223" y="17526"/>
                  <a:pt x="40263" y="17526"/>
                </a:cubicBezTo>
                <a:cubicBezTo>
                  <a:pt x="40263" y="17526"/>
                  <a:pt x="40283" y="17526"/>
                  <a:pt x="40283" y="17526"/>
                </a:cubicBezTo>
                <a:cubicBezTo>
                  <a:pt x="40283" y="17526"/>
                  <a:pt x="40283" y="17506"/>
                  <a:pt x="40283" y="17506"/>
                </a:cubicBezTo>
                <a:cubicBezTo>
                  <a:pt x="40323" y="17506"/>
                  <a:pt x="40363" y="17486"/>
                  <a:pt x="40402" y="17486"/>
                </a:cubicBezTo>
                <a:cubicBezTo>
                  <a:pt x="40442" y="17466"/>
                  <a:pt x="40482" y="17466"/>
                  <a:pt x="40522" y="17446"/>
                </a:cubicBezTo>
                <a:cubicBezTo>
                  <a:pt x="40562" y="17427"/>
                  <a:pt x="40601" y="17427"/>
                  <a:pt x="40641" y="17407"/>
                </a:cubicBezTo>
                <a:cubicBezTo>
                  <a:pt x="40641" y="17407"/>
                  <a:pt x="40661" y="17407"/>
                  <a:pt x="40661" y="17407"/>
                </a:cubicBezTo>
                <a:cubicBezTo>
                  <a:pt x="40661" y="17407"/>
                  <a:pt x="40661" y="17407"/>
                  <a:pt x="40661" y="17407"/>
                </a:cubicBezTo>
                <a:cubicBezTo>
                  <a:pt x="40701" y="17387"/>
                  <a:pt x="40721" y="17387"/>
                  <a:pt x="40760" y="17367"/>
                </a:cubicBezTo>
                <a:cubicBezTo>
                  <a:pt x="40800" y="17347"/>
                  <a:pt x="40840" y="17347"/>
                  <a:pt x="40880" y="17327"/>
                </a:cubicBezTo>
                <a:lnTo>
                  <a:pt x="40999" y="17287"/>
                </a:lnTo>
                <a:cubicBezTo>
                  <a:pt x="40999" y="17287"/>
                  <a:pt x="40999" y="17287"/>
                  <a:pt x="40999" y="17287"/>
                </a:cubicBezTo>
                <a:lnTo>
                  <a:pt x="40999" y="17287"/>
                </a:lnTo>
                <a:cubicBezTo>
                  <a:pt x="40999" y="17287"/>
                  <a:pt x="40999" y="17287"/>
                  <a:pt x="40999" y="17287"/>
                </a:cubicBezTo>
                <a:cubicBezTo>
                  <a:pt x="41039" y="17267"/>
                  <a:pt x="41079" y="17267"/>
                  <a:pt x="41099" y="17248"/>
                </a:cubicBezTo>
                <a:cubicBezTo>
                  <a:pt x="41138" y="17248"/>
                  <a:pt x="41178" y="17228"/>
                  <a:pt x="41218" y="17208"/>
                </a:cubicBezTo>
                <a:cubicBezTo>
                  <a:pt x="41258" y="17208"/>
                  <a:pt x="41278" y="17188"/>
                  <a:pt x="41317" y="17168"/>
                </a:cubicBezTo>
                <a:lnTo>
                  <a:pt x="41317" y="17168"/>
                </a:lnTo>
                <a:lnTo>
                  <a:pt x="41317" y="17168"/>
                </a:lnTo>
                <a:cubicBezTo>
                  <a:pt x="41357" y="17148"/>
                  <a:pt x="41397" y="17148"/>
                  <a:pt x="41417" y="17128"/>
                </a:cubicBezTo>
                <a:cubicBezTo>
                  <a:pt x="41457" y="17108"/>
                  <a:pt x="41496" y="17108"/>
                  <a:pt x="41536" y="17088"/>
                </a:cubicBezTo>
                <a:lnTo>
                  <a:pt x="41596" y="17049"/>
                </a:lnTo>
                <a:cubicBezTo>
                  <a:pt x="41596" y="17049"/>
                  <a:pt x="41596" y="17049"/>
                  <a:pt x="41616" y="17049"/>
                </a:cubicBezTo>
                <a:cubicBezTo>
                  <a:pt x="41616" y="17049"/>
                  <a:pt x="41636" y="17049"/>
                  <a:pt x="41636" y="17029"/>
                </a:cubicBezTo>
                <a:cubicBezTo>
                  <a:pt x="41675" y="17029"/>
                  <a:pt x="41695" y="17009"/>
                  <a:pt x="41735" y="16989"/>
                </a:cubicBezTo>
                <a:cubicBezTo>
                  <a:pt x="41755" y="16969"/>
                  <a:pt x="41795" y="16969"/>
                  <a:pt x="41835" y="16949"/>
                </a:cubicBezTo>
                <a:cubicBezTo>
                  <a:pt x="41835" y="16929"/>
                  <a:pt x="41835" y="16929"/>
                  <a:pt x="41855" y="16929"/>
                </a:cubicBezTo>
                <a:cubicBezTo>
                  <a:pt x="41855" y="16929"/>
                  <a:pt x="41874" y="16929"/>
                  <a:pt x="41874" y="16909"/>
                </a:cubicBezTo>
                <a:cubicBezTo>
                  <a:pt x="41894" y="16909"/>
                  <a:pt x="41914" y="16909"/>
                  <a:pt x="41934" y="16889"/>
                </a:cubicBezTo>
                <a:cubicBezTo>
                  <a:pt x="41954" y="16870"/>
                  <a:pt x="41994" y="16850"/>
                  <a:pt x="42034" y="16830"/>
                </a:cubicBezTo>
                <a:cubicBezTo>
                  <a:pt x="42053" y="16830"/>
                  <a:pt x="42053" y="16810"/>
                  <a:pt x="42073" y="16810"/>
                </a:cubicBezTo>
                <a:cubicBezTo>
                  <a:pt x="42073" y="16810"/>
                  <a:pt x="42093" y="16790"/>
                  <a:pt x="42093" y="16790"/>
                </a:cubicBezTo>
                <a:lnTo>
                  <a:pt x="42113" y="16770"/>
                </a:lnTo>
                <a:cubicBezTo>
                  <a:pt x="42153" y="16770"/>
                  <a:pt x="42173" y="16750"/>
                  <a:pt x="42193" y="16730"/>
                </a:cubicBezTo>
                <a:cubicBezTo>
                  <a:pt x="42232" y="16710"/>
                  <a:pt x="42232" y="16691"/>
                  <a:pt x="42272" y="16691"/>
                </a:cubicBezTo>
                <a:lnTo>
                  <a:pt x="42292" y="16671"/>
                </a:lnTo>
                <a:cubicBezTo>
                  <a:pt x="42292" y="16671"/>
                  <a:pt x="42292" y="16651"/>
                  <a:pt x="42312" y="16651"/>
                </a:cubicBezTo>
                <a:cubicBezTo>
                  <a:pt x="42332" y="16631"/>
                  <a:pt x="42372" y="16611"/>
                  <a:pt x="42392" y="16591"/>
                </a:cubicBezTo>
                <a:cubicBezTo>
                  <a:pt x="42412" y="16571"/>
                  <a:pt x="42412" y="16571"/>
                  <a:pt x="42431" y="16551"/>
                </a:cubicBezTo>
                <a:cubicBezTo>
                  <a:pt x="42431" y="16551"/>
                  <a:pt x="42431" y="16531"/>
                  <a:pt x="42451" y="16531"/>
                </a:cubicBezTo>
                <a:cubicBezTo>
                  <a:pt x="42451" y="16531"/>
                  <a:pt x="42471" y="16512"/>
                  <a:pt x="42471" y="16512"/>
                </a:cubicBezTo>
                <a:cubicBezTo>
                  <a:pt x="42491" y="16492"/>
                  <a:pt x="42511" y="16472"/>
                  <a:pt x="42551" y="16432"/>
                </a:cubicBezTo>
                <a:cubicBezTo>
                  <a:pt x="42551" y="16432"/>
                  <a:pt x="42551" y="16412"/>
                  <a:pt x="42571" y="16412"/>
                </a:cubicBezTo>
                <a:lnTo>
                  <a:pt x="42571" y="16412"/>
                </a:lnTo>
                <a:cubicBezTo>
                  <a:pt x="42571" y="16412"/>
                  <a:pt x="42571" y="16392"/>
                  <a:pt x="42571" y="16392"/>
                </a:cubicBezTo>
                <a:cubicBezTo>
                  <a:pt x="42591" y="16392"/>
                  <a:pt x="42591" y="16372"/>
                  <a:pt x="42610" y="16352"/>
                </a:cubicBezTo>
                <a:cubicBezTo>
                  <a:pt x="42610" y="16352"/>
                  <a:pt x="42630" y="16332"/>
                  <a:pt x="42630" y="16313"/>
                </a:cubicBezTo>
                <a:cubicBezTo>
                  <a:pt x="42630" y="16313"/>
                  <a:pt x="42650" y="16293"/>
                  <a:pt x="42650" y="16273"/>
                </a:cubicBezTo>
                <a:cubicBezTo>
                  <a:pt x="45594" y="10922"/>
                  <a:pt x="48538" y="5571"/>
                  <a:pt x="51483" y="219"/>
                </a:cubicBezTo>
                <a:cubicBezTo>
                  <a:pt x="51443" y="279"/>
                  <a:pt x="51403" y="319"/>
                  <a:pt x="51363" y="379"/>
                </a:cubicBezTo>
                <a:close/>
              </a:path>
            </a:pathLst>
          </a:custGeom>
          <a:solidFill>
            <a:srgbClr val="060B25"/>
          </a:solidFill>
          <a:ln>
            <a:noFill/>
          </a:ln>
        </p:spPr>
        <p:txBody>
          <a:bodyPr spcFirstLastPara="1" wrap="square" lIns="91425" tIns="91425" rIns="91425" bIns="91425" anchor="ctr" anchorCtr="0">
            <a:noAutofit/>
          </a:bodyPr>
          <a:lstStyle/>
          <a:p>
            <a:endParaRPr lang="en-US">
              <a:solidFill>
                <a:prstClr val="black"/>
              </a:solidFill>
              <a:latin typeface="Aptos" panose="020B0004020202020204" pitchFamily="34" charset="0"/>
              <a:sym typeface="Aptos" panose="020B0004020202020204" pitchFamily="34" charset="0"/>
            </a:endParaRPr>
          </a:p>
        </p:txBody>
      </p:sp>
      <p:sp>
        <p:nvSpPr>
          <p:cNvPr id="23" name="Google Shape;341;p23">
            <a:extLst>
              <a:ext uri="{FF2B5EF4-FFF2-40B4-BE49-F238E27FC236}">
                <a16:creationId xmlns:a16="http://schemas.microsoft.com/office/drawing/2014/main" id="{03C5FA7C-7193-EF32-70BF-1084345B0A51}"/>
              </a:ext>
            </a:extLst>
          </p:cNvPr>
          <p:cNvSpPr/>
          <p:nvPr/>
        </p:nvSpPr>
        <p:spPr>
          <a:xfrm rot="16200000">
            <a:off x="3216604" y="3370690"/>
            <a:ext cx="802896" cy="139314"/>
          </a:xfrm>
          <a:custGeom>
            <a:avLst/>
            <a:gdLst/>
            <a:ahLst/>
            <a:cxnLst/>
            <a:rect l="l" t="t" r="r" b="b"/>
            <a:pathLst>
              <a:path w="51941" h="7043" extrusionOk="0">
                <a:moveTo>
                  <a:pt x="140" y="3303"/>
                </a:moveTo>
                <a:cubicBezTo>
                  <a:pt x="259" y="2825"/>
                  <a:pt x="1074" y="2368"/>
                  <a:pt x="2427" y="1970"/>
                </a:cubicBezTo>
                <a:cubicBezTo>
                  <a:pt x="3780" y="1572"/>
                  <a:pt x="5670" y="1214"/>
                  <a:pt x="7957" y="915"/>
                </a:cubicBezTo>
                <a:cubicBezTo>
                  <a:pt x="10205" y="637"/>
                  <a:pt x="12871" y="398"/>
                  <a:pt x="15795" y="239"/>
                </a:cubicBezTo>
                <a:cubicBezTo>
                  <a:pt x="18699" y="80"/>
                  <a:pt x="21902" y="0"/>
                  <a:pt x="25244" y="0"/>
                </a:cubicBezTo>
                <a:cubicBezTo>
                  <a:pt x="28606" y="0"/>
                  <a:pt x="31829" y="100"/>
                  <a:pt x="34793" y="259"/>
                </a:cubicBezTo>
                <a:cubicBezTo>
                  <a:pt x="37776" y="418"/>
                  <a:pt x="40522" y="657"/>
                  <a:pt x="42909" y="935"/>
                </a:cubicBezTo>
                <a:cubicBezTo>
                  <a:pt x="45296" y="1234"/>
                  <a:pt x="47325" y="1592"/>
                  <a:pt x="48817" y="1990"/>
                </a:cubicBezTo>
                <a:cubicBezTo>
                  <a:pt x="50349" y="2407"/>
                  <a:pt x="51343" y="2845"/>
                  <a:pt x="51642" y="3322"/>
                </a:cubicBezTo>
                <a:cubicBezTo>
                  <a:pt x="51940" y="3820"/>
                  <a:pt x="51502" y="4297"/>
                  <a:pt x="50448" y="4735"/>
                </a:cubicBezTo>
                <a:cubicBezTo>
                  <a:pt x="49354" y="5173"/>
                  <a:pt x="47643" y="5570"/>
                  <a:pt x="45395" y="5909"/>
                </a:cubicBezTo>
                <a:cubicBezTo>
                  <a:pt x="43108" y="6267"/>
                  <a:pt x="40323" y="6545"/>
                  <a:pt x="37140" y="6744"/>
                </a:cubicBezTo>
                <a:cubicBezTo>
                  <a:pt x="33937" y="6943"/>
                  <a:pt x="30376" y="7042"/>
                  <a:pt x="26597" y="7042"/>
                </a:cubicBezTo>
                <a:cubicBezTo>
                  <a:pt x="22817" y="7042"/>
                  <a:pt x="19197" y="6923"/>
                  <a:pt x="15934" y="6724"/>
                </a:cubicBezTo>
                <a:cubicBezTo>
                  <a:pt x="12672" y="6525"/>
                  <a:pt x="9768" y="6247"/>
                  <a:pt x="7361" y="5889"/>
                </a:cubicBezTo>
                <a:cubicBezTo>
                  <a:pt x="4993" y="5550"/>
                  <a:pt x="3104" y="5153"/>
                  <a:pt x="1850" y="4695"/>
                </a:cubicBezTo>
                <a:cubicBezTo>
                  <a:pt x="617" y="4257"/>
                  <a:pt x="0" y="3780"/>
                  <a:pt x="140" y="3303"/>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sym typeface="Aptos" panose="020B0004020202020204" pitchFamily="34" charset="0"/>
            </a:endParaRPr>
          </a:p>
        </p:txBody>
      </p:sp>
      <p:sp>
        <p:nvSpPr>
          <p:cNvPr id="24" name="Google Shape;347;p23">
            <a:extLst>
              <a:ext uri="{FF2B5EF4-FFF2-40B4-BE49-F238E27FC236}">
                <a16:creationId xmlns:a16="http://schemas.microsoft.com/office/drawing/2014/main" id="{CC0E94A0-F226-6969-A2D9-D98A36FE120B}"/>
              </a:ext>
            </a:extLst>
          </p:cNvPr>
          <p:cNvSpPr/>
          <p:nvPr/>
        </p:nvSpPr>
        <p:spPr>
          <a:xfrm rot="16200000">
            <a:off x="2839676" y="3217896"/>
            <a:ext cx="1062433" cy="446426"/>
          </a:xfrm>
          <a:custGeom>
            <a:avLst/>
            <a:gdLst/>
            <a:ahLst/>
            <a:cxnLst/>
            <a:rect l="l" t="t" r="r" b="b"/>
            <a:pathLst>
              <a:path w="68731" h="20332" extrusionOk="0">
                <a:moveTo>
                  <a:pt x="68690" y="498"/>
                </a:moveTo>
                <a:lnTo>
                  <a:pt x="68690" y="498"/>
                </a:lnTo>
                <a:cubicBezTo>
                  <a:pt x="68670" y="518"/>
                  <a:pt x="68670" y="538"/>
                  <a:pt x="68651" y="538"/>
                </a:cubicBezTo>
                <a:cubicBezTo>
                  <a:pt x="68631" y="578"/>
                  <a:pt x="68611" y="598"/>
                  <a:pt x="68591" y="618"/>
                </a:cubicBezTo>
                <a:cubicBezTo>
                  <a:pt x="68571" y="637"/>
                  <a:pt x="68571" y="657"/>
                  <a:pt x="68551" y="657"/>
                </a:cubicBezTo>
                <a:cubicBezTo>
                  <a:pt x="68531" y="677"/>
                  <a:pt x="68511" y="717"/>
                  <a:pt x="68472" y="737"/>
                </a:cubicBezTo>
                <a:cubicBezTo>
                  <a:pt x="68472" y="757"/>
                  <a:pt x="68452" y="757"/>
                  <a:pt x="68432" y="777"/>
                </a:cubicBezTo>
                <a:cubicBezTo>
                  <a:pt x="68412" y="797"/>
                  <a:pt x="68372" y="817"/>
                  <a:pt x="68352" y="836"/>
                </a:cubicBezTo>
                <a:cubicBezTo>
                  <a:pt x="68332" y="856"/>
                  <a:pt x="68312" y="876"/>
                  <a:pt x="68292" y="896"/>
                </a:cubicBezTo>
                <a:cubicBezTo>
                  <a:pt x="68253" y="916"/>
                  <a:pt x="68233" y="936"/>
                  <a:pt x="68193" y="956"/>
                </a:cubicBezTo>
                <a:cubicBezTo>
                  <a:pt x="68173" y="976"/>
                  <a:pt x="68153" y="996"/>
                  <a:pt x="68113" y="1015"/>
                </a:cubicBezTo>
                <a:cubicBezTo>
                  <a:pt x="68094" y="1015"/>
                  <a:pt x="68074" y="1035"/>
                  <a:pt x="68054" y="1055"/>
                </a:cubicBezTo>
                <a:cubicBezTo>
                  <a:pt x="68034" y="1055"/>
                  <a:pt x="67994" y="1075"/>
                  <a:pt x="67974" y="1095"/>
                </a:cubicBezTo>
                <a:cubicBezTo>
                  <a:pt x="67934" y="1115"/>
                  <a:pt x="67915" y="1135"/>
                  <a:pt x="67895" y="1135"/>
                </a:cubicBezTo>
                <a:cubicBezTo>
                  <a:pt x="67855" y="1155"/>
                  <a:pt x="67835" y="1175"/>
                  <a:pt x="67795" y="1194"/>
                </a:cubicBezTo>
                <a:cubicBezTo>
                  <a:pt x="67775" y="1214"/>
                  <a:pt x="67735" y="1214"/>
                  <a:pt x="67716" y="1234"/>
                </a:cubicBezTo>
                <a:cubicBezTo>
                  <a:pt x="67676" y="1254"/>
                  <a:pt x="67636" y="1274"/>
                  <a:pt x="67596" y="1294"/>
                </a:cubicBezTo>
                <a:cubicBezTo>
                  <a:pt x="67576" y="1314"/>
                  <a:pt x="67556" y="1314"/>
                  <a:pt x="67537" y="1334"/>
                </a:cubicBezTo>
                <a:cubicBezTo>
                  <a:pt x="67477" y="1354"/>
                  <a:pt x="67397" y="1393"/>
                  <a:pt x="67338" y="1413"/>
                </a:cubicBezTo>
                <a:lnTo>
                  <a:pt x="67298" y="1433"/>
                </a:lnTo>
                <a:cubicBezTo>
                  <a:pt x="67238" y="1453"/>
                  <a:pt x="67178" y="1473"/>
                  <a:pt x="67139" y="1513"/>
                </a:cubicBezTo>
                <a:lnTo>
                  <a:pt x="67059" y="1533"/>
                </a:lnTo>
                <a:cubicBezTo>
                  <a:pt x="66999" y="1553"/>
                  <a:pt x="66940" y="1572"/>
                  <a:pt x="66900" y="1592"/>
                </a:cubicBezTo>
                <a:cubicBezTo>
                  <a:pt x="66880" y="1612"/>
                  <a:pt x="66840" y="1612"/>
                  <a:pt x="66820" y="1632"/>
                </a:cubicBezTo>
                <a:cubicBezTo>
                  <a:pt x="66741" y="1652"/>
                  <a:pt x="66681" y="1672"/>
                  <a:pt x="66602" y="1712"/>
                </a:cubicBezTo>
                <a:lnTo>
                  <a:pt x="66542" y="1712"/>
                </a:lnTo>
                <a:cubicBezTo>
                  <a:pt x="66482" y="1751"/>
                  <a:pt x="66403" y="1771"/>
                  <a:pt x="66343" y="1791"/>
                </a:cubicBezTo>
                <a:cubicBezTo>
                  <a:pt x="66323" y="1791"/>
                  <a:pt x="66283" y="1811"/>
                  <a:pt x="66263" y="1811"/>
                </a:cubicBezTo>
                <a:cubicBezTo>
                  <a:pt x="66184" y="1831"/>
                  <a:pt x="66104" y="1871"/>
                  <a:pt x="66025" y="1891"/>
                </a:cubicBezTo>
                <a:cubicBezTo>
                  <a:pt x="66025" y="1891"/>
                  <a:pt x="66005" y="1891"/>
                  <a:pt x="66005" y="1891"/>
                </a:cubicBezTo>
                <a:cubicBezTo>
                  <a:pt x="65905" y="1930"/>
                  <a:pt x="65826" y="1950"/>
                  <a:pt x="65726" y="1990"/>
                </a:cubicBezTo>
                <a:cubicBezTo>
                  <a:pt x="65706" y="1990"/>
                  <a:pt x="65706" y="1990"/>
                  <a:pt x="65687" y="1990"/>
                </a:cubicBezTo>
                <a:cubicBezTo>
                  <a:pt x="65488" y="2050"/>
                  <a:pt x="65269" y="2110"/>
                  <a:pt x="65050" y="2169"/>
                </a:cubicBezTo>
                <a:cubicBezTo>
                  <a:pt x="65030" y="2169"/>
                  <a:pt x="65010" y="2169"/>
                  <a:pt x="65010" y="2189"/>
                </a:cubicBezTo>
                <a:cubicBezTo>
                  <a:pt x="64791" y="2229"/>
                  <a:pt x="64553" y="2289"/>
                  <a:pt x="64314" y="2348"/>
                </a:cubicBezTo>
                <a:cubicBezTo>
                  <a:pt x="64294" y="2348"/>
                  <a:pt x="64294" y="2348"/>
                  <a:pt x="64274" y="2368"/>
                </a:cubicBezTo>
                <a:cubicBezTo>
                  <a:pt x="64035" y="2408"/>
                  <a:pt x="63777" y="2468"/>
                  <a:pt x="63518" y="2527"/>
                </a:cubicBezTo>
                <a:cubicBezTo>
                  <a:pt x="63498" y="2527"/>
                  <a:pt x="63498" y="2527"/>
                  <a:pt x="63478" y="2527"/>
                </a:cubicBezTo>
                <a:cubicBezTo>
                  <a:pt x="63220" y="2587"/>
                  <a:pt x="62941" y="2647"/>
                  <a:pt x="62663" y="2706"/>
                </a:cubicBezTo>
                <a:cubicBezTo>
                  <a:pt x="62643" y="2706"/>
                  <a:pt x="62643" y="2706"/>
                  <a:pt x="62623" y="2706"/>
                </a:cubicBezTo>
                <a:cubicBezTo>
                  <a:pt x="62345" y="2746"/>
                  <a:pt x="62066" y="2806"/>
                  <a:pt x="61768" y="2865"/>
                </a:cubicBezTo>
                <a:lnTo>
                  <a:pt x="61708" y="2865"/>
                </a:lnTo>
                <a:cubicBezTo>
                  <a:pt x="61430" y="2925"/>
                  <a:pt x="61111" y="2965"/>
                  <a:pt x="60793" y="3025"/>
                </a:cubicBezTo>
                <a:cubicBezTo>
                  <a:pt x="60793" y="3025"/>
                  <a:pt x="60773" y="3025"/>
                  <a:pt x="60753" y="3025"/>
                </a:cubicBezTo>
                <a:cubicBezTo>
                  <a:pt x="60117" y="3124"/>
                  <a:pt x="59440" y="3224"/>
                  <a:pt x="58724" y="3323"/>
                </a:cubicBezTo>
                <a:cubicBezTo>
                  <a:pt x="58704" y="3323"/>
                  <a:pt x="58684" y="3323"/>
                  <a:pt x="58684" y="3323"/>
                </a:cubicBezTo>
                <a:cubicBezTo>
                  <a:pt x="58326" y="3363"/>
                  <a:pt x="57968" y="3422"/>
                  <a:pt x="57590" y="3462"/>
                </a:cubicBezTo>
                <a:cubicBezTo>
                  <a:pt x="57570" y="3462"/>
                  <a:pt x="57550" y="3462"/>
                  <a:pt x="57531" y="3462"/>
                </a:cubicBezTo>
                <a:cubicBezTo>
                  <a:pt x="57172" y="3502"/>
                  <a:pt x="56795" y="3542"/>
                  <a:pt x="56417" y="3601"/>
                </a:cubicBezTo>
                <a:cubicBezTo>
                  <a:pt x="56397" y="3601"/>
                  <a:pt x="56377" y="3601"/>
                  <a:pt x="56357" y="3601"/>
                </a:cubicBezTo>
                <a:cubicBezTo>
                  <a:pt x="55979" y="3641"/>
                  <a:pt x="55601" y="3681"/>
                  <a:pt x="55203" y="3721"/>
                </a:cubicBezTo>
                <a:cubicBezTo>
                  <a:pt x="55183" y="3721"/>
                  <a:pt x="55163" y="3721"/>
                  <a:pt x="55143" y="3721"/>
                </a:cubicBezTo>
                <a:cubicBezTo>
                  <a:pt x="54746" y="3761"/>
                  <a:pt x="54348" y="3800"/>
                  <a:pt x="53930" y="3840"/>
                </a:cubicBezTo>
                <a:lnTo>
                  <a:pt x="53850" y="3840"/>
                </a:lnTo>
                <a:cubicBezTo>
                  <a:pt x="53453" y="3880"/>
                  <a:pt x="53035" y="3920"/>
                  <a:pt x="52617" y="3940"/>
                </a:cubicBezTo>
                <a:lnTo>
                  <a:pt x="52518" y="3960"/>
                </a:lnTo>
                <a:cubicBezTo>
                  <a:pt x="52100" y="3979"/>
                  <a:pt x="51682" y="4019"/>
                  <a:pt x="51244" y="4059"/>
                </a:cubicBezTo>
                <a:cubicBezTo>
                  <a:pt x="51225" y="4059"/>
                  <a:pt x="51185" y="4059"/>
                  <a:pt x="51165" y="4059"/>
                </a:cubicBezTo>
                <a:cubicBezTo>
                  <a:pt x="50727" y="4079"/>
                  <a:pt x="50290" y="4119"/>
                  <a:pt x="49852" y="4139"/>
                </a:cubicBezTo>
                <a:cubicBezTo>
                  <a:pt x="49832" y="4139"/>
                  <a:pt x="49812" y="4139"/>
                  <a:pt x="49792" y="4158"/>
                </a:cubicBezTo>
                <a:cubicBezTo>
                  <a:pt x="49335" y="4178"/>
                  <a:pt x="48877" y="4198"/>
                  <a:pt x="48400" y="4238"/>
                </a:cubicBezTo>
                <a:cubicBezTo>
                  <a:pt x="48380" y="4238"/>
                  <a:pt x="48340" y="4238"/>
                  <a:pt x="48320" y="4238"/>
                </a:cubicBezTo>
                <a:cubicBezTo>
                  <a:pt x="47883" y="4258"/>
                  <a:pt x="47425" y="4278"/>
                  <a:pt x="46987" y="4298"/>
                </a:cubicBezTo>
                <a:cubicBezTo>
                  <a:pt x="46908" y="4298"/>
                  <a:pt x="46828" y="4318"/>
                  <a:pt x="46769" y="4318"/>
                </a:cubicBezTo>
                <a:cubicBezTo>
                  <a:pt x="46331" y="4338"/>
                  <a:pt x="45873" y="4357"/>
                  <a:pt x="45436" y="4377"/>
                </a:cubicBezTo>
                <a:cubicBezTo>
                  <a:pt x="45376" y="4377"/>
                  <a:pt x="45297" y="4377"/>
                  <a:pt x="45237" y="4377"/>
                </a:cubicBezTo>
                <a:cubicBezTo>
                  <a:pt x="44779" y="4397"/>
                  <a:pt x="44322" y="4417"/>
                  <a:pt x="43844" y="4437"/>
                </a:cubicBezTo>
                <a:cubicBezTo>
                  <a:pt x="43586" y="4437"/>
                  <a:pt x="43307" y="4457"/>
                  <a:pt x="43049" y="4457"/>
                </a:cubicBezTo>
                <a:cubicBezTo>
                  <a:pt x="42790" y="4457"/>
                  <a:pt x="42531" y="4477"/>
                  <a:pt x="42273" y="4477"/>
                </a:cubicBezTo>
                <a:cubicBezTo>
                  <a:pt x="41994" y="4477"/>
                  <a:pt x="41736" y="4497"/>
                  <a:pt x="41457" y="4497"/>
                </a:cubicBezTo>
                <a:cubicBezTo>
                  <a:pt x="41199" y="4497"/>
                  <a:pt x="40940" y="4517"/>
                  <a:pt x="40662" y="4517"/>
                </a:cubicBezTo>
                <a:cubicBezTo>
                  <a:pt x="40403" y="4517"/>
                  <a:pt x="40124" y="4517"/>
                  <a:pt x="39846" y="4536"/>
                </a:cubicBezTo>
                <a:cubicBezTo>
                  <a:pt x="39567" y="4536"/>
                  <a:pt x="39309" y="4536"/>
                  <a:pt x="39030" y="4536"/>
                </a:cubicBezTo>
                <a:cubicBezTo>
                  <a:pt x="38772" y="4536"/>
                  <a:pt x="38493" y="4536"/>
                  <a:pt x="38235" y="4556"/>
                </a:cubicBezTo>
                <a:cubicBezTo>
                  <a:pt x="37916" y="4556"/>
                  <a:pt x="37618" y="4556"/>
                  <a:pt x="37320" y="4556"/>
                </a:cubicBezTo>
                <a:lnTo>
                  <a:pt x="37260" y="4556"/>
                </a:lnTo>
                <a:cubicBezTo>
                  <a:pt x="36723" y="4556"/>
                  <a:pt x="36166" y="4556"/>
                  <a:pt x="35609" y="4556"/>
                </a:cubicBezTo>
                <a:cubicBezTo>
                  <a:pt x="35052" y="4556"/>
                  <a:pt x="34495" y="4556"/>
                  <a:pt x="33938" y="4556"/>
                </a:cubicBezTo>
                <a:cubicBezTo>
                  <a:pt x="33699" y="4556"/>
                  <a:pt x="33460" y="4556"/>
                  <a:pt x="33222" y="4536"/>
                </a:cubicBezTo>
                <a:cubicBezTo>
                  <a:pt x="32884" y="4536"/>
                  <a:pt x="32565" y="4536"/>
                  <a:pt x="32227" y="4536"/>
                </a:cubicBezTo>
                <a:cubicBezTo>
                  <a:pt x="31988" y="4536"/>
                  <a:pt x="31730" y="4536"/>
                  <a:pt x="31471" y="4517"/>
                </a:cubicBezTo>
                <a:cubicBezTo>
                  <a:pt x="31153" y="4517"/>
                  <a:pt x="30854" y="4517"/>
                  <a:pt x="30536" y="4497"/>
                </a:cubicBezTo>
                <a:cubicBezTo>
                  <a:pt x="30278" y="4497"/>
                  <a:pt x="30039" y="4497"/>
                  <a:pt x="29780" y="4497"/>
                </a:cubicBezTo>
                <a:cubicBezTo>
                  <a:pt x="29482" y="4477"/>
                  <a:pt x="29164" y="4477"/>
                  <a:pt x="28865" y="4457"/>
                </a:cubicBezTo>
                <a:cubicBezTo>
                  <a:pt x="28626" y="4457"/>
                  <a:pt x="28368" y="4457"/>
                  <a:pt x="28109" y="4437"/>
                </a:cubicBezTo>
                <a:cubicBezTo>
                  <a:pt x="27751" y="4437"/>
                  <a:pt x="27393" y="4417"/>
                  <a:pt x="27055" y="4417"/>
                </a:cubicBezTo>
                <a:cubicBezTo>
                  <a:pt x="26975" y="4397"/>
                  <a:pt x="26916" y="4397"/>
                  <a:pt x="26836" y="4397"/>
                </a:cubicBezTo>
                <a:cubicBezTo>
                  <a:pt x="26339" y="4377"/>
                  <a:pt x="25861" y="4357"/>
                  <a:pt x="25384" y="4338"/>
                </a:cubicBezTo>
                <a:lnTo>
                  <a:pt x="25185" y="4338"/>
                </a:lnTo>
                <a:cubicBezTo>
                  <a:pt x="24668" y="4318"/>
                  <a:pt x="24171" y="4298"/>
                  <a:pt x="23693" y="4258"/>
                </a:cubicBezTo>
                <a:cubicBezTo>
                  <a:pt x="23653" y="4258"/>
                  <a:pt x="23633" y="4258"/>
                  <a:pt x="23594" y="4258"/>
                </a:cubicBezTo>
                <a:cubicBezTo>
                  <a:pt x="23076" y="4238"/>
                  <a:pt x="22579" y="4218"/>
                  <a:pt x="22062" y="4178"/>
                </a:cubicBezTo>
                <a:cubicBezTo>
                  <a:pt x="22042" y="4178"/>
                  <a:pt x="22022" y="4178"/>
                  <a:pt x="21982" y="4178"/>
                </a:cubicBezTo>
                <a:cubicBezTo>
                  <a:pt x="21505" y="4139"/>
                  <a:pt x="21008" y="4119"/>
                  <a:pt x="20530" y="4079"/>
                </a:cubicBezTo>
                <a:cubicBezTo>
                  <a:pt x="20510" y="4079"/>
                  <a:pt x="20490" y="4079"/>
                  <a:pt x="20470" y="4079"/>
                </a:cubicBezTo>
                <a:cubicBezTo>
                  <a:pt x="19973" y="4039"/>
                  <a:pt x="19516" y="4019"/>
                  <a:pt x="19038" y="3979"/>
                </a:cubicBezTo>
                <a:cubicBezTo>
                  <a:pt x="18998" y="3979"/>
                  <a:pt x="18979" y="3979"/>
                  <a:pt x="18939" y="3979"/>
                </a:cubicBezTo>
                <a:cubicBezTo>
                  <a:pt x="18481" y="3940"/>
                  <a:pt x="18024" y="3900"/>
                  <a:pt x="17566" y="3860"/>
                </a:cubicBezTo>
                <a:lnTo>
                  <a:pt x="17487" y="3860"/>
                </a:lnTo>
                <a:cubicBezTo>
                  <a:pt x="17029" y="3820"/>
                  <a:pt x="16591" y="3781"/>
                  <a:pt x="16154" y="3741"/>
                </a:cubicBezTo>
                <a:cubicBezTo>
                  <a:pt x="16114" y="3741"/>
                  <a:pt x="16094" y="3741"/>
                  <a:pt x="16074" y="3741"/>
                </a:cubicBezTo>
                <a:cubicBezTo>
                  <a:pt x="15617" y="3701"/>
                  <a:pt x="15199" y="3661"/>
                  <a:pt x="14761" y="3621"/>
                </a:cubicBezTo>
                <a:cubicBezTo>
                  <a:pt x="14741" y="3601"/>
                  <a:pt x="14721" y="3601"/>
                  <a:pt x="14702" y="3601"/>
                </a:cubicBezTo>
                <a:cubicBezTo>
                  <a:pt x="14264" y="3562"/>
                  <a:pt x="13846" y="3522"/>
                  <a:pt x="13409" y="3462"/>
                </a:cubicBezTo>
                <a:cubicBezTo>
                  <a:pt x="13409" y="3462"/>
                  <a:pt x="13389" y="3462"/>
                  <a:pt x="13389" y="3462"/>
                </a:cubicBezTo>
                <a:cubicBezTo>
                  <a:pt x="12971" y="3422"/>
                  <a:pt x="12553" y="3383"/>
                  <a:pt x="12155" y="3323"/>
                </a:cubicBezTo>
                <a:cubicBezTo>
                  <a:pt x="12135" y="3323"/>
                  <a:pt x="12116" y="3323"/>
                  <a:pt x="12096" y="3323"/>
                </a:cubicBezTo>
                <a:cubicBezTo>
                  <a:pt x="11698" y="3263"/>
                  <a:pt x="11300" y="3224"/>
                  <a:pt x="10902" y="3164"/>
                </a:cubicBezTo>
                <a:lnTo>
                  <a:pt x="10902" y="3164"/>
                </a:lnTo>
                <a:cubicBezTo>
                  <a:pt x="10504" y="3104"/>
                  <a:pt x="10126" y="3064"/>
                  <a:pt x="9768" y="3005"/>
                </a:cubicBezTo>
                <a:cubicBezTo>
                  <a:pt x="9748" y="3005"/>
                  <a:pt x="9728" y="3005"/>
                  <a:pt x="9728" y="3005"/>
                </a:cubicBezTo>
                <a:cubicBezTo>
                  <a:pt x="9350" y="2945"/>
                  <a:pt x="8992" y="2885"/>
                  <a:pt x="8654" y="2846"/>
                </a:cubicBezTo>
                <a:cubicBezTo>
                  <a:pt x="8654" y="2846"/>
                  <a:pt x="8634" y="2846"/>
                  <a:pt x="8634" y="2846"/>
                </a:cubicBezTo>
                <a:cubicBezTo>
                  <a:pt x="8296" y="2786"/>
                  <a:pt x="7958" y="2726"/>
                  <a:pt x="7620" y="2667"/>
                </a:cubicBezTo>
                <a:cubicBezTo>
                  <a:pt x="7600" y="2667"/>
                  <a:pt x="7600" y="2667"/>
                  <a:pt x="7580" y="2667"/>
                </a:cubicBezTo>
                <a:cubicBezTo>
                  <a:pt x="7262" y="2607"/>
                  <a:pt x="6943" y="2547"/>
                  <a:pt x="6625" y="2487"/>
                </a:cubicBezTo>
                <a:cubicBezTo>
                  <a:pt x="6625" y="2487"/>
                  <a:pt x="6605" y="2487"/>
                  <a:pt x="6605" y="2487"/>
                </a:cubicBezTo>
                <a:cubicBezTo>
                  <a:pt x="6307" y="2428"/>
                  <a:pt x="5989" y="2368"/>
                  <a:pt x="5710" y="2308"/>
                </a:cubicBezTo>
                <a:lnTo>
                  <a:pt x="5670" y="2289"/>
                </a:lnTo>
                <a:cubicBezTo>
                  <a:pt x="5392" y="2229"/>
                  <a:pt x="5113" y="2169"/>
                  <a:pt x="4855" y="2110"/>
                </a:cubicBezTo>
                <a:cubicBezTo>
                  <a:pt x="4835" y="2110"/>
                  <a:pt x="4815" y="2110"/>
                  <a:pt x="4815" y="2110"/>
                </a:cubicBezTo>
                <a:cubicBezTo>
                  <a:pt x="4536" y="2050"/>
                  <a:pt x="4298" y="1990"/>
                  <a:pt x="4039" y="1911"/>
                </a:cubicBezTo>
                <a:cubicBezTo>
                  <a:pt x="4039" y="1911"/>
                  <a:pt x="4019" y="1911"/>
                  <a:pt x="4019" y="1911"/>
                </a:cubicBezTo>
                <a:cubicBezTo>
                  <a:pt x="3761" y="1851"/>
                  <a:pt x="3542" y="1791"/>
                  <a:pt x="3323" y="1712"/>
                </a:cubicBezTo>
                <a:cubicBezTo>
                  <a:pt x="3303" y="1712"/>
                  <a:pt x="3283" y="1712"/>
                  <a:pt x="3263" y="1712"/>
                </a:cubicBezTo>
                <a:cubicBezTo>
                  <a:pt x="3164" y="1672"/>
                  <a:pt x="3064" y="1652"/>
                  <a:pt x="2965" y="1612"/>
                </a:cubicBezTo>
                <a:cubicBezTo>
                  <a:pt x="2945" y="1612"/>
                  <a:pt x="2925" y="1612"/>
                  <a:pt x="2905" y="1592"/>
                </a:cubicBezTo>
                <a:cubicBezTo>
                  <a:pt x="2826" y="1572"/>
                  <a:pt x="2766" y="1553"/>
                  <a:pt x="2686" y="1533"/>
                </a:cubicBezTo>
                <a:cubicBezTo>
                  <a:pt x="2647" y="1513"/>
                  <a:pt x="2627" y="1513"/>
                  <a:pt x="2607" y="1493"/>
                </a:cubicBezTo>
                <a:cubicBezTo>
                  <a:pt x="2527" y="1473"/>
                  <a:pt x="2448" y="1453"/>
                  <a:pt x="2388" y="1433"/>
                </a:cubicBezTo>
                <a:cubicBezTo>
                  <a:pt x="2368" y="1413"/>
                  <a:pt x="2348" y="1413"/>
                  <a:pt x="2328" y="1413"/>
                </a:cubicBezTo>
                <a:cubicBezTo>
                  <a:pt x="2229" y="1374"/>
                  <a:pt x="2149" y="1354"/>
                  <a:pt x="2070" y="1314"/>
                </a:cubicBezTo>
                <a:cubicBezTo>
                  <a:pt x="2050" y="1314"/>
                  <a:pt x="2010" y="1294"/>
                  <a:pt x="1990" y="1294"/>
                </a:cubicBezTo>
                <a:cubicBezTo>
                  <a:pt x="1930" y="1254"/>
                  <a:pt x="1871" y="1234"/>
                  <a:pt x="1831" y="1214"/>
                </a:cubicBezTo>
                <a:cubicBezTo>
                  <a:pt x="1791" y="1214"/>
                  <a:pt x="1751" y="1194"/>
                  <a:pt x="1732" y="1175"/>
                </a:cubicBezTo>
                <a:cubicBezTo>
                  <a:pt x="1672" y="1155"/>
                  <a:pt x="1632" y="1135"/>
                  <a:pt x="1592" y="1115"/>
                </a:cubicBezTo>
                <a:cubicBezTo>
                  <a:pt x="1553" y="1115"/>
                  <a:pt x="1513" y="1095"/>
                  <a:pt x="1493" y="1075"/>
                </a:cubicBezTo>
                <a:cubicBezTo>
                  <a:pt x="1453" y="1055"/>
                  <a:pt x="1393" y="1035"/>
                  <a:pt x="1354" y="1015"/>
                </a:cubicBezTo>
                <a:cubicBezTo>
                  <a:pt x="1334" y="1015"/>
                  <a:pt x="1294" y="996"/>
                  <a:pt x="1274" y="976"/>
                </a:cubicBezTo>
                <a:lnTo>
                  <a:pt x="1175" y="936"/>
                </a:lnTo>
                <a:cubicBezTo>
                  <a:pt x="1135" y="916"/>
                  <a:pt x="1095" y="896"/>
                  <a:pt x="1055" y="876"/>
                </a:cubicBezTo>
                <a:cubicBezTo>
                  <a:pt x="1015" y="856"/>
                  <a:pt x="996" y="836"/>
                  <a:pt x="956" y="817"/>
                </a:cubicBezTo>
                <a:cubicBezTo>
                  <a:pt x="916" y="797"/>
                  <a:pt x="876" y="777"/>
                  <a:pt x="836" y="757"/>
                </a:cubicBezTo>
                <a:cubicBezTo>
                  <a:pt x="816" y="737"/>
                  <a:pt x="797" y="717"/>
                  <a:pt x="757" y="717"/>
                </a:cubicBezTo>
                <a:cubicBezTo>
                  <a:pt x="737" y="677"/>
                  <a:pt x="697" y="657"/>
                  <a:pt x="657" y="637"/>
                </a:cubicBezTo>
                <a:cubicBezTo>
                  <a:pt x="637" y="618"/>
                  <a:pt x="618" y="618"/>
                  <a:pt x="578" y="598"/>
                </a:cubicBezTo>
                <a:cubicBezTo>
                  <a:pt x="558" y="578"/>
                  <a:pt x="518" y="558"/>
                  <a:pt x="498" y="538"/>
                </a:cubicBezTo>
                <a:cubicBezTo>
                  <a:pt x="478" y="518"/>
                  <a:pt x="458" y="498"/>
                  <a:pt x="439" y="478"/>
                </a:cubicBezTo>
                <a:cubicBezTo>
                  <a:pt x="399" y="458"/>
                  <a:pt x="379" y="439"/>
                  <a:pt x="339" y="419"/>
                </a:cubicBezTo>
                <a:cubicBezTo>
                  <a:pt x="319" y="399"/>
                  <a:pt x="299" y="379"/>
                  <a:pt x="279" y="359"/>
                </a:cubicBezTo>
                <a:cubicBezTo>
                  <a:pt x="260" y="339"/>
                  <a:pt x="240" y="319"/>
                  <a:pt x="220" y="279"/>
                </a:cubicBezTo>
                <a:lnTo>
                  <a:pt x="160" y="240"/>
                </a:lnTo>
                <a:cubicBezTo>
                  <a:pt x="140" y="220"/>
                  <a:pt x="120" y="180"/>
                  <a:pt x="100" y="160"/>
                </a:cubicBezTo>
                <a:lnTo>
                  <a:pt x="80" y="120"/>
                </a:lnTo>
                <a:cubicBezTo>
                  <a:pt x="41" y="80"/>
                  <a:pt x="21" y="41"/>
                  <a:pt x="1" y="1"/>
                </a:cubicBezTo>
                <a:lnTo>
                  <a:pt x="1" y="1"/>
                </a:lnTo>
                <a:lnTo>
                  <a:pt x="1" y="1"/>
                </a:lnTo>
                <a:cubicBezTo>
                  <a:pt x="2885" y="5372"/>
                  <a:pt x="5790" y="10743"/>
                  <a:pt x="8674" y="16134"/>
                </a:cubicBezTo>
                <a:cubicBezTo>
                  <a:pt x="8694" y="16174"/>
                  <a:pt x="8714" y="16213"/>
                  <a:pt x="8754" y="16253"/>
                </a:cubicBezTo>
                <a:cubicBezTo>
                  <a:pt x="8754" y="16273"/>
                  <a:pt x="8774" y="16293"/>
                  <a:pt x="8793" y="16313"/>
                </a:cubicBezTo>
                <a:cubicBezTo>
                  <a:pt x="8813" y="16333"/>
                  <a:pt x="8813" y="16333"/>
                  <a:pt x="8813" y="16353"/>
                </a:cubicBezTo>
                <a:cubicBezTo>
                  <a:pt x="8833" y="16353"/>
                  <a:pt x="8833" y="16353"/>
                  <a:pt x="8833" y="16353"/>
                </a:cubicBezTo>
                <a:cubicBezTo>
                  <a:pt x="8873" y="16393"/>
                  <a:pt x="8913" y="16432"/>
                  <a:pt x="8953" y="16472"/>
                </a:cubicBezTo>
                <a:cubicBezTo>
                  <a:pt x="8953" y="16492"/>
                  <a:pt x="8972" y="16512"/>
                  <a:pt x="8992" y="16532"/>
                </a:cubicBezTo>
                <a:cubicBezTo>
                  <a:pt x="9012" y="16532"/>
                  <a:pt x="9012" y="16552"/>
                  <a:pt x="9032" y="16552"/>
                </a:cubicBezTo>
                <a:cubicBezTo>
                  <a:pt x="9052" y="16572"/>
                  <a:pt x="9052" y="16591"/>
                  <a:pt x="9072" y="16591"/>
                </a:cubicBezTo>
                <a:cubicBezTo>
                  <a:pt x="9112" y="16631"/>
                  <a:pt x="9152" y="16671"/>
                  <a:pt x="9211" y="16711"/>
                </a:cubicBezTo>
                <a:cubicBezTo>
                  <a:pt x="9211" y="16711"/>
                  <a:pt x="9231" y="16731"/>
                  <a:pt x="9251" y="16731"/>
                </a:cubicBezTo>
                <a:cubicBezTo>
                  <a:pt x="9251" y="16751"/>
                  <a:pt x="9271" y="16751"/>
                  <a:pt x="9291" y="16770"/>
                </a:cubicBezTo>
                <a:cubicBezTo>
                  <a:pt x="9311" y="16790"/>
                  <a:pt x="9331" y="16790"/>
                  <a:pt x="9350" y="16810"/>
                </a:cubicBezTo>
                <a:cubicBezTo>
                  <a:pt x="9410" y="16850"/>
                  <a:pt x="9470" y="16890"/>
                  <a:pt x="9529" y="16930"/>
                </a:cubicBezTo>
                <a:cubicBezTo>
                  <a:pt x="9529" y="16930"/>
                  <a:pt x="9549" y="16930"/>
                  <a:pt x="9549" y="16950"/>
                </a:cubicBezTo>
                <a:cubicBezTo>
                  <a:pt x="9569" y="16950"/>
                  <a:pt x="9569" y="16950"/>
                  <a:pt x="9589" y="16969"/>
                </a:cubicBezTo>
                <a:lnTo>
                  <a:pt x="9709" y="17029"/>
                </a:lnTo>
                <a:cubicBezTo>
                  <a:pt x="9748" y="17069"/>
                  <a:pt x="9808" y="17089"/>
                  <a:pt x="9848" y="17129"/>
                </a:cubicBezTo>
                <a:cubicBezTo>
                  <a:pt x="9868" y="17129"/>
                  <a:pt x="9888" y="17129"/>
                  <a:pt x="9907" y="17148"/>
                </a:cubicBezTo>
                <a:cubicBezTo>
                  <a:pt x="9907" y="17148"/>
                  <a:pt x="9927" y="17148"/>
                  <a:pt x="9947" y="17168"/>
                </a:cubicBezTo>
                <a:cubicBezTo>
                  <a:pt x="9967" y="17168"/>
                  <a:pt x="9987" y="17188"/>
                  <a:pt x="10007" y="17208"/>
                </a:cubicBezTo>
                <a:cubicBezTo>
                  <a:pt x="10067" y="17228"/>
                  <a:pt x="10126" y="17248"/>
                  <a:pt x="10186" y="17288"/>
                </a:cubicBezTo>
                <a:cubicBezTo>
                  <a:pt x="10226" y="17308"/>
                  <a:pt x="10266" y="17327"/>
                  <a:pt x="10305" y="17347"/>
                </a:cubicBezTo>
                <a:cubicBezTo>
                  <a:pt x="10325" y="17347"/>
                  <a:pt x="10325" y="17347"/>
                  <a:pt x="10345" y="17347"/>
                </a:cubicBezTo>
                <a:cubicBezTo>
                  <a:pt x="10345" y="17367"/>
                  <a:pt x="10365" y="17367"/>
                  <a:pt x="10365" y="17367"/>
                </a:cubicBezTo>
                <a:cubicBezTo>
                  <a:pt x="10425" y="17387"/>
                  <a:pt x="10464" y="17407"/>
                  <a:pt x="10524" y="17427"/>
                </a:cubicBezTo>
                <a:cubicBezTo>
                  <a:pt x="10584" y="17467"/>
                  <a:pt x="10643" y="17487"/>
                  <a:pt x="10703" y="17507"/>
                </a:cubicBezTo>
                <a:cubicBezTo>
                  <a:pt x="10723" y="17507"/>
                  <a:pt x="10743" y="17526"/>
                  <a:pt x="10763" y="17526"/>
                </a:cubicBezTo>
                <a:cubicBezTo>
                  <a:pt x="10783" y="17546"/>
                  <a:pt x="10783" y="17546"/>
                  <a:pt x="10803" y="17546"/>
                </a:cubicBezTo>
                <a:cubicBezTo>
                  <a:pt x="10823" y="17546"/>
                  <a:pt x="10842" y="17566"/>
                  <a:pt x="10882" y="17566"/>
                </a:cubicBezTo>
                <a:cubicBezTo>
                  <a:pt x="10942" y="17606"/>
                  <a:pt x="11002" y="17626"/>
                  <a:pt x="11061" y="17646"/>
                </a:cubicBezTo>
                <a:cubicBezTo>
                  <a:pt x="11121" y="17666"/>
                  <a:pt x="11181" y="17686"/>
                  <a:pt x="11240" y="17705"/>
                </a:cubicBezTo>
                <a:cubicBezTo>
                  <a:pt x="11240" y="17705"/>
                  <a:pt x="11260" y="17725"/>
                  <a:pt x="11280" y="17725"/>
                </a:cubicBezTo>
                <a:cubicBezTo>
                  <a:pt x="11280" y="17725"/>
                  <a:pt x="11280" y="17725"/>
                  <a:pt x="11280" y="17725"/>
                </a:cubicBezTo>
                <a:cubicBezTo>
                  <a:pt x="11300" y="17725"/>
                  <a:pt x="11300" y="17725"/>
                  <a:pt x="11300" y="17725"/>
                </a:cubicBezTo>
                <a:cubicBezTo>
                  <a:pt x="11340" y="17745"/>
                  <a:pt x="11380" y="17765"/>
                  <a:pt x="11419" y="17765"/>
                </a:cubicBezTo>
                <a:cubicBezTo>
                  <a:pt x="11479" y="17785"/>
                  <a:pt x="11539" y="17805"/>
                  <a:pt x="11598" y="17825"/>
                </a:cubicBezTo>
                <a:cubicBezTo>
                  <a:pt x="11658" y="17845"/>
                  <a:pt x="11718" y="17884"/>
                  <a:pt x="11777" y="17904"/>
                </a:cubicBezTo>
                <a:lnTo>
                  <a:pt x="11837" y="17904"/>
                </a:lnTo>
                <a:cubicBezTo>
                  <a:pt x="11857" y="17904"/>
                  <a:pt x="11857" y="17924"/>
                  <a:pt x="11857" y="17924"/>
                </a:cubicBezTo>
                <a:cubicBezTo>
                  <a:pt x="11897" y="17924"/>
                  <a:pt x="11937" y="17944"/>
                  <a:pt x="11976" y="17944"/>
                </a:cubicBezTo>
                <a:cubicBezTo>
                  <a:pt x="12036" y="17964"/>
                  <a:pt x="12096" y="17984"/>
                  <a:pt x="12155" y="18004"/>
                </a:cubicBezTo>
                <a:cubicBezTo>
                  <a:pt x="12235" y="18024"/>
                  <a:pt x="12295" y="18044"/>
                  <a:pt x="12354" y="18064"/>
                </a:cubicBezTo>
                <a:cubicBezTo>
                  <a:pt x="12374" y="18064"/>
                  <a:pt x="12414" y="18083"/>
                  <a:pt x="12434" y="18083"/>
                </a:cubicBezTo>
                <a:cubicBezTo>
                  <a:pt x="12454" y="18083"/>
                  <a:pt x="12454" y="18103"/>
                  <a:pt x="12474" y="18103"/>
                </a:cubicBezTo>
                <a:cubicBezTo>
                  <a:pt x="12494" y="18103"/>
                  <a:pt x="12533" y="18123"/>
                  <a:pt x="12553" y="18123"/>
                </a:cubicBezTo>
                <a:cubicBezTo>
                  <a:pt x="12613" y="18143"/>
                  <a:pt x="12673" y="18163"/>
                  <a:pt x="12752" y="18183"/>
                </a:cubicBezTo>
                <a:cubicBezTo>
                  <a:pt x="12812" y="18203"/>
                  <a:pt x="12871" y="18223"/>
                  <a:pt x="12951" y="18243"/>
                </a:cubicBezTo>
                <a:lnTo>
                  <a:pt x="13090" y="18262"/>
                </a:lnTo>
                <a:cubicBezTo>
                  <a:pt x="13110" y="18282"/>
                  <a:pt x="13110" y="18282"/>
                  <a:pt x="13110" y="18282"/>
                </a:cubicBezTo>
                <a:cubicBezTo>
                  <a:pt x="13130" y="18282"/>
                  <a:pt x="13150" y="18282"/>
                  <a:pt x="13150" y="18282"/>
                </a:cubicBezTo>
                <a:lnTo>
                  <a:pt x="13369" y="18342"/>
                </a:lnTo>
                <a:cubicBezTo>
                  <a:pt x="13428" y="18362"/>
                  <a:pt x="13508" y="18382"/>
                  <a:pt x="13568" y="18382"/>
                </a:cubicBezTo>
                <a:cubicBezTo>
                  <a:pt x="13627" y="18402"/>
                  <a:pt x="13707" y="18422"/>
                  <a:pt x="13767" y="18441"/>
                </a:cubicBezTo>
                <a:cubicBezTo>
                  <a:pt x="13787" y="18441"/>
                  <a:pt x="13787" y="18441"/>
                  <a:pt x="13787" y="18441"/>
                </a:cubicBezTo>
                <a:cubicBezTo>
                  <a:pt x="13806" y="18441"/>
                  <a:pt x="13806" y="18441"/>
                  <a:pt x="13806" y="18441"/>
                </a:cubicBezTo>
                <a:cubicBezTo>
                  <a:pt x="13866" y="18461"/>
                  <a:pt x="13926" y="18481"/>
                  <a:pt x="13985" y="18481"/>
                </a:cubicBezTo>
                <a:cubicBezTo>
                  <a:pt x="14065" y="18501"/>
                  <a:pt x="14125" y="18521"/>
                  <a:pt x="14204" y="18541"/>
                </a:cubicBezTo>
                <a:cubicBezTo>
                  <a:pt x="14284" y="18561"/>
                  <a:pt x="14344" y="18581"/>
                  <a:pt x="14423" y="18581"/>
                </a:cubicBezTo>
                <a:lnTo>
                  <a:pt x="14523" y="18601"/>
                </a:lnTo>
                <a:lnTo>
                  <a:pt x="14562" y="18620"/>
                </a:lnTo>
                <a:cubicBezTo>
                  <a:pt x="14582" y="18620"/>
                  <a:pt x="14622" y="18620"/>
                  <a:pt x="14642" y="18640"/>
                </a:cubicBezTo>
                <a:cubicBezTo>
                  <a:pt x="14721" y="18640"/>
                  <a:pt x="14781" y="18660"/>
                  <a:pt x="14861" y="18680"/>
                </a:cubicBezTo>
                <a:cubicBezTo>
                  <a:pt x="14940" y="18700"/>
                  <a:pt x="15020" y="18720"/>
                  <a:pt x="15080" y="18720"/>
                </a:cubicBezTo>
                <a:cubicBezTo>
                  <a:pt x="15159" y="18740"/>
                  <a:pt x="15239" y="18760"/>
                  <a:pt x="15318" y="18780"/>
                </a:cubicBezTo>
                <a:lnTo>
                  <a:pt x="15318" y="18780"/>
                </a:lnTo>
                <a:cubicBezTo>
                  <a:pt x="15318" y="18780"/>
                  <a:pt x="15318" y="18780"/>
                  <a:pt x="15318" y="18780"/>
                </a:cubicBezTo>
                <a:cubicBezTo>
                  <a:pt x="15398" y="18800"/>
                  <a:pt x="15477" y="18800"/>
                  <a:pt x="15557" y="18819"/>
                </a:cubicBezTo>
                <a:cubicBezTo>
                  <a:pt x="15617" y="18839"/>
                  <a:pt x="15696" y="18839"/>
                  <a:pt x="15776" y="18859"/>
                </a:cubicBezTo>
                <a:lnTo>
                  <a:pt x="16015" y="18899"/>
                </a:lnTo>
                <a:cubicBezTo>
                  <a:pt x="16054" y="18919"/>
                  <a:pt x="16094" y="18919"/>
                  <a:pt x="16134" y="18919"/>
                </a:cubicBezTo>
                <a:cubicBezTo>
                  <a:pt x="16134" y="18919"/>
                  <a:pt x="16154" y="18939"/>
                  <a:pt x="16154" y="18939"/>
                </a:cubicBezTo>
                <a:cubicBezTo>
                  <a:pt x="16194" y="18939"/>
                  <a:pt x="16233" y="18939"/>
                  <a:pt x="16273" y="18959"/>
                </a:cubicBezTo>
                <a:cubicBezTo>
                  <a:pt x="16353" y="18959"/>
                  <a:pt x="16432" y="18979"/>
                  <a:pt x="16512" y="18998"/>
                </a:cubicBezTo>
                <a:cubicBezTo>
                  <a:pt x="16591" y="18998"/>
                  <a:pt x="16671" y="19018"/>
                  <a:pt x="16770" y="19038"/>
                </a:cubicBezTo>
                <a:cubicBezTo>
                  <a:pt x="16850" y="19038"/>
                  <a:pt x="16930" y="19058"/>
                  <a:pt x="17009" y="19078"/>
                </a:cubicBezTo>
                <a:lnTo>
                  <a:pt x="17009" y="19078"/>
                </a:lnTo>
                <a:lnTo>
                  <a:pt x="17009" y="19078"/>
                </a:lnTo>
                <a:lnTo>
                  <a:pt x="17009" y="19078"/>
                </a:lnTo>
                <a:cubicBezTo>
                  <a:pt x="17089" y="19098"/>
                  <a:pt x="17188" y="19098"/>
                  <a:pt x="17268" y="19118"/>
                </a:cubicBezTo>
                <a:cubicBezTo>
                  <a:pt x="17367" y="19138"/>
                  <a:pt x="17447" y="19138"/>
                  <a:pt x="17526" y="19158"/>
                </a:cubicBezTo>
                <a:cubicBezTo>
                  <a:pt x="17626" y="19177"/>
                  <a:pt x="17705" y="19177"/>
                  <a:pt x="17805" y="19197"/>
                </a:cubicBezTo>
                <a:lnTo>
                  <a:pt x="17904" y="19217"/>
                </a:lnTo>
                <a:cubicBezTo>
                  <a:pt x="17904" y="19217"/>
                  <a:pt x="17924" y="19217"/>
                  <a:pt x="17944" y="19217"/>
                </a:cubicBezTo>
                <a:cubicBezTo>
                  <a:pt x="17984" y="19217"/>
                  <a:pt x="18024" y="19237"/>
                  <a:pt x="18063" y="19237"/>
                </a:cubicBezTo>
                <a:cubicBezTo>
                  <a:pt x="18163" y="19257"/>
                  <a:pt x="18242" y="19257"/>
                  <a:pt x="18342" y="19277"/>
                </a:cubicBezTo>
                <a:cubicBezTo>
                  <a:pt x="18441" y="19297"/>
                  <a:pt x="18521" y="19297"/>
                  <a:pt x="18620" y="19317"/>
                </a:cubicBezTo>
                <a:cubicBezTo>
                  <a:pt x="18700" y="19337"/>
                  <a:pt x="18760" y="19337"/>
                  <a:pt x="18839" y="19357"/>
                </a:cubicBezTo>
                <a:cubicBezTo>
                  <a:pt x="18859" y="19357"/>
                  <a:pt x="18859" y="19357"/>
                  <a:pt x="18879" y="19357"/>
                </a:cubicBezTo>
                <a:cubicBezTo>
                  <a:pt x="18879" y="19357"/>
                  <a:pt x="18899" y="19357"/>
                  <a:pt x="18899" y="19357"/>
                </a:cubicBezTo>
                <a:lnTo>
                  <a:pt x="19177" y="19396"/>
                </a:lnTo>
                <a:cubicBezTo>
                  <a:pt x="19277" y="19416"/>
                  <a:pt x="19376" y="19416"/>
                  <a:pt x="19476" y="19436"/>
                </a:cubicBezTo>
                <a:cubicBezTo>
                  <a:pt x="19575" y="19456"/>
                  <a:pt x="19695" y="19456"/>
                  <a:pt x="19794" y="19476"/>
                </a:cubicBezTo>
                <a:cubicBezTo>
                  <a:pt x="19794" y="19476"/>
                  <a:pt x="19814" y="19476"/>
                  <a:pt x="19834" y="19476"/>
                </a:cubicBezTo>
                <a:cubicBezTo>
                  <a:pt x="19834" y="19476"/>
                  <a:pt x="19854" y="19476"/>
                  <a:pt x="19854" y="19476"/>
                </a:cubicBezTo>
                <a:cubicBezTo>
                  <a:pt x="19933" y="19496"/>
                  <a:pt x="20013" y="19496"/>
                  <a:pt x="20093" y="19516"/>
                </a:cubicBezTo>
                <a:cubicBezTo>
                  <a:pt x="20192" y="19516"/>
                  <a:pt x="20291" y="19536"/>
                  <a:pt x="20391" y="19555"/>
                </a:cubicBezTo>
                <a:cubicBezTo>
                  <a:pt x="20510" y="19555"/>
                  <a:pt x="20610" y="19575"/>
                  <a:pt x="20729" y="19575"/>
                </a:cubicBezTo>
                <a:cubicBezTo>
                  <a:pt x="20749" y="19595"/>
                  <a:pt x="20789" y="19595"/>
                  <a:pt x="20829" y="19595"/>
                </a:cubicBezTo>
                <a:lnTo>
                  <a:pt x="20888" y="19595"/>
                </a:lnTo>
                <a:cubicBezTo>
                  <a:pt x="20948" y="19615"/>
                  <a:pt x="21008" y="19615"/>
                  <a:pt x="21047" y="19615"/>
                </a:cubicBezTo>
                <a:cubicBezTo>
                  <a:pt x="21167" y="19635"/>
                  <a:pt x="21286" y="19655"/>
                  <a:pt x="21386" y="19655"/>
                </a:cubicBezTo>
                <a:cubicBezTo>
                  <a:pt x="21505" y="19675"/>
                  <a:pt x="21604" y="19675"/>
                  <a:pt x="21724" y="19695"/>
                </a:cubicBezTo>
                <a:cubicBezTo>
                  <a:pt x="21763" y="19695"/>
                  <a:pt x="21823" y="19695"/>
                  <a:pt x="21863" y="19715"/>
                </a:cubicBezTo>
                <a:cubicBezTo>
                  <a:pt x="21883" y="19715"/>
                  <a:pt x="21903" y="19715"/>
                  <a:pt x="21943" y="19715"/>
                </a:cubicBezTo>
                <a:lnTo>
                  <a:pt x="22082" y="19734"/>
                </a:lnTo>
                <a:cubicBezTo>
                  <a:pt x="22201" y="19734"/>
                  <a:pt x="22320" y="19754"/>
                  <a:pt x="22440" y="19774"/>
                </a:cubicBezTo>
                <a:cubicBezTo>
                  <a:pt x="22559" y="19774"/>
                  <a:pt x="22698" y="19794"/>
                  <a:pt x="22818" y="19794"/>
                </a:cubicBezTo>
                <a:cubicBezTo>
                  <a:pt x="22858" y="19814"/>
                  <a:pt x="22897" y="19814"/>
                  <a:pt x="22937" y="19814"/>
                </a:cubicBezTo>
                <a:cubicBezTo>
                  <a:pt x="22957" y="19814"/>
                  <a:pt x="22977" y="19814"/>
                  <a:pt x="22997" y="19814"/>
                </a:cubicBezTo>
                <a:cubicBezTo>
                  <a:pt x="23057" y="19814"/>
                  <a:pt x="23116" y="19834"/>
                  <a:pt x="23176" y="19834"/>
                </a:cubicBezTo>
                <a:cubicBezTo>
                  <a:pt x="23315" y="19854"/>
                  <a:pt x="23454" y="19854"/>
                  <a:pt x="23594" y="19874"/>
                </a:cubicBezTo>
                <a:cubicBezTo>
                  <a:pt x="23713" y="19874"/>
                  <a:pt x="23852" y="19894"/>
                  <a:pt x="23991" y="19914"/>
                </a:cubicBezTo>
                <a:cubicBezTo>
                  <a:pt x="24011" y="19914"/>
                  <a:pt x="24031" y="19914"/>
                  <a:pt x="24051" y="19914"/>
                </a:cubicBezTo>
                <a:cubicBezTo>
                  <a:pt x="24071" y="19914"/>
                  <a:pt x="24091" y="19914"/>
                  <a:pt x="24111" y="19914"/>
                </a:cubicBezTo>
                <a:cubicBezTo>
                  <a:pt x="24210" y="19914"/>
                  <a:pt x="24310" y="19933"/>
                  <a:pt x="24409" y="19933"/>
                </a:cubicBezTo>
                <a:cubicBezTo>
                  <a:pt x="24548" y="19953"/>
                  <a:pt x="24688" y="19953"/>
                  <a:pt x="24827" y="19973"/>
                </a:cubicBezTo>
                <a:cubicBezTo>
                  <a:pt x="24946" y="19973"/>
                  <a:pt x="25066" y="19993"/>
                  <a:pt x="25165" y="19993"/>
                </a:cubicBezTo>
                <a:cubicBezTo>
                  <a:pt x="25185" y="19993"/>
                  <a:pt x="25205" y="19993"/>
                  <a:pt x="25205" y="19993"/>
                </a:cubicBezTo>
                <a:cubicBezTo>
                  <a:pt x="25225" y="19993"/>
                  <a:pt x="25225" y="19993"/>
                  <a:pt x="25225" y="19993"/>
                </a:cubicBezTo>
                <a:cubicBezTo>
                  <a:pt x="25245" y="19993"/>
                  <a:pt x="25284" y="19993"/>
                  <a:pt x="25304" y="20013"/>
                </a:cubicBezTo>
                <a:cubicBezTo>
                  <a:pt x="25464" y="20013"/>
                  <a:pt x="25623" y="20033"/>
                  <a:pt x="25782" y="20033"/>
                </a:cubicBezTo>
                <a:cubicBezTo>
                  <a:pt x="25941" y="20053"/>
                  <a:pt x="26100" y="20053"/>
                  <a:pt x="26259" y="20073"/>
                </a:cubicBezTo>
                <a:cubicBezTo>
                  <a:pt x="26299" y="20073"/>
                  <a:pt x="26319" y="20073"/>
                  <a:pt x="26339" y="20073"/>
                </a:cubicBezTo>
                <a:cubicBezTo>
                  <a:pt x="26379" y="20073"/>
                  <a:pt x="26398" y="20073"/>
                  <a:pt x="26418" y="20073"/>
                </a:cubicBezTo>
                <a:cubicBezTo>
                  <a:pt x="26538" y="20093"/>
                  <a:pt x="26637" y="20093"/>
                  <a:pt x="26757" y="20093"/>
                </a:cubicBezTo>
                <a:cubicBezTo>
                  <a:pt x="26955" y="20112"/>
                  <a:pt x="27174" y="20132"/>
                  <a:pt x="27373" y="20132"/>
                </a:cubicBezTo>
                <a:lnTo>
                  <a:pt x="27512" y="20152"/>
                </a:lnTo>
                <a:cubicBezTo>
                  <a:pt x="27552" y="20152"/>
                  <a:pt x="27612" y="20152"/>
                  <a:pt x="27652" y="20152"/>
                </a:cubicBezTo>
                <a:cubicBezTo>
                  <a:pt x="27771" y="20152"/>
                  <a:pt x="27871" y="20152"/>
                  <a:pt x="27990" y="20172"/>
                </a:cubicBezTo>
                <a:cubicBezTo>
                  <a:pt x="28189" y="20172"/>
                  <a:pt x="28408" y="20192"/>
                  <a:pt x="28607" y="20192"/>
                </a:cubicBezTo>
                <a:cubicBezTo>
                  <a:pt x="28646" y="20192"/>
                  <a:pt x="28686" y="20192"/>
                  <a:pt x="28726" y="20192"/>
                </a:cubicBezTo>
                <a:cubicBezTo>
                  <a:pt x="28766" y="20212"/>
                  <a:pt x="28825" y="20212"/>
                  <a:pt x="28865" y="20212"/>
                </a:cubicBezTo>
                <a:cubicBezTo>
                  <a:pt x="28985" y="20212"/>
                  <a:pt x="29124" y="20212"/>
                  <a:pt x="29243" y="20232"/>
                </a:cubicBezTo>
                <a:cubicBezTo>
                  <a:pt x="29382" y="20232"/>
                  <a:pt x="29522" y="20232"/>
                  <a:pt x="29661" y="20232"/>
                </a:cubicBezTo>
                <a:cubicBezTo>
                  <a:pt x="29840" y="20252"/>
                  <a:pt x="30019" y="20252"/>
                  <a:pt x="30198" y="20252"/>
                </a:cubicBezTo>
                <a:cubicBezTo>
                  <a:pt x="30278" y="20252"/>
                  <a:pt x="30337" y="20272"/>
                  <a:pt x="30417" y="20272"/>
                </a:cubicBezTo>
                <a:cubicBezTo>
                  <a:pt x="30556" y="20272"/>
                  <a:pt x="30715" y="20272"/>
                  <a:pt x="30874" y="20272"/>
                </a:cubicBezTo>
                <a:cubicBezTo>
                  <a:pt x="31053" y="20291"/>
                  <a:pt x="31232" y="20291"/>
                  <a:pt x="31431" y="20291"/>
                </a:cubicBezTo>
                <a:cubicBezTo>
                  <a:pt x="31471" y="20291"/>
                  <a:pt x="31531" y="20291"/>
                  <a:pt x="31590" y="20291"/>
                </a:cubicBezTo>
                <a:cubicBezTo>
                  <a:pt x="31770" y="20311"/>
                  <a:pt x="31949" y="20311"/>
                  <a:pt x="32108" y="20311"/>
                </a:cubicBezTo>
                <a:cubicBezTo>
                  <a:pt x="32287" y="20311"/>
                  <a:pt x="32466" y="20311"/>
                  <a:pt x="32665" y="20311"/>
                </a:cubicBezTo>
                <a:cubicBezTo>
                  <a:pt x="32704" y="20311"/>
                  <a:pt x="32744" y="20311"/>
                  <a:pt x="32784" y="20311"/>
                </a:cubicBezTo>
                <a:cubicBezTo>
                  <a:pt x="32983" y="20331"/>
                  <a:pt x="33182" y="20331"/>
                  <a:pt x="33381" y="20331"/>
                </a:cubicBezTo>
                <a:lnTo>
                  <a:pt x="33898" y="20331"/>
                </a:lnTo>
                <a:lnTo>
                  <a:pt x="33997" y="20331"/>
                </a:lnTo>
                <a:cubicBezTo>
                  <a:pt x="34097" y="20331"/>
                  <a:pt x="34177" y="20331"/>
                  <a:pt x="34276" y="20331"/>
                </a:cubicBezTo>
                <a:cubicBezTo>
                  <a:pt x="34375" y="20331"/>
                  <a:pt x="34455" y="20331"/>
                  <a:pt x="34554" y="20331"/>
                </a:cubicBezTo>
                <a:lnTo>
                  <a:pt x="34833" y="20331"/>
                </a:lnTo>
                <a:lnTo>
                  <a:pt x="35111" y="20331"/>
                </a:lnTo>
                <a:lnTo>
                  <a:pt x="35450" y="20331"/>
                </a:lnTo>
                <a:lnTo>
                  <a:pt x="35788" y="20331"/>
                </a:lnTo>
                <a:cubicBezTo>
                  <a:pt x="35907" y="20331"/>
                  <a:pt x="36007" y="20331"/>
                  <a:pt x="36126" y="20331"/>
                </a:cubicBezTo>
                <a:cubicBezTo>
                  <a:pt x="36186" y="20331"/>
                  <a:pt x="36265" y="20331"/>
                  <a:pt x="36325" y="20331"/>
                </a:cubicBezTo>
                <a:lnTo>
                  <a:pt x="36365" y="20331"/>
                </a:lnTo>
                <a:lnTo>
                  <a:pt x="36464" y="20331"/>
                </a:lnTo>
                <a:cubicBezTo>
                  <a:pt x="36643" y="20331"/>
                  <a:pt x="36842" y="20331"/>
                  <a:pt x="37041" y="20331"/>
                </a:cubicBezTo>
                <a:lnTo>
                  <a:pt x="37618" y="20311"/>
                </a:lnTo>
                <a:lnTo>
                  <a:pt x="37658" y="20311"/>
                </a:lnTo>
                <a:cubicBezTo>
                  <a:pt x="37857" y="20311"/>
                  <a:pt x="38036" y="20311"/>
                  <a:pt x="38235" y="20311"/>
                </a:cubicBezTo>
                <a:cubicBezTo>
                  <a:pt x="38434" y="20311"/>
                  <a:pt x="38613" y="20291"/>
                  <a:pt x="38812" y="20291"/>
                </a:cubicBezTo>
                <a:lnTo>
                  <a:pt x="38831" y="20291"/>
                </a:lnTo>
                <a:cubicBezTo>
                  <a:pt x="39030" y="20291"/>
                  <a:pt x="39229" y="20291"/>
                  <a:pt x="39408" y="20272"/>
                </a:cubicBezTo>
                <a:cubicBezTo>
                  <a:pt x="39607" y="20272"/>
                  <a:pt x="39786" y="20272"/>
                  <a:pt x="39985" y="20252"/>
                </a:cubicBezTo>
                <a:lnTo>
                  <a:pt x="40005" y="20252"/>
                </a:lnTo>
                <a:cubicBezTo>
                  <a:pt x="40204" y="20252"/>
                  <a:pt x="40383" y="20252"/>
                  <a:pt x="40582" y="20232"/>
                </a:cubicBezTo>
                <a:cubicBezTo>
                  <a:pt x="40761" y="20232"/>
                  <a:pt x="40940" y="20232"/>
                  <a:pt x="41139" y="20212"/>
                </a:cubicBezTo>
                <a:lnTo>
                  <a:pt x="41159" y="20212"/>
                </a:lnTo>
                <a:cubicBezTo>
                  <a:pt x="41358" y="20212"/>
                  <a:pt x="41557" y="20192"/>
                  <a:pt x="41776" y="20192"/>
                </a:cubicBezTo>
                <a:cubicBezTo>
                  <a:pt x="41895" y="20192"/>
                  <a:pt x="42034" y="20172"/>
                  <a:pt x="42153" y="20172"/>
                </a:cubicBezTo>
                <a:cubicBezTo>
                  <a:pt x="42193" y="20172"/>
                  <a:pt x="42253" y="20172"/>
                  <a:pt x="42293" y="20172"/>
                </a:cubicBezTo>
                <a:cubicBezTo>
                  <a:pt x="42313" y="20152"/>
                  <a:pt x="42352" y="20152"/>
                  <a:pt x="42372" y="20152"/>
                </a:cubicBezTo>
                <a:cubicBezTo>
                  <a:pt x="42591" y="20152"/>
                  <a:pt x="42790" y="20132"/>
                  <a:pt x="42989" y="20132"/>
                </a:cubicBezTo>
                <a:cubicBezTo>
                  <a:pt x="43088" y="20112"/>
                  <a:pt x="43168" y="20112"/>
                  <a:pt x="43267" y="20112"/>
                </a:cubicBezTo>
                <a:cubicBezTo>
                  <a:pt x="43327" y="20112"/>
                  <a:pt x="43367" y="20112"/>
                  <a:pt x="43427" y="20093"/>
                </a:cubicBezTo>
                <a:cubicBezTo>
                  <a:pt x="43466" y="20093"/>
                  <a:pt x="43526" y="20093"/>
                  <a:pt x="43586" y="20093"/>
                </a:cubicBezTo>
                <a:cubicBezTo>
                  <a:pt x="43745" y="20073"/>
                  <a:pt x="43904" y="20073"/>
                  <a:pt x="44063" y="20053"/>
                </a:cubicBezTo>
                <a:cubicBezTo>
                  <a:pt x="44183" y="20053"/>
                  <a:pt x="44282" y="20053"/>
                  <a:pt x="44401" y="20033"/>
                </a:cubicBezTo>
                <a:cubicBezTo>
                  <a:pt x="44421" y="20033"/>
                  <a:pt x="44441" y="20033"/>
                  <a:pt x="44441" y="20033"/>
                </a:cubicBezTo>
                <a:cubicBezTo>
                  <a:pt x="44461" y="20033"/>
                  <a:pt x="44461" y="20033"/>
                  <a:pt x="44461" y="20033"/>
                </a:cubicBezTo>
                <a:cubicBezTo>
                  <a:pt x="44481" y="20033"/>
                  <a:pt x="44501" y="20033"/>
                  <a:pt x="44521" y="20033"/>
                </a:cubicBezTo>
                <a:cubicBezTo>
                  <a:pt x="44680" y="20013"/>
                  <a:pt x="44839" y="20013"/>
                  <a:pt x="44998" y="19993"/>
                </a:cubicBezTo>
                <a:cubicBezTo>
                  <a:pt x="45137" y="19993"/>
                  <a:pt x="45297" y="19973"/>
                  <a:pt x="45456" y="19953"/>
                </a:cubicBezTo>
                <a:cubicBezTo>
                  <a:pt x="45456" y="19953"/>
                  <a:pt x="45476" y="19953"/>
                  <a:pt x="45495" y="19953"/>
                </a:cubicBezTo>
                <a:cubicBezTo>
                  <a:pt x="45495" y="19953"/>
                  <a:pt x="45515" y="19953"/>
                  <a:pt x="45515" y="19953"/>
                </a:cubicBezTo>
                <a:cubicBezTo>
                  <a:pt x="45635" y="19953"/>
                  <a:pt x="45734" y="19933"/>
                  <a:pt x="45854" y="19933"/>
                </a:cubicBezTo>
                <a:cubicBezTo>
                  <a:pt x="45993" y="19914"/>
                  <a:pt x="46112" y="19914"/>
                  <a:pt x="46251" y="19894"/>
                </a:cubicBezTo>
                <a:cubicBezTo>
                  <a:pt x="46331" y="19894"/>
                  <a:pt x="46411" y="19894"/>
                  <a:pt x="46490" y="19874"/>
                </a:cubicBezTo>
                <a:cubicBezTo>
                  <a:pt x="46510" y="19874"/>
                  <a:pt x="46530" y="19874"/>
                  <a:pt x="46570" y="19874"/>
                </a:cubicBezTo>
                <a:lnTo>
                  <a:pt x="46649" y="19874"/>
                </a:lnTo>
                <a:cubicBezTo>
                  <a:pt x="46769" y="19854"/>
                  <a:pt x="46908" y="19854"/>
                  <a:pt x="47027" y="19834"/>
                </a:cubicBezTo>
                <a:cubicBezTo>
                  <a:pt x="47147" y="19814"/>
                  <a:pt x="47266" y="19814"/>
                  <a:pt x="47385" y="19794"/>
                </a:cubicBezTo>
                <a:cubicBezTo>
                  <a:pt x="47425" y="19794"/>
                  <a:pt x="47465" y="19794"/>
                  <a:pt x="47505" y="19794"/>
                </a:cubicBezTo>
                <a:cubicBezTo>
                  <a:pt x="47525" y="19774"/>
                  <a:pt x="47544" y="19774"/>
                  <a:pt x="47564" y="19774"/>
                </a:cubicBezTo>
                <a:cubicBezTo>
                  <a:pt x="47624" y="19774"/>
                  <a:pt x="47684" y="19774"/>
                  <a:pt x="47743" y="19754"/>
                </a:cubicBezTo>
                <a:cubicBezTo>
                  <a:pt x="47843" y="19754"/>
                  <a:pt x="47962" y="19734"/>
                  <a:pt x="48082" y="19734"/>
                </a:cubicBezTo>
                <a:cubicBezTo>
                  <a:pt x="48201" y="19715"/>
                  <a:pt x="48300" y="19695"/>
                  <a:pt x="48420" y="19695"/>
                </a:cubicBezTo>
                <a:cubicBezTo>
                  <a:pt x="48440" y="19675"/>
                  <a:pt x="48459" y="19675"/>
                  <a:pt x="48479" y="19675"/>
                </a:cubicBezTo>
                <a:cubicBezTo>
                  <a:pt x="48499" y="19675"/>
                  <a:pt x="48519" y="19675"/>
                  <a:pt x="48539" y="19675"/>
                </a:cubicBezTo>
                <a:cubicBezTo>
                  <a:pt x="48599" y="19675"/>
                  <a:pt x="48678" y="19655"/>
                  <a:pt x="48738" y="19655"/>
                </a:cubicBezTo>
                <a:cubicBezTo>
                  <a:pt x="48857" y="19635"/>
                  <a:pt x="48957" y="19635"/>
                  <a:pt x="49056" y="19615"/>
                </a:cubicBezTo>
                <a:lnTo>
                  <a:pt x="49375" y="19575"/>
                </a:lnTo>
                <a:lnTo>
                  <a:pt x="49414" y="19575"/>
                </a:lnTo>
                <a:cubicBezTo>
                  <a:pt x="49434" y="19575"/>
                  <a:pt x="49454" y="19575"/>
                  <a:pt x="49474" y="19555"/>
                </a:cubicBezTo>
                <a:cubicBezTo>
                  <a:pt x="49534" y="19555"/>
                  <a:pt x="49613" y="19555"/>
                  <a:pt x="49673" y="19536"/>
                </a:cubicBezTo>
                <a:cubicBezTo>
                  <a:pt x="49772" y="19536"/>
                  <a:pt x="49872" y="19516"/>
                  <a:pt x="49971" y="19496"/>
                </a:cubicBezTo>
                <a:cubicBezTo>
                  <a:pt x="50071" y="19496"/>
                  <a:pt x="50170" y="19476"/>
                  <a:pt x="50270" y="19456"/>
                </a:cubicBezTo>
                <a:cubicBezTo>
                  <a:pt x="50290" y="19456"/>
                  <a:pt x="50309" y="19456"/>
                  <a:pt x="50329" y="19456"/>
                </a:cubicBezTo>
                <a:cubicBezTo>
                  <a:pt x="50349" y="19456"/>
                  <a:pt x="50349" y="19456"/>
                  <a:pt x="50369" y="19456"/>
                </a:cubicBezTo>
                <a:cubicBezTo>
                  <a:pt x="50429" y="19436"/>
                  <a:pt x="50489" y="19436"/>
                  <a:pt x="50548" y="19416"/>
                </a:cubicBezTo>
                <a:cubicBezTo>
                  <a:pt x="50648" y="19416"/>
                  <a:pt x="50727" y="19396"/>
                  <a:pt x="50827" y="19376"/>
                </a:cubicBezTo>
                <a:cubicBezTo>
                  <a:pt x="50926" y="19376"/>
                  <a:pt x="51006" y="19357"/>
                  <a:pt x="51105" y="19357"/>
                </a:cubicBezTo>
                <a:lnTo>
                  <a:pt x="51205" y="19337"/>
                </a:lnTo>
                <a:cubicBezTo>
                  <a:pt x="51205" y="19337"/>
                  <a:pt x="51225" y="19337"/>
                  <a:pt x="51244" y="19337"/>
                </a:cubicBezTo>
                <a:cubicBezTo>
                  <a:pt x="51284" y="19317"/>
                  <a:pt x="51324" y="19317"/>
                  <a:pt x="51364" y="19317"/>
                </a:cubicBezTo>
                <a:cubicBezTo>
                  <a:pt x="51443" y="19297"/>
                  <a:pt x="51543" y="19277"/>
                  <a:pt x="51622" y="19277"/>
                </a:cubicBezTo>
                <a:cubicBezTo>
                  <a:pt x="51702" y="19257"/>
                  <a:pt x="51782" y="19237"/>
                  <a:pt x="51881" y="19237"/>
                </a:cubicBezTo>
                <a:cubicBezTo>
                  <a:pt x="51921" y="19217"/>
                  <a:pt x="51980" y="19217"/>
                  <a:pt x="52040" y="19197"/>
                </a:cubicBezTo>
                <a:cubicBezTo>
                  <a:pt x="52040" y="19197"/>
                  <a:pt x="52060" y="19197"/>
                  <a:pt x="52060" y="19197"/>
                </a:cubicBezTo>
                <a:cubicBezTo>
                  <a:pt x="52060" y="19197"/>
                  <a:pt x="52060" y="19197"/>
                  <a:pt x="52060" y="19197"/>
                </a:cubicBezTo>
                <a:cubicBezTo>
                  <a:pt x="52080" y="19197"/>
                  <a:pt x="52100" y="19197"/>
                  <a:pt x="52120" y="19197"/>
                </a:cubicBezTo>
                <a:cubicBezTo>
                  <a:pt x="52199" y="19177"/>
                  <a:pt x="52279" y="19158"/>
                  <a:pt x="52378" y="19158"/>
                </a:cubicBezTo>
                <a:cubicBezTo>
                  <a:pt x="52458" y="19138"/>
                  <a:pt x="52537" y="19118"/>
                  <a:pt x="52617" y="19098"/>
                </a:cubicBezTo>
                <a:cubicBezTo>
                  <a:pt x="52697" y="19098"/>
                  <a:pt x="52776" y="19078"/>
                  <a:pt x="52856" y="19058"/>
                </a:cubicBezTo>
                <a:cubicBezTo>
                  <a:pt x="52935" y="19058"/>
                  <a:pt x="53015" y="19038"/>
                  <a:pt x="53094" y="19018"/>
                </a:cubicBezTo>
                <a:cubicBezTo>
                  <a:pt x="53154" y="18998"/>
                  <a:pt x="53234" y="18998"/>
                  <a:pt x="53313" y="18979"/>
                </a:cubicBezTo>
                <a:cubicBezTo>
                  <a:pt x="53393" y="18959"/>
                  <a:pt x="53472" y="18959"/>
                  <a:pt x="53532" y="18939"/>
                </a:cubicBezTo>
                <a:cubicBezTo>
                  <a:pt x="53552" y="18939"/>
                  <a:pt x="53572" y="18939"/>
                  <a:pt x="53592" y="18919"/>
                </a:cubicBezTo>
                <a:cubicBezTo>
                  <a:pt x="53612" y="18919"/>
                  <a:pt x="53612" y="18919"/>
                  <a:pt x="53632" y="18919"/>
                </a:cubicBezTo>
                <a:cubicBezTo>
                  <a:pt x="53671" y="18919"/>
                  <a:pt x="53711" y="18899"/>
                  <a:pt x="53771" y="18899"/>
                </a:cubicBezTo>
                <a:cubicBezTo>
                  <a:pt x="53831" y="18879"/>
                  <a:pt x="53910" y="18859"/>
                  <a:pt x="53990" y="18859"/>
                </a:cubicBezTo>
                <a:lnTo>
                  <a:pt x="54208" y="18800"/>
                </a:lnTo>
                <a:cubicBezTo>
                  <a:pt x="54228" y="18800"/>
                  <a:pt x="54268" y="18800"/>
                  <a:pt x="54308" y="18780"/>
                </a:cubicBezTo>
                <a:cubicBezTo>
                  <a:pt x="54328" y="18780"/>
                  <a:pt x="54328" y="18780"/>
                  <a:pt x="54348" y="18780"/>
                </a:cubicBezTo>
                <a:lnTo>
                  <a:pt x="54407" y="18760"/>
                </a:lnTo>
                <a:lnTo>
                  <a:pt x="54626" y="18720"/>
                </a:lnTo>
                <a:cubicBezTo>
                  <a:pt x="54686" y="18700"/>
                  <a:pt x="54765" y="18680"/>
                  <a:pt x="54825" y="18660"/>
                </a:cubicBezTo>
                <a:cubicBezTo>
                  <a:pt x="54885" y="18660"/>
                  <a:pt x="54944" y="18640"/>
                  <a:pt x="55004" y="18620"/>
                </a:cubicBezTo>
                <a:cubicBezTo>
                  <a:pt x="55004" y="18620"/>
                  <a:pt x="55004" y="18620"/>
                  <a:pt x="55024" y="18620"/>
                </a:cubicBezTo>
                <a:cubicBezTo>
                  <a:pt x="55024" y="18620"/>
                  <a:pt x="55024" y="18620"/>
                  <a:pt x="55024" y="18620"/>
                </a:cubicBezTo>
                <a:cubicBezTo>
                  <a:pt x="55104" y="18601"/>
                  <a:pt x="55163" y="18581"/>
                  <a:pt x="55223" y="18581"/>
                </a:cubicBezTo>
                <a:cubicBezTo>
                  <a:pt x="55303" y="18561"/>
                  <a:pt x="55362" y="18541"/>
                  <a:pt x="55422" y="18521"/>
                </a:cubicBezTo>
                <a:cubicBezTo>
                  <a:pt x="55482" y="18521"/>
                  <a:pt x="55561" y="18501"/>
                  <a:pt x="55621" y="18481"/>
                </a:cubicBezTo>
                <a:cubicBezTo>
                  <a:pt x="55621" y="18481"/>
                  <a:pt x="55641" y="18481"/>
                  <a:pt x="55641" y="18461"/>
                </a:cubicBezTo>
                <a:cubicBezTo>
                  <a:pt x="55661" y="18461"/>
                  <a:pt x="55661" y="18461"/>
                  <a:pt x="55661" y="18461"/>
                </a:cubicBezTo>
                <a:lnTo>
                  <a:pt x="55800" y="18422"/>
                </a:lnTo>
                <a:cubicBezTo>
                  <a:pt x="55860" y="18402"/>
                  <a:pt x="55939" y="18402"/>
                  <a:pt x="55999" y="18382"/>
                </a:cubicBezTo>
                <a:cubicBezTo>
                  <a:pt x="56058" y="18362"/>
                  <a:pt x="56118" y="18342"/>
                  <a:pt x="56178" y="18322"/>
                </a:cubicBezTo>
                <a:cubicBezTo>
                  <a:pt x="56198" y="18322"/>
                  <a:pt x="56218" y="18322"/>
                  <a:pt x="56238" y="18302"/>
                </a:cubicBezTo>
                <a:cubicBezTo>
                  <a:pt x="56238" y="18302"/>
                  <a:pt x="56257" y="18302"/>
                  <a:pt x="56277" y="18302"/>
                </a:cubicBezTo>
                <a:cubicBezTo>
                  <a:pt x="56297" y="18302"/>
                  <a:pt x="56337" y="18282"/>
                  <a:pt x="56357" y="18282"/>
                </a:cubicBezTo>
                <a:cubicBezTo>
                  <a:pt x="56417" y="18262"/>
                  <a:pt x="56476" y="18243"/>
                  <a:pt x="56536" y="18223"/>
                </a:cubicBezTo>
                <a:cubicBezTo>
                  <a:pt x="56596" y="18203"/>
                  <a:pt x="56655" y="18183"/>
                  <a:pt x="56715" y="18163"/>
                </a:cubicBezTo>
                <a:cubicBezTo>
                  <a:pt x="56735" y="18163"/>
                  <a:pt x="56775" y="18163"/>
                  <a:pt x="56795" y="18143"/>
                </a:cubicBezTo>
                <a:cubicBezTo>
                  <a:pt x="56814" y="18143"/>
                  <a:pt x="56814" y="18143"/>
                  <a:pt x="56814" y="18143"/>
                </a:cubicBezTo>
                <a:cubicBezTo>
                  <a:pt x="56834" y="18123"/>
                  <a:pt x="56874" y="18123"/>
                  <a:pt x="56894" y="18123"/>
                </a:cubicBezTo>
                <a:cubicBezTo>
                  <a:pt x="56954" y="18103"/>
                  <a:pt x="56993" y="18083"/>
                  <a:pt x="57053" y="18064"/>
                </a:cubicBezTo>
                <a:cubicBezTo>
                  <a:pt x="57113" y="18044"/>
                  <a:pt x="57172" y="18024"/>
                  <a:pt x="57232" y="18004"/>
                </a:cubicBezTo>
                <a:cubicBezTo>
                  <a:pt x="57252" y="18004"/>
                  <a:pt x="57292" y="17984"/>
                  <a:pt x="57312" y="17984"/>
                </a:cubicBezTo>
                <a:cubicBezTo>
                  <a:pt x="57312" y="17984"/>
                  <a:pt x="57312" y="17984"/>
                  <a:pt x="57332" y="17964"/>
                </a:cubicBezTo>
                <a:cubicBezTo>
                  <a:pt x="57332" y="17964"/>
                  <a:pt x="57332" y="17964"/>
                  <a:pt x="57332" y="17964"/>
                </a:cubicBezTo>
                <a:cubicBezTo>
                  <a:pt x="57352" y="17964"/>
                  <a:pt x="57371" y="17964"/>
                  <a:pt x="57391" y="17944"/>
                </a:cubicBezTo>
                <a:cubicBezTo>
                  <a:pt x="57451" y="17924"/>
                  <a:pt x="57511" y="17904"/>
                  <a:pt x="57550" y="17884"/>
                </a:cubicBezTo>
                <a:cubicBezTo>
                  <a:pt x="57610" y="17865"/>
                  <a:pt x="57670" y="17845"/>
                  <a:pt x="57710" y="17825"/>
                </a:cubicBezTo>
                <a:cubicBezTo>
                  <a:pt x="57729" y="17825"/>
                  <a:pt x="57749" y="17805"/>
                  <a:pt x="57769" y="17805"/>
                </a:cubicBezTo>
                <a:cubicBezTo>
                  <a:pt x="57789" y="17805"/>
                  <a:pt x="57789" y="17805"/>
                  <a:pt x="57809" y="17785"/>
                </a:cubicBezTo>
                <a:cubicBezTo>
                  <a:pt x="57829" y="17785"/>
                  <a:pt x="57849" y="17785"/>
                  <a:pt x="57869" y="17765"/>
                </a:cubicBezTo>
                <a:cubicBezTo>
                  <a:pt x="57928" y="17745"/>
                  <a:pt x="57968" y="17725"/>
                  <a:pt x="58028" y="17705"/>
                </a:cubicBezTo>
                <a:cubicBezTo>
                  <a:pt x="58068" y="17686"/>
                  <a:pt x="58127" y="17666"/>
                  <a:pt x="58167" y="17646"/>
                </a:cubicBezTo>
                <a:lnTo>
                  <a:pt x="58207" y="17626"/>
                </a:lnTo>
                <a:cubicBezTo>
                  <a:pt x="58207" y="17626"/>
                  <a:pt x="58227" y="17626"/>
                  <a:pt x="58227" y="17606"/>
                </a:cubicBezTo>
                <a:lnTo>
                  <a:pt x="58326" y="17566"/>
                </a:lnTo>
                <a:cubicBezTo>
                  <a:pt x="58366" y="17546"/>
                  <a:pt x="58426" y="17526"/>
                  <a:pt x="58465" y="17507"/>
                </a:cubicBezTo>
                <a:cubicBezTo>
                  <a:pt x="58505" y="17487"/>
                  <a:pt x="58545" y="17467"/>
                  <a:pt x="58585" y="17447"/>
                </a:cubicBezTo>
                <a:lnTo>
                  <a:pt x="58585" y="17447"/>
                </a:lnTo>
                <a:lnTo>
                  <a:pt x="58605" y="17427"/>
                </a:lnTo>
                <a:cubicBezTo>
                  <a:pt x="58645" y="17407"/>
                  <a:pt x="58704" y="17387"/>
                  <a:pt x="58744" y="17367"/>
                </a:cubicBezTo>
                <a:cubicBezTo>
                  <a:pt x="58784" y="17327"/>
                  <a:pt x="58843" y="17308"/>
                  <a:pt x="58883" y="17288"/>
                </a:cubicBezTo>
                <a:cubicBezTo>
                  <a:pt x="58883" y="17268"/>
                  <a:pt x="58903" y="17268"/>
                  <a:pt x="58903" y="17268"/>
                </a:cubicBezTo>
                <a:cubicBezTo>
                  <a:pt x="58923" y="17268"/>
                  <a:pt x="58923" y="17248"/>
                  <a:pt x="58943" y="17248"/>
                </a:cubicBezTo>
                <a:cubicBezTo>
                  <a:pt x="58963" y="17228"/>
                  <a:pt x="58983" y="17208"/>
                  <a:pt x="59022" y="17208"/>
                </a:cubicBezTo>
                <a:cubicBezTo>
                  <a:pt x="59062" y="17168"/>
                  <a:pt x="59102" y="17148"/>
                  <a:pt x="59142" y="17109"/>
                </a:cubicBezTo>
                <a:cubicBezTo>
                  <a:pt x="59162" y="17109"/>
                  <a:pt x="59182" y="17089"/>
                  <a:pt x="59182" y="17089"/>
                </a:cubicBezTo>
                <a:cubicBezTo>
                  <a:pt x="59202" y="17069"/>
                  <a:pt x="59202" y="17069"/>
                  <a:pt x="59221" y="17069"/>
                </a:cubicBezTo>
                <a:cubicBezTo>
                  <a:pt x="59221" y="17049"/>
                  <a:pt x="59241" y="17049"/>
                  <a:pt x="59261" y="17029"/>
                </a:cubicBezTo>
                <a:cubicBezTo>
                  <a:pt x="59301" y="16989"/>
                  <a:pt x="59341" y="16969"/>
                  <a:pt x="59381" y="16930"/>
                </a:cubicBezTo>
                <a:cubicBezTo>
                  <a:pt x="59400" y="16910"/>
                  <a:pt x="59400" y="16910"/>
                  <a:pt x="59420" y="16890"/>
                </a:cubicBezTo>
                <a:cubicBezTo>
                  <a:pt x="59440" y="16890"/>
                  <a:pt x="59440" y="16870"/>
                  <a:pt x="59460" y="16870"/>
                </a:cubicBezTo>
                <a:cubicBezTo>
                  <a:pt x="59460" y="16850"/>
                  <a:pt x="59480" y="16830"/>
                  <a:pt x="59500" y="16810"/>
                </a:cubicBezTo>
                <a:cubicBezTo>
                  <a:pt x="59540" y="16770"/>
                  <a:pt x="59579" y="16751"/>
                  <a:pt x="59599" y="16711"/>
                </a:cubicBezTo>
                <a:cubicBezTo>
                  <a:pt x="59599" y="16711"/>
                  <a:pt x="59619" y="16691"/>
                  <a:pt x="59619" y="16691"/>
                </a:cubicBezTo>
                <a:cubicBezTo>
                  <a:pt x="59619" y="16691"/>
                  <a:pt x="59619" y="16671"/>
                  <a:pt x="59639" y="16671"/>
                </a:cubicBezTo>
                <a:cubicBezTo>
                  <a:pt x="59659" y="16651"/>
                  <a:pt x="59679" y="16611"/>
                  <a:pt x="59679" y="16591"/>
                </a:cubicBezTo>
                <a:cubicBezTo>
                  <a:pt x="59699" y="16591"/>
                  <a:pt x="59699" y="16572"/>
                  <a:pt x="59699" y="16572"/>
                </a:cubicBezTo>
                <a:cubicBezTo>
                  <a:pt x="59719" y="16552"/>
                  <a:pt x="59719" y="16552"/>
                  <a:pt x="59719" y="16532"/>
                </a:cubicBezTo>
                <a:cubicBezTo>
                  <a:pt x="59719" y="16532"/>
                  <a:pt x="59739" y="16532"/>
                  <a:pt x="59739" y="16512"/>
                </a:cubicBezTo>
                <a:cubicBezTo>
                  <a:pt x="59739" y="16512"/>
                  <a:pt x="59759" y="16492"/>
                  <a:pt x="59759" y="16492"/>
                </a:cubicBezTo>
                <a:lnTo>
                  <a:pt x="68730" y="379"/>
                </a:lnTo>
                <a:cubicBezTo>
                  <a:pt x="68730" y="439"/>
                  <a:pt x="68710" y="478"/>
                  <a:pt x="68690" y="498"/>
                </a:cubicBezTo>
                <a:close/>
              </a:path>
            </a:pathLst>
          </a:custGeom>
          <a:solidFill>
            <a:srgbClr val="060B25"/>
          </a:solidFill>
          <a:ln>
            <a:noFill/>
          </a:ln>
        </p:spPr>
        <p:txBody>
          <a:bodyPr spcFirstLastPara="1" wrap="square" lIns="91425" tIns="91425" rIns="91425" bIns="91425" anchor="ctr" anchorCtr="0">
            <a:noAutofit/>
          </a:bodyPr>
          <a:lstStyle/>
          <a:p>
            <a:endParaRPr lang="en-US">
              <a:solidFill>
                <a:prstClr val="black"/>
              </a:solidFill>
              <a:latin typeface="Aptos" panose="020B0004020202020204" pitchFamily="34" charset="0"/>
              <a:sym typeface="Aptos" panose="020B0004020202020204" pitchFamily="34" charset="0"/>
            </a:endParaRPr>
          </a:p>
        </p:txBody>
      </p:sp>
      <p:sp>
        <p:nvSpPr>
          <p:cNvPr id="25" name="Google Shape;348;p23">
            <a:extLst>
              <a:ext uri="{FF2B5EF4-FFF2-40B4-BE49-F238E27FC236}">
                <a16:creationId xmlns:a16="http://schemas.microsoft.com/office/drawing/2014/main" id="{5786ECB7-F2B4-9A58-70B3-1F512FF66186}"/>
              </a:ext>
            </a:extLst>
          </p:cNvPr>
          <p:cNvSpPr/>
          <p:nvPr/>
        </p:nvSpPr>
        <p:spPr>
          <a:xfrm rot="16200000">
            <a:off x="2617456" y="3344901"/>
            <a:ext cx="1073485" cy="190384"/>
          </a:xfrm>
          <a:custGeom>
            <a:avLst/>
            <a:gdLst/>
            <a:ahLst/>
            <a:cxnLst/>
            <a:rect l="l" t="t" r="r" b="b"/>
            <a:pathLst>
              <a:path w="69446" h="9430" extrusionOk="0">
                <a:moveTo>
                  <a:pt x="219" y="4337"/>
                </a:moveTo>
                <a:cubicBezTo>
                  <a:pt x="418" y="3680"/>
                  <a:pt x="1552" y="3103"/>
                  <a:pt x="3402" y="2566"/>
                </a:cubicBezTo>
                <a:cubicBezTo>
                  <a:pt x="5212" y="2049"/>
                  <a:pt x="7719" y="1572"/>
                  <a:pt x="10742" y="1194"/>
                </a:cubicBezTo>
                <a:cubicBezTo>
                  <a:pt x="13706" y="816"/>
                  <a:pt x="17208" y="517"/>
                  <a:pt x="21047" y="318"/>
                </a:cubicBezTo>
                <a:cubicBezTo>
                  <a:pt x="24846" y="120"/>
                  <a:pt x="29024" y="0"/>
                  <a:pt x="33400" y="20"/>
                </a:cubicBezTo>
                <a:cubicBezTo>
                  <a:pt x="37797" y="20"/>
                  <a:pt x="42034" y="120"/>
                  <a:pt x="45953" y="338"/>
                </a:cubicBezTo>
                <a:cubicBezTo>
                  <a:pt x="49891" y="537"/>
                  <a:pt x="53532" y="856"/>
                  <a:pt x="56714" y="1234"/>
                </a:cubicBezTo>
                <a:cubicBezTo>
                  <a:pt x="59937" y="1611"/>
                  <a:pt x="62702" y="2069"/>
                  <a:pt x="64791" y="2586"/>
                </a:cubicBezTo>
                <a:cubicBezTo>
                  <a:pt x="66919" y="3123"/>
                  <a:pt x="68352" y="3720"/>
                  <a:pt x="68889" y="4357"/>
                </a:cubicBezTo>
                <a:cubicBezTo>
                  <a:pt x="69446" y="5013"/>
                  <a:pt x="69008" y="5650"/>
                  <a:pt x="67715" y="6247"/>
                </a:cubicBezTo>
                <a:cubicBezTo>
                  <a:pt x="66382" y="6843"/>
                  <a:pt x="64154" y="7400"/>
                  <a:pt x="61210" y="7878"/>
                </a:cubicBezTo>
                <a:cubicBezTo>
                  <a:pt x="58206" y="8355"/>
                  <a:pt x="54486" y="8733"/>
                  <a:pt x="50190" y="9012"/>
                </a:cubicBezTo>
                <a:cubicBezTo>
                  <a:pt x="45873" y="9290"/>
                  <a:pt x="41039" y="9429"/>
                  <a:pt x="35887" y="9429"/>
                </a:cubicBezTo>
                <a:cubicBezTo>
                  <a:pt x="30735" y="9429"/>
                  <a:pt x="25821" y="9270"/>
                  <a:pt x="21345" y="8992"/>
                </a:cubicBezTo>
                <a:cubicBezTo>
                  <a:pt x="16929" y="8713"/>
                  <a:pt x="12990" y="8315"/>
                  <a:pt x="9748" y="7838"/>
                </a:cubicBezTo>
                <a:cubicBezTo>
                  <a:pt x="6545" y="7360"/>
                  <a:pt x="4039" y="6803"/>
                  <a:pt x="2407" y="6207"/>
                </a:cubicBezTo>
                <a:cubicBezTo>
                  <a:pt x="776" y="5610"/>
                  <a:pt x="0" y="4973"/>
                  <a:pt x="219" y="4337"/>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sym typeface="Aptos" panose="020B0004020202020204" pitchFamily="34" charset="0"/>
            </a:endParaRPr>
          </a:p>
        </p:txBody>
      </p:sp>
      <p:sp>
        <p:nvSpPr>
          <p:cNvPr id="26" name="Google Shape;354;p23">
            <a:extLst>
              <a:ext uri="{FF2B5EF4-FFF2-40B4-BE49-F238E27FC236}">
                <a16:creationId xmlns:a16="http://schemas.microsoft.com/office/drawing/2014/main" id="{7F089ECE-4B46-ADE3-9ADD-FDA87E4BFAFB}"/>
              </a:ext>
            </a:extLst>
          </p:cNvPr>
          <p:cNvSpPr/>
          <p:nvPr/>
        </p:nvSpPr>
        <p:spPr>
          <a:xfrm rot="16200000">
            <a:off x="2171994" y="3165009"/>
            <a:ext cx="1331786" cy="551691"/>
          </a:xfrm>
          <a:custGeom>
            <a:avLst/>
            <a:gdLst/>
            <a:ahLst/>
            <a:cxnLst/>
            <a:rect l="l" t="t" r="r" b="b"/>
            <a:pathLst>
              <a:path w="86156" h="21863" extrusionOk="0">
                <a:moveTo>
                  <a:pt x="86037" y="736"/>
                </a:moveTo>
                <a:cubicBezTo>
                  <a:pt x="86037" y="756"/>
                  <a:pt x="86017" y="756"/>
                  <a:pt x="86017" y="776"/>
                </a:cubicBezTo>
                <a:cubicBezTo>
                  <a:pt x="85977" y="816"/>
                  <a:pt x="85957" y="836"/>
                  <a:pt x="85937" y="876"/>
                </a:cubicBezTo>
                <a:cubicBezTo>
                  <a:pt x="85917" y="895"/>
                  <a:pt x="85897" y="895"/>
                  <a:pt x="85878" y="915"/>
                </a:cubicBezTo>
                <a:cubicBezTo>
                  <a:pt x="85858" y="955"/>
                  <a:pt x="85838" y="975"/>
                  <a:pt x="85798" y="995"/>
                </a:cubicBezTo>
                <a:cubicBezTo>
                  <a:pt x="85778" y="1015"/>
                  <a:pt x="85758" y="1035"/>
                  <a:pt x="85738" y="1055"/>
                </a:cubicBezTo>
                <a:cubicBezTo>
                  <a:pt x="85718" y="1074"/>
                  <a:pt x="85679" y="1114"/>
                  <a:pt x="85659" y="1134"/>
                </a:cubicBezTo>
                <a:cubicBezTo>
                  <a:pt x="85619" y="1154"/>
                  <a:pt x="85599" y="1174"/>
                  <a:pt x="85559" y="1214"/>
                </a:cubicBezTo>
                <a:cubicBezTo>
                  <a:pt x="85539" y="1214"/>
                  <a:pt x="85519" y="1234"/>
                  <a:pt x="85500" y="1253"/>
                </a:cubicBezTo>
                <a:cubicBezTo>
                  <a:pt x="85460" y="1273"/>
                  <a:pt x="85420" y="1313"/>
                  <a:pt x="85380" y="1333"/>
                </a:cubicBezTo>
                <a:cubicBezTo>
                  <a:pt x="85360" y="1353"/>
                  <a:pt x="85340" y="1353"/>
                  <a:pt x="85321" y="1373"/>
                </a:cubicBezTo>
                <a:cubicBezTo>
                  <a:pt x="85261" y="1413"/>
                  <a:pt x="85181" y="1452"/>
                  <a:pt x="85122" y="1492"/>
                </a:cubicBezTo>
                <a:cubicBezTo>
                  <a:pt x="85122" y="1492"/>
                  <a:pt x="85122" y="1492"/>
                  <a:pt x="85122" y="1492"/>
                </a:cubicBezTo>
                <a:cubicBezTo>
                  <a:pt x="85102" y="1492"/>
                  <a:pt x="85082" y="1512"/>
                  <a:pt x="85082" y="1512"/>
                </a:cubicBezTo>
                <a:cubicBezTo>
                  <a:pt x="85022" y="1552"/>
                  <a:pt x="84962" y="1572"/>
                  <a:pt x="84903" y="1612"/>
                </a:cubicBezTo>
                <a:cubicBezTo>
                  <a:pt x="84883" y="1612"/>
                  <a:pt x="84863" y="1631"/>
                  <a:pt x="84843" y="1631"/>
                </a:cubicBezTo>
                <a:cubicBezTo>
                  <a:pt x="84783" y="1671"/>
                  <a:pt x="84724" y="1691"/>
                  <a:pt x="84684" y="1711"/>
                </a:cubicBezTo>
                <a:cubicBezTo>
                  <a:pt x="84644" y="1731"/>
                  <a:pt x="84624" y="1751"/>
                  <a:pt x="84584" y="1751"/>
                </a:cubicBezTo>
                <a:cubicBezTo>
                  <a:pt x="84545" y="1791"/>
                  <a:pt x="84485" y="1810"/>
                  <a:pt x="84425" y="1830"/>
                </a:cubicBezTo>
                <a:cubicBezTo>
                  <a:pt x="84405" y="1850"/>
                  <a:pt x="84366" y="1850"/>
                  <a:pt x="84346" y="1870"/>
                </a:cubicBezTo>
                <a:cubicBezTo>
                  <a:pt x="84266" y="1910"/>
                  <a:pt x="84207" y="1930"/>
                  <a:pt x="84127" y="1970"/>
                </a:cubicBezTo>
                <a:cubicBezTo>
                  <a:pt x="84127" y="1970"/>
                  <a:pt x="84107" y="1970"/>
                  <a:pt x="84087" y="1990"/>
                </a:cubicBezTo>
                <a:cubicBezTo>
                  <a:pt x="84008" y="2009"/>
                  <a:pt x="83908" y="2049"/>
                  <a:pt x="83829" y="2089"/>
                </a:cubicBezTo>
                <a:lnTo>
                  <a:pt x="83729" y="2109"/>
                </a:lnTo>
                <a:cubicBezTo>
                  <a:pt x="83669" y="2149"/>
                  <a:pt x="83590" y="2169"/>
                  <a:pt x="83530" y="2188"/>
                </a:cubicBezTo>
                <a:lnTo>
                  <a:pt x="83431" y="2228"/>
                </a:lnTo>
                <a:cubicBezTo>
                  <a:pt x="83331" y="2268"/>
                  <a:pt x="83232" y="2288"/>
                  <a:pt x="83132" y="2328"/>
                </a:cubicBezTo>
                <a:cubicBezTo>
                  <a:pt x="83132" y="2328"/>
                  <a:pt x="83112" y="2328"/>
                  <a:pt x="83093" y="2348"/>
                </a:cubicBezTo>
                <a:cubicBezTo>
                  <a:pt x="83013" y="2367"/>
                  <a:pt x="82914" y="2407"/>
                  <a:pt x="82814" y="2427"/>
                </a:cubicBezTo>
                <a:cubicBezTo>
                  <a:pt x="82774" y="2447"/>
                  <a:pt x="82754" y="2447"/>
                  <a:pt x="82734" y="2467"/>
                </a:cubicBezTo>
                <a:cubicBezTo>
                  <a:pt x="82615" y="2487"/>
                  <a:pt x="82516" y="2527"/>
                  <a:pt x="82396" y="2566"/>
                </a:cubicBezTo>
                <a:cubicBezTo>
                  <a:pt x="82396" y="2566"/>
                  <a:pt x="82396" y="2566"/>
                  <a:pt x="82396" y="2566"/>
                </a:cubicBezTo>
                <a:cubicBezTo>
                  <a:pt x="82277" y="2606"/>
                  <a:pt x="82158" y="2626"/>
                  <a:pt x="82018" y="2666"/>
                </a:cubicBezTo>
                <a:cubicBezTo>
                  <a:pt x="81998" y="2666"/>
                  <a:pt x="81959" y="2686"/>
                  <a:pt x="81939" y="2686"/>
                </a:cubicBezTo>
                <a:cubicBezTo>
                  <a:pt x="81819" y="2726"/>
                  <a:pt x="81700" y="2765"/>
                  <a:pt x="81561" y="2785"/>
                </a:cubicBezTo>
                <a:cubicBezTo>
                  <a:pt x="81561" y="2785"/>
                  <a:pt x="81561" y="2785"/>
                  <a:pt x="81561" y="2785"/>
                </a:cubicBezTo>
                <a:cubicBezTo>
                  <a:pt x="81441" y="2825"/>
                  <a:pt x="81302" y="2865"/>
                  <a:pt x="81183" y="2885"/>
                </a:cubicBezTo>
                <a:cubicBezTo>
                  <a:pt x="81143" y="2905"/>
                  <a:pt x="81103" y="2905"/>
                  <a:pt x="81083" y="2924"/>
                </a:cubicBezTo>
                <a:cubicBezTo>
                  <a:pt x="80944" y="2944"/>
                  <a:pt x="80825" y="2984"/>
                  <a:pt x="80686" y="3004"/>
                </a:cubicBezTo>
                <a:lnTo>
                  <a:pt x="80606" y="3024"/>
                </a:lnTo>
                <a:cubicBezTo>
                  <a:pt x="80487" y="3044"/>
                  <a:pt x="80367" y="3084"/>
                  <a:pt x="80248" y="3104"/>
                </a:cubicBezTo>
                <a:cubicBezTo>
                  <a:pt x="80208" y="3123"/>
                  <a:pt x="80188" y="3123"/>
                  <a:pt x="80148" y="3123"/>
                </a:cubicBezTo>
                <a:cubicBezTo>
                  <a:pt x="80009" y="3163"/>
                  <a:pt x="79870" y="3183"/>
                  <a:pt x="79731" y="3223"/>
                </a:cubicBezTo>
                <a:cubicBezTo>
                  <a:pt x="79691" y="3223"/>
                  <a:pt x="79651" y="3243"/>
                  <a:pt x="79631" y="3243"/>
                </a:cubicBezTo>
                <a:cubicBezTo>
                  <a:pt x="79492" y="3263"/>
                  <a:pt x="79353" y="3302"/>
                  <a:pt x="79233" y="3322"/>
                </a:cubicBezTo>
                <a:cubicBezTo>
                  <a:pt x="79213" y="3322"/>
                  <a:pt x="79194" y="3322"/>
                  <a:pt x="79154" y="3342"/>
                </a:cubicBezTo>
                <a:cubicBezTo>
                  <a:pt x="79015" y="3362"/>
                  <a:pt x="78855" y="3402"/>
                  <a:pt x="78716" y="3422"/>
                </a:cubicBezTo>
                <a:cubicBezTo>
                  <a:pt x="78676" y="3422"/>
                  <a:pt x="78617" y="3442"/>
                  <a:pt x="78577" y="3442"/>
                </a:cubicBezTo>
                <a:cubicBezTo>
                  <a:pt x="78438" y="3481"/>
                  <a:pt x="78279" y="3501"/>
                  <a:pt x="78119" y="3541"/>
                </a:cubicBezTo>
                <a:cubicBezTo>
                  <a:pt x="78099" y="3541"/>
                  <a:pt x="78060" y="3541"/>
                  <a:pt x="78020" y="3541"/>
                </a:cubicBezTo>
                <a:cubicBezTo>
                  <a:pt x="77881" y="3581"/>
                  <a:pt x="77741" y="3601"/>
                  <a:pt x="77602" y="3621"/>
                </a:cubicBezTo>
                <a:cubicBezTo>
                  <a:pt x="77562" y="3641"/>
                  <a:pt x="77542" y="3641"/>
                  <a:pt x="77503" y="3641"/>
                </a:cubicBezTo>
                <a:cubicBezTo>
                  <a:pt x="77344" y="3680"/>
                  <a:pt x="77165" y="3700"/>
                  <a:pt x="77005" y="3720"/>
                </a:cubicBezTo>
                <a:cubicBezTo>
                  <a:pt x="76966" y="3740"/>
                  <a:pt x="76926" y="3740"/>
                  <a:pt x="76886" y="3760"/>
                </a:cubicBezTo>
                <a:cubicBezTo>
                  <a:pt x="76707" y="3780"/>
                  <a:pt x="76528" y="3800"/>
                  <a:pt x="76369" y="3840"/>
                </a:cubicBezTo>
                <a:lnTo>
                  <a:pt x="76349" y="3840"/>
                </a:lnTo>
                <a:cubicBezTo>
                  <a:pt x="76349" y="3840"/>
                  <a:pt x="76329" y="3840"/>
                  <a:pt x="76329" y="3840"/>
                </a:cubicBezTo>
                <a:cubicBezTo>
                  <a:pt x="76150" y="3859"/>
                  <a:pt x="75991" y="3899"/>
                  <a:pt x="75812" y="3919"/>
                </a:cubicBezTo>
                <a:cubicBezTo>
                  <a:pt x="75772" y="3919"/>
                  <a:pt x="75732" y="3939"/>
                  <a:pt x="75673" y="3939"/>
                </a:cubicBezTo>
                <a:cubicBezTo>
                  <a:pt x="75494" y="3959"/>
                  <a:pt x="75314" y="3999"/>
                  <a:pt x="75135" y="4019"/>
                </a:cubicBezTo>
                <a:lnTo>
                  <a:pt x="75016" y="4038"/>
                </a:lnTo>
                <a:cubicBezTo>
                  <a:pt x="74857" y="4058"/>
                  <a:pt x="74698" y="4078"/>
                  <a:pt x="74519" y="4098"/>
                </a:cubicBezTo>
                <a:lnTo>
                  <a:pt x="74419" y="4118"/>
                </a:lnTo>
                <a:cubicBezTo>
                  <a:pt x="74240" y="4138"/>
                  <a:pt x="74041" y="4178"/>
                  <a:pt x="73842" y="4198"/>
                </a:cubicBezTo>
                <a:cubicBezTo>
                  <a:pt x="73823" y="4198"/>
                  <a:pt x="73783" y="4198"/>
                  <a:pt x="73743" y="4218"/>
                </a:cubicBezTo>
                <a:cubicBezTo>
                  <a:pt x="73325" y="4277"/>
                  <a:pt x="72868" y="4317"/>
                  <a:pt x="72430" y="4377"/>
                </a:cubicBezTo>
                <a:cubicBezTo>
                  <a:pt x="72410" y="4377"/>
                  <a:pt x="72370" y="4377"/>
                  <a:pt x="72350" y="4377"/>
                </a:cubicBezTo>
                <a:cubicBezTo>
                  <a:pt x="71913" y="4436"/>
                  <a:pt x="71455" y="4496"/>
                  <a:pt x="70978" y="4536"/>
                </a:cubicBezTo>
                <a:cubicBezTo>
                  <a:pt x="70938" y="4536"/>
                  <a:pt x="70918" y="4556"/>
                  <a:pt x="70898" y="4556"/>
                </a:cubicBezTo>
                <a:cubicBezTo>
                  <a:pt x="70421" y="4595"/>
                  <a:pt x="69943" y="4655"/>
                  <a:pt x="69466" y="4695"/>
                </a:cubicBezTo>
                <a:cubicBezTo>
                  <a:pt x="69426" y="4695"/>
                  <a:pt x="69386" y="4715"/>
                  <a:pt x="69367" y="4715"/>
                </a:cubicBezTo>
                <a:cubicBezTo>
                  <a:pt x="68889" y="4755"/>
                  <a:pt x="68392" y="4794"/>
                  <a:pt x="67895" y="4854"/>
                </a:cubicBezTo>
                <a:cubicBezTo>
                  <a:pt x="67855" y="4854"/>
                  <a:pt x="67815" y="4854"/>
                  <a:pt x="67775" y="4854"/>
                </a:cubicBezTo>
                <a:cubicBezTo>
                  <a:pt x="67258" y="4894"/>
                  <a:pt x="66761" y="4954"/>
                  <a:pt x="66243" y="4993"/>
                </a:cubicBezTo>
                <a:cubicBezTo>
                  <a:pt x="66204" y="4993"/>
                  <a:pt x="66164" y="4993"/>
                  <a:pt x="66124" y="4993"/>
                </a:cubicBezTo>
                <a:cubicBezTo>
                  <a:pt x="65607" y="5033"/>
                  <a:pt x="65090" y="5073"/>
                  <a:pt x="64553" y="5113"/>
                </a:cubicBezTo>
                <a:cubicBezTo>
                  <a:pt x="64533" y="5113"/>
                  <a:pt x="64513" y="5113"/>
                  <a:pt x="64473" y="5113"/>
                </a:cubicBezTo>
                <a:cubicBezTo>
                  <a:pt x="63936" y="5152"/>
                  <a:pt x="63399" y="5192"/>
                  <a:pt x="62842" y="5232"/>
                </a:cubicBezTo>
                <a:cubicBezTo>
                  <a:pt x="62782" y="5232"/>
                  <a:pt x="62722" y="5232"/>
                  <a:pt x="62683" y="5232"/>
                </a:cubicBezTo>
                <a:cubicBezTo>
                  <a:pt x="62146" y="5272"/>
                  <a:pt x="61608" y="5312"/>
                  <a:pt x="61071" y="5332"/>
                </a:cubicBezTo>
                <a:cubicBezTo>
                  <a:pt x="61012" y="5332"/>
                  <a:pt x="60952" y="5332"/>
                  <a:pt x="60892" y="5351"/>
                </a:cubicBezTo>
                <a:cubicBezTo>
                  <a:pt x="60355" y="5371"/>
                  <a:pt x="59818" y="5391"/>
                  <a:pt x="59281" y="5431"/>
                </a:cubicBezTo>
                <a:cubicBezTo>
                  <a:pt x="59201" y="5431"/>
                  <a:pt x="59102" y="5431"/>
                  <a:pt x="59022" y="5431"/>
                </a:cubicBezTo>
                <a:cubicBezTo>
                  <a:pt x="58485" y="5471"/>
                  <a:pt x="57928" y="5491"/>
                  <a:pt x="57371" y="5511"/>
                </a:cubicBezTo>
                <a:cubicBezTo>
                  <a:pt x="57272" y="5511"/>
                  <a:pt x="57172" y="5511"/>
                  <a:pt x="57073" y="5530"/>
                </a:cubicBezTo>
                <a:cubicBezTo>
                  <a:pt x="56536" y="5550"/>
                  <a:pt x="55999" y="5570"/>
                  <a:pt x="55462" y="5590"/>
                </a:cubicBezTo>
                <a:cubicBezTo>
                  <a:pt x="55123" y="5590"/>
                  <a:pt x="54765" y="5610"/>
                  <a:pt x="54427" y="5610"/>
                </a:cubicBezTo>
                <a:cubicBezTo>
                  <a:pt x="54109" y="5630"/>
                  <a:pt x="53811" y="5630"/>
                  <a:pt x="53492" y="5650"/>
                </a:cubicBezTo>
                <a:cubicBezTo>
                  <a:pt x="53134" y="5650"/>
                  <a:pt x="52776" y="5650"/>
                  <a:pt x="52438" y="5670"/>
                </a:cubicBezTo>
                <a:cubicBezTo>
                  <a:pt x="52120" y="5670"/>
                  <a:pt x="51801" y="5690"/>
                  <a:pt x="51483" y="5690"/>
                </a:cubicBezTo>
                <a:cubicBezTo>
                  <a:pt x="51125" y="5690"/>
                  <a:pt x="50767" y="5709"/>
                  <a:pt x="50429" y="5709"/>
                </a:cubicBezTo>
                <a:cubicBezTo>
                  <a:pt x="50091" y="5709"/>
                  <a:pt x="49752" y="5709"/>
                  <a:pt x="49434" y="5729"/>
                </a:cubicBezTo>
                <a:cubicBezTo>
                  <a:pt x="49076" y="5729"/>
                  <a:pt x="48738" y="5729"/>
                  <a:pt x="48380" y="5729"/>
                </a:cubicBezTo>
                <a:cubicBezTo>
                  <a:pt x="47982" y="5729"/>
                  <a:pt x="47604" y="5729"/>
                  <a:pt x="47206" y="5749"/>
                </a:cubicBezTo>
                <a:lnTo>
                  <a:pt x="47107" y="5749"/>
                </a:lnTo>
                <a:cubicBezTo>
                  <a:pt x="46430" y="5749"/>
                  <a:pt x="45734" y="5749"/>
                  <a:pt x="45038" y="5749"/>
                </a:cubicBezTo>
                <a:cubicBezTo>
                  <a:pt x="44322" y="5749"/>
                  <a:pt x="43586" y="5749"/>
                  <a:pt x="42870" y="5729"/>
                </a:cubicBezTo>
                <a:cubicBezTo>
                  <a:pt x="42591" y="5729"/>
                  <a:pt x="42332" y="5729"/>
                  <a:pt x="42054" y="5729"/>
                </a:cubicBezTo>
                <a:cubicBezTo>
                  <a:pt x="41616" y="5729"/>
                  <a:pt x="41159" y="5709"/>
                  <a:pt x="40701" y="5709"/>
                </a:cubicBezTo>
                <a:cubicBezTo>
                  <a:pt x="40403" y="5709"/>
                  <a:pt x="40085" y="5709"/>
                  <a:pt x="39786" y="5690"/>
                </a:cubicBezTo>
                <a:cubicBezTo>
                  <a:pt x="39368" y="5690"/>
                  <a:pt x="38971" y="5690"/>
                  <a:pt x="38573" y="5670"/>
                </a:cubicBezTo>
                <a:cubicBezTo>
                  <a:pt x="38235" y="5670"/>
                  <a:pt x="37916" y="5670"/>
                  <a:pt x="37598" y="5650"/>
                </a:cubicBezTo>
                <a:cubicBezTo>
                  <a:pt x="37220" y="5650"/>
                  <a:pt x="36842" y="5630"/>
                  <a:pt x="36444" y="5630"/>
                </a:cubicBezTo>
                <a:cubicBezTo>
                  <a:pt x="36126" y="5610"/>
                  <a:pt x="35808" y="5610"/>
                  <a:pt x="35489" y="5590"/>
                </a:cubicBezTo>
                <a:cubicBezTo>
                  <a:pt x="35052" y="5590"/>
                  <a:pt x="34614" y="5570"/>
                  <a:pt x="34196" y="5550"/>
                </a:cubicBezTo>
                <a:cubicBezTo>
                  <a:pt x="34077" y="5550"/>
                  <a:pt x="33977" y="5550"/>
                  <a:pt x="33878" y="5550"/>
                </a:cubicBezTo>
                <a:cubicBezTo>
                  <a:pt x="33281" y="5511"/>
                  <a:pt x="32665" y="5491"/>
                  <a:pt x="32068" y="5471"/>
                </a:cubicBezTo>
                <a:cubicBezTo>
                  <a:pt x="31968" y="5471"/>
                  <a:pt x="31869" y="5471"/>
                  <a:pt x="31769" y="5451"/>
                </a:cubicBezTo>
                <a:cubicBezTo>
                  <a:pt x="31153" y="5431"/>
                  <a:pt x="30536" y="5391"/>
                  <a:pt x="29939" y="5371"/>
                </a:cubicBezTo>
                <a:cubicBezTo>
                  <a:pt x="29880" y="5371"/>
                  <a:pt x="29820" y="5371"/>
                  <a:pt x="29760" y="5371"/>
                </a:cubicBezTo>
                <a:cubicBezTo>
                  <a:pt x="29104" y="5332"/>
                  <a:pt x="28467" y="5292"/>
                  <a:pt x="27831" y="5252"/>
                </a:cubicBezTo>
                <a:cubicBezTo>
                  <a:pt x="27771" y="5252"/>
                  <a:pt x="27731" y="5252"/>
                  <a:pt x="27672" y="5252"/>
                </a:cubicBezTo>
                <a:cubicBezTo>
                  <a:pt x="27413" y="5232"/>
                  <a:pt x="27154" y="5212"/>
                  <a:pt x="26896" y="5192"/>
                </a:cubicBezTo>
                <a:lnTo>
                  <a:pt x="26657" y="5192"/>
                </a:lnTo>
                <a:cubicBezTo>
                  <a:pt x="26438" y="5172"/>
                  <a:pt x="26219" y="5152"/>
                  <a:pt x="26001" y="5133"/>
                </a:cubicBezTo>
                <a:cubicBezTo>
                  <a:pt x="25921" y="5133"/>
                  <a:pt x="25841" y="5133"/>
                  <a:pt x="25742" y="5133"/>
                </a:cubicBezTo>
                <a:cubicBezTo>
                  <a:pt x="25483" y="5113"/>
                  <a:pt x="25225" y="5093"/>
                  <a:pt x="24966" y="5073"/>
                </a:cubicBezTo>
                <a:cubicBezTo>
                  <a:pt x="24926" y="5073"/>
                  <a:pt x="24906" y="5073"/>
                  <a:pt x="24887" y="5073"/>
                </a:cubicBezTo>
                <a:cubicBezTo>
                  <a:pt x="24588" y="5053"/>
                  <a:pt x="24310" y="5033"/>
                  <a:pt x="24031" y="4993"/>
                </a:cubicBezTo>
                <a:cubicBezTo>
                  <a:pt x="23952" y="4993"/>
                  <a:pt x="23872" y="4993"/>
                  <a:pt x="23812" y="4993"/>
                </a:cubicBezTo>
                <a:cubicBezTo>
                  <a:pt x="23594" y="4973"/>
                  <a:pt x="23375" y="4954"/>
                  <a:pt x="23156" y="4934"/>
                </a:cubicBezTo>
                <a:cubicBezTo>
                  <a:pt x="23096" y="4934"/>
                  <a:pt x="23017" y="4934"/>
                  <a:pt x="22957" y="4914"/>
                </a:cubicBezTo>
                <a:cubicBezTo>
                  <a:pt x="22698" y="4894"/>
                  <a:pt x="22420" y="4874"/>
                  <a:pt x="22161" y="4854"/>
                </a:cubicBezTo>
                <a:cubicBezTo>
                  <a:pt x="22102" y="4854"/>
                  <a:pt x="22022" y="4854"/>
                  <a:pt x="21942" y="4834"/>
                </a:cubicBezTo>
                <a:cubicBezTo>
                  <a:pt x="21724" y="4814"/>
                  <a:pt x="21525" y="4794"/>
                  <a:pt x="21326" y="4794"/>
                </a:cubicBezTo>
                <a:cubicBezTo>
                  <a:pt x="21266" y="4775"/>
                  <a:pt x="21187" y="4775"/>
                  <a:pt x="21107" y="4775"/>
                </a:cubicBezTo>
                <a:cubicBezTo>
                  <a:pt x="20868" y="4755"/>
                  <a:pt x="20630" y="4715"/>
                  <a:pt x="20371" y="4695"/>
                </a:cubicBezTo>
                <a:cubicBezTo>
                  <a:pt x="20311" y="4695"/>
                  <a:pt x="20232" y="4695"/>
                  <a:pt x="20152" y="4675"/>
                </a:cubicBezTo>
                <a:cubicBezTo>
                  <a:pt x="19953" y="4655"/>
                  <a:pt x="19734" y="4635"/>
                  <a:pt x="19535" y="4615"/>
                </a:cubicBezTo>
                <a:cubicBezTo>
                  <a:pt x="19476" y="4615"/>
                  <a:pt x="19436" y="4615"/>
                  <a:pt x="19376" y="4615"/>
                </a:cubicBezTo>
                <a:cubicBezTo>
                  <a:pt x="19138" y="4595"/>
                  <a:pt x="18899" y="4556"/>
                  <a:pt x="18660" y="4536"/>
                </a:cubicBezTo>
                <a:cubicBezTo>
                  <a:pt x="18581" y="4536"/>
                  <a:pt x="18521" y="4516"/>
                  <a:pt x="18441" y="4516"/>
                </a:cubicBezTo>
                <a:cubicBezTo>
                  <a:pt x="18203" y="4496"/>
                  <a:pt x="17964" y="4476"/>
                  <a:pt x="17745" y="4436"/>
                </a:cubicBezTo>
                <a:cubicBezTo>
                  <a:pt x="17705" y="4436"/>
                  <a:pt x="17646" y="4436"/>
                  <a:pt x="17606" y="4436"/>
                </a:cubicBezTo>
                <a:cubicBezTo>
                  <a:pt x="17387" y="4397"/>
                  <a:pt x="17168" y="4377"/>
                  <a:pt x="16969" y="4357"/>
                </a:cubicBezTo>
                <a:cubicBezTo>
                  <a:pt x="16910" y="4357"/>
                  <a:pt x="16870" y="4357"/>
                  <a:pt x="16830" y="4337"/>
                </a:cubicBezTo>
                <a:cubicBezTo>
                  <a:pt x="16591" y="4317"/>
                  <a:pt x="16353" y="4297"/>
                  <a:pt x="16134" y="4257"/>
                </a:cubicBezTo>
                <a:cubicBezTo>
                  <a:pt x="16074" y="4257"/>
                  <a:pt x="16034" y="4257"/>
                  <a:pt x="15975" y="4237"/>
                </a:cubicBezTo>
                <a:cubicBezTo>
                  <a:pt x="15756" y="4218"/>
                  <a:pt x="15517" y="4198"/>
                  <a:pt x="15298" y="4158"/>
                </a:cubicBezTo>
                <a:cubicBezTo>
                  <a:pt x="15258" y="4158"/>
                  <a:pt x="15219" y="4158"/>
                  <a:pt x="15179" y="4158"/>
                </a:cubicBezTo>
                <a:cubicBezTo>
                  <a:pt x="14960" y="4118"/>
                  <a:pt x="14741" y="4098"/>
                  <a:pt x="14522" y="4058"/>
                </a:cubicBezTo>
                <a:cubicBezTo>
                  <a:pt x="14503" y="4058"/>
                  <a:pt x="14483" y="4058"/>
                  <a:pt x="14463" y="4058"/>
                </a:cubicBezTo>
                <a:cubicBezTo>
                  <a:pt x="14224" y="4038"/>
                  <a:pt x="14005" y="3999"/>
                  <a:pt x="13786" y="3979"/>
                </a:cubicBezTo>
                <a:cubicBezTo>
                  <a:pt x="13727" y="3959"/>
                  <a:pt x="13687" y="3959"/>
                  <a:pt x="13647" y="3959"/>
                </a:cubicBezTo>
                <a:cubicBezTo>
                  <a:pt x="13428" y="3919"/>
                  <a:pt x="13229" y="3899"/>
                  <a:pt x="13011" y="3859"/>
                </a:cubicBezTo>
                <a:cubicBezTo>
                  <a:pt x="12971" y="3859"/>
                  <a:pt x="12931" y="3859"/>
                  <a:pt x="12891" y="3840"/>
                </a:cubicBezTo>
                <a:cubicBezTo>
                  <a:pt x="12672" y="3820"/>
                  <a:pt x="12474" y="3780"/>
                  <a:pt x="12255" y="3760"/>
                </a:cubicBezTo>
                <a:cubicBezTo>
                  <a:pt x="12235" y="3760"/>
                  <a:pt x="12235" y="3760"/>
                  <a:pt x="12215" y="3740"/>
                </a:cubicBezTo>
                <a:cubicBezTo>
                  <a:pt x="12016" y="3720"/>
                  <a:pt x="11817" y="3680"/>
                  <a:pt x="11618" y="3661"/>
                </a:cubicBezTo>
                <a:cubicBezTo>
                  <a:pt x="11578" y="3661"/>
                  <a:pt x="11539" y="3661"/>
                  <a:pt x="11519" y="3641"/>
                </a:cubicBezTo>
                <a:cubicBezTo>
                  <a:pt x="11320" y="3621"/>
                  <a:pt x="11121" y="3581"/>
                  <a:pt x="10922" y="3561"/>
                </a:cubicBezTo>
                <a:cubicBezTo>
                  <a:pt x="10882" y="3541"/>
                  <a:pt x="10842" y="3541"/>
                  <a:pt x="10803" y="3541"/>
                </a:cubicBezTo>
                <a:cubicBezTo>
                  <a:pt x="10604" y="3501"/>
                  <a:pt x="10425" y="3481"/>
                  <a:pt x="10226" y="3442"/>
                </a:cubicBezTo>
                <a:cubicBezTo>
                  <a:pt x="10186" y="3442"/>
                  <a:pt x="10166" y="3422"/>
                  <a:pt x="10126" y="3422"/>
                </a:cubicBezTo>
                <a:cubicBezTo>
                  <a:pt x="9947" y="3382"/>
                  <a:pt x="9768" y="3362"/>
                  <a:pt x="9589" y="3322"/>
                </a:cubicBezTo>
                <a:cubicBezTo>
                  <a:pt x="9569" y="3322"/>
                  <a:pt x="9549" y="3322"/>
                  <a:pt x="9529" y="3322"/>
                </a:cubicBezTo>
                <a:cubicBezTo>
                  <a:pt x="9350" y="3283"/>
                  <a:pt x="9171" y="3263"/>
                  <a:pt x="8992" y="3223"/>
                </a:cubicBezTo>
                <a:cubicBezTo>
                  <a:pt x="8953" y="3223"/>
                  <a:pt x="8913" y="3203"/>
                  <a:pt x="8873" y="3203"/>
                </a:cubicBezTo>
                <a:cubicBezTo>
                  <a:pt x="8694" y="3163"/>
                  <a:pt x="8535" y="3143"/>
                  <a:pt x="8356" y="3104"/>
                </a:cubicBezTo>
                <a:cubicBezTo>
                  <a:pt x="8316" y="3104"/>
                  <a:pt x="8276" y="3084"/>
                  <a:pt x="8236" y="3084"/>
                </a:cubicBezTo>
                <a:cubicBezTo>
                  <a:pt x="8057" y="3044"/>
                  <a:pt x="7898" y="3004"/>
                  <a:pt x="7739" y="2984"/>
                </a:cubicBezTo>
                <a:cubicBezTo>
                  <a:pt x="7719" y="2984"/>
                  <a:pt x="7699" y="2964"/>
                  <a:pt x="7679" y="2964"/>
                </a:cubicBezTo>
                <a:cubicBezTo>
                  <a:pt x="7520" y="2944"/>
                  <a:pt x="7361" y="2905"/>
                  <a:pt x="7222" y="2885"/>
                </a:cubicBezTo>
                <a:cubicBezTo>
                  <a:pt x="7182" y="2865"/>
                  <a:pt x="7142" y="2865"/>
                  <a:pt x="7102" y="2845"/>
                </a:cubicBezTo>
                <a:cubicBezTo>
                  <a:pt x="6943" y="2825"/>
                  <a:pt x="6784" y="2785"/>
                  <a:pt x="6645" y="2745"/>
                </a:cubicBezTo>
                <a:cubicBezTo>
                  <a:pt x="6605" y="2745"/>
                  <a:pt x="6565" y="2745"/>
                  <a:pt x="6526" y="2726"/>
                </a:cubicBezTo>
                <a:cubicBezTo>
                  <a:pt x="6386" y="2706"/>
                  <a:pt x="6227" y="2666"/>
                  <a:pt x="6088" y="2626"/>
                </a:cubicBezTo>
                <a:cubicBezTo>
                  <a:pt x="6068" y="2626"/>
                  <a:pt x="6068" y="2626"/>
                  <a:pt x="6048" y="2626"/>
                </a:cubicBezTo>
                <a:cubicBezTo>
                  <a:pt x="6048" y="2626"/>
                  <a:pt x="6048" y="2626"/>
                  <a:pt x="6048" y="2626"/>
                </a:cubicBezTo>
                <a:cubicBezTo>
                  <a:pt x="5889" y="2586"/>
                  <a:pt x="5750" y="2547"/>
                  <a:pt x="5611" y="2507"/>
                </a:cubicBezTo>
                <a:cubicBezTo>
                  <a:pt x="5571" y="2507"/>
                  <a:pt x="5531" y="2507"/>
                  <a:pt x="5491" y="2487"/>
                </a:cubicBezTo>
                <a:cubicBezTo>
                  <a:pt x="5352" y="2447"/>
                  <a:pt x="5213" y="2427"/>
                  <a:pt x="5073" y="2387"/>
                </a:cubicBezTo>
                <a:lnTo>
                  <a:pt x="5014" y="2367"/>
                </a:lnTo>
                <a:cubicBezTo>
                  <a:pt x="4894" y="2328"/>
                  <a:pt x="4775" y="2308"/>
                  <a:pt x="4636" y="2268"/>
                </a:cubicBezTo>
                <a:cubicBezTo>
                  <a:pt x="4616" y="2268"/>
                  <a:pt x="4576" y="2248"/>
                  <a:pt x="4556" y="2248"/>
                </a:cubicBezTo>
                <a:cubicBezTo>
                  <a:pt x="4417" y="2208"/>
                  <a:pt x="4278" y="2169"/>
                  <a:pt x="4158" y="2129"/>
                </a:cubicBezTo>
                <a:cubicBezTo>
                  <a:pt x="4138" y="2129"/>
                  <a:pt x="4099" y="2109"/>
                  <a:pt x="4079" y="2109"/>
                </a:cubicBezTo>
                <a:cubicBezTo>
                  <a:pt x="3979" y="2069"/>
                  <a:pt x="3880" y="2049"/>
                  <a:pt x="3761" y="2009"/>
                </a:cubicBezTo>
                <a:cubicBezTo>
                  <a:pt x="3741" y="2009"/>
                  <a:pt x="3701" y="1990"/>
                  <a:pt x="3681" y="1990"/>
                </a:cubicBezTo>
                <a:cubicBezTo>
                  <a:pt x="3562" y="1950"/>
                  <a:pt x="3442" y="1910"/>
                  <a:pt x="3323" y="1870"/>
                </a:cubicBezTo>
                <a:cubicBezTo>
                  <a:pt x="3303" y="1870"/>
                  <a:pt x="3303" y="1870"/>
                  <a:pt x="3283" y="1870"/>
                </a:cubicBezTo>
                <a:cubicBezTo>
                  <a:pt x="3184" y="1830"/>
                  <a:pt x="3084" y="1791"/>
                  <a:pt x="2985" y="1751"/>
                </a:cubicBezTo>
                <a:cubicBezTo>
                  <a:pt x="2945" y="1751"/>
                  <a:pt x="2905" y="1731"/>
                  <a:pt x="2865" y="1731"/>
                </a:cubicBezTo>
                <a:cubicBezTo>
                  <a:pt x="2786" y="1691"/>
                  <a:pt x="2706" y="1671"/>
                  <a:pt x="2647" y="1631"/>
                </a:cubicBezTo>
                <a:cubicBezTo>
                  <a:pt x="2607" y="1631"/>
                  <a:pt x="2567" y="1612"/>
                  <a:pt x="2547" y="1612"/>
                </a:cubicBezTo>
                <a:cubicBezTo>
                  <a:pt x="2467" y="1572"/>
                  <a:pt x="2388" y="1532"/>
                  <a:pt x="2308" y="1512"/>
                </a:cubicBezTo>
                <a:cubicBezTo>
                  <a:pt x="2288" y="1512"/>
                  <a:pt x="2249" y="1492"/>
                  <a:pt x="2229" y="1492"/>
                </a:cubicBezTo>
                <a:cubicBezTo>
                  <a:pt x="2129" y="1452"/>
                  <a:pt x="2030" y="1413"/>
                  <a:pt x="1950" y="1373"/>
                </a:cubicBezTo>
                <a:cubicBezTo>
                  <a:pt x="1910" y="1353"/>
                  <a:pt x="1891" y="1333"/>
                  <a:pt x="1851" y="1333"/>
                </a:cubicBezTo>
                <a:cubicBezTo>
                  <a:pt x="1791" y="1293"/>
                  <a:pt x="1731" y="1273"/>
                  <a:pt x="1672" y="1234"/>
                </a:cubicBezTo>
                <a:cubicBezTo>
                  <a:pt x="1632" y="1234"/>
                  <a:pt x="1592" y="1214"/>
                  <a:pt x="1572" y="1194"/>
                </a:cubicBezTo>
                <a:cubicBezTo>
                  <a:pt x="1513" y="1174"/>
                  <a:pt x="1473" y="1154"/>
                  <a:pt x="1413" y="1114"/>
                </a:cubicBezTo>
                <a:cubicBezTo>
                  <a:pt x="1373" y="1094"/>
                  <a:pt x="1314" y="1074"/>
                  <a:pt x="1254" y="1035"/>
                </a:cubicBezTo>
                <a:cubicBezTo>
                  <a:pt x="1234" y="1015"/>
                  <a:pt x="1194" y="995"/>
                  <a:pt x="1155" y="975"/>
                </a:cubicBezTo>
                <a:cubicBezTo>
                  <a:pt x="1115" y="955"/>
                  <a:pt x="1055" y="935"/>
                  <a:pt x="1015" y="895"/>
                </a:cubicBezTo>
                <a:cubicBezTo>
                  <a:pt x="976" y="876"/>
                  <a:pt x="936" y="856"/>
                  <a:pt x="916" y="836"/>
                </a:cubicBezTo>
                <a:cubicBezTo>
                  <a:pt x="876" y="816"/>
                  <a:pt x="816" y="776"/>
                  <a:pt x="777" y="756"/>
                </a:cubicBezTo>
                <a:cubicBezTo>
                  <a:pt x="757" y="736"/>
                  <a:pt x="717" y="716"/>
                  <a:pt x="697" y="696"/>
                </a:cubicBezTo>
                <a:cubicBezTo>
                  <a:pt x="657" y="677"/>
                  <a:pt x="617" y="637"/>
                  <a:pt x="558" y="597"/>
                </a:cubicBezTo>
                <a:cubicBezTo>
                  <a:pt x="538" y="597"/>
                  <a:pt x="518" y="577"/>
                  <a:pt x="498" y="557"/>
                </a:cubicBezTo>
                <a:cubicBezTo>
                  <a:pt x="478" y="537"/>
                  <a:pt x="438" y="498"/>
                  <a:pt x="399" y="478"/>
                </a:cubicBezTo>
                <a:cubicBezTo>
                  <a:pt x="379" y="458"/>
                  <a:pt x="359" y="438"/>
                  <a:pt x="339" y="418"/>
                </a:cubicBezTo>
                <a:cubicBezTo>
                  <a:pt x="319" y="398"/>
                  <a:pt x="279" y="358"/>
                  <a:pt x="259" y="338"/>
                </a:cubicBezTo>
                <a:cubicBezTo>
                  <a:pt x="240" y="319"/>
                  <a:pt x="220" y="299"/>
                  <a:pt x="220" y="279"/>
                </a:cubicBezTo>
                <a:cubicBezTo>
                  <a:pt x="180" y="239"/>
                  <a:pt x="160" y="219"/>
                  <a:pt x="140" y="179"/>
                </a:cubicBezTo>
                <a:cubicBezTo>
                  <a:pt x="120" y="159"/>
                  <a:pt x="100" y="159"/>
                  <a:pt x="100" y="140"/>
                </a:cubicBezTo>
                <a:cubicBezTo>
                  <a:pt x="60" y="100"/>
                  <a:pt x="41" y="40"/>
                  <a:pt x="1" y="0"/>
                </a:cubicBezTo>
                <a:cubicBezTo>
                  <a:pt x="2925" y="5391"/>
                  <a:pt x="5829" y="10762"/>
                  <a:pt x="8734" y="16153"/>
                </a:cubicBezTo>
                <a:cubicBezTo>
                  <a:pt x="8773" y="16213"/>
                  <a:pt x="8793" y="16253"/>
                  <a:pt x="8833" y="16292"/>
                </a:cubicBezTo>
                <a:lnTo>
                  <a:pt x="8833" y="16292"/>
                </a:lnTo>
                <a:cubicBezTo>
                  <a:pt x="8833" y="16312"/>
                  <a:pt x="8853" y="16332"/>
                  <a:pt x="8853" y="16352"/>
                </a:cubicBezTo>
                <a:cubicBezTo>
                  <a:pt x="8873" y="16372"/>
                  <a:pt x="8913" y="16412"/>
                  <a:pt x="8933" y="16432"/>
                </a:cubicBezTo>
                <a:lnTo>
                  <a:pt x="8933" y="16452"/>
                </a:lnTo>
                <a:cubicBezTo>
                  <a:pt x="8953" y="16452"/>
                  <a:pt x="8972" y="16471"/>
                  <a:pt x="8972" y="16491"/>
                </a:cubicBezTo>
                <a:cubicBezTo>
                  <a:pt x="9012" y="16531"/>
                  <a:pt x="9032" y="16551"/>
                  <a:pt x="9052" y="16571"/>
                </a:cubicBezTo>
                <a:lnTo>
                  <a:pt x="9052" y="16591"/>
                </a:lnTo>
                <a:lnTo>
                  <a:pt x="9112" y="16631"/>
                </a:lnTo>
                <a:cubicBezTo>
                  <a:pt x="9132" y="16670"/>
                  <a:pt x="9171" y="16690"/>
                  <a:pt x="9191" y="16730"/>
                </a:cubicBezTo>
                <a:lnTo>
                  <a:pt x="9211" y="16730"/>
                </a:lnTo>
                <a:cubicBezTo>
                  <a:pt x="9211" y="16750"/>
                  <a:pt x="9231" y="16750"/>
                  <a:pt x="9251" y="16770"/>
                </a:cubicBezTo>
                <a:cubicBezTo>
                  <a:pt x="9291" y="16810"/>
                  <a:pt x="9330" y="16829"/>
                  <a:pt x="9370" y="16869"/>
                </a:cubicBezTo>
                <a:cubicBezTo>
                  <a:pt x="9370" y="16869"/>
                  <a:pt x="9370" y="16869"/>
                  <a:pt x="9370" y="16869"/>
                </a:cubicBezTo>
                <a:cubicBezTo>
                  <a:pt x="9390" y="16889"/>
                  <a:pt x="9410" y="16909"/>
                  <a:pt x="9430" y="16909"/>
                </a:cubicBezTo>
                <a:cubicBezTo>
                  <a:pt x="9470" y="16949"/>
                  <a:pt x="9509" y="16969"/>
                  <a:pt x="9549" y="17009"/>
                </a:cubicBezTo>
                <a:cubicBezTo>
                  <a:pt x="9549" y="17009"/>
                  <a:pt x="9569" y="17009"/>
                  <a:pt x="9569" y="17028"/>
                </a:cubicBezTo>
                <a:cubicBezTo>
                  <a:pt x="9589" y="17028"/>
                  <a:pt x="9609" y="17048"/>
                  <a:pt x="9629" y="17068"/>
                </a:cubicBezTo>
                <a:cubicBezTo>
                  <a:pt x="9669" y="17088"/>
                  <a:pt x="9708" y="17128"/>
                  <a:pt x="9748" y="17148"/>
                </a:cubicBezTo>
                <a:cubicBezTo>
                  <a:pt x="9768" y="17148"/>
                  <a:pt x="9768" y="17168"/>
                  <a:pt x="9788" y="17168"/>
                </a:cubicBezTo>
                <a:cubicBezTo>
                  <a:pt x="9808" y="17188"/>
                  <a:pt x="9828" y="17188"/>
                  <a:pt x="9848" y="17207"/>
                </a:cubicBezTo>
                <a:cubicBezTo>
                  <a:pt x="9887" y="17227"/>
                  <a:pt x="9927" y="17267"/>
                  <a:pt x="9987" y="17287"/>
                </a:cubicBezTo>
                <a:cubicBezTo>
                  <a:pt x="9987" y="17287"/>
                  <a:pt x="10007" y="17307"/>
                  <a:pt x="10027" y="17307"/>
                </a:cubicBezTo>
                <a:cubicBezTo>
                  <a:pt x="10047" y="17327"/>
                  <a:pt x="10066" y="17347"/>
                  <a:pt x="10106" y="17367"/>
                </a:cubicBezTo>
                <a:cubicBezTo>
                  <a:pt x="10126" y="17367"/>
                  <a:pt x="10166" y="17386"/>
                  <a:pt x="10186" y="17406"/>
                </a:cubicBezTo>
                <a:cubicBezTo>
                  <a:pt x="10206" y="17406"/>
                  <a:pt x="10206" y="17426"/>
                  <a:pt x="10226" y="17426"/>
                </a:cubicBezTo>
                <a:cubicBezTo>
                  <a:pt x="10265" y="17446"/>
                  <a:pt x="10305" y="17466"/>
                  <a:pt x="10345" y="17486"/>
                </a:cubicBezTo>
                <a:cubicBezTo>
                  <a:pt x="10365" y="17506"/>
                  <a:pt x="10385" y="17526"/>
                  <a:pt x="10425" y="17526"/>
                </a:cubicBezTo>
                <a:lnTo>
                  <a:pt x="10425" y="17546"/>
                </a:lnTo>
                <a:cubicBezTo>
                  <a:pt x="10504" y="17585"/>
                  <a:pt x="10584" y="17605"/>
                  <a:pt x="10663" y="17645"/>
                </a:cubicBezTo>
                <a:cubicBezTo>
                  <a:pt x="10663" y="17645"/>
                  <a:pt x="10663" y="17645"/>
                  <a:pt x="10663" y="17645"/>
                </a:cubicBezTo>
                <a:cubicBezTo>
                  <a:pt x="10683" y="17665"/>
                  <a:pt x="10703" y="17665"/>
                  <a:pt x="10723" y="17685"/>
                </a:cubicBezTo>
                <a:cubicBezTo>
                  <a:pt x="10783" y="17705"/>
                  <a:pt x="10842" y="17725"/>
                  <a:pt x="10902" y="17764"/>
                </a:cubicBezTo>
                <a:cubicBezTo>
                  <a:pt x="10902" y="17764"/>
                  <a:pt x="10922" y="17764"/>
                  <a:pt x="10922" y="17764"/>
                </a:cubicBezTo>
                <a:cubicBezTo>
                  <a:pt x="10942" y="17784"/>
                  <a:pt x="10982" y="17804"/>
                  <a:pt x="11001" y="17804"/>
                </a:cubicBezTo>
                <a:cubicBezTo>
                  <a:pt x="11041" y="17824"/>
                  <a:pt x="11081" y="17844"/>
                  <a:pt x="11101" y="17864"/>
                </a:cubicBezTo>
                <a:lnTo>
                  <a:pt x="11200" y="17904"/>
                </a:lnTo>
                <a:cubicBezTo>
                  <a:pt x="11220" y="17904"/>
                  <a:pt x="11260" y="17924"/>
                  <a:pt x="11280" y="17924"/>
                </a:cubicBezTo>
                <a:lnTo>
                  <a:pt x="11340" y="17943"/>
                </a:lnTo>
                <a:cubicBezTo>
                  <a:pt x="11399" y="17983"/>
                  <a:pt x="11459" y="18003"/>
                  <a:pt x="11539" y="18043"/>
                </a:cubicBezTo>
                <a:cubicBezTo>
                  <a:pt x="11539" y="18043"/>
                  <a:pt x="11558" y="18043"/>
                  <a:pt x="11558" y="18043"/>
                </a:cubicBezTo>
                <a:lnTo>
                  <a:pt x="11558" y="18043"/>
                </a:lnTo>
                <a:cubicBezTo>
                  <a:pt x="11638" y="18083"/>
                  <a:pt x="11718" y="18103"/>
                  <a:pt x="11797" y="18142"/>
                </a:cubicBezTo>
                <a:cubicBezTo>
                  <a:pt x="11817" y="18142"/>
                  <a:pt x="11837" y="18142"/>
                  <a:pt x="11857" y="18162"/>
                </a:cubicBezTo>
                <a:cubicBezTo>
                  <a:pt x="11877" y="18162"/>
                  <a:pt x="11917" y="18182"/>
                  <a:pt x="11936" y="18182"/>
                </a:cubicBezTo>
                <a:cubicBezTo>
                  <a:pt x="11976" y="18202"/>
                  <a:pt x="11996" y="18202"/>
                  <a:pt x="12036" y="18222"/>
                </a:cubicBezTo>
                <a:cubicBezTo>
                  <a:pt x="12096" y="18242"/>
                  <a:pt x="12135" y="18262"/>
                  <a:pt x="12195" y="18282"/>
                </a:cubicBezTo>
                <a:cubicBezTo>
                  <a:pt x="12215" y="18282"/>
                  <a:pt x="12215" y="18282"/>
                  <a:pt x="12235" y="18302"/>
                </a:cubicBezTo>
                <a:cubicBezTo>
                  <a:pt x="12235" y="18302"/>
                  <a:pt x="12235" y="18302"/>
                  <a:pt x="12235" y="18302"/>
                </a:cubicBezTo>
                <a:cubicBezTo>
                  <a:pt x="12255" y="18302"/>
                  <a:pt x="12275" y="18302"/>
                  <a:pt x="12275" y="18302"/>
                </a:cubicBezTo>
                <a:cubicBezTo>
                  <a:pt x="12354" y="18341"/>
                  <a:pt x="12434" y="18361"/>
                  <a:pt x="12513" y="18401"/>
                </a:cubicBezTo>
                <a:cubicBezTo>
                  <a:pt x="12613" y="18421"/>
                  <a:pt x="12692" y="18441"/>
                  <a:pt x="12772" y="18481"/>
                </a:cubicBezTo>
                <a:cubicBezTo>
                  <a:pt x="12832" y="18500"/>
                  <a:pt x="12911" y="18520"/>
                  <a:pt x="12971" y="18540"/>
                </a:cubicBezTo>
                <a:lnTo>
                  <a:pt x="12991" y="18540"/>
                </a:lnTo>
                <a:cubicBezTo>
                  <a:pt x="13011" y="18540"/>
                  <a:pt x="13011" y="18560"/>
                  <a:pt x="13031" y="18560"/>
                </a:cubicBezTo>
                <a:cubicBezTo>
                  <a:pt x="13110" y="18580"/>
                  <a:pt x="13190" y="18600"/>
                  <a:pt x="13269" y="18640"/>
                </a:cubicBezTo>
                <a:cubicBezTo>
                  <a:pt x="13369" y="18660"/>
                  <a:pt x="13448" y="18680"/>
                  <a:pt x="13528" y="18719"/>
                </a:cubicBezTo>
                <a:cubicBezTo>
                  <a:pt x="13627" y="18739"/>
                  <a:pt x="13707" y="18759"/>
                  <a:pt x="13786" y="18799"/>
                </a:cubicBezTo>
                <a:cubicBezTo>
                  <a:pt x="13806" y="18799"/>
                  <a:pt x="13806" y="18799"/>
                  <a:pt x="13806" y="18799"/>
                </a:cubicBezTo>
                <a:cubicBezTo>
                  <a:pt x="13886" y="18819"/>
                  <a:pt x="13965" y="18839"/>
                  <a:pt x="14065" y="18859"/>
                </a:cubicBezTo>
                <a:cubicBezTo>
                  <a:pt x="14144" y="18898"/>
                  <a:pt x="14244" y="18918"/>
                  <a:pt x="14324" y="18938"/>
                </a:cubicBezTo>
                <a:cubicBezTo>
                  <a:pt x="14423" y="18958"/>
                  <a:pt x="14503" y="18978"/>
                  <a:pt x="14602" y="19018"/>
                </a:cubicBezTo>
                <a:cubicBezTo>
                  <a:pt x="14622" y="19018"/>
                  <a:pt x="14642" y="19018"/>
                  <a:pt x="14662" y="19018"/>
                </a:cubicBezTo>
                <a:cubicBezTo>
                  <a:pt x="14682" y="19018"/>
                  <a:pt x="14682" y="19038"/>
                  <a:pt x="14701" y="19038"/>
                </a:cubicBezTo>
                <a:cubicBezTo>
                  <a:pt x="14761" y="19057"/>
                  <a:pt x="14821" y="19057"/>
                  <a:pt x="14881" y="19077"/>
                </a:cubicBezTo>
                <a:cubicBezTo>
                  <a:pt x="14980" y="19097"/>
                  <a:pt x="15060" y="19117"/>
                  <a:pt x="15159" y="19157"/>
                </a:cubicBezTo>
                <a:cubicBezTo>
                  <a:pt x="15239" y="19177"/>
                  <a:pt x="15338" y="19197"/>
                  <a:pt x="15438" y="19217"/>
                </a:cubicBezTo>
                <a:cubicBezTo>
                  <a:pt x="15477" y="19237"/>
                  <a:pt x="15537" y="19237"/>
                  <a:pt x="15577" y="19256"/>
                </a:cubicBezTo>
                <a:cubicBezTo>
                  <a:pt x="15597" y="19256"/>
                  <a:pt x="15617" y="19256"/>
                  <a:pt x="15636" y="19256"/>
                </a:cubicBezTo>
                <a:cubicBezTo>
                  <a:pt x="15656" y="19276"/>
                  <a:pt x="15696" y="19276"/>
                  <a:pt x="15716" y="19276"/>
                </a:cubicBezTo>
                <a:cubicBezTo>
                  <a:pt x="15815" y="19316"/>
                  <a:pt x="15915" y="19336"/>
                  <a:pt x="16014" y="19356"/>
                </a:cubicBezTo>
                <a:cubicBezTo>
                  <a:pt x="16094" y="19376"/>
                  <a:pt x="16193" y="19396"/>
                  <a:pt x="16293" y="19416"/>
                </a:cubicBezTo>
                <a:cubicBezTo>
                  <a:pt x="16392" y="19435"/>
                  <a:pt x="16492" y="19455"/>
                  <a:pt x="16591" y="19475"/>
                </a:cubicBezTo>
                <a:cubicBezTo>
                  <a:pt x="16591" y="19475"/>
                  <a:pt x="16591" y="19475"/>
                  <a:pt x="16591" y="19475"/>
                </a:cubicBezTo>
                <a:cubicBezTo>
                  <a:pt x="16611" y="19475"/>
                  <a:pt x="16611" y="19495"/>
                  <a:pt x="16611" y="19495"/>
                </a:cubicBezTo>
                <a:cubicBezTo>
                  <a:pt x="16711" y="19515"/>
                  <a:pt x="16790" y="19535"/>
                  <a:pt x="16890" y="19555"/>
                </a:cubicBezTo>
                <a:cubicBezTo>
                  <a:pt x="16989" y="19575"/>
                  <a:pt x="17089" y="19595"/>
                  <a:pt x="17208" y="19614"/>
                </a:cubicBezTo>
                <a:cubicBezTo>
                  <a:pt x="17307" y="19634"/>
                  <a:pt x="17407" y="19654"/>
                  <a:pt x="17506" y="19674"/>
                </a:cubicBezTo>
                <a:cubicBezTo>
                  <a:pt x="17546" y="19674"/>
                  <a:pt x="17586" y="19694"/>
                  <a:pt x="17626" y="19694"/>
                </a:cubicBezTo>
                <a:cubicBezTo>
                  <a:pt x="17646" y="19694"/>
                  <a:pt x="17665" y="19714"/>
                  <a:pt x="17685" y="19714"/>
                </a:cubicBezTo>
                <a:cubicBezTo>
                  <a:pt x="17725" y="19714"/>
                  <a:pt x="17765" y="19734"/>
                  <a:pt x="17825" y="19734"/>
                </a:cubicBezTo>
                <a:cubicBezTo>
                  <a:pt x="17924" y="19754"/>
                  <a:pt x="18024" y="19774"/>
                  <a:pt x="18143" y="19794"/>
                </a:cubicBezTo>
                <a:lnTo>
                  <a:pt x="18461" y="19853"/>
                </a:lnTo>
                <a:lnTo>
                  <a:pt x="18760" y="19913"/>
                </a:lnTo>
                <a:cubicBezTo>
                  <a:pt x="18760" y="19913"/>
                  <a:pt x="18760" y="19913"/>
                  <a:pt x="18760" y="19913"/>
                </a:cubicBezTo>
                <a:cubicBezTo>
                  <a:pt x="18779" y="19913"/>
                  <a:pt x="18779" y="19913"/>
                  <a:pt x="18779" y="19913"/>
                </a:cubicBezTo>
                <a:cubicBezTo>
                  <a:pt x="18899" y="19933"/>
                  <a:pt x="18998" y="19953"/>
                  <a:pt x="19118" y="19973"/>
                </a:cubicBezTo>
                <a:cubicBezTo>
                  <a:pt x="19237" y="19992"/>
                  <a:pt x="19336" y="20012"/>
                  <a:pt x="19456" y="20032"/>
                </a:cubicBezTo>
                <a:cubicBezTo>
                  <a:pt x="19555" y="20052"/>
                  <a:pt x="19675" y="20072"/>
                  <a:pt x="19794" y="20092"/>
                </a:cubicBezTo>
                <a:cubicBezTo>
                  <a:pt x="19834" y="20092"/>
                  <a:pt x="19854" y="20092"/>
                  <a:pt x="19893" y="20112"/>
                </a:cubicBezTo>
                <a:cubicBezTo>
                  <a:pt x="19913" y="20112"/>
                  <a:pt x="19913" y="20112"/>
                  <a:pt x="19913" y="20112"/>
                </a:cubicBezTo>
                <a:cubicBezTo>
                  <a:pt x="19933" y="20112"/>
                  <a:pt x="19933" y="20112"/>
                  <a:pt x="19953" y="20112"/>
                </a:cubicBezTo>
                <a:cubicBezTo>
                  <a:pt x="20013" y="20132"/>
                  <a:pt x="20073" y="20132"/>
                  <a:pt x="20132" y="20152"/>
                </a:cubicBezTo>
                <a:cubicBezTo>
                  <a:pt x="20252" y="20171"/>
                  <a:pt x="20371" y="20191"/>
                  <a:pt x="20490" y="20211"/>
                </a:cubicBezTo>
                <a:cubicBezTo>
                  <a:pt x="20610" y="20231"/>
                  <a:pt x="20729" y="20231"/>
                  <a:pt x="20848" y="20251"/>
                </a:cubicBezTo>
                <a:cubicBezTo>
                  <a:pt x="20948" y="20271"/>
                  <a:pt x="21027" y="20291"/>
                  <a:pt x="21127" y="20311"/>
                </a:cubicBezTo>
                <a:cubicBezTo>
                  <a:pt x="21127" y="20311"/>
                  <a:pt x="21147" y="20311"/>
                  <a:pt x="21167" y="20311"/>
                </a:cubicBezTo>
                <a:cubicBezTo>
                  <a:pt x="21187" y="20311"/>
                  <a:pt x="21206" y="20311"/>
                  <a:pt x="21206" y="20311"/>
                </a:cubicBezTo>
                <a:cubicBezTo>
                  <a:pt x="21346" y="20331"/>
                  <a:pt x="21465" y="20351"/>
                  <a:pt x="21584" y="20370"/>
                </a:cubicBezTo>
                <a:cubicBezTo>
                  <a:pt x="21704" y="20390"/>
                  <a:pt x="21843" y="20410"/>
                  <a:pt x="21962" y="20430"/>
                </a:cubicBezTo>
                <a:cubicBezTo>
                  <a:pt x="22082" y="20450"/>
                  <a:pt x="22221" y="20450"/>
                  <a:pt x="22340" y="20470"/>
                </a:cubicBezTo>
                <a:lnTo>
                  <a:pt x="22400" y="20490"/>
                </a:lnTo>
                <a:cubicBezTo>
                  <a:pt x="22420" y="20490"/>
                  <a:pt x="22440" y="20490"/>
                  <a:pt x="22440" y="20490"/>
                </a:cubicBezTo>
                <a:cubicBezTo>
                  <a:pt x="22539" y="20510"/>
                  <a:pt x="22639" y="20510"/>
                  <a:pt x="22718" y="20530"/>
                </a:cubicBezTo>
                <a:cubicBezTo>
                  <a:pt x="22857" y="20549"/>
                  <a:pt x="22997" y="20569"/>
                  <a:pt x="23136" y="20589"/>
                </a:cubicBezTo>
                <a:cubicBezTo>
                  <a:pt x="23275" y="20609"/>
                  <a:pt x="23395" y="20629"/>
                  <a:pt x="23534" y="20629"/>
                </a:cubicBezTo>
                <a:cubicBezTo>
                  <a:pt x="23594" y="20649"/>
                  <a:pt x="23653" y="20649"/>
                  <a:pt x="23713" y="20649"/>
                </a:cubicBezTo>
                <a:cubicBezTo>
                  <a:pt x="23733" y="20669"/>
                  <a:pt x="23753" y="20669"/>
                  <a:pt x="23773" y="20669"/>
                </a:cubicBezTo>
                <a:cubicBezTo>
                  <a:pt x="23832" y="20669"/>
                  <a:pt x="23892" y="20689"/>
                  <a:pt x="23952" y="20689"/>
                </a:cubicBezTo>
                <a:lnTo>
                  <a:pt x="24369" y="20748"/>
                </a:lnTo>
                <a:cubicBezTo>
                  <a:pt x="24528" y="20768"/>
                  <a:pt x="24668" y="20768"/>
                  <a:pt x="24807" y="20788"/>
                </a:cubicBezTo>
                <a:lnTo>
                  <a:pt x="25066" y="20828"/>
                </a:lnTo>
                <a:cubicBezTo>
                  <a:pt x="25105" y="20828"/>
                  <a:pt x="25125" y="20828"/>
                  <a:pt x="25145" y="20828"/>
                </a:cubicBezTo>
                <a:cubicBezTo>
                  <a:pt x="25185" y="20848"/>
                  <a:pt x="25225" y="20848"/>
                  <a:pt x="25265" y="20848"/>
                </a:cubicBezTo>
                <a:cubicBezTo>
                  <a:pt x="25424" y="20868"/>
                  <a:pt x="25563" y="20888"/>
                  <a:pt x="25722" y="20888"/>
                </a:cubicBezTo>
                <a:cubicBezTo>
                  <a:pt x="25861" y="20908"/>
                  <a:pt x="26020" y="20927"/>
                  <a:pt x="26180" y="20947"/>
                </a:cubicBezTo>
                <a:cubicBezTo>
                  <a:pt x="26279" y="20947"/>
                  <a:pt x="26378" y="20967"/>
                  <a:pt x="26478" y="20987"/>
                </a:cubicBezTo>
                <a:cubicBezTo>
                  <a:pt x="26518" y="20987"/>
                  <a:pt x="26538" y="20987"/>
                  <a:pt x="26558" y="20987"/>
                </a:cubicBezTo>
                <a:cubicBezTo>
                  <a:pt x="26597" y="20987"/>
                  <a:pt x="26637" y="20987"/>
                  <a:pt x="26657" y="20987"/>
                </a:cubicBezTo>
                <a:cubicBezTo>
                  <a:pt x="26836" y="21007"/>
                  <a:pt x="26995" y="21027"/>
                  <a:pt x="27154" y="21047"/>
                </a:cubicBezTo>
                <a:cubicBezTo>
                  <a:pt x="27313" y="21067"/>
                  <a:pt x="27492" y="21087"/>
                  <a:pt x="27652" y="21087"/>
                </a:cubicBezTo>
                <a:cubicBezTo>
                  <a:pt x="27751" y="21106"/>
                  <a:pt x="27851" y="21106"/>
                  <a:pt x="27930" y="21126"/>
                </a:cubicBezTo>
                <a:cubicBezTo>
                  <a:pt x="27970" y="21126"/>
                  <a:pt x="27990" y="21126"/>
                  <a:pt x="28030" y="21126"/>
                </a:cubicBezTo>
                <a:cubicBezTo>
                  <a:pt x="28069" y="21126"/>
                  <a:pt x="28109" y="21126"/>
                  <a:pt x="28149" y="21146"/>
                </a:cubicBezTo>
                <a:cubicBezTo>
                  <a:pt x="28348" y="21166"/>
                  <a:pt x="28527" y="21166"/>
                  <a:pt x="28706" y="21186"/>
                </a:cubicBezTo>
                <a:cubicBezTo>
                  <a:pt x="28885" y="21206"/>
                  <a:pt x="29084" y="21226"/>
                  <a:pt x="29263" y="21246"/>
                </a:cubicBezTo>
                <a:cubicBezTo>
                  <a:pt x="29323" y="21246"/>
                  <a:pt x="29382" y="21246"/>
                  <a:pt x="29442" y="21246"/>
                </a:cubicBezTo>
                <a:cubicBezTo>
                  <a:pt x="29462" y="21246"/>
                  <a:pt x="29502" y="21266"/>
                  <a:pt x="29541" y="21266"/>
                </a:cubicBezTo>
                <a:cubicBezTo>
                  <a:pt x="29641" y="21266"/>
                  <a:pt x="29720" y="21285"/>
                  <a:pt x="29820" y="21285"/>
                </a:cubicBezTo>
                <a:lnTo>
                  <a:pt x="30397" y="21325"/>
                </a:lnTo>
                <a:cubicBezTo>
                  <a:pt x="30596" y="21345"/>
                  <a:pt x="30795" y="21365"/>
                  <a:pt x="30994" y="21365"/>
                </a:cubicBezTo>
                <a:cubicBezTo>
                  <a:pt x="30994" y="21365"/>
                  <a:pt x="31013" y="21365"/>
                  <a:pt x="31013" y="21385"/>
                </a:cubicBezTo>
                <a:lnTo>
                  <a:pt x="31013" y="21385"/>
                </a:lnTo>
                <a:cubicBezTo>
                  <a:pt x="31033" y="21385"/>
                  <a:pt x="31033" y="21385"/>
                  <a:pt x="31053" y="21385"/>
                </a:cubicBezTo>
                <a:cubicBezTo>
                  <a:pt x="31252" y="21385"/>
                  <a:pt x="31471" y="21405"/>
                  <a:pt x="31690" y="21425"/>
                </a:cubicBezTo>
                <a:cubicBezTo>
                  <a:pt x="31909" y="21445"/>
                  <a:pt x="32147" y="21465"/>
                  <a:pt x="32366" y="21465"/>
                </a:cubicBezTo>
                <a:cubicBezTo>
                  <a:pt x="32426" y="21484"/>
                  <a:pt x="32486" y="21484"/>
                  <a:pt x="32545" y="21484"/>
                </a:cubicBezTo>
                <a:lnTo>
                  <a:pt x="32665" y="21484"/>
                </a:lnTo>
                <a:cubicBezTo>
                  <a:pt x="32784" y="21504"/>
                  <a:pt x="32903" y="21504"/>
                  <a:pt x="33023" y="21504"/>
                </a:cubicBezTo>
                <a:cubicBezTo>
                  <a:pt x="33301" y="21524"/>
                  <a:pt x="33580" y="21544"/>
                  <a:pt x="33858" y="21564"/>
                </a:cubicBezTo>
                <a:cubicBezTo>
                  <a:pt x="33938" y="21564"/>
                  <a:pt x="34017" y="21564"/>
                  <a:pt x="34097" y="21564"/>
                </a:cubicBezTo>
                <a:cubicBezTo>
                  <a:pt x="34176" y="21584"/>
                  <a:pt x="34256" y="21584"/>
                  <a:pt x="34336" y="21584"/>
                </a:cubicBezTo>
                <a:cubicBezTo>
                  <a:pt x="34455" y="21584"/>
                  <a:pt x="34574" y="21604"/>
                  <a:pt x="34714" y="21604"/>
                </a:cubicBezTo>
                <a:cubicBezTo>
                  <a:pt x="34992" y="21624"/>
                  <a:pt x="35271" y="21624"/>
                  <a:pt x="35549" y="21644"/>
                </a:cubicBezTo>
                <a:cubicBezTo>
                  <a:pt x="35629" y="21644"/>
                  <a:pt x="35688" y="21644"/>
                  <a:pt x="35748" y="21663"/>
                </a:cubicBezTo>
                <a:cubicBezTo>
                  <a:pt x="35828" y="21663"/>
                  <a:pt x="35907" y="21663"/>
                  <a:pt x="35987" y="21663"/>
                </a:cubicBezTo>
                <a:cubicBezTo>
                  <a:pt x="36126" y="21683"/>
                  <a:pt x="36265" y="21683"/>
                  <a:pt x="36424" y="21683"/>
                </a:cubicBezTo>
                <a:cubicBezTo>
                  <a:pt x="36603" y="21703"/>
                  <a:pt x="36802" y="21703"/>
                  <a:pt x="37001" y="21703"/>
                </a:cubicBezTo>
                <a:cubicBezTo>
                  <a:pt x="37260" y="21723"/>
                  <a:pt x="37499" y="21723"/>
                  <a:pt x="37757" y="21743"/>
                </a:cubicBezTo>
                <a:cubicBezTo>
                  <a:pt x="37837" y="21743"/>
                  <a:pt x="37916" y="21743"/>
                  <a:pt x="37976" y="21743"/>
                </a:cubicBezTo>
                <a:cubicBezTo>
                  <a:pt x="38215" y="21763"/>
                  <a:pt x="38433" y="21763"/>
                  <a:pt x="38652" y="21763"/>
                </a:cubicBezTo>
                <a:lnTo>
                  <a:pt x="39388" y="21783"/>
                </a:lnTo>
                <a:cubicBezTo>
                  <a:pt x="39448" y="21783"/>
                  <a:pt x="39508" y="21803"/>
                  <a:pt x="39587" y="21803"/>
                </a:cubicBezTo>
                <a:cubicBezTo>
                  <a:pt x="39826" y="21803"/>
                  <a:pt x="40104" y="21803"/>
                  <a:pt x="40363" y="21803"/>
                </a:cubicBezTo>
                <a:lnTo>
                  <a:pt x="41059" y="21823"/>
                </a:lnTo>
                <a:cubicBezTo>
                  <a:pt x="41099" y="21823"/>
                  <a:pt x="41139" y="21823"/>
                  <a:pt x="41199" y="21823"/>
                </a:cubicBezTo>
                <a:cubicBezTo>
                  <a:pt x="41497" y="21842"/>
                  <a:pt x="41815" y="21842"/>
                  <a:pt x="42114" y="21842"/>
                </a:cubicBezTo>
                <a:cubicBezTo>
                  <a:pt x="42332" y="21842"/>
                  <a:pt x="42531" y="21842"/>
                  <a:pt x="42750" y="21842"/>
                </a:cubicBezTo>
                <a:lnTo>
                  <a:pt x="42830" y="21842"/>
                </a:lnTo>
                <a:cubicBezTo>
                  <a:pt x="42949" y="21842"/>
                  <a:pt x="43088" y="21842"/>
                  <a:pt x="43228" y="21842"/>
                </a:cubicBezTo>
                <a:cubicBezTo>
                  <a:pt x="43367" y="21842"/>
                  <a:pt x="43486" y="21862"/>
                  <a:pt x="43625" y="21862"/>
                </a:cubicBezTo>
                <a:cubicBezTo>
                  <a:pt x="43765" y="21862"/>
                  <a:pt x="43904" y="21862"/>
                  <a:pt x="44023" y="21862"/>
                </a:cubicBezTo>
                <a:cubicBezTo>
                  <a:pt x="44163" y="21862"/>
                  <a:pt x="44302" y="21862"/>
                  <a:pt x="44441" y="21862"/>
                </a:cubicBezTo>
                <a:lnTo>
                  <a:pt x="44918" y="21862"/>
                </a:lnTo>
                <a:cubicBezTo>
                  <a:pt x="45078" y="21862"/>
                  <a:pt x="45257" y="21862"/>
                  <a:pt x="45416" y="21862"/>
                </a:cubicBezTo>
                <a:cubicBezTo>
                  <a:pt x="45575" y="21862"/>
                  <a:pt x="45734" y="21842"/>
                  <a:pt x="45893" y="21842"/>
                </a:cubicBezTo>
                <a:lnTo>
                  <a:pt x="46052" y="21842"/>
                </a:lnTo>
                <a:lnTo>
                  <a:pt x="46132" y="21842"/>
                </a:lnTo>
                <a:cubicBezTo>
                  <a:pt x="46212" y="21842"/>
                  <a:pt x="46291" y="21842"/>
                  <a:pt x="46371" y="21842"/>
                </a:cubicBezTo>
                <a:cubicBezTo>
                  <a:pt x="46589" y="21842"/>
                  <a:pt x="46808" y="21842"/>
                  <a:pt x="47027" y="21842"/>
                </a:cubicBezTo>
                <a:cubicBezTo>
                  <a:pt x="47306" y="21842"/>
                  <a:pt x="47584" y="21842"/>
                  <a:pt x="47843" y="21823"/>
                </a:cubicBezTo>
                <a:cubicBezTo>
                  <a:pt x="47902" y="21823"/>
                  <a:pt x="47942" y="21823"/>
                  <a:pt x="47982" y="21823"/>
                </a:cubicBezTo>
                <a:cubicBezTo>
                  <a:pt x="48201" y="21823"/>
                  <a:pt x="48400" y="21823"/>
                  <a:pt x="48619" y="21823"/>
                </a:cubicBezTo>
                <a:cubicBezTo>
                  <a:pt x="48897" y="21803"/>
                  <a:pt x="49176" y="21803"/>
                  <a:pt x="49434" y="21803"/>
                </a:cubicBezTo>
                <a:cubicBezTo>
                  <a:pt x="49494" y="21803"/>
                  <a:pt x="49534" y="21803"/>
                  <a:pt x="49573" y="21803"/>
                </a:cubicBezTo>
                <a:cubicBezTo>
                  <a:pt x="49772" y="21783"/>
                  <a:pt x="49991" y="21783"/>
                  <a:pt x="50190" y="21783"/>
                </a:cubicBezTo>
                <a:cubicBezTo>
                  <a:pt x="50469" y="21763"/>
                  <a:pt x="50727" y="21763"/>
                  <a:pt x="51006" y="21743"/>
                </a:cubicBezTo>
                <a:cubicBezTo>
                  <a:pt x="51045" y="21743"/>
                  <a:pt x="51085" y="21743"/>
                  <a:pt x="51125" y="21743"/>
                </a:cubicBezTo>
                <a:cubicBezTo>
                  <a:pt x="51344" y="21743"/>
                  <a:pt x="51543" y="21723"/>
                  <a:pt x="51762" y="21723"/>
                </a:cubicBezTo>
                <a:cubicBezTo>
                  <a:pt x="52020" y="21703"/>
                  <a:pt x="52279" y="21703"/>
                  <a:pt x="52537" y="21683"/>
                </a:cubicBezTo>
                <a:cubicBezTo>
                  <a:pt x="52577" y="21683"/>
                  <a:pt x="52617" y="21683"/>
                  <a:pt x="52657" y="21683"/>
                </a:cubicBezTo>
                <a:cubicBezTo>
                  <a:pt x="52935" y="21683"/>
                  <a:pt x="53214" y="21663"/>
                  <a:pt x="53492" y="21644"/>
                </a:cubicBezTo>
                <a:lnTo>
                  <a:pt x="53791" y="21644"/>
                </a:lnTo>
                <a:cubicBezTo>
                  <a:pt x="53870" y="21624"/>
                  <a:pt x="53950" y="21624"/>
                  <a:pt x="54029" y="21624"/>
                </a:cubicBezTo>
                <a:cubicBezTo>
                  <a:pt x="54129" y="21624"/>
                  <a:pt x="54228" y="21604"/>
                  <a:pt x="54328" y="21604"/>
                </a:cubicBezTo>
                <a:cubicBezTo>
                  <a:pt x="54586" y="21584"/>
                  <a:pt x="54865" y="21584"/>
                  <a:pt x="55143" y="21564"/>
                </a:cubicBezTo>
                <a:cubicBezTo>
                  <a:pt x="55203" y="21564"/>
                  <a:pt x="55263" y="21564"/>
                  <a:pt x="55322" y="21544"/>
                </a:cubicBezTo>
                <a:cubicBezTo>
                  <a:pt x="55382" y="21544"/>
                  <a:pt x="55442" y="21544"/>
                  <a:pt x="55521" y="21544"/>
                </a:cubicBezTo>
                <a:cubicBezTo>
                  <a:pt x="55661" y="21524"/>
                  <a:pt x="55800" y="21524"/>
                  <a:pt x="55939" y="21524"/>
                </a:cubicBezTo>
                <a:cubicBezTo>
                  <a:pt x="56158" y="21504"/>
                  <a:pt x="56377" y="21484"/>
                  <a:pt x="56576" y="21465"/>
                </a:cubicBezTo>
                <a:cubicBezTo>
                  <a:pt x="56655" y="21465"/>
                  <a:pt x="56715" y="21465"/>
                  <a:pt x="56775" y="21465"/>
                </a:cubicBezTo>
                <a:cubicBezTo>
                  <a:pt x="56794" y="21465"/>
                  <a:pt x="56834" y="21465"/>
                  <a:pt x="56854" y="21445"/>
                </a:cubicBezTo>
                <a:cubicBezTo>
                  <a:pt x="56874" y="21445"/>
                  <a:pt x="56894" y="21445"/>
                  <a:pt x="56914" y="21445"/>
                </a:cubicBezTo>
                <a:cubicBezTo>
                  <a:pt x="57013" y="21445"/>
                  <a:pt x="57113" y="21425"/>
                  <a:pt x="57212" y="21425"/>
                </a:cubicBezTo>
                <a:cubicBezTo>
                  <a:pt x="57431" y="21405"/>
                  <a:pt x="57630" y="21405"/>
                  <a:pt x="57849" y="21385"/>
                </a:cubicBezTo>
                <a:cubicBezTo>
                  <a:pt x="57948" y="21365"/>
                  <a:pt x="58068" y="21365"/>
                  <a:pt x="58167" y="21365"/>
                </a:cubicBezTo>
                <a:cubicBezTo>
                  <a:pt x="58227" y="21345"/>
                  <a:pt x="58266" y="21345"/>
                  <a:pt x="58306" y="21345"/>
                </a:cubicBezTo>
                <a:cubicBezTo>
                  <a:pt x="58366" y="21345"/>
                  <a:pt x="58406" y="21345"/>
                  <a:pt x="58465" y="21325"/>
                </a:cubicBezTo>
                <a:cubicBezTo>
                  <a:pt x="58644" y="21325"/>
                  <a:pt x="58823" y="21305"/>
                  <a:pt x="59002" y="21285"/>
                </a:cubicBezTo>
                <a:cubicBezTo>
                  <a:pt x="59182" y="21266"/>
                  <a:pt x="59361" y="21266"/>
                  <a:pt x="59540" y="21246"/>
                </a:cubicBezTo>
                <a:cubicBezTo>
                  <a:pt x="59559" y="21246"/>
                  <a:pt x="59579" y="21246"/>
                  <a:pt x="59599" y="21246"/>
                </a:cubicBezTo>
                <a:cubicBezTo>
                  <a:pt x="59619" y="21246"/>
                  <a:pt x="59639" y="21246"/>
                  <a:pt x="59659" y="21226"/>
                </a:cubicBezTo>
                <a:cubicBezTo>
                  <a:pt x="59798" y="21226"/>
                  <a:pt x="59937" y="21206"/>
                  <a:pt x="60077" y="21206"/>
                </a:cubicBezTo>
                <a:cubicBezTo>
                  <a:pt x="60236" y="21186"/>
                  <a:pt x="60415" y="21166"/>
                  <a:pt x="60594" y="21146"/>
                </a:cubicBezTo>
                <a:cubicBezTo>
                  <a:pt x="60693" y="21146"/>
                  <a:pt x="60793" y="21126"/>
                  <a:pt x="60892" y="21126"/>
                </a:cubicBezTo>
                <a:cubicBezTo>
                  <a:pt x="60912" y="21106"/>
                  <a:pt x="60952" y="21106"/>
                  <a:pt x="60972" y="21106"/>
                </a:cubicBezTo>
                <a:cubicBezTo>
                  <a:pt x="60992" y="21106"/>
                  <a:pt x="61032" y="21106"/>
                  <a:pt x="61071" y="21106"/>
                </a:cubicBezTo>
                <a:cubicBezTo>
                  <a:pt x="61211" y="21087"/>
                  <a:pt x="61370" y="21067"/>
                  <a:pt x="61529" y="21047"/>
                </a:cubicBezTo>
                <a:cubicBezTo>
                  <a:pt x="61688" y="21027"/>
                  <a:pt x="61847" y="21027"/>
                  <a:pt x="61986" y="21007"/>
                </a:cubicBezTo>
                <a:cubicBezTo>
                  <a:pt x="62046" y="20987"/>
                  <a:pt x="62106" y="20987"/>
                  <a:pt x="62165" y="20987"/>
                </a:cubicBezTo>
                <a:cubicBezTo>
                  <a:pt x="62205" y="20987"/>
                  <a:pt x="62245" y="20967"/>
                  <a:pt x="62265" y="20967"/>
                </a:cubicBezTo>
                <a:cubicBezTo>
                  <a:pt x="62325" y="20967"/>
                  <a:pt x="62384" y="20967"/>
                  <a:pt x="62444" y="20947"/>
                </a:cubicBezTo>
                <a:cubicBezTo>
                  <a:pt x="62603" y="20947"/>
                  <a:pt x="62742" y="20927"/>
                  <a:pt x="62882" y="20908"/>
                </a:cubicBezTo>
                <a:cubicBezTo>
                  <a:pt x="63021" y="20888"/>
                  <a:pt x="63160" y="20868"/>
                  <a:pt x="63299" y="20848"/>
                </a:cubicBezTo>
                <a:cubicBezTo>
                  <a:pt x="63339" y="20848"/>
                  <a:pt x="63379" y="20848"/>
                  <a:pt x="63419" y="20848"/>
                </a:cubicBezTo>
                <a:cubicBezTo>
                  <a:pt x="63458" y="20828"/>
                  <a:pt x="63478" y="20828"/>
                  <a:pt x="63498" y="20828"/>
                </a:cubicBezTo>
                <a:cubicBezTo>
                  <a:pt x="63578" y="20828"/>
                  <a:pt x="63657" y="20808"/>
                  <a:pt x="63717" y="20808"/>
                </a:cubicBezTo>
                <a:cubicBezTo>
                  <a:pt x="63856" y="20788"/>
                  <a:pt x="63996" y="20768"/>
                  <a:pt x="64135" y="20748"/>
                </a:cubicBezTo>
                <a:cubicBezTo>
                  <a:pt x="64274" y="20728"/>
                  <a:pt x="64393" y="20709"/>
                  <a:pt x="64533" y="20689"/>
                </a:cubicBezTo>
                <a:lnTo>
                  <a:pt x="64632" y="20689"/>
                </a:lnTo>
                <a:cubicBezTo>
                  <a:pt x="64652" y="20689"/>
                  <a:pt x="64672" y="20669"/>
                  <a:pt x="64692" y="20669"/>
                </a:cubicBezTo>
                <a:cubicBezTo>
                  <a:pt x="64771" y="20669"/>
                  <a:pt x="64831" y="20649"/>
                  <a:pt x="64911" y="20649"/>
                </a:cubicBezTo>
                <a:lnTo>
                  <a:pt x="65289" y="20589"/>
                </a:lnTo>
                <a:cubicBezTo>
                  <a:pt x="65428" y="20569"/>
                  <a:pt x="65547" y="20549"/>
                  <a:pt x="65667" y="20530"/>
                </a:cubicBezTo>
                <a:cubicBezTo>
                  <a:pt x="65706" y="20530"/>
                  <a:pt x="65746" y="20530"/>
                  <a:pt x="65786" y="20530"/>
                </a:cubicBezTo>
                <a:cubicBezTo>
                  <a:pt x="65806" y="20510"/>
                  <a:pt x="65826" y="20510"/>
                  <a:pt x="65846" y="20510"/>
                </a:cubicBezTo>
                <a:cubicBezTo>
                  <a:pt x="65905" y="20510"/>
                  <a:pt x="65965" y="20490"/>
                  <a:pt x="66025" y="20490"/>
                </a:cubicBezTo>
                <a:lnTo>
                  <a:pt x="66383" y="20430"/>
                </a:lnTo>
                <a:cubicBezTo>
                  <a:pt x="66482" y="20410"/>
                  <a:pt x="66602" y="20390"/>
                  <a:pt x="66721" y="20370"/>
                </a:cubicBezTo>
                <a:cubicBezTo>
                  <a:pt x="66781" y="20370"/>
                  <a:pt x="66840" y="20370"/>
                  <a:pt x="66900" y="20351"/>
                </a:cubicBezTo>
                <a:cubicBezTo>
                  <a:pt x="66900" y="20351"/>
                  <a:pt x="66920" y="20351"/>
                  <a:pt x="66920" y="20351"/>
                </a:cubicBezTo>
                <a:cubicBezTo>
                  <a:pt x="66920" y="20351"/>
                  <a:pt x="66940" y="20351"/>
                  <a:pt x="66940" y="20351"/>
                </a:cubicBezTo>
                <a:cubicBezTo>
                  <a:pt x="66979" y="20331"/>
                  <a:pt x="67019" y="20331"/>
                  <a:pt x="67059" y="20331"/>
                </a:cubicBezTo>
                <a:cubicBezTo>
                  <a:pt x="67178" y="20311"/>
                  <a:pt x="67278" y="20291"/>
                  <a:pt x="67397" y="20271"/>
                </a:cubicBezTo>
                <a:cubicBezTo>
                  <a:pt x="67497" y="20251"/>
                  <a:pt x="67616" y="20231"/>
                  <a:pt x="67715" y="20211"/>
                </a:cubicBezTo>
                <a:cubicBezTo>
                  <a:pt x="67795" y="20211"/>
                  <a:pt x="67875" y="20191"/>
                  <a:pt x="67934" y="20171"/>
                </a:cubicBezTo>
                <a:lnTo>
                  <a:pt x="67974" y="20171"/>
                </a:lnTo>
                <a:cubicBezTo>
                  <a:pt x="67994" y="20171"/>
                  <a:pt x="68014" y="20152"/>
                  <a:pt x="68034" y="20152"/>
                </a:cubicBezTo>
                <a:cubicBezTo>
                  <a:pt x="68153" y="20132"/>
                  <a:pt x="68253" y="20112"/>
                  <a:pt x="68352" y="20092"/>
                </a:cubicBezTo>
                <a:cubicBezTo>
                  <a:pt x="68452" y="20072"/>
                  <a:pt x="68551" y="20072"/>
                  <a:pt x="68670" y="20052"/>
                </a:cubicBezTo>
                <a:cubicBezTo>
                  <a:pt x="68770" y="20032"/>
                  <a:pt x="68869" y="20012"/>
                  <a:pt x="68949" y="19992"/>
                </a:cubicBezTo>
                <a:cubicBezTo>
                  <a:pt x="68969" y="19992"/>
                  <a:pt x="68969" y="19992"/>
                  <a:pt x="68969" y="19992"/>
                </a:cubicBezTo>
                <a:cubicBezTo>
                  <a:pt x="69068" y="19973"/>
                  <a:pt x="69168" y="19953"/>
                  <a:pt x="69267" y="19933"/>
                </a:cubicBezTo>
                <a:cubicBezTo>
                  <a:pt x="69367" y="19913"/>
                  <a:pt x="69466" y="19893"/>
                  <a:pt x="69546" y="19873"/>
                </a:cubicBezTo>
                <a:cubicBezTo>
                  <a:pt x="69645" y="19853"/>
                  <a:pt x="69745" y="19833"/>
                  <a:pt x="69844" y="19813"/>
                </a:cubicBezTo>
                <a:cubicBezTo>
                  <a:pt x="69864" y="19794"/>
                  <a:pt x="69884" y="19794"/>
                  <a:pt x="69884" y="19794"/>
                </a:cubicBezTo>
                <a:cubicBezTo>
                  <a:pt x="69904" y="19794"/>
                  <a:pt x="69924" y="19794"/>
                  <a:pt x="69924" y="19794"/>
                </a:cubicBezTo>
                <a:cubicBezTo>
                  <a:pt x="70003" y="19774"/>
                  <a:pt x="70063" y="19754"/>
                  <a:pt x="70123" y="19754"/>
                </a:cubicBezTo>
                <a:cubicBezTo>
                  <a:pt x="70222" y="19734"/>
                  <a:pt x="70321" y="19714"/>
                  <a:pt x="70401" y="19674"/>
                </a:cubicBezTo>
                <a:cubicBezTo>
                  <a:pt x="70500" y="19654"/>
                  <a:pt x="70580" y="19634"/>
                  <a:pt x="70680" y="19614"/>
                </a:cubicBezTo>
                <a:cubicBezTo>
                  <a:pt x="70699" y="19614"/>
                  <a:pt x="70739" y="19595"/>
                  <a:pt x="70779" y="19595"/>
                </a:cubicBezTo>
                <a:cubicBezTo>
                  <a:pt x="70799" y="19595"/>
                  <a:pt x="70819" y="19595"/>
                  <a:pt x="70819" y="19575"/>
                </a:cubicBezTo>
                <a:cubicBezTo>
                  <a:pt x="70859" y="19575"/>
                  <a:pt x="70898" y="19575"/>
                  <a:pt x="70938" y="19555"/>
                </a:cubicBezTo>
                <a:cubicBezTo>
                  <a:pt x="71038" y="19535"/>
                  <a:pt x="71117" y="19515"/>
                  <a:pt x="71217" y="19495"/>
                </a:cubicBezTo>
                <a:cubicBezTo>
                  <a:pt x="71296" y="19475"/>
                  <a:pt x="71376" y="19455"/>
                  <a:pt x="71475" y="19435"/>
                </a:cubicBezTo>
                <a:cubicBezTo>
                  <a:pt x="71515" y="19416"/>
                  <a:pt x="71575" y="19396"/>
                  <a:pt x="71614" y="19396"/>
                </a:cubicBezTo>
                <a:cubicBezTo>
                  <a:pt x="71634" y="19376"/>
                  <a:pt x="71654" y="19376"/>
                  <a:pt x="71654" y="19376"/>
                </a:cubicBezTo>
                <a:cubicBezTo>
                  <a:pt x="71674" y="19376"/>
                  <a:pt x="71694" y="19376"/>
                  <a:pt x="71714" y="19356"/>
                </a:cubicBezTo>
                <a:cubicBezTo>
                  <a:pt x="71813" y="19336"/>
                  <a:pt x="71893" y="19316"/>
                  <a:pt x="71973" y="19296"/>
                </a:cubicBezTo>
                <a:lnTo>
                  <a:pt x="72211" y="19237"/>
                </a:lnTo>
                <a:cubicBezTo>
                  <a:pt x="72291" y="19217"/>
                  <a:pt x="72350" y="19197"/>
                  <a:pt x="72410" y="19177"/>
                </a:cubicBezTo>
                <a:cubicBezTo>
                  <a:pt x="72430" y="19177"/>
                  <a:pt x="72430" y="19177"/>
                  <a:pt x="72430" y="19177"/>
                </a:cubicBezTo>
                <a:cubicBezTo>
                  <a:pt x="72450" y="19177"/>
                  <a:pt x="72450" y="19157"/>
                  <a:pt x="72450" y="19157"/>
                </a:cubicBezTo>
                <a:cubicBezTo>
                  <a:pt x="72530" y="19137"/>
                  <a:pt x="72609" y="19117"/>
                  <a:pt x="72689" y="19097"/>
                </a:cubicBezTo>
                <a:cubicBezTo>
                  <a:pt x="72768" y="19077"/>
                  <a:pt x="72848" y="19057"/>
                  <a:pt x="72927" y="19018"/>
                </a:cubicBezTo>
                <a:cubicBezTo>
                  <a:pt x="73007" y="18998"/>
                  <a:pt x="73087" y="18978"/>
                  <a:pt x="73166" y="18958"/>
                </a:cubicBezTo>
                <a:lnTo>
                  <a:pt x="73166" y="18958"/>
                </a:lnTo>
                <a:lnTo>
                  <a:pt x="73166" y="18958"/>
                </a:lnTo>
                <a:cubicBezTo>
                  <a:pt x="73246" y="18918"/>
                  <a:pt x="73305" y="18898"/>
                  <a:pt x="73385" y="18878"/>
                </a:cubicBezTo>
                <a:cubicBezTo>
                  <a:pt x="73464" y="18859"/>
                  <a:pt x="73524" y="18839"/>
                  <a:pt x="73604" y="18799"/>
                </a:cubicBezTo>
                <a:cubicBezTo>
                  <a:pt x="73683" y="18779"/>
                  <a:pt x="73763" y="18759"/>
                  <a:pt x="73823" y="18719"/>
                </a:cubicBezTo>
                <a:lnTo>
                  <a:pt x="73823" y="18719"/>
                </a:lnTo>
                <a:lnTo>
                  <a:pt x="73823" y="18719"/>
                </a:lnTo>
                <a:cubicBezTo>
                  <a:pt x="73823" y="18719"/>
                  <a:pt x="73842" y="18719"/>
                  <a:pt x="73842" y="18719"/>
                </a:cubicBezTo>
                <a:cubicBezTo>
                  <a:pt x="73902" y="18699"/>
                  <a:pt x="73982" y="18680"/>
                  <a:pt x="74041" y="18660"/>
                </a:cubicBezTo>
                <a:cubicBezTo>
                  <a:pt x="74101" y="18620"/>
                  <a:pt x="74181" y="18600"/>
                  <a:pt x="74240" y="18580"/>
                </a:cubicBezTo>
                <a:cubicBezTo>
                  <a:pt x="74320" y="18540"/>
                  <a:pt x="74380" y="18520"/>
                  <a:pt x="74439" y="18500"/>
                </a:cubicBezTo>
                <a:cubicBezTo>
                  <a:pt x="74439" y="18500"/>
                  <a:pt x="74439" y="18500"/>
                  <a:pt x="74439" y="18500"/>
                </a:cubicBezTo>
                <a:cubicBezTo>
                  <a:pt x="74439" y="18500"/>
                  <a:pt x="74439" y="18500"/>
                  <a:pt x="74459" y="18500"/>
                </a:cubicBezTo>
                <a:cubicBezTo>
                  <a:pt x="74519" y="18461"/>
                  <a:pt x="74598" y="18441"/>
                  <a:pt x="74658" y="18401"/>
                </a:cubicBezTo>
                <a:cubicBezTo>
                  <a:pt x="74718" y="18381"/>
                  <a:pt x="74797" y="18341"/>
                  <a:pt x="74857" y="18321"/>
                </a:cubicBezTo>
                <a:cubicBezTo>
                  <a:pt x="74897" y="18302"/>
                  <a:pt x="74937" y="18282"/>
                  <a:pt x="74976" y="18282"/>
                </a:cubicBezTo>
                <a:cubicBezTo>
                  <a:pt x="74976" y="18262"/>
                  <a:pt x="74996" y="18262"/>
                  <a:pt x="74996" y="18262"/>
                </a:cubicBezTo>
                <a:cubicBezTo>
                  <a:pt x="75016" y="18242"/>
                  <a:pt x="75036" y="18242"/>
                  <a:pt x="75036" y="18242"/>
                </a:cubicBezTo>
                <a:cubicBezTo>
                  <a:pt x="75116" y="18202"/>
                  <a:pt x="75175" y="18182"/>
                  <a:pt x="75235" y="18142"/>
                </a:cubicBezTo>
                <a:cubicBezTo>
                  <a:pt x="75295" y="18123"/>
                  <a:pt x="75354" y="18083"/>
                  <a:pt x="75414" y="18063"/>
                </a:cubicBezTo>
                <a:lnTo>
                  <a:pt x="75454" y="18043"/>
                </a:lnTo>
                <a:cubicBezTo>
                  <a:pt x="75474" y="18023"/>
                  <a:pt x="75474" y="18023"/>
                  <a:pt x="75494" y="18023"/>
                </a:cubicBezTo>
                <a:cubicBezTo>
                  <a:pt x="75533" y="18003"/>
                  <a:pt x="75553" y="17983"/>
                  <a:pt x="75593" y="17963"/>
                </a:cubicBezTo>
                <a:cubicBezTo>
                  <a:pt x="75653" y="17924"/>
                  <a:pt x="75712" y="17904"/>
                  <a:pt x="75772" y="17864"/>
                </a:cubicBezTo>
                <a:cubicBezTo>
                  <a:pt x="75812" y="17844"/>
                  <a:pt x="75852" y="17824"/>
                  <a:pt x="75891" y="17784"/>
                </a:cubicBezTo>
                <a:cubicBezTo>
                  <a:pt x="75891" y="17784"/>
                  <a:pt x="75911" y="17784"/>
                  <a:pt x="75911" y="17784"/>
                </a:cubicBezTo>
                <a:lnTo>
                  <a:pt x="75931" y="17784"/>
                </a:lnTo>
                <a:cubicBezTo>
                  <a:pt x="75991" y="17745"/>
                  <a:pt x="76051" y="17705"/>
                  <a:pt x="76090" y="17665"/>
                </a:cubicBezTo>
                <a:cubicBezTo>
                  <a:pt x="76150" y="17625"/>
                  <a:pt x="76210" y="17585"/>
                  <a:pt x="76249" y="17546"/>
                </a:cubicBezTo>
                <a:cubicBezTo>
                  <a:pt x="76269" y="17546"/>
                  <a:pt x="76269" y="17546"/>
                  <a:pt x="76269" y="17546"/>
                </a:cubicBezTo>
                <a:cubicBezTo>
                  <a:pt x="76269" y="17546"/>
                  <a:pt x="76269" y="17546"/>
                  <a:pt x="76289" y="17526"/>
                </a:cubicBezTo>
                <a:cubicBezTo>
                  <a:pt x="76329" y="17506"/>
                  <a:pt x="76369" y="17466"/>
                  <a:pt x="76409" y="17446"/>
                </a:cubicBezTo>
                <a:cubicBezTo>
                  <a:pt x="76448" y="17406"/>
                  <a:pt x="76488" y="17367"/>
                  <a:pt x="76528" y="17327"/>
                </a:cubicBezTo>
                <a:cubicBezTo>
                  <a:pt x="76548" y="17327"/>
                  <a:pt x="76548" y="17307"/>
                  <a:pt x="76568" y="17307"/>
                </a:cubicBezTo>
                <a:cubicBezTo>
                  <a:pt x="76568" y="17287"/>
                  <a:pt x="76588" y="17287"/>
                  <a:pt x="76608" y="17267"/>
                </a:cubicBezTo>
                <a:cubicBezTo>
                  <a:pt x="76627" y="17247"/>
                  <a:pt x="76647" y="17227"/>
                  <a:pt x="76687" y="17188"/>
                </a:cubicBezTo>
                <a:cubicBezTo>
                  <a:pt x="76727" y="17148"/>
                  <a:pt x="76767" y="17108"/>
                  <a:pt x="76806" y="17048"/>
                </a:cubicBezTo>
                <a:cubicBezTo>
                  <a:pt x="76806" y="17048"/>
                  <a:pt x="76806" y="17048"/>
                  <a:pt x="76826" y="17048"/>
                </a:cubicBezTo>
                <a:cubicBezTo>
                  <a:pt x="76826" y="17028"/>
                  <a:pt x="76826" y="17028"/>
                  <a:pt x="76826" y="17028"/>
                </a:cubicBezTo>
                <a:cubicBezTo>
                  <a:pt x="76866" y="16989"/>
                  <a:pt x="76886" y="16949"/>
                  <a:pt x="76926" y="16909"/>
                </a:cubicBezTo>
                <a:cubicBezTo>
                  <a:pt x="76946" y="16869"/>
                  <a:pt x="76985" y="16829"/>
                  <a:pt x="77005" y="16770"/>
                </a:cubicBezTo>
                <a:lnTo>
                  <a:pt x="86156" y="617"/>
                </a:lnTo>
                <a:cubicBezTo>
                  <a:pt x="86116" y="637"/>
                  <a:pt x="86076" y="696"/>
                  <a:pt x="86037" y="736"/>
                </a:cubicBezTo>
                <a:close/>
              </a:path>
            </a:pathLst>
          </a:custGeom>
          <a:solidFill>
            <a:srgbClr val="060B2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sym typeface="Aptos" panose="020B0004020202020204" pitchFamily="34" charset="0"/>
            </a:endParaRPr>
          </a:p>
        </p:txBody>
      </p:sp>
      <p:sp>
        <p:nvSpPr>
          <p:cNvPr id="27" name="Google Shape;355;p23">
            <a:extLst>
              <a:ext uri="{FF2B5EF4-FFF2-40B4-BE49-F238E27FC236}">
                <a16:creationId xmlns:a16="http://schemas.microsoft.com/office/drawing/2014/main" id="{64638B51-F2EA-3500-CC51-B1D76E2CA457}"/>
              </a:ext>
            </a:extLst>
          </p:cNvPr>
          <p:cNvSpPr/>
          <p:nvPr/>
        </p:nvSpPr>
        <p:spPr>
          <a:xfrm rot="16200000">
            <a:off x="1923578" y="3318147"/>
            <a:ext cx="1345637" cy="243628"/>
          </a:xfrm>
          <a:custGeom>
            <a:avLst/>
            <a:gdLst/>
            <a:ahLst/>
            <a:cxnLst/>
            <a:rect l="l" t="t" r="r" b="b"/>
            <a:pathLst>
              <a:path w="87052" h="11838" extrusionOk="0">
                <a:moveTo>
                  <a:pt x="319" y="5292"/>
                </a:moveTo>
                <a:cubicBezTo>
                  <a:pt x="637" y="4497"/>
                  <a:pt x="2090" y="3761"/>
                  <a:pt x="4437" y="3104"/>
                </a:cubicBezTo>
                <a:cubicBezTo>
                  <a:pt x="6725" y="2468"/>
                  <a:pt x="9848" y="1911"/>
                  <a:pt x="13588" y="1453"/>
                </a:cubicBezTo>
                <a:cubicBezTo>
                  <a:pt x="17268" y="996"/>
                  <a:pt x="21565" y="638"/>
                  <a:pt x="26279" y="379"/>
                </a:cubicBezTo>
                <a:cubicBezTo>
                  <a:pt x="30934" y="140"/>
                  <a:pt x="36046" y="1"/>
                  <a:pt x="41437" y="1"/>
                </a:cubicBezTo>
                <a:cubicBezTo>
                  <a:pt x="46828" y="1"/>
                  <a:pt x="52040" y="140"/>
                  <a:pt x="56874" y="399"/>
                </a:cubicBezTo>
                <a:cubicBezTo>
                  <a:pt x="61768" y="638"/>
                  <a:pt x="66303" y="1015"/>
                  <a:pt x="70302" y="1473"/>
                </a:cubicBezTo>
                <a:cubicBezTo>
                  <a:pt x="74360" y="1950"/>
                  <a:pt x="77881" y="2507"/>
                  <a:pt x="80586" y="3164"/>
                </a:cubicBezTo>
                <a:cubicBezTo>
                  <a:pt x="83371" y="3820"/>
                  <a:pt x="85321" y="4556"/>
                  <a:pt x="86176" y="5352"/>
                </a:cubicBezTo>
                <a:cubicBezTo>
                  <a:pt x="87051" y="6168"/>
                  <a:pt x="86673" y="6963"/>
                  <a:pt x="85181" y="7719"/>
                </a:cubicBezTo>
                <a:cubicBezTo>
                  <a:pt x="83669" y="8495"/>
                  <a:pt x="81004" y="9191"/>
                  <a:pt x="77383" y="9788"/>
                </a:cubicBezTo>
                <a:cubicBezTo>
                  <a:pt x="73683" y="10405"/>
                  <a:pt x="69028" y="10922"/>
                  <a:pt x="63618" y="11280"/>
                </a:cubicBezTo>
                <a:cubicBezTo>
                  <a:pt x="58167" y="11638"/>
                  <a:pt x="52000" y="11837"/>
                  <a:pt x="45416" y="11817"/>
                </a:cubicBezTo>
                <a:cubicBezTo>
                  <a:pt x="38831" y="11817"/>
                  <a:pt x="32525" y="11618"/>
                  <a:pt x="26836" y="11240"/>
                </a:cubicBezTo>
                <a:cubicBezTo>
                  <a:pt x="21187" y="10882"/>
                  <a:pt x="16193" y="10385"/>
                  <a:pt x="12076" y="9748"/>
                </a:cubicBezTo>
                <a:cubicBezTo>
                  <a:pt x="8057" y="9152"/>
                  <a:pt x="4914" y="8435"/>
                  <a:pt x="2885" y="7660"/>
                </a:cubicBezTo>
                <a:cubicBezTo>
                  <a:pt x="916" y="6924"/>
                  <a:pt x="1" y="6128"/>
                  <a:pt x="319" y="5292"/>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sym typeface="Aptos" panose="020B0004020202020204" pitchFamily="34" charset="0"/>
            </a:endParaRPr>
          </a:p>
        </p:txBody>
      </p:sp>
      <p:sp>
        <p:nvSpPr>
          <p:cNvPr id="28" name="Google Shape;362;p23">
            <a:extLst>
              <a:ext uri="{FF2B5EF4-FFF2-40B4-BE49-F238E27FC236}">
                <a16:creationId xmlns:a16="http://schemas.microsoft.com/office/drawing/2014/main" id="{2A805F92-D405-8268-0D6D-CE0FCB6869A7}"/>
              </a:ext>
            </a:extLst>
          </p:cNvPr>
          <p:cNvSpPr/>
          <p:nvPr/>
        </p:nvSpPr>
        <p:spPr>
          <a:xfrm rot="16200000">
            <a:off x="1113565" y="3258591"/>
            <a:ext cx="1619302" cy="363241"/>
          </a:xfrm>
          <a:custGeom>
            <a:avLst/>
            <a:gdLst/>
            <a:ahLst/>
            <a:cxnLst/>
            <a:rect l="l" t="t" r="r" b="b"/>
            <a:pathLst>
              <a:path w="104756" h="14245" extrusionOk="0">
                <a:moveTo>
                  <a:pt x="458" y="6247"/>
                </a:moveTo>
                <a:cubicBezTo>
                  <a:pt x="896" y="5292"/>
                  <a:pt x="2706" y="4417"/>
                  <a:pt x="5531" y="3641"/>
                </a:cubicBezTo>
                <a:cubicBezTo>
                  <a:pt x="8296" y="2885"/>
                  <a:pt x="12036" y="2229"/>
                  <a:pt x="16492" y="1672"/>
                </a:cubicBezTo>
                <a:cubicBezTo>
                  <a:pt x="20868" y="1155"/>
                  <a:pt x="25941" y="717"/>
                  <a:pt x="31511" y="439"/>
                </a:cubicBezTo>
                <a:cubicBezTo>
                  <a:pt x="37001" y="160"/>
                  <a:pt x="43029" y="1"/>
                  <a:pt x="49394" y="1"/>
                </a:cubicBezTo>
                <a:cubicBezTo>
                  <a:pt x="55740" y="1"/>
                  <a:pt x="61887" y="160"/>
                  <a:pt x="67636" y="458"/>
                </a:cubicBezTo>
                <a:cubicBezTo>
                  <a:pt x="73444" y="757"/>
                  <a:pt x="78875" y="1175"/>
                  <a:pt x="83669" y="1712"/>
                </a:cubicBezTo>
                <a:cubicBezTo>
                  <a:pt x="88583" y="2269"/>
                  <a:pt x="92880" y="2925"/>
                  <a:pt x="96261" y="3681"/>
                </a:cubicBezTo>
                <a:cubicBezTo>
                  <a:pt x="99723" y="4477"/>
                  <a:pt x="102269" y="5352"/>
                  <a:pt x="103482" y="6307"/>
                </a:cubicBezTo>
                <a:cubicBezTo>
                  <a:pt x="104756" y="7301"/>
                  <a:pt x="104517" y="8256"/>
                  <a:pt x="102925" y="9171"/>
                </a:cubicBezTo>
                <a:cubicBezTo>
                  <a:pt x="101274" y="10106"/>
                  <a:pt x="98231" y="10982"/>
                  <a:pt x="93954" y="11718"/>
                </a:cubicBezTo>
                <a:cubicBezTo>
                  <a:pt x="89597" y="12493"/>
                  <a:pt x="84008" y="13110"/>
                  <a:pt x="77463" y="13568"/>
                </a:cubicBezTo>
                <a:cubicBezTo>
                  <a:pt x="70819" y="14005"/>
                  <a:pt x="63279" y="14244"/>
                  <a:pt x="55203" y="14244"/>
                </a:cubicBezTo>
                <a:cubicBezTo>
                  <a:pt x="47126" y="14244"/>
                  <a:pt x="39408" y="13985"/>
                  <a:pt x="32406" y="13528"/>
                </a:cubicBezTo>
                <a:cubicBezTo>
                  <a:pt x="25483" y="13070"/>
                  <a:pt x="19376" y="12434"/>
                  <a:pt x="14403" y="11678"/>
                </a:cubicBezTo>
                <a:cubicBezTo>
                  <a:pt x="9529" y="10922"/>
                  <a:pt x="5770" y="10047"/>
                  <a:pt x="3363" y="9112"/>
                </a:cubicBezTo>
                <a:cubicBezTo>
                  <a:pt x="1035" y="8197"/>
                  <a:pt x="1" y="7222"/>
                  <a:pt x="458" y="6247"/>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sym typeface="Aptos" panose="020B0004020202020204" pitchFamily="34" charset="0"/>
            </a:endParaRPr>
          </a:p>
        </p:txBody>
      </p:sp>
      <p:sp>
        <p:nvSpPr>
          <p:cNvPr id="29" name="Google Shape;361;p23">
            <a:extLst>
              <a:ext uri="{FF2B5EF4-FFF2-40B4-BE49-F238E27FC236}">
                <a16:creationId xmlns:a16="http://schemas.microsoft.com/office/drawing/2014/main" id="{1C279EA6-5053-5495-2300-3D2DDC35F8DC}"/>
              </a:ext>
            </a:extLst>
          </p:cNvPr>
          <p:cNvSpPr/>
          <p:nvPr/>
        </p:nvSpPr>
        <p:spPr>
          <a:xfrm rot="16200000">
            <a:off x="1428724" y="3114580"/>
            <a:ext cx="1602376" cy="652527"/>
          </a:xfrm>
          <a:custGeom>
            <a:avLst/>
            <a:gdLst/>
            <a:ahLst/>
            <a:cxnLst/>
            <a:rect l="l" t="t" r="r" b="b"/>
            <a:pathLst>
              <a:path w="103661" h="23415" extrusionOk="0">
                <a:moveTo>
                  <a:pt x="103541" y="1035"/>
                </a:moveTo>
                <a:cubicBezTo>
                  <a:pt x="103541" y="1035"/>
                  <a:pt x="103522" y="1055"/>
                  <a:pt x="103522" y="1075"/>
                </a:cubicBezTo>
                <a:cubicBezTo>
                  <a:pt x="103482" y="1095"/>
                  <a:pt x="103462" y="1135"/>
                  <a:pt x="103422" y="1175"/>
                </a:cubicBezTo>
                <a:cubicBezTo>
                  <a:pt x="103422" y="1175"/>
                  <a:pt x="103402" y="1194"/>
                  <a:pt x="103402" y="1214"/>
                </a:cubicBezTo>
                <a:cubicBezTo>
                  <a:pt x="103362" y="1254"/>
                  <a:pt x="103323" y="1294"/>
                  <a:pt x="103263" y="1334"/>
                </a:cubicBezTo>
                <a:cubicBezTo>
                  <a:pt x="103243" y="1354"/>
                  <a:pt x="103223" y="1374"/>
                  <a:pt x="103223" y="1393"/>
                </a:cubicBezTo>
                <a:cubicBezTo>
                  <a:pt x="103183" y="1413"/>
                  <a:pt x="103144" y="1453"/>
                  <a:pt x="103104" y="1493"/>
                </a:cubicBezTo>
                <a:cubicBezTo>
                  <a:pt x="103084" y="1513"/>
                  <a:pt x="103044" y="1533"/>
                  <a:pt x="103024" y="1553"/>
                </a:cubicBezTo>
                <a:cubicBezTo>
                  <a:pt x="102984" y="1572"/>
                  <a:pt x="102945" y="1592"/>
                  <a:pt x="102925" y="1632"/>
                </a:cubicBezTo>
                <a:cubicBezTo>
                  <a:pt x="102885" y="1652"/>
                  <a:pt x="102865" y="1672"/>
                  <a:pt x="102825" y="1692"/>
                </a:cubicBezTo>
                <a:cubicBezTo>
                  <a:pt x="102786" y="1712"/>
                  <a:pt x="102746" y="1751"/>
                  <a:pt x="102706" y="1771"/>
                </a:cubicBezTo>
                <a:cubicBezTo>
                  <a:pt x="102686" y="1791"/>
                  <a:pt x="102646" y="1811"/>
                  <a:pt x="102606" y="1831"/>
                </a:cubicBezTo>
                <a:cubicBezTo>
                  <a:pt x="102567" y="1871"/>
                  <a:pt x="102527" y="1891"/>
                  <a:pt x="102467" y="1911"/>
                </a:cubicBezTo>
                <a:cubicBezTo>
                  <a:pt x="102447" y="1931"/>
                  <a:pt x="102408" y="1950"/>
                  <a:pt x="102388" y="1970"/>
                </a:cubicBezTo>
                <a:cubicBezTo>
                  <a:pt x="102328" y="1990"/>
                  <a:pt x="102288" y="2030"/>
                  <a:pt x="102229" y="2050"/>
                </a:cubicBezTo>
                <a:cubicBezTo>
                  <a:pt x="102189" y="2070"/>
                  <a:pt x="102169" y="2090"/>
                  <a:pt x="102129" y="2090"/>
                </a:cubicBezTo>
                <a:cubicBezTo>
                  <a:pt x="102069" y="2129"/>
                  <a:pt x="101990" y="2169"/>
                  <a:pt x="101910" y="2209"/>
                </a:cubicBezTo>
                <a:cubicBezTo>
                  <a:pt x="101890" y="2209"/>
                  <a:pt x="101890" y="2229"/>
                  <a:pt x="101870" y="2229"/>
                </a:cubicBezTo>
                <a:cubicBezTo>
                  <a:pt x="101791" y="2269"/>
                  <a:pt x="101691" y="2308"/>
                  <a:pt x="101592" y="2368"/>
                </a:cubicBezTo>
                <a:cubicBezTo>
                  <a:pt x="101572" y="2368"/>
                  <a:pt x="101532" y="2388"/>
                  <a:pt x="101512" y="2388"/>
                </a:cubicBezTo>
                <a:cubicBezTo>
                  <a:pt x="101433" y="2428"/>
                  <a:pt x="101353" y="2468"/>
                  <a:pt x="101294" y="2488"/>
                </a:cubicBezTo>
                <a:cubicBezTo>
                  <a:pt x="101254" y="2507"/>
                  <a:pt x="101214" y="2507"/>
                  <a:pt x="101194" y="2527"/>
                </a:cubicBezTo>
                <a:cubicBezTo>
                  <a:pt x="101095" y="2567"/>
                  <a:pt x="101015" y="2607"/>
                  <a:pt x="100916" y="2627"/>
                </a:cubicBezTo>
                <a:lnTo>
                  <a:pt x="100856" y="2667"/>
                </a:lnTo>
                <a:cubicBezTo>
                  <a:pt x="100756" y="2706"/>
                  <a:pt x="100637" y="2746"/>
                  <a:pt x="100538" y="2786"/>
                </a:cubicBezTo>
                <a:cubicBezTo>
                  <a:pt x="100498" y="2786"/>
                  <a:pt x="100458" y="2806"/>
                  <a:pt x="100438" y="2826"/>
                </a:cubicBezTo>
                <a:cubicBezTo>
                  <a:pt x="100339" y="2846"/>
                  <a:pt x="100259" y="2885"/>
                  <a:pt x="100160" y="2905"/>
                </a:cubicBezTo>
                <a:cubicBezTo>
                  <a:pt x="100120" y="2925"/>
                  <a:pt x="100100" y="2945"/>
                  <a:pt x="100060" y="2945"/>
                </a:cubicBezTo>
                <a:cubicBezTo>
                  <a:pt x="99941" y="2985"/>
                  <a:pt x="99822" y="3025"/>
                  <a:pt x="99682" y="3064"/>
                </a:cubicBezTo>
                <a:cubicBezTo>
                  <a:pt x="99662" y="3064"/>
                  <a:pt x="99642" y="3084"/>
                  <a:pt x="99623" y="3084"/>
                </a:cubicBezTo>
                <a:cubicBezTo>
                  <a:pt x="99503" y="3124"/>
                  <a:pt x="99404" y="3164"/>
                  <a:pt x="99284" y="3184"/>
                </a:cubicBezTo>
                <a:cubicBezTo>
                  <a:pt x="99245" y="3204"/>
                  <a:pt x="99225" y="3204"/>
                  <a:pt x="99185" y="3224"/>
                </a:cubicBezTo>
                <a:cubicBezTo>
                  <a:pt x="99046" y="3263"/>
                  <a:pt x="98906" y="3303"/>
                  <a:pt x="98767" y="3343"/>
                </a:cubicBezTo>
                <a:cubicBezTo>
                  <a:pt x="98747" y="3343"/>
                  <a:pt x="98727" y="3343"/>
                  <a:pt x="98708" y="3343"/>
                </a:cubicBezTo>
                <a:cubicBezTo>
                  <a:pt x="98588" y="3383"/>
                  <a:pt x="98449" y="3422"/>
                  <a:pt x="98310" y="3462"/>
                </a:cubicBezTo>
                <a:cubicBezTo>
                  <a:pt x="98270" y="3462"/>
                  <a:pt x="98230" y="3482"/>
                  <a:pt x="98190" y="3482"/>
                </a:cubicBezTo>
                <a:cubicBezTo>
                  <a:pt x="98051" y="3522"/>
                  <a:pt x="97912" y="3562"/>
                  <a:pt x="97753" y="3602"/>
                </a:cubicBezTo>
                <a:cubicBezTo>
                  <a:pt x="97733" y="3621"/>
                  <a:pt x="97693" y="3621"/>
                  <a:pt x="97673" y="3621"/>
                </a:cubicBezTo>
                <a:cubicBezTo>
                  <a:pt x="97534" y="3661"/>
                  <a:pt x="97395" y="3701"/>
                  <a:pt x="97255" y="3721"/>
                </a:cubicBezTo>
                <a:cubicBezTo>
                  <a:pt x="97216" y="3741"/>
                  <a:pt x="97176" y="3741"/>
                  <a:pt x="97136" y="3761"/>
                </a:cubicBezTo>
                <a:cubicBezTo>
                  <a:pt x="96997" y="3800"/>
                  <a:pt x="96838" y="3820"/>
                  <a:pt x="96659" y="3860"/>
                </a:cubicBezTo>
                <a:cubicBezTo>
                  <a:pt x="96619" y="3880"/>
                  <a:pt x="96579" y="3880"/>
                  <a:pt x="96539" y="3900"/>
                </a:cubicBezTo>
                <a:cubicBezTo>
                  <a:pt x="96400" y="3920"/>
                  <a:pt x="96261" y="3960"/>
                  <a:pt x="96121" y="3979"/>
                </a:cubicBezTo>
                <a:cubicBezTo>
                  <a:pt x="96082" y="3999"/>
                  <a:pt x="96042" y="3999"/>
                  <a:pt x="96002" y="4019"/>
                </a:cubicBezTo>
                <a:cubicBezTo>
                  <a:pt x="95843" y="4039"/>
                  <a:pt x="95664" y="4079"/>
                  <a:pt x="95485" y="4119"/>
                </a:cubicBezTo>
                <a:lnTo>
                  <a:pt x="95346" y="4139"/>
                </a:lnTo>
                <a:cubicBezTo>
                  <a:pt x="95187" y="4178"/>
                  <a:pt x="95027" y="4218"/>
                  <a:pt x="94848" y="4238"/>
                </a:cubicBezTo>
                <a:cubicBezTo>
                  <a:pt x="94828" y="4258"/>
                  <a:pt x="94809" y="4258"/>
                  <a:pt x="94789" y="4258"/>
                </a:cubicBezTo>
                <a:cubicBezTo>
                  <a:pt x="94789" y="4258"/>
                  <a:pt x="94769" y="4258"/>
                  <a:pt x="94749" y="4258"/>
                </a:cubicBezTo>
                <a:cubicBezTo>
                  <a:pt x="94590" y="4298"/>
                  <a:pt x="94411" y="4338"/>
                  <a:pt x="94252" y="4357"/>
                </a:cubicBezTo>
                <a:cubicBezTo>
                  <a:pt x="94192" y="4377"/>
                  <a:pt x="94132" y="4377"/>
                  <a:pt x="94073" y="4397"/>
                </a:cubicBezTo>
                <a:cubicBezTo>
                  <a:pt x="93893" y="4437"/>
                  <a:pt x="93714" y="4457"/>
                  <a:pt x="93516" y="4497"/>
                </a:cubicBezTo>
                <a:cubicBezTo>
                  <a:pt x="93476" y="4497"/>
                  <a:pt x="93436" y="4517"/>
                  <a:pt x="93396" y="4517"/>
                </a:cubicBezTo>
                <a:cubicBezTo>
                  <a:pt x="93217" y="4556"/>
                  <a:pt x="93058" y="4576"/>
                  <a:pt x="92879" y="4596"/>
                </a:cubicBezTo>
                <a:cubicBezTo>
                  <a:pt x="92839" y="4616"/>
                  <a:pt x="92779" y="4616"/>
                  <a:pt x="92740" y="4636"/>
                </a:cubicBezTo>
                <a:cubicBezTo>
                  <a:pt x="92541" y="4656"/>
                  <a:pt x="92342" y="4696"/>
                  <a:pt x="92143" y="4715"/>
                </a:cubicBezTo>
                <a:cubicBezTo>
                  <a:pt x="92083" y="4735"/>
                  <a:pt x="92043" y="4735"/>
                  <a:pt x="91984" y="4755"/>
                </a:cubicBezTo>
                <a:cubicBezTo>
                  <a:pt x="91805" y="4775"/>
                  <a:pt x="91606" y="4815"/>
                  <a:pt x="91427" y="4835"/>
                </a:cubicBezTo>
                <a:cubicBezTo>
                  <a:pt x="91387" y="4835"/>
                  <a:pt x="91367" y="4855"/>
                  <a:pt x="91327" y="4855"/>
                </a:cubicBezTo>
                <a:cubicBezTo>
                  <a:pt x="91109" y="4875"/>
                  <a:pt x="90890" y="4914"/>
                  <a:pt x="90671" y="4954"/>
                </a:cubicBezTo>
                <a:cubicBezTo>
                  <a:pt x="90631" y="4954"/>
                  <a:pt x="90571" y="4954"/>
                  <a:pt x="90512" y="4974"/>
                </a:cubicBezTo>
                <a:cubicBezTo>
                  <a:pt x="90293" y="4994"/>
                  <a:pt x="90074" y="5034"/>
                  <a:pt x="89835" y="5074"/>
                </a:cubicBezTo>
                <a:lnTo>
                  <a:pt x="89835" y="5074"/>
                </a:lnTo>
                <a:lnTo>
                  <a:pt x="89835" y="5074"/>
                </a:lnTo>
                <a:cubicBezTo>
                  <a:pt x="89597" y="5093"/>
                  <a:pt x="89358" y="5133"/>
                  <a:pt x="89139" y="5153"/>
                </a:cubicBezTo>
                <a:cubicBezTo>
                  <a:pt x="89079" y="5173"/>
                  <a:pt x="89020" y="5173"/>
                  <a:pt x="88960" y="5193"/>
                </a:cubicBezTo>
                <a:cubicBezTo>
                  <a:pt x="88721" y="5213"/>
                  <a:pt x="88483" y="5253"/>
                  <a:pt x="88244" y="5272"/>
                </a:cubicBezTo>
                <a:cubicBezTo>
                  <a:pt x="88204" y="5272"/>
                  <a:pt x="88184" y="5292"/>
                  <a:pt x="88144" y="5292"/>
                </a:cubicBezTo>
                <a:cubicBezTo>
                  <a:pt x="87926" y="5312"/>
                  <a:pt x="87707" y="5332"/>
                  <a:pt x="87488" y="5372"/>
                </a:cubicBezTo>
                <a:lnTo>
                  <a:pt x="87309" y="5392"/>
                </a:lnTo>
                <a:cubicBezTo>
                  <a:pt x="87050" y="5412"/>
                  <a:pt x="86812" y="5452"/>
                  <a:pt x="86553" y="5471"/>
                </a:cubicBezTo>
                <a:cubicBezTo>
                  <a:pt x="86513" y="5491"/>
                  <a:pt x="86454" y="5491"/>
                  <a:pt x="86414" y="5491"/>
                </a:cubicBezTo>
                <a:cubicBezTo>
                  <a:pt x="86195" y="5511"/>
                  <a:pt x="85976" y="5551"/>
                  <a:pt x="85777" y="5571"/>
                </a:cubicBezTo>
                <a:cubicBezTo>
                  <a:pt x="85698" y="5571"/>
                  <a:pt x="85618" y="5591"/>
                  <a:pt x="85558" y="5591"/>
                </a:cubicBezTo>
                <a:cubicBezTo>
                  <a:pt x="85300" y="5611"/>
                  <a:pt x="85041" y="5650"/>
                  <a:pt x="84783" y="5670"/>
                </a:cubicBezTo>
                <a:cubicBezTo>
                  <a:pt x="84723" y="5670"/>
                  <a:pt x="84683" y="5690"/>
                  <a:pt x="84643" y="5690"/>
                </a:cubicBezTo>
                <a:cubicBezTo>
                  <a:pt x="84405" y="5710"/>
                  <a:pt x="84186" y="5730"/>
                  <a:pt x="83967" y="5750"/>
                </a:cubicBezTo>
                <a:cubicBezTo>
                  <a:pt x="83887" y="5770"/>
                  <a:pt x="83788" y="5770"/>
                  <a:pt x="83689" y="5790"/>
                </a:cubicBezTo>
                <a:cubicBezTo>
                  <a:pt x="83490" y="5810"/>
                  <a:pt x="83271" y="5829"/>
                  <a:pt x="83052" y="5849"/>
                </a:cubicBezTo>
                <a:cubicBezTo>
                  <a:pt x="82992" y="5849"/>
                  <a:pt x="82933" y="5849"/>
                  <a:pt x="82853" y="5869"/>
                </a:cubicBezTo>
                <a:cubicBezTo>
                  <a:pt x="82594" y="5889"/>
                  <a:pt x="82316" y="5909"/>
                  <a:pt x="82057" y="5949"/>
                </a:cubicBezTo>
                <a:cubicBezTo>
                  <a:pt x="81958" y="5949"/>
                  <a:pt x="81858" y="5949"/>
                  <a:pt x="81759" y="5969"/>
                </a:cubicBezTo>
                <a:cubicBezTo>
                  <a:pt x="81560" y="5989"/>
                  <a:pt x="81361" y="6009"/>
                  <a:pt x="81182" y="6009"/>
                </a:cubicBezTo>
                <a:cubicBezTo>
                  <a:pt x="81063" y="6028"/>
                  <a:pt x="80963" y="6028"/>
                  <a:pt x="80864" y="6048"/>
                </a:cubicBezTo>
                <a:cubicBezTo>
                  <a:pt x="80625" y="6068"/>
                  <a:pt x="80406" y="6088"/>
                  <a:pt x="80168" y="6108"/>
                </a:cubicBezTo>
                <a:cubicBezTo>
                  <a:pt x="80108" y="6108"/>
                  <a:pt x="80048" y="6108"/>
                  <a:pt x="79969" y="6128"/>
                </a:cubicBezTo>
                <a:cubicBezTo>
                  <a:pt x="79690" y="6148"/>
                  <a:pt x="79392" y="6168"/>
                  <a:pt x="79093" y="6188"/>
                </a:cubicBezTo>
                <a:cubicBezTo>
                  <a:pt x="78994" y="6188"/>
                  <a:pt x="78875" y="6207"/>
                  <a:pt x="78755" y="6207"/>
                </a:cubicBezTo>
                <a:cubicBezTo>
                  <a:pt x="78556" y="6227"/>
                  <a:pt x="78357" y="6247"/>
                  <a:pt x="78158" y="6267"/>
                </a:cubicBezTo>
                <a:cubicBezTo>
                  <a:pt x="78039" y="6267"/>
                  <a:pt x="77920" y="6267"/>
                  <a:pt x="77800" y="6287"/>
                </a:cubicBezTo>
                <a:cubicBezTo>
                  <a:pt x="77601" y="6307"/>
                  <a:pt x="77383" y="6307"/>
                  <a:pt x="77184" y="6327"/>
                </a:cubicBezTo>
                <a:cubicBezTo>
                  <a:pt x="77064" y="6327"/>
                  <a:pt x="76965" y="6347"/>
                  <a:pt x="76845" y="6347"/>
                </a:cubicBezTo>
                <a:cubicBezTo>
                  <a:pt x="76647" y="6367"/>
                  <a:pt x="76448" y="6386"/>
                  <a:pt x="76249" y="6386"/>
                </a:cubicBezTo>
                <a:cubicBezTo>
                  <a:pt x="76109" y="6406"/>
                  <a:pt x="75970" y="6406"/>
                  <a:pt x="75831" y="6426"/>
                </a:cubicBezTo>
                <a:cubicBezTo>
                  <a:pt x="75612" y="6426"/>
                  <a:pt x="75373" y="6446"/>
                  <a:pt x="75155" y="6466"/>
                </a:cubicBezTo>
                <a:cubicBezTo>
                  <a:pt x="75035" y="6466"/>
                  <a:pt x="74936" y="6466"/>
                  <a:pt x="74816" y="6486"/>
                </a:cubicBezTo>
                <a:cubicBezTo>
                  <a:pt x="74498" y="6506"/>
                  <a:pt x="74180" y="6526"/>
                  <a:pt x="73881" y="6526"/>
                </a:cubicBezTo>
                <a:cubicBezTo>
                  <a:pt x="73842" y="6546"/>
                  <a:pt x="73822" y="6546"/>
                  <a:pt x="73782" y="6546"/>
                </a:cubicBezTo>
                <a:cubicBezTo>
                  <a:pt x="73086" y="6585"/>
                  <a:pt x="72370" y="6625"/>
                  <a:pt x="71634" y="6645"/>
                </a:cubicBezTo>
                <a:cubicBezTo>
                  <a:pt x="71614" y="6645"/>
                  <a:pt x="71574" y="6645"/>
                  <a:pt x="71554" y="6665"/>
                </a:cubicBezTo>
                <a:cubicBezTo>
                  <a:pt x="70878" y="6685"/>
                  <a:pt x="70201" y="6725"/>
                  <a:pt x="69505" y="6745"/>
                </a:cubicBezTo>
                <a:cubicBezTo>
                  <a:pt x="69386" y="6745"/>
                  <a:pt x="69286" y="6764"/>
                  <a:pt x="69167" y="6764"/>
                </a:cubicBezTo>
                <a:cubicBezTo>
                  <a:pt x="68570" y="6784"/>
                  <a:pt x="67934" y="6804"/>
                  <a:pt x="67317" y="6824"/>
                </a:cubicBezTo>
                <a:cubicBezTo>
                  <a:pt x="66899" y="6844"/>
                  <a:pt x="66461" y="6864"/>
                  <a:pt x="66024" y="6864"/>
                </a:cubicBezTo>
                <a:cubicBezTo>
                  <a:pt x="65666" y="6884"/>
                  <a:pt x="65308" y="6884"/>
                  <a:pt x="64930" y="6904"/>
                </a:cubicBezTo>
                <a:cubicBezTo>
                  <a:pt x="64492" y="6924"/>
                  <a:pt x="64035" y="6924"/>
                  <a:pt x="63597" y="6943"/>
                </a:cubicBezTo>
                <a:cubicBezTo>
                  <a:pt x="63219" y="6943"/>
                  <a:pt x="62861" y="6943"/>
                  <a:pt x="62503" y="6963"/>
                </a:cubicBezTo>
                <a:cubicBezTo>
                  <a:pt x="62045" y="6963"/>
                  <a:pt x="61588" y="6983"/>
                  <a:pt x="61130" y="6983"/>
                </a:cubicBezTo>
                <a:cubicBezTo>
                  <a:pt x="60752" y="6983"/>
                  <a:pt x="60374" y="7003"/>
                  <a:pt x="59996" y="7003"/>
                </a:cubicBezTo>
                <a:cubicBezTo>
                  <a:pt x="59539" y="7003"/>
                  <a:pt x="59081" y="7003"/>
                  <a:pt x="58624" y="7023"/>
                </a:cubicBezTo>
                <a:cubicBezTo>
                  <a:pt x="58186" y="7023"/>
                  <a:pt x="57748" y="7023"/>
                  <a:pt x="57311" y="7023"/>
                </a:cubicBezTo>
                <a:lnTo>
                  <a:pt x="57191" y="7023"/>
                </a:lnTo>
                <a:cubicBezTo>
                  <a:pt x="56356" y="7043"/>
                  <a:pt x="55540" y="7043"/>
                  <a:pt x="54705" y="7043"/>
                </a:cubicBezTo>
                <a:cubicBezTo>
                  <a:pt x="53830" y="7043"/>
                  <a:pt x="52934" y="7023"/>
                  <a:pt x="52079" y="7023"/>
                </a:cubicBezTo>
                <a:cubicBezTo>
                  <a:pt x="51701" y="7023"/>
                  <a:pt x="51343" y="7023"/>
                  <a:pt x="50985" y="7023"/>
                </a:cubicBezTo>
                <a:cubicBezTo>
                  <a:pt x="50468" y="7003"/>
                  <a:pt x="49951" y="7003"/>
                  <a:pt x="49433" y="7003"/>
                </a:cubicBezTo>
                <a:cubicBezTo>
                  <a:pt x="49035" y="6983"/>
                  <a:pt x="48638" y="6983"/>
                  <a:pt x="48240" y="6983"/>
                </a:cubicBezTo>
                <a:cubicBezTo>
                  <a:pt x="47762" y="6963"/>
                  <a:pt x="47285" y="6963"/>
                  <a:pt x="46807" y="6943"/>
                </a:cubicBezTo>
                <a:cubicBezTo>
                  <a:pt x="46390" y="6943"/>
                  <a:pt x="45992" y="6924"/>
                  <a:pt x="45594" y="6924"/>
                </a:cubicBezTo>
                <a:cubicBezTo>
                  <a:pt x="45137" y="6904"/>
                  <a:pt x="44659" y="6904"/>
                  <a:pt x="44221" y="6884"/>
                </a:cubicBezTo>
                <a:cubicBezTo>
                  <a:pt x="43804" y="6864"/>
                  <a:pt x="43406" y="6864"/>
                  <a:pt x="42988" y="6844"/>
                </a:cubicBezTo>
                <a:cubicBezTo>
                  <a:pt x="42491" y="6824"/>
                  <a:pt x="41974" y="6824"/>
                  <a:pt x="41476" y="6804"/>
                </a:cubicBezTo>
                <a:cubicBezTo>
                  <a:pt x="41337" y="6784"/>
                  <a:pt x="41198" y="6784"/>
                  <a:pt x="41078" y="6784"/>
                </a:cubicBezTo>
                <a:cubicBezTo>
                  <a:pt x="40342" y="6764"/>
                  <a:pt x="39606" y="6725"/>
                  <a:pt x="38870" y="6685"/>
                </a:cubicBezTo>
                <a:cubicBezTo>
                  <a:pt x="38751" y="6685"/>
                  <a:pt x="38632" y="6685"/>
                  <a:pt x="38492" y="6685"/>
                </a:cubicBezTo>
                <a:cubicBezTo>
                  <a:pt x="37756" y="6645"/>
                  <a:pt x="37020" y="6605"/>
                  <a:pt x="36284" y="6566"/>
                </a:cubicBezTo>
                <a:cubicBezTo>
                  <a:pt x="36205" y="6566"/>
                  <a:pt x="36125" y="6566"/>
                  <a:pt x="36046" y="6566"/>
                </a:cubicBezTo>
                <a:cubicBezTo>
                  <a:pt x="35270" y="6526"/>
                  <a:pt x="34494" y="6466"/>
                  <a:pt x="33738" y="6426"/>
                </a:cubicBezTo>
                <a:cubicBezTo>
                  <a:pt x="33718" y="6426"/>
                  <a:pt x="33678" y="6426"/>
                  <a:pt x="33658" y="6426"/>
                </a:cubicBezTo>
                <a:cubicBezTo>
                  <a:pt x="33280" y="6406"/>
                  <a:pt x="32903" y="6386"/>
                  <a:pt x="32525" y="6347"/>
                </a:cubicBezTo>
                <a:cubicBezTo>
                  <a:pt x="32465" y="6347"/>
                  <a:pt x="32405" y="6347"/>
                  <a:pt x="32326" y="6347"/>
                </a:cubicBezTo>
                <a:cubicBezTo>
                  <a:pt x="32047" y="6327"/>
                  <a:pt x="31749" y="6307"/>
                  <a:pt x="31450" y="6287"/>
                </a:cubicBezTo>
                <a:lnTo>
                  <a:pt x="31112" y="6267"/>
                </a:lnTo>
                <a:cubicBezTo>
                  <a:pt x="30854" y="6247"/>
                  <a:pt x="30615" y="6227"/>
                  <a:pt x="30356" y="6207"/>
                </a:cubicBezTo>
                <a:cubicBezTo>
                  <a:pt x="30257" y="6207"/>
                  <a:pt x="30137" y="6188"/>
                  <a:pt x="30038" y="6188"/>
                </a:cubicBezTo>
                <a:cubicBezTo>
                  <a:pt x="29700" y="6168"/>
                  <a:pt x="29362" y="6148"/>
                  <a:pt x="29023" y="6108"/>
                </a:cubicBezTo>
                <a:cubicBezTo>
                  <a:pt x="28964" y="6108"/>
                  <a:pt x="28884" y="6108"/>
                  <a:pt x="28805" y="6088"/>
                </a:cubicBezTo>
                <a:cubicBezTo>
                  <a:pt x="28546" y="6068"/>
                  <a:pt x="28287" y="6048"/>
                  <a:pt x="28009" y="6028"/>
                </a:cubicBezTo>
                <a:cubicBezTo>
                  <a:pt x="27909" y="6028"/>
                  <a:pt x="27810" y="6009"/>
                  <a:pt x="27691" y="6009"/>
                </a:cubicBezTo>
                <a:cubicBezTo>
                  <a:pt x="27392" y="5989"/>
                  <a:pt x="27074" y="5969"/>
                  <a:pt x="26776" y="5929"/>
                </a:cubicBezTo>
                <a:cubicBezTo>
                  <a:pt x="26776" y="5929"/>
                  <a:pt x="26756" y="5929"/>
                  <a:pt x="26756" y="5929"/>
                </a:cubicBezTo>
                <a:cubicBezTo>
                  <a:pt x="26676" y="5929"/>
                  <a:pt x="26616" y="5929"/>
                  <a:pt x="26557" y="5909"/>
                </a:cubicBezTo>
                <a:cubicBezTo>
                  <a:pt x="26298" y="5889"/>
                  <a:pt x="26040" y="5869"/>
                  <a:pt x="25761" y="5849"/>
                </a:cubicBezTo>
                <a:cubicBezTo>
                  <a:pt x="25662" y="5829"/>
                  <a:pt x="25562" y="5829"/>
                  <a:pt x="25463" y="5829"/>
                </a:cubicBezTo>
                <a:cubicBezTo>
                  <a:pt x="25164" y="5790"/>
                  <a:pt x="24866" y="5770"/>
                  <a:pt x="24567" y="5730"/>
                </a:cubicBezTo>
                <a:cubicBezTo>
                  <a:pt x="24508" y="5730"/>
                  <a:pt x="24448" y="5730"/>
                  <a:pt x="24388" y="5730"/>
                </a:cubicBezTo>
                <a:cubicBezTo>
                  <a:pt x="24130" y="5690"/>
                  <a:pt x="23871" y="5670"/>
                  <a:pt x="23633" y="5650"/>
                </a:cubicBezTo>
                <a:cubicBezTo>
                  <a:pt x="23533" y="5631"/>
                  <a:pt x="23434" y="5631"/>
                  <a:pt x="23334" y="5631"/>
                </a:cubicBezTo>
                <a:cubicBezTo>
                  <a:pt x="23036" y="5591"/>
                  <a:pt x="22757" y="5571"/>
                  <a:pt x="22479" y="5531"/>
                </a:cubicBezTo>
                <a:cubicBezTo>
                  <a:pt x="22399" y="5531"/>
                  <a:pt x="22320" y="5531"/>
                  <a:pt x="22260" y="5511"/>
                </a:cubicBezTo>
                <a:cubicBezTo>
                  <a:pt x="22001" y="5491"/>
                  <a:pt x="21763" y="5471"/>
                  <a:pt x="21524" y="5432"/>
                </a:cubicBezTo>
                <a:lnTo>
                  <a:pt x="21325" y="5412"/>
                </a:lnTo>
                <a:cubicBezTo>
                  <a:pt x="21027" y="5392"/>
                  <a:pt x="20748" y="5352"/>
                  <a:pt x="20470" y="5312"/>
                </a:cubicBezTo>
                <a:cubicBezTo>
                  <a:pt x="20390" y="5312"/>
                  <a:pt x="20330" y="5312"/>
                  <a:pt x="20251" y="5292"/>
                </a:cubicBezTo>
                <a:cubicBezTo>
                  <a:pt x="19972" y="5272"/>
                  <a:pt x="19694" y="5233"/>
                  <a:pt x="19415" y="5193"/>
                </a:cubicBezTo>
                <a:cubicBezTo>
                  <a:pt x="19356" y="5193"/>
                  <a:pt x="19316" y="5193"/>
                  <a:pt x="19276" y="5193"/>
                </a:cubicBezTo>
                <a:cubicBezTo>
                  <a:pt x="19017" y="5153"/>
                  <a:pt x="18759" y="5133"/>
                  <a:pt x="18500" y="5093"/>
                </a:cubicBezTo>
                <a:cubicBezTo>
                  <a:pt x="18441" y="5093"/>
                  <a:pt x="18401" y="5074"/>
                  <a:pt x="18361" y="5074"/>
                </a:cubicBezTo>
                <a:cubicBezTo>
                  <a:pt x="18082" y="5034"/>
                  <a:pt x="17804" y="5014"/>
                  <a:pt x="17545" y="4974"/>
                </a:cubicBezTo>
                <a:lnTo>
                  <a:pt x="17366" y="4954"/>
                </a:lnTo>
                <a:cubicBezTo>
                  <a:pt x="17088" y="4914"/>
                  <a:pt x="16829" y="4875"/>
                  <a:pt x="16571" y="4835"/>
                </a:cubicBezTo>
                <a:cubicBezTo>
                  <a:pt x="16511" y="4835"/>
                  <a:pt x="16471" y="4835"/>
                  <a:pt x="16431" y="4815"/>
                </a:cubicBezTo>
                <a:cubicBezTo>
                  <a:pt x="16173" y="4795"/>
                  <a:pt x="15914" y="4755"/>
                  <a:pt x="15656" y="4715"/>
                </a:cubicBezTo>
                <a:cubicBezTo>
                  <a:pt x="15636" y="4715"/>
                  <a:pt x="15636" y="4715"/>
                  <a:pt x="15616" y="4715"/>
                </a:cubicBezTo>
                <a:cubicBezTo>
                  <a:pt x="15357" y="4676"/>
                  <a:pt x="15099" y="4636"/>
                  <a:pt x="14840" y="4596"/>
                </a:cubicBezTo>
                <a:cubicBezTo>
                  <a:pt x="14780" y="4596"/>
                  <a:pt x="14740" y="4576"/>
                  <a:pt x="14681" y="4576"/>
                </a:cubicBezTo>
                <a:cubicBezTo>
                  <a:pt x="14442" y="4536"/>
                  <a:pt x="14203" y="4497"/>
                  <a:pt x="13965" y="4457"/>
                </a:cubicBezTo>
                <a:cubicBezTo>
                  <a:pt x="13905" y="4457"/>
                  <a:pt x="13865" y="4457"/>
                  <a:pt x="13806" y="4437"/>
                </a:cubicBezTo>
                <a:cubicBezTo>
                  <a:pt x="13567" y="4397"/>
                  <a:pt x="13328" y="4357"/>
                  <a:pt x="13089" y="4318"/>
                </a:cubicBezTo>
                <a:cubicBezTo>
                  <a:pt x="13070" y="4318"/>
                  <a:pt x="13030" y="4318"/>
                  <a:pt x="13010" y="4318"/>
                </a:cubicBezTo>
                <a:cubicBezTo>
                  <a:pt x="12791" y="4278"/>
                  <a:pt x="12572" y="4238"/>
                  <a:pt x="12353" y="4198"/>
                </a:cubicBezTo>
                <a:cubicBezTo>
                  <a:pt x="12314" y="4198"/>
                  <a:pt x="12274" y="4198"/>
                  <a:pt x="12214" y="4178"/>
                </a:cubicBezTo>
                <a:cubicBezTo>
                  <a:pt x="11995" y="4139"/>
                  <a:pt x="11776" y="4099"/>
                  <a:pt x="11558" y="4079"/>
                </a:cubicBezTo>
                <a:lnTo>
                  <a:pt x="11399" y="4039"/>
                </a:lnTo>
                <a:cubicBezTo>
                  <a:pt x="11180" y="3999"/>
                  <a:pt x="10981" y="3960"/>
                  <a:pt x="10762" y="3920"/>
                </a:cubicBezTo>
                <a:cubicBezTo>
                  <a:pt x="10722" y="3920"/>
                  <a:pt x="10682" y="3900"/>
                  <a:pt x="10623" y="3900"/>
                </a:cubicBezTo>
                <a:cubicBezTo>
                  <a:pt x="10444" y="3860"/>
                  <a:pt x="10245" y="3840"/>
                  <a:pt x="10066" y="3800"/>
                </a:cubicBezTo>
                <a:cubicBezTo>
                  <a:pt x="10026" y="3781"/>
                  <a:pt x="9986" y="3781"/>
                  <a:pt x="9946" y="3781"/>
                </a:cubicBezTo>
                <a:cubicBezTo>
                  <a:pt x="9747" y="3741"/>
                  <a:pt x="9549" y="3701"/>
                  <a:pt x="9350" y="3661"/>
                </a:cubicBezTo>
                <a:cubicBezTo>
                  <a:pt x="9290" y="3641"/>
                  <a:pt x="9250" y="3641"/>
                  <a:pt x="9190" y="3621"/>
                </a:cubicBezTo>
                <a:cubicBezTo>
                  <a:pt x="9011" y="3582"/>
                  <a:pt x="8812" y="3542"/>
                  <a:pt x="8614" y="3502"/>
                </a:cubicBezTo>
                <a:cubicBezTo>
                  <a:pt x="8574" y="3502"/>
                  <a:pt x="8534" y="3482"/>
                  <a:pt x="8494" y="3482"/>
                </a:cubicBezTo>
                <a:cubicBezTo>
                  <a:pt x="8315" y="3442"/>
                  <a:pt x="8156" y="3403"/>
                  <a:pt x="7977" y="3363"/>
                </a:cubicBezTo>
                <a:cubicBezTo>
                  <a:pt x="7957" y="3363"/>
                  <a:pt x="7917" y="3343"/>
                  <a:pt x="7878" y="3343"/>
                </a:cubicBezTo>
                <a:cubicBezTo>
                  <a:pt x="7698" y="3303"/>
                  <a:pt x="7519" y="3263"/>
                  <a:pt x="7340" y="3224"/>
                </a:cubicBezTo>
                <a:cubicBezTo>
                  <a:pt x="7281" y="3204"/>
                  <a:pt x="7241" y="3204"/>
                  <a:pt x="7201" y="3184"/>
                </a:cubicBezTo>
                <a:cubicBezTo>
                  <a:pt x="7022" y="3144"/>
                  <a:pt x="6843" y="3104"/>
                  <a:pt x="6664" y="3045"/>
                </a:cubicBezTo>
                <a:cubicBezTo>
                  <a:pt x="6644" y="3045"/>
                  <a:pt x="6624" y="3045"/>
                  <a:pt x="6604" y="3045"/>
                </a:cubicBezTo>
                <a:cubicBezTo>
                  <a:pt x="6445" y="3005"/>
                  <a:pt x="6286" y="2965"/>
                  <a:pt x="6127" y="2925"/>
                </a:cubicBezTo>
                <a:cubicBezTo>
                  <a:pt x="6087" y="2905"/>
                  <a:pt x="6047" y="2905"/>
                  <a:pt x="6008" y="2885"/>
                </a:cubicBezTo>
                <a:cubicBezTo>
                  <a:pt x="5848" y="2846"/>
                  <a:pt x="5669" y="2806"/>
                  <a:pt x="5510" y="2746"/>
                </a:cubicBezTo>
                <a:cubicBezTo>
                  <a:pt x="5490" y="2746"/>
                  <a:pt x="5451" y="2746"/>
                  <a:pt x="5411" y="2726"/>
                </a:cubicBezTo>
                <a:cubicBezTo>
                  <a:pt x="5272" y="2686"/>
                  <a:pt x="5152" y="2647"/>
                  <a:pt x="5013" y="2607"/>
                </a:cubicBezTo>
                <a:cubicBezTo>
                  <a:pt x="4973" y="2607"/>
                  <a:pt x="4933" y="2587"/>
                  <a:pt x="4894" y="2587"/>
                </a:cubicBezTo>
                <a:cubicBezTo>
                  <a:pt x="4754" y="2527"/>
                  <a:pt x="4595" y="2488"/>
                  <a:pt x="4456" y="2448"/>
                </a:cubicBezTo>
                <a:cubicBezTo>
                  <a:pt x="4436" y="2428"/>
                  <a:pt x="4396" y="2428"/>
                  <a:pt x="4376" y="2428"/>
                </a:cubicBezTo>
                <a:cubicBezTo>
                  <a:pt x="4257" y="2388"/>
                  <a:pt x="4138" y="2348"/>
                  <a:pt x="4038" y="2308"/>
                </a:cubicBezTo>
                <a:lnTo>
                  <a:pt x="3899" y="2269"/>
                </a:lnTo>
                <a:cubicBezTo>
                  <a:pt x="3780" y="2229"/>
                  <a:pt x="3680" y="2189"/>
                  <a:pt x="3581" y="2149"/>
                </a:cubicBezTo>
                <a:cubicBezTo>
                  <a:pt x="3541" y="2149"/>
                  <a:pt x="3521" y="2129"/>
                  <a:pt x="3481" y="2129"/>
                </a:cubicBezTo>
                <a:cubicBezTo>
                  <a:pt x="3362" y="2070"/>
                  <a:pt x="3223" y="2030"/>
                  <a:pt x="3103" y="1990"/>
                </a:cubicBezTo>
                <a:cubicBezTo>
                  <a:pt x="3083" y="1970"/>
                  <a:pt x="3044" y="1950"/>
                  <a:pt x="3004" y="1950"/>
                </a:cubicBezTo>
                <a:cubicBezTo>
                  <a:pt x="2924" y="1911"/>
                  <a:pt x="2825" y="1871"/>
                  <a:pt x="2745" y="1851"/>
                </a:cubicBezTo>
                <a:cubicBezTo>
                  <a:pt x="2705" y="1831"/>
                  <a:pt x="2646" y="1811"/>
                  <a:pt x="2606" y="1771"/>
                </a:cubicBezTo>
                <a:cubicBezTo>
                  <a:pt x="2526" y="1751"/>
                  <a:pt x="2467" y="1712"/>
                  <a:pt x="2387" y="1692"/>
                </a:cubicBezTo>
                <a:cubicBezTo>
                  <a:pt x="2347" y="1672"/>
                  <a:pt x="2288" y="1652"/>
                  <a:pt x="2248" y="1632"/>
                </a:cubicBezTo>
                <a:cubicBezTo>
                  <a:pt x="2168" y="1592"/>
                  <a:pt x="2109" y="1572"/>
                  <a:pt x="2049" y="1533"/>
                </a:cubicBezTo>
                <a:cubicBezTo>
                  <a:pt x="2009" y="1513"/>
                  <a:pt x="1969" y="1493"/>
                  <a:pt x="1930" y="1473"/>
                </a:cubicBezTo>
                <a:cubicBezTo>
                  <a:pt x="1830" y="1433"/>
                  <a:pt x="1731" y="1393"/>
                  <a:pt x="1631" y="1334"/>
                </a:cubicBezTo>
                <a:cubicBezTo>
                  <a:pt x="1631" y="1334"/>
                  <a:pt x="1631" y="1334"/>
                  <a:pt x="1631" y="1334"/>
                </a:cubicBezTo>
                <a:cubicBezTo>
                  <a:pt x="1512" y="1274"/>
                  <a:pt x="1412" y="1214"/>
                  <a:pt x="1313" y="1155"/>
                </a:cubicBezTo>
                <a:lnTo>
                  <a:pt x="1233" y="1115"/>
                </a:lnTo>
                <a:cubicBezTo>
                  <a:pt x="1154" y="1075"/>
                  <a:pt x="1094" y="1035"/>
                  <a:pt x="1034" y="996"/>
                </a:cubicBezTo>
                <a:cubicBezTo>
                  <a:pt x="995" y="976"/>
                  <a:pt x="975" y="956"/>
                  <a:pt x="935" y="936"/>
                </a:cubicBezTo>
                <a:cubicBezTo>
                  <a:pt x="875" y="896"/>
                  <a:pt x="836" y="856"/>
                  <a:pt x="776" y="817"/>
                </a:cubicBezTo>
                <a:cubicBezTo>
                  <a:pt x="736" y="797"/>
                  <a:pt x="716" y="777"/>
                  <a:pt x="676" y="757"/>
                </a:cubicBezTo>
                <a:cubicBezTo>
                  <a:pt x="637" y="717"/>
                  <a:pt x="597" y="677"/>
                  <a:pt x="557" y="637"/>
                </a:cubicBezTo>
                <a:cubicBezTo>
                  <a:pt x="517" y="618"/>
                  <a:pt x="497" y="598"/>
                  <a:pt x="458" y="558"/>
                </a:cubicBezTo>
                <a:cubicBezTo>
                  <a:pt x="438" y="538"/>
                  <a:pt x="398" y="518"/>
                  <a:pt x="378" y="498"/>
                </a:cubicBezTo>
                <a:cubicBezTo>
                  <a:pt x="358" y="458"/>
                  <a:pt x="318" y="419"/>
                  <a:pt x="298" y="399"/>
                </a:cubicBezTo>
                <a:cubicBezTo>
                  <a:pt x="279" y="379"/>
                  <a:pt x="239" y="359"/>
                  <a:pt x="239" y="339"/>
                </a:cubicBezTo>
                <a:cubicBezTo>
                  <a:pt x="199" y="299"/>
                  <a:pt x="179" y="260"/>
                  <a:pt x="139" y="220"/>
                </a:cubicBezTo>
                <a:cubicBezTo>
                  <a:pt x="139" y="200"/>
                  <a:pt x="119" y="180"/>
                  <a:pt x="99" y="160"/>
                </a:cubicBezTo>
                <a:cubicBezTo>
                  <a:pt x="60" y="120"/>
                  <a:pt x="40" y="61"/>
                  <a:pt x="0" y="1"/>
                </a:cubicBezTo>
                <a:cubicBezTo>
                  <a:pt x="2924" y="5412"/>
                  <a:pt x="5868" y="10803"/>
                  <a:pt x="8793" y="16213"/>
                </a:cubicBezTo>
                <a:cubicBezTo>
                  <a:pt x="8832" y="16253"/>
                  <a:pt x="8852" y="16313"/>
                  <a:pt x="8892" y="16373"/>
                </a:cubicBezTo>
                <a:cubicBezTo>
                  <a:pt x="8892" y="16373"/>
                  <a:pt x="8892" y="16373"/>
                  <a:pt x="8892" y="16373"/>
                </a:cubicBezTo>
                <a:cubicBezTo>
                  <a:pt x="8912" y="16393"/>
                  <a:pt x="8932" y="16412"/>
                  <a:pt x="8932" y="16432"/>
                </a:cubicBezTo>
                <a:cubicBezTo>
                  <a:pt x="8952" y="16472"/>
                  <a:pt x="8992" y="16492"/>
                  <a:pt x="9011" y="16532"/>
                </a:cubicBezTo>
                <a:cubicBezTo>
                  <a:pt x="9011" y="16532"/>
                  <a:pt x="9011" y="16532"/>
                  <a:pt x="9011" y="16552"/>
                </a:cubicBezTo>
                <a:cubicBezTo>
                  <a:pt x="9031" y="16572"/>
                  <a:pt x="9051" y="16591"/>
                  <a:pt x="9071" y="16611"/>
                </a:cubicBezTo>
                <a:cubicBezTo>
                  <a:pt x="9091" y="16631"/>
                  <a:pt x="9111" y="16671"/>
                  <a:pt x="9151" y="16691"/>
                </a:cubicBezTo>
                <a:lnTo>
                  <a:pt x="9171" y="16711"/>
                </a:lnTo>
                <a:cubicBezTo>
                  <a:pt x="9190" y="16731"/>
                  <a:pt x="9210" y="16751"/>
                  <a:pt x="9230" y="16790"/>
                </a:cubicBezTo>
                <a:cubicBezTo>
                  <a:pt x="9250" y="16810"/>
                  <a:pt x="9270" y="16830"/>
                  <a:pt x="9290" y="16850"/>
                </a:cubicBezTo>
                <a:cubicBezTo>
                  <a:pt x="9310" y="16850"/>
                  <a:pt x="9310" y="16870"/>
                  <a:pt x="9330" y="16870"/>
                </a:cubicBezTo>
                <a:cubicBezTo>
                  <a:pt x="9369" y="16910"/>
                  <a:pt x="9409" y="16950"/>
                  <a:pt x="9449" y="16989"/>
                </a:cubicBezTo>
                <a:cubicBezTo>
                  <a:pt x="9469" y="16989"/>
                  <a:pt x="9489" y="17009"/>
                  <a:pt x="9509" y="17029"/>
                </a:cubicBezTo>
                <a:cubicBezTo>
                  <a:pt x="9509" y="17049"/>
                  <a:pt x="9529" y="17049"/>
                  <a:pt x="9529" y="17049"/>
                </a:cubicBezTo>
                <a:cubicBezTo>
                  <a:pt x="9568" y="17089"/>
                  <a:pt x="9628" y="17129"/>
                  <a:pt x="9668" y="17168"/>
                </a:cubicBezTo>
                <a:cubicBezTo>
                  <a:pt x="9708" y="17188"/>
                  <a:pt x="9728" y="17208"/>
                  <a:pt x="9747" y="17228"/>
                </a:cubicBezTo>
                <a:cubicBezTo>
                  <a:pt x="9747" y="17228"/>
                  <a:pt x="9747" y="17228"/>
                  <a:pt x="9767" y="17228"/>
                </a:cubicBezTo>
                <a:cubicBezTo>
                  <a:pt x="9827" y="17268"/>
                  <a:pt x="9887" y="17327"/>
                  <a:pt x="9946" y="17367"/>
                </a:cubicBezTo>
                <a:cubicBezTo>
                  <a:pt x="9966" y="17387"/>
                  <a:pt x="9986" y="17387"/>
                  <a:pt x="10006" y="17407"/>
                </a:cubicBezTo>
                <a:cubicBezTo>
                  <a:pt x="10006" y="17407"/>
                  <a:pt x="10006" y="17407"/>
                  <a:pt x="10006" y="17407"/>
                </a:cubicBezTo>
                <a:cubicBezTo>
                  <a:pt x="10105" y="17467"/>
                  <a:pt x="10185" y="17526"/>
                  <a:pt x="10285" y="17586"/>
                </a:cubicBezTo>
                <a:lnTo>
                  <a:pt x="10285" y="17586"/>
                </a:lnTo>
                <a:cubicBezTo>
                  <a:pt x="10364" y="17646"/>
                  <a:pt x="10444" y="17686"/>
                  <a:pt x="10543" y="17725"/>
                </a:cubicBezTo>
                <a:cubicBezTo>
                  <a:pt x="10543" y="17725"/>
                  <a:pt x="10543" y="17745"/>
                  <a:pt x="10543" y="17745"/>
                </a:cubicBezTo>
                <a:cubicBezTo>
                  <a:pt x="10583" y="17765"/>
                  <a:pt x="10623" y="17785"/>
                  <a:pt x="10643" y="17805"/>
                </a:cubicBezTo>
                <a:cubicBezTo>
                  <a:pt x="10702" y="17825"/>
                  <a:pt x="10742" y="17845"/>
                  <a:pt x="10802" y="17865"/>
                </a:cubicBezTo>
                <a:cubicBezTo>
                  <a:pt x="10802" y="17884"/>
                  <a:pt x="10822" y="17884"/>
                  <a:pt x="10842" y="17904"/>
                </a:cubicBezTo>
                <a:cubicBezTo>
                  <a:pt x="10881" y="17924"/>
                  <a:pt x="10921" y="17944"/>
                  <a:pt x="10961" y="17964"/>
                </a:cubicBezTo>
                <a:cubicBezTo>
                  <a:pt x="11001" y="17984"/>
                  <a:pt x="11021" y="18004"/>
                  <a:pt x="11060" y="18024"/>
                </a:cubicBezTo>
                <a:cubicBezTo>
                  <a:pt x="11100" y="18024"/>
                  <a:pt x="11120" y="18044"/>
                  <a:pt x="11140" y="18044"/>
                </a:cubicBezTo>
                <a:cubicBezTo>
                  <a:pt x="11180" y="18064"/>
                  <a:pt x="11239" y="18103"/>
                  <a:pt x="11279" y="18123"/>
                </a:cubicBezTo>
                <a:cubicBezTo>
                  <a:pt x="11299" y="18123"/>
                  <a:pt x="11319" y="18143"/>
                  <a:pt x="11359" y="18163"/>
                </a:cubicBezTo>
                <a:cubicBezTo>
                  <a:pt x="11399" y="18183"/>
                  <a:pt x="11438" y="18203"/>
                  <a:pt x="11498" y="18223"/>
                </a:cubicBezTo>
                <a:cubicBezTo>
                  <a:pt x="11518" y="18223"/>
                  <a:pt x="11558" y="18243"/>
                  <a:pt x="11578" y="18262"/>
                </a:cubicBezTo>
                <a:cubicBezTo>
                  <a:pt x="11597" y="18262"/>
                  <a:pt x="11597" y="18262"/>
                  <a:pt x="11617" y="18282"/>
                </a:cubicBezTo>
                <a:cubicBezTo>
                  <a:pt x="11717" y="18322"/>
                  <a:pt x="11796" y="18362"/>
                  <a:pt x="11896" y="18402"/>
                </a:cubicBezTo>
                <a:cubicBezTo>
                  <a:pt x="11896" y="18402"/>
                  <a:pt x="11896" y="18402"/>
                  <a:pt x="11916" y="18402"/>
                </a:cubicBezTo>
                <a:cubicBezTo>
                  <a:pt x="11936" y="18422"/>
                  <a:pt x="11956" y="18422"/>
                  <a:pt x="11975" y="18441"/>
                </a:cubicBezTo>
                <a:cubicBezTo>
                  <a:pt x="12055" y="18461"/>
                  <a:pt x="12115" y="18481"/>
                  <a:pt x="12174" y="18521"/>
                </a:cubicBezTo>
                <a:cubicBezTo>
                  <a:pt x="12214" y="18521"/>
                  <a:pt x="12234" y="18541"/>
                  <a:pt x="12274" y="18541"/>
                </a:cubicBezTo>
                <a:cubicBezTo>
                  <a:pt x="12294" y="18561"/>
                  <a:pt x="12333" y="18581"/>
                  <a:pt x="12373" y="18601"/>
                </a:cubicBezTo>
                <a:cubicBezTo>
                  <a:pt x="12413" y="18601"/>
                  <a:pt x="12453" y="18621"/>
                  <a:pt x="12473" y="18640"/>
                </a:cubicBezTo>
                <a:cubicBezTo>
                  <a:pt x="12552" y="18660"/>
                  <a:pt x="12612" y="18680"/>
                  <a:pt x="12672" y="18700"/>
                </a:cubicBezTo>
                <a:cubicBezTo>
                  <a:pt x="12711" y="18720"/>
                  <a:pt x="12731" y="18720"/>
                  <a:pt x="12751" y="18740"/>
                </a:cubicBezTo>
                <a:lnTo>
                  <a:pt x="12771" y="18740"/>
                </a:lnTo>
                <a:cubicBezTo>
                  <a:pt x="12871" y="18780"/>
                  <a:pt x="12970" y="18819"/>
                  <a:pt x="13070" y="18839"/>
                </a:cubicBezTo>
                <a:lnTo>
                  <a:pt x="13129" y="18879"/>
                </a:lnTo>
                <a:cubicBezTo>
                  <a:pt x="13129" y="18879"/>
                  <a:pt x="13149" y="18879"/>
                  <a:pt x="13169" y="18879"/>
                </a:cubicBezTo>
                <a:cubicBezTo>
                  <a:pt x="13189" y="18899"/>
                  <a:pt x="13209" y="18899"/>
                  <a:pt x="13229" y="18899"/>
                </a:cubicBezTo>
                <a:cubicBezTo>
                  <a:pt x="13268" y="18919"/>
                  <a:pt x="13328" y="18939"/>
                  <a:pt x="13368" y="18959"/>
                </a:cubicBezTo>
                <a:cubicBezTo>
                  <a:pt x="13428" y="18979"/>
                  <a:pt x="13507" y="18998"/>
                  <a:pt x="13567" y="19018"/>
                </a:cubicBezTo>
                <a:cubicBezTo>
                  <a:pt x="13587" y="19038"/>
                  <a:pt x="13627" y="19038"/>
                  <a:pt x="13646" y="19058"/>
                </a:cubicBezTo>
                <a:cubicBezTo>
                  <a:pt x="13666" y="19058"/>
                  <a:pt x="13666" y="19058"/>
                  <a:pt x="13686" y="19058"/>
                </a:cubicBezTo>
                <a:cubicBezTo>
                  <a:pt x="13786" y="19098"/>
                  <a:pt x="13885" y="19138"/>
                  <a:pt x="13985" y="19158"/>
                </a:cubicBezTo>
                <a:cubicBezTo>
                  <a:pt x="14024" y="19178"/>
                  <a:pt x="14044" y="19178"/>
                  <a:pt x="14064" y="19197"/>
                </a:cubicBezTo>
                <a:cubicBezTo>
                  <a:pt x="14104" y="19197"/>
                  <a:pt x="14124" y="19217"/>
                  <a:pt x="14164" y="19217"/>
                </a:cubicBezTo>
                <a:lnTo>
                  <a:pt x="14303" y="19257"/>
                </a:lnTo>
                <a:cubicBezTo>
                  <a:pt x="14382" y="19297"/>
                  <a:pt x="14482" y="19317"/>
                  <a:pt x="14561" y="19337"/>
                </a:cubicBezTo>
                <a:lnTo>
                  <a:pt x="14621" y="19357"/>
                </a:lnTo>
                <a:cubicBezTo>
                  <a:pt x="14621" y="19357"/>
                  <a:pt x="14621" y="19357"/>
                  <a:pt x="14621" y="19357"/>
                </a:cubicBezTo>
                <a:cubicBezTo>
                  <a:pt x="14740" y="19396"/>
                  <a:pt x="14840" y="19436"/>
                  <a:pt x="14959" y="19456"/>
                </a:cubicBezTo>
                <a:cubicBezTo>
                  <a:pt x="14999" y="19476"/>
                  <a:pt x="15039" y="19496"/>
                  <a:pt x="15079" y="19496"/>
                </a:cubicBezTo>
                <a:cubicBezTo>
                  <a:pt x="15118" y="19516"/>
                  <a:pt x="15138" y="19516"/>
                  <a:pt x="15178" y="19536"/>
                </a:cubicBezTo>
                <a:cubicBezTo>
                  <a:pt x="15218" y="19536"/>
                  <a:pt x="15258" y="19555"/>
                  <a:pt x="15297" y="19555"/>
                </a:cubicBezTo>
                <a:cubicBezTo>
                  <a:pt x="15397" y="19595"/>
                  <a:pt x="15516" y="19615"/>
                  <a:pt x="15636" y="19655"/>
                </a:cubicBezTo>
                <a:cubicBezTo>
                  <a:pt x="15636" y="19655"/>
                  <a:pt x="15636" y="19655"/>
                  <a:pt x="15656" y="19655"/>
                </a:cubicBezTo>
                <a:cubicBezTo>
                  <a:pt x="15675" y="19675"/>
                  <a:pt x="15715" y="19675"/>
                  <a:pt x="15735" y="19675"/>
                </a:cubicBezTo>
                <a:cubicBezTo>
                  <a:pt x="15815" y="19695"/>
                  <a:pt x="15894" y="19715"/>
                  <a:pt x="15974" y="19754"/>
                </a:cubicBezTo>
                <a:cubicBezTo>
                  <a:pt x="16034" y="19754"/>
                  <a:pt x="16093" y="19774"/>
                  <a:pt x="16153" y="19794"/>
                </a:cubicBezTo>
                <a:cubicBezTo>
                  <a:pt x="16193" y="19814"/>
                  <a:pt x="16232" y="19814"/>
                  <a:pt x="16272" y="19834"/>
                </a:cubicBezTo>
                <a:cubicBezTo>
                  <a:pt x="16292" y="19834"/>
                  <a:pt x="16312" y="19834"/>
                  <a:pt x="16312" y="19834"/>
                </a:cubicBezTo>
                <a:cubicBezTo>
                  <a:pt x="16431" y="19874"/>
                  <a:pt x="16551" y="19894"/>
                  <a:pt x="16670" y="19933"/>
                </a:cubicBezTo>
                <a:lnTo>
                  <a:pt x="16750" y="19953"/>
                </a:lnTo>
                <a:cubicBezTo>
                  <a:pt x="16789" y="19953"/>
                  <a:pt x="16829" y="19973"/>
                  <a:pt x="16889" y="19973"/>
                </a:cubicBezTo>
                <a:cubicBezTo>
                  <a:pt x="16929" y="19993"/>
                  <a:pt x="16968" y="19993"/>
                  <a:pt x="17008" y="20013"/>
                </a:cubicBezTo>
                <a:cubicBezTo>
                  <a:pt x="17128" y="20033"/>
                  <a:pt x="17247" y="20073"/>
                  <a:pt x="17366" y="20093"/>
                </a:cubicBezTo>
                <a:cubicBezTo>
                  <a:pt x="17366" y="20093"/>
                  <a:pt x="17386" y="20093"/>
                  <a:pt x="17386" y="20093"/>
                </a:cubicBezTo>
                <a:cubicBezTo>
                  <a:pt x="17406" y="20112"/>
                  <a:pt x="17446" y="20112"/>
                  <a:pt x="17466" y="20132"/>
                </a:cubicBezTo>
                <a:cubicBezTo>
                  <a:pt x="17565" y="20152"/>
                  <a:pt x="17645" y="20172"/>
                  <a:pt x="17724" y="20192"/>
                </a:cubicBezTo>
                <a:cubicBezTo>
                  <a:pt x="17804" y="20192"/>
                  <a:pt x="17884" y="20212"/>
                  <a:pt x="17943" y="20232"/>
                </a:cubicBezTo>
                <a:cubicBezTo>
                  <a:pt x="17983" y="20232"/>
                  <a:pt x="18023" y="20252"/>
                  <a:pt x="18063" y="20252"/>
                </a:cubicBezTo>
                <a:lnTo>
                  <a:pt x="18102" y="20272"/>
                </a:lnTo>
                <a:cubicBezTo>
                  <a:pt x="18222" y="20292"/>
                  <a:pt x="18341" y="20311"/>
                  <a:pt x="18460" y="20351"/>
                </a:cubicBezTo>
                <a:cubicBezTo>
                  <a:pt x="18500" y="20351"/>
                  <a:pt x="18560" y="20371"/>
                  <a:pt x="18600" y="20371"/>
                </a:cubicBezTo>
                <a:cubicBezTo>
                  <a:pt x="18639" y="20391"/>
                  <a:pt x="18679" y="20391"/>
                  <a:pt x="18719" y="20411"/>
                </a:cubicBezTo>
                <a:cubicBezTo>
                  <a:pt x="18759" y="20411"/>
                  <a:pt x="18799" y="20431"/>
                  <a:pt x="18838" y="20431"/>
                </a:cubicBezTo>
                <a:cubicBezTo>
                  <a:pt x="18978" y="20451"/>
                  <a:pt x="19097" y="20490"/>
                  <a:pt x="19236" y="20510"/>
                </a:cubicBezTo>
                <a:cubicBezTo>
                  <a:pt x="19256" y="20510"/>
                  <a:pt x="19256" y="20510"/>
                  <a:pt x="19276" y="20530"/>
                </a:cubicBezTo>
                <a:lnTo>
                  <a:pt x="19395" y="20550"/>
                </a:lnTo>
                <a:cubicBezTo>
                  <a:pt x="19455" y="20570"/>
                  <a:pt x="19535" y="20570"/>
                  <a:pt x="19614" y="20590"/>
                </a:cubicBezTo>
                <a:cubicBezTo>
                  <a:pt x="19714" y="20610"/>
                  <a:pt x="19833" y="20630"/>
                  <a:pt x="19932" y="20650"/>
                </a:cubicBezTo>
                <a:lnTo>
                  <a:pt x="19992" y="20669"/>
                </a:lnTo>
                <a:cubicBezTo>
                  <a:pt x="20012" y="20669"/>
                  <a:pt x="20012" y="20669"/>
                  <a:pt x="20012" y="20669"/>
                </a:cubicBezTo>
                <a:cubicBezTo>
                  <a:pt x="20151" y="20709"/>
                  <a:pt x="20271" y="20729"/>
                  <a:pt x="20410" y="20749"/>
                </a:cubicBezTo>
                <a:cubicBezTo>
                  <a:pt x="20470" y="20769"/>
                  <a:pt x="20529" y="20769"/>
                  <a:pt x="20589" y="20789"/>
                </a:cubicBezTo>
                <a:cubicBezTo>
                  <a:pt x="20629" y="20789"/>
                  <a:pt x="20688" y="20809"/>
                  <a:pt x="20728" y="20809"/>
                </a:cubicBezTo>
                <a:cubicBezTo>
                  <a:pt x="20748" y="20809"/>
                  <a:pt x="20788" y="20829"/>
                  <a:pt x="20828" y="20829"/>
                </a:cubicBezTo>
                <a:cubicBezTo>
                  <a:pt x="20947" y="20849"/>
                  <a:pt x="21086" y="20888"/>
                  <a:pt x="21226" y="20908"/>
                </a:cubicBezTo>
                <a:cubicBezTo>
                  <a:pt x="21265" y="20908"/>
                  <a:pt x="21285" y="20908"/>
                  <a:pt x="21325" y="20928"/>
                </a:cubicBezTo>
                <a:cubicBezTo>
                  <a:pt x="21365" y="20928"/>
                  <a:pt x="21405" y="20948"/>
                  <a:pt x="21444" y="20948"/>
                </a:cubicBezTo>
                <a:cubicBezTo>
                  <a:pt x="21524" y="20968"/>
                  <a:pt x="21584" y="20968"/>
                  <a:pt x="21643" y="20988"/>
                </a:cubicBezTo>
                <a:cubicBezTo>
                  <a:pt x="21783" y="21008"/>
                  <a:pt x="21942" y="21028"/>
                  <a:pt x="22081" y="21067"/>
                </a:cubicBezTo>
                <a:cubicBezTo>
                  <a:pt x="22081" y="21067"/>
                  <a:pt x="22081" y="21067"/>
                  <a:pt x="22081" y="21067"/>
                </a:cubicBezTo>
                <a:cubicBezTo>
                  <a:pt x="22101" y="21067"/>
                  <a:pt x="22101" y="21067"/>
                  <a:pt x="22121" y="21067"/>
                </a:cubicBezTo>
                <a:lnTo>
                  <a:pt x="22499" y="21127"/>
                </a:lnTo>
                <a:cubicBezTo>
                  <a:pt x="22598" y="21147"/>
                  <a:pt x="22678" y="21167"/>
                  <a:pt x="22757" y="21187"/>
                </a:cubicBezTo>
                <a:cubicBezTo>
                  <a:pt x="22797" y="21187"/>
                  <a:pt x="22817" y="21187"/>
                  <a:pt x="22837" y="21187"/>
                </a:cubicBezTo>
                <a:cubicBezTo>
                  <a:pt x="22837" y="21187"/>
                  <a:pt x="22837" y="21187"/>
                  <a:pt x="22857" y="21187"/>
                </a:cubicBezTo>
                <a:cubicBezTo>
                  <a:pt x="22877" y="21207"/>
                  <a:pt x="22916" y="21207"/>
                  <a:pt x="22936" y="21207"/>
                </a:cubicBezTo>
                <a:cubicBezTo>
                  <a:pt x="23095" y="21226"/>
                  <a:pt x="23235" y="21266"/>
                  <a:pt x="23394" y="21286"/>
                </a:cubicBezTo>
                <a:cubicBezTo>
                  <a:pt x="23533" y="21306"/>
                  <a:pt x="23692" y="21326"/>
                  <a:pt x="23851" y="21346"/>
                </a:cubicBezTo>
                <a:cubicBezTo>
                  <a:pt x="23991" y="21386"/>
                  <a:pt x="24150" y="21405"/>
                  <a:pt x="24309" y="21425"/>
                </a:cubicBezTo>
                <a:cubicBezTo>
                  <a:pt x="24329" y="21425"/>
                  <a:pt x="24349" y="21425"/>
                  <a:pt x="24369" y="21425"/>
                </a:cubicBezTo>
                <a:cubicBezTo>
                  <a:pt x="24369" y="21445"/>
                  <a:pt x="24388" y="21445"/>
                  <a:pt x="24408" y="21445"/>
                </a:cubicBezTo>
                <a:cubicBezTo>
                  <a:pt x="24528" y="21465"/>
                  <a:pt x="24647" y="21485"/>
                  <a:pt x="24766" y="21505"/>
                </a:cubicBezTo>
                <a:cubicBezTo>
                  <a:pt x="24926" y="21525"/>
                  <a:pt x="25085" y="21545"/>
                  <a:pt x="25244" y="21565"/>
                </a:cubicBezTo>
                <a:cubicBezTo>
                  <a:pt x="25403" y="21585"/>
                  <a:pt x="25582" y="21604"/>
                  <a:pt x="25741" y="21644"/>
                </a:cubicBezTo>
                <a:cubicBezTo>
                  <a:pt x="25801" y="21644"/>
                  <a:pt x="25880" y="21664"/>
                  <a:pt x="25960" y="21664"/>
                </a:cubicBezTo>
                <a:cubicBezTo>
                  <a:pt x="25980" y="21664"/>
                  <a:pt x="26020" y="21664"/>
                  <a:pt x="26040" y="21684"/>
                </a:cubicBezTo>
                <a:cubicBezTo>
                  <a:pt x="26099" y="21684"/>
                  <a:pt x="26159" y="21704"/>
                  <a:pt x="26219" y="21704"/>
                </a:cubicBezTo>
                <a:cubicBezTo>
                  <a:pt x="26398" y="21724"/>
                  <a:pt x="26557" y="21744"/>
                  <a:pt x="26736" y="21764"/>
                </a:cubicBezTo>
                <a:cubicBezTo>
                  <a:pt x="26915" y="21803"/>
                  <a:pt x="27094" y="21823"/>
                  <a:pt x="27253" y="21843"/>
                </a:cubicBezTo>
                <a:cubicBezTo>
                  <a:pt x="27372" y="21863"/>
                  <a:pt x="27512" y="21883"/>
                  <a:pt x="27631" y="21883"/>
                </a:cubicBezTo>
                <a:cubicBezTo>
                  <a:pt x="27651" y="21883"/>
                  <a:pt x="27671" y="21903"/>
                  <a:pt x="27711" y="21903"/>
                </a:cubicBezTo>
                <a:cubicBezTo>
                  <a:pt x="27730" y="21903"/>
                  <a:pt x="27750" y="21903"/>
                  <a:pt x="27790" y="21903"/>
                </a:cubicBezTo>
                <a:cubicBezTo>
                  <a:pt x="27969" y="21923"/>
                  <a:pt x="28148" y="21962"/>
                  <a:pt x="28327" y="21982"/>
                </a:cubicBezTo>
                <a:cubicBezTo>
                  <a:pt x="28506" y="22002"/>
                  <a:pt x="28685" y="22022"/>
                  <a:pt x="28884" y="22042"/>
                </a:cubicBezTo>
                <a:cubicBezTo>
                  <a:pt x="29043" y="22062"/>
                  <a:pt x="29202" y="22082"/>
                  <a:pt x="29382" y="22102"/>
                </a:cubicBezTo>
                <a:cubicBezTo>
                  <a:pt x="29401" y="22102"/>
                  <a:pt x="29421" y="22102"/>
                  <a:pt x="29441" y="22102"/>
                </a:cubicBezTo>
                <a:cubicBezTo>
                  <a:pt x="29441" y="22102"/>
                  <a:pt x="29441" y="22102"/>
                  <a:pt x="29461" y="22102"/>
                </a:cubicBezTo>
                <a:cubicBezTo>
                  <a:pt x="29640" y="22142"/>
                  <a:pt x="29839" y="22161"/>
                  <a:pt x="30038" y="22181"/>
                </a:cubicBezTo>
                <a:cubicBezTo>
                  <a:pt x="30217" y="22201"/>
                  <a:pt x="30416" y="22221"/>
                  <a:pt x="30615" y="22241"/>
                </a:cubicBezTo>
                <a:lnTo>
                  <a:pt x="31172" y="22301"/>
                </a:lnTo>
                <a:cubicBezTo>
                  <a:pt x="31192" y="22301"/>
                  <a:pt x="31212" y="22301"/>
                  <a:pt x="31212" y="22301"/>
                </a:cubicBezTo>
                <a:cubicBezTo>
                  <a:pt x="31232" y="22301"/>
                  <a:pt x="31232" y="22301"/>
                  <a:pt x="31232" y="22301"/>
                </a:cubicBezTo>
                <a:cubicBezTo>
                  <a:pt x="31450" y="22321"/>
                  <a:pt x="31649" y="22340"/>
                  <a:pt x="31868" y="22380"/>
                </a:cubicBezTo>
                <a:cubicBezTo>
                  <a:pt x="32067" y="22400"/>
                  <a:pt x="32286" y="22420"/>
                  <a:pt x="32505" y="22440"/>
                </a:cubicBezTo>
                <a:cubicBezTo>
                  <a:pt x="32664" y="22460"/>
                  <a:pt x="32843" y="22460"/>
                  <a:pt x="33002" y="22480"/>
                </a:cubicBezTo>
                <a:cubicBezTo>
                  <a:pt x="33022" y="22480"/>
                  <a:pt x="33042" y="22480"/>
                  <a:pt x="33082" y="22480"/>
                </a:cubicBezTo>
                <a:cubicBezTo>
                  <a:pt x="33101" y="22500"/>
                  <a:pt x="33121" y="22500"/>
                  <a:pt x="33141" y="22500"/>
                </a:cubicBezTo>
                <a:cubicBezTo>
                  <a:pt x="33380" y="22519"/>
                  <a:pt x="33599" y="22539"/>
                  <a:pt x="33837" y="22559"/>
                </a:cubicBezTo>
                <a:cubicBezTo>
                  <a:pt x="34076" y="22579"/>
                  <a:pt x="34315" y="22599"/>
                  <a:pt x="34554" y="22619"/>
                </a:cubicBezTo>
                <a:cubicBezTo>
                  <a:pt x="34653" y="22639"/>
                  <a:pt x="34772" y="22639"/>
                  <a:pt x="34872" y="22639"/>
                </a:cubicBezTo>
                <a:cubicBezTo>
                  <a:pt x="34912" y="22659"/>
                  <a:pt x="34971" y="22659"/>
                  <a:pt x="35011" y="22659"/>
                </a:cubicBezTo>
                <a:cubicBezTo>
                  <a:pt x="35091" y="22659"/>
                  <a:pt x="35170" y="22679"/>
                  <a:pt x="35270" y="22679"/>
                </a:cubicBezTo>
                <a:cubicBezTo>
                  <a:pt x="35508" y="22699"/>
                  <a:pt x="35747" y="22718"/>
                  <a:pt x="35986" y="22738"/>
                </a:cubicBezTo>
                <a:cubicBezTo>
                  <a:pt x="36264" y="22758"/>
                  <a:pt x="36543" y="22778"/>
                  <a:pt x="36821" y="22798"/>
                </a:cubicBezTo>
                <a:cubicBezTo>
                  <a:pt x="36841" y="22798"/>
                  <a:pt x="36841" y="22798"/>
                  <a:pt x="36861" y="22798"/>
                </a:cubicBezTo>
                <a:cubicBezTo>
                  <a:pt x="36881" y="22798"/>
                  <a:pt x="36881" y="22798"/>
                  <a:pt x="36881" y="22798"/>
                </a:cubicBezTo>
                <a:cubicBezTo>
                  <a:pt x="36901" y="22798"/>
                  <a:pt x="36921" y="22818"/>
                  <a:pt x="36921" y="22818"/>
                </a:cubicBezTo>
                <a:cubicBezTo>
                  <a:pt x="37179" y="22818"/>
                  <a:pt x="37418" y="22838"/>
                  <a:pt x="37657" y="22858"/>
                </a:cubicBezTo>
                <a:cubicBezTo>
                  <a:pt x="37935" y="22878"/>
                  <a:pt x="38214" y="22897"/>
                  <a:pt x="38492" y="22917"/>
                </a:cubicBezTo>
                <a:cubicBezTo>
                  <a:pt x="38612" y="22917"/>
                  <a:pt x="38711" y="22937"/>
                  <a:pt x="38811" y="22937"/>
                </a:cubicBezTo>
                <a:cubicBezTo>
                  <a:pt x="38870" y="22937"/>
                  <a:pt x="38930" y="22937"/>
                  <a:pt x="38990" y="22957"/>
                </a:cubicBezTo>
                <a:cubicBezTo>
                  <a:pt x="39109" y="22957"/>
                  <a:pt x="39228" y="22957"/>
                  <a:pt x="39348" y="22977"/>
                </a:cubicBezTo>
                <a:cubicBezTo>
                  <a:pt x="39706" y="22997"/>
                  <a:pt x="40064" y="23017"/>
                  <a:pt x="40422" y="23037"/>
                </a:cubicBezTo>
                <a:cubicBezTo>
                  <a:pt x="40541" y="23037"/>
                  <a:pt x="40681" y="23057"/>
                  <a:pt x="40800" y="23057"/>
                </a:cubicBezTo>
                <a:cubicBezTo>
                  <a:pt x="40899" y="23057"/>
                  <a:pt x="40999" y="23057"/>
                  <a:pt x="41098" y="23076"/>
                </a:cubicBezTo>
                <a:cubicBezTo>
                  <a:pt x="41238" y="23076"/>
                  <a:pt x="41357" y="23096"/>
                  <a:pt x="41496" y="23096"/>
                </a:cubicBezTo>
                <a:cubicBezTo>
                  <a:pt x="41854" y="23116"/>
                  <a:pt x="42212" y="23136"/>
                  <a:pt x="42590" y="23156"/>
                </a:cubicBezTo>
                <a:cubicBezTo>
                  <a:pt x="42690" y="23156"/>
                  <a:pt x="42789" y="23156"/>
                  <a:pt x="42889" y="23156"/>
                </a:cubicBezTo>
                <a:cubicBezTo>
                  <a:pt x="42988" y="23176"/>
                  <a:pt x="43088" y="23176"/>
                  <a:pt x="43207" y="23176"/>
                </a:cubicBezTo>
                <a:cubicBezTo>
                  <a:pt x="43366" y="23196"/>
                  <a:pt x="43525" y="23196"/>
                  <a:pt x="43684" y="23196"/>
                </a:cubicBezTo>
                <a:cubicBezTo>
                  <a:pt x="43943" y="23216"/>
                  <a:pt x="44202" y="23216"/>
                  <a:pt x="44440" y="23236"/>
                </a:cubicBezTo>
                <a:cubicBezTo>
                  <a:pt x="44778" y="23236"/>
                  <a:pt x="45097" y="23256"/>
                  <a:pt x="45415" y="23275"/>
                </a:cubicBezTo>
                <a:cubicBezTo>
                  <a:pt x="45514" y="23275"/>
                  <a:pt x="45594" y="23275"/>
                  <a:pt x="45694" y="23275"/>
                </a:cubicBezTo>
                <a:cubicBezTo>
                  <a:pt x="45972" y="23295"/>
                  <a:pt x="46270" y="23295"/>
                  <a:pt x="46549" y="23295"/>
                </a:cubicBezTo>
                <a:cubicBezTo>
                  <a:pt x="46867" y="23315"/>
                  <a:pt x="47205" y="23315"/>
                  <a:pt x="47524" y="23335"/>
                </a:cubicBezTo>
                <a:cubicBezTo>
                  <a:pt x="47603" y="23335"/>
                  <a:pt x="47663" y="23335"/>
                  <a:pt x="47742" y="23335"/>
                </a:cubicBezTo>
                <a:cubicBezTo>
                  <a:pt x="48061" y="23355"/>
                  <a:pt x="48379" y="23355"/>
                  <a:pt x="48697" y="23355"/>
                </a:cubicBezTo>
                <a:cubicBezTo>
                  <a:pt x="49016" y="23375"/>
                  <a:pt x="49334" y="23375"/>
                  <a:pt x="49652" y="23375"/>
                </a:cubicBezTo>
                <a:cubicBezTo>
                  <a:pt x="49712" y="23375"/>
                  <a:pt x="49752" y="23375"/>
                  <a:pt x="49811" y="23375"/>
                </a:cubicBezTo>
                <a:cubicBezTo>
                  <a:pt x="50189" y="23395"/>
                  <a:pt x="50547" y="23395"/>
                  <a:pt x="50925" y="23395"/>
                </a:cubicBezTo>
                <a:cubicBezTo>
                  <a:pt x="51224" y="23395"/>
                  <a:pt x="51502" y="23415"/>
                  <a:pt x="51801" y="23415"/>
                </a:cubicBezTo>
                <a:cubicBezTo>
                  <a:pt x="51840" y="23415"/>
                  <a:pt x="51860" y="23415"/>
                  <a:pt x="51900" y="23415"/>
                </a:cubicBezTo>
                <a:cubicBezTo>
                  <a:pt x="52079" y="23415"/>
                  <a:pt x="52238" y="23415"/>
                  <a:pt x="52417" y="23415"/>
                </a:cubicBezTo>
                <a:cubicBezTo>
                  <a:pt x="52576" y="23415"/>
                  <a:pt x="52736" y="23415"/>
                  <a:pt x="52915" y="23415"/>
                </a:cubicBezTo>
                <a:cubicBezTo>
                  <a:pt x="53074" y="23415"/>
                  <a:pt x="53253" y="23415"/>
                  <a:pt x="53412" y="23415"/>
                </a:cubicBezTo>
                <a:lnTo>
                  <a:pt x="53929" y="23415"/>
                </a:lnTo>
                <a:lnTo>
                  <a:pt x="54546" y="23415"/>
                </a:lnTo>
                <a:cubicBezTo>
                  <a:pt x="54745" y="23415"/>
                  <a:pt x="54944" y="23415"/>
                  <a:pt x="55143" y="23415"/>
                </a:cubicBezTo>
                <a:cubicBezTo>
                  <a:pt x="55341" y="23415"/>
                  <a:pt x="55540" y="23415"/>
                  <a:pt x="55739" y="23415"/>
                </a:cubicBezTo>
                <a:cubicBezTo>
                  <a:pt x="55819" y="23415"/>
                  <a:pt x="55879" y="23415"/>
                  <a:pt x="55938" y="23415"/>
                </a:cubicBezTo>
                <a:lnTo>
                  <a:pt x="56038" y="23415"/>
                </a:lnTo>
                <a:cubicBezTo>
                  <a:pt x="56137" y="23415"/>
                  <a:pt x="56237" y="23415"/>
                  <a:pt x="56356" y="23415"/>
                </a:cubicBezTo>
                <a:cubicBezTo>
                  <a:pt x="56615" y="23415"/>
                  <a:pt x="56853" y="23415"/>
                  <a:pt x="57112" y="23395"/>
                </a:cubicBezTo>
                <a:cubicBezTo>
                  <a:pt x="57470" y="23395"/>
                  <a:pt x="57848" y="23395"/>
                  <a:pt x="58226" y="23395"/>
                </a:cubicBezTo>
                <a:cubicBezTo>
                  <a:pt x="58286" y="23395"/>
                  <a:pt x="58345" y="23395"/>
                  <a:pt x="58425" y="23395"/>
                </a:cubicBezTo>
                <a:cubicBezTo>
                  <a:pt x="58664" y="23375"/>
                  <a:pt x="58902" y="23375"/>
                  <a:pt x="59141" y="23375"/>
                </a:cubicBezTo>
                <a:cubicBezTo>
                  <a:pt x="59499" y="23355"/>
                  <a:pt x="59877" y="23355"/>
                  <a:pt x="60235" y="23355"/>
                </a:cubicBezTo>
                <a:cubicBezTo>
                  <a:pt x="60315" y="23335"/>
                  <a:pt x="60374" y="23335"/>
                  <a:pt x="60454" y="23335"/>
                </a:cubicBezTo>
                <a:cubicBezTo>
                  <a:pt x="60673" y="23335"/>
                  <a:pt x="60911" y="23335"/>
                  <a:pt x="61130" y="23315"/>
                </a:cubicBezTo>
                <a:cubicBezTo>
                  <a:pt x="61488" y="23315"/>
                  <a:pt x="61866" y="23295"/>
                  <a:pt x="62204" y="23295"/>
                </a:cubicBezTo>
                <a:cubicBezTo>
                  <a:pt x="62284" y="23295"/>
                  <a:pt x="62364" y="23275"/>
                  <a:pt x="62443" y="23275"/>
                </a:cubicBezTo>
                <a:cubicBezTo>
                  <a:pt x="62662" y="23275"/>
                  <a:pt x="62881" y="23256"/>
                  <a:pt x="63100" y="23256"/>
                </a:cubicBezTo>
                <a:cubicBezTo>
                  <a:pt x="63458" y="23236"/>
                  <a:pt x="63796" y="23236"/>
                  <a:pt x="64154" y="23216"/>
                </a:cubicBezTo>
                <a:cubicBezTo>
                  <a:pt x="64233" y="23216"/>
                  <a:pt x="64313" y="23216"/>
                  <a:pt x="64393" y="23196"/>
                </a:cubicBezTo>
                <a:cubicBezTo>
                  <a:pt x="64751" y="23196"/>
                  <a:pt x="65109" y="23176"/>
                  <a:pt x="65467" y="23156"/>
                </a:cubicBezTo>
                <a:cubicBezTo>
                  <a:pt x="65527" y="23156"/>
                  <a:pt x="65586" y="23156"/>
                  <a:pt x="65666" y="23136"/>
                </a:cubicBezTo>
                <a:cubicBezTo>
                  <a:pt x="65745" y="23136"/>
                  <a:pt x="65845" y="23136"/>
                  <a:pt x="65924" y="23136"/>
                </a:cubicBezTo>
                <a:lnTo>
                  <a:pt x="66521" y="23096"/>
                </a:lnTo>
                <a:cubicBezTo>
                  <a:pt x="66859" y="23076"/>
                  <a:pt x="67217" y="23057"/>
                  <a:pt x="67556" y="23037"/>
                </a:cubicBezTo>
                <a:cubicBezTo>
                  <a:pt x="67556" y="23037"/>
                  <a:pt x="67575" y="23037"/>
                  <a:pt x="67575" y="23037"/>
                </a:cubicBezTo>
                <a:cubicBezTo>
                  <a:pt x="67615" y="23037"/>
                  <a:pt x="67635" y="23037"/>
                  <a:pt x="67675" y="23037"/>
                </a:cubicBezTo>
                <a:cubicBezTo>
                  <a:pt x="67973" y="23017"/>
                  <a:pt x="68272" y="22997"/>
                  <a:pt x="68570" y="22977"/>
                </a:cubicBezTo>
                <a:cubicBezTo>
                  <a:pt x="68849" y="22957"/>
                  <a:pt x="69127" y="22937"/>
                  <a:pt x="69386" y="22917"/>
                </a:cubicBezTo>
                <a:lnTo>
                  <a:pt x="69406" y="22917"/>
                </a:lnTo>
                <a:lnTo>
                  <a:pt x="69406" y="22917"/>
                </a:lnTo>
                <a:lnTo>
                  <a:pt x="69425" y="22917"/>
                </a:lnTo>
                <a:cubicBezTo>
                  <a:pt x="69684" y="22897"/>
                  <a:pt x="69943" y="22878"/>
                  <a:pt x="70201" y="22858"/>
                </a:cubicBezTo>
                <a:cubicBezTo>
                  <a:pt x="70460" y="22838"/>
                  <a:pt x="70719" y="22818"/>
                  <a:pt x="70997" y="22798"/>
                </a:cubicBezTo>
                <a:cubicBezTo>
                  <a:pt x="71017" y="22798"/>
                  <a:pt x="71057" y="22798"/>
                  <a:pt x="71096" y="22798"/>
                </a:cubicBezTo>
                <a:cubicBezTo>
                  <a:pt x="71136" y="22798"/>
                  <a:pt x="71196" y="22798"/>
                  <a:pt x="71236" y="22778"/>
                </a:cubicBezTo>
                <a:cubicBezTo>
                  <a:pt x="71415" y="22778"/>
                  <a:pt x="71594" y="22758"/>
                  <a:pt x="71773" y="22738"/>
                </a:cubicBezTo>
                <a:cubicBezTo>
                  <a:pt x="72012" y="22718"/>
                  <a:pt x="72230" y="22699"/>
                  <a:pt x="72449" y="22679"/>
                </a:cubicBezTo>
                <a:cubicBezTo>
                  <a:pt x="72569" y="22679"/>
                  <a:pt x="72668" y="22679"/>
                  <a:pt x="72767" y="22659"/>
                </a:cubicBezTo>
                <a:cubicBezTo>
                  <a:pt x="72807" y="22659"/>
                  <a:pt x="72867" y="22659"/>
                  <a:pt x="72907" y="22639"/>
                </a:cubicBezTo>
                <a:cubicBezTo>
                  <a:pt x="72986" y="22639"/>
                  <a:pt x="73066" y="22639"/>
                  <a:pt x="73126" y="22619"/>
                </a:cubicBezTo>
                <a:cubicBezTo>
                  <a:pt x="73344" y="22599"/>
                  <a:pt x="73583" y="22579"/>
                  <a:pt x="73802" y="22559"/>
                </a:cubicBezTo>
                <a:cubicBezTo>
                  <a:pt x="74021" y="22539"/>
                  <a:pt x="74240" y="22519"/>
                  <a:pt x="74458" y="22500"/>
                </a:cubicBezTo>
                <a:cubicBezTo>
                  <a:pt x="74458" y="22500"/>
                  <a:pt x="74458" y="22500"/>
                  <a:pt x="74478" y="22500"/>
                </a:cubicBezTo>
                <a:cubicBezTo>
                  <a:pt x="74478" y="22500"/>
                  <a:pt x="74498" y="22500"/>
                  <a:pt x="74518" y="22500"/>
                </a:cubicBezTo>
                <a:cubicBezTo>
                  <a:pt x="74697" y="22480"/>
                  <a:pt x="74876" y="22460"/>
                  <a:pt x="75055" y="22440"/>
                </a:cubicBezTo>
                <a:cubicBezTo>
                  <a:pt x="75254" y="22420"/>
                  <a:pt x="75453" y="22400"/>
                  <a:pt x="75632" y="22380"/>
                </a:cubicBezTo>
                <a:cubicBezTo>
                  <a:pt x="75771" y="22360"/>
                  <a:pt x="75891" y="22340"/>
                  <a:pt x="76010" y="22340"/>
                </a:cubicBezTo>
                <a:cubicBezTo>
                  <a:pt x="76050" y="22340"/>
                  <a:pt x="76090" y="22321"/>
                  <a:pt x="76109" y="22321"/>
                </a:cubicBezTo>
                <a:cubicBezTo>
                  <a:pt x="76149" y="22321"/>
                  <a:pt x="76189" y="22321"/>
                  <a:pt x="76229" y="22321"/>
                </a:cubicBezTo>
                <a:cubicBezTo>
                  <a:pt x="76408" y="22281"/>
                  <a:pt x="76607" y="22261"/>
                  <a:pt x="76806" y="22241"/>
                </a:cubicBezTo>
                <a:cubicBezTo>
                  <a:pt x="76985" y="22221"/>
                  <a:pt x="77164" y="22201"/>
                  <a:pt x="77343" y="22181"/>
                </a:cubicBezTo>
                <a:cubicBezTo>
                  <a:pt x="77402" y="22181"/>
                  <a:pt x="77482" y="22161"/>
                  <a:pt x="77562" y="22161"/>
                </a:cubicBezTo>
                <a:cubicBezTo>
                  <a:pt x="77601" y="22142"/>
                  <a:pt x="77641" y="22142"/>
                  <a:pt x="77661" y="22142"/>
                </a:cubicBezTo>
                <a:cubicBezTo>
                  <a:pt x="77741" y="22142"/>
                  <a:pt x="77800" y="22122"/>
                  <a:pt x="77860" y="22122"/>
                </a:cubicBezTo>
                <a:cubicBezTo>
                  <a:pt x="78039" y="22102"/>
                  <a:pt x="78218" y="22082"/>
                  <a:pt x="78397" y="22042"/>
                </a:cubicBezTo>
                <a:cubicBezTo>
                  <a:pt x="78556" y="22022"/>
                  <a:pt x="78735" y="22002"/>
                  <a:pt x="78914" y="21982"/>
                </a:cubicBezTo>
                <a:cubicBezTo>
                  <a:pt x="78954" y="21982"/>
                  <a:pt x="79014" y="21962"/>
                  <a:pt x="79054" y="21962"/>
                </a:cubicBezTo>
                <a:cubicBezTo>
                  <a:pt x="79093" y="21962"/>
                  <a:pt x="79113" y="21962"/>
                  <a:pt x="79153" y="21943"/>
                </a:cubicBezTo>
                <a:cubicBezTo>
                  <a:pt x="79233" y="21943"/>
                  <a:pt x="79312" y="21923"/>
                  <a:pt x="79392" y="21923"/>
                </a:cubicBezTo>
                <a:cubicBezTo>
                  <a:pt x="79551" y="21903"/>
                  <a:pt x="79730" y="21883"/>
                  <a:pt x="79889" y="21843"/>
                </a:cubicBezTo>
                <a:cubicBezTo>
                  <a:pt x="80048" y="21823"/>
                  <a:pt x="80207" y="21803"/>
                  <a:pt x="80347" y="21783"/>
                </a:cubicBezTo>
                <a:cubicBezTo>
                  <a:pt x="80406" y="21783"/>
                  <a:pt x="80446" y="21764"/>
                  <a:pt x="80486" y="21764"/>
                </a:cubicBezTo>
                <a:cubicBezTo>
                  <a:pt x="80526" y="21764"/>
                  <a:pt x="80545" y="21764"/>
                  <a:pt x="80565" y="21744"/>
                </a:cubicBezTo>
                <a:cubicBezTo>
                  <a:pt x="80665" y="21744"/>
                  <a:pt x="80744" y="21724"/>
                  <a:pt x="80824" y="21704"/>
                </a:cubicBezTo>
                <a:cubicBezTo>
                  <a:pt x="80983" y="21684"/>
                  <a:pt x="81122" y="21664"/>
                  <a:pt x="81262" y="21644"/>
                </a:cubicBezTo>
                <a:cubicBezTo>
                  <a:pt x="81421" y="21624"/>
                  <a:pt x="81560" y="21604"/>
                  <a:pt x="81699" y="21585"/>
                </a:cubicBezTo>
                <a:cubicBezTo>
                  <a:pt x="81759" y="21565"/>
                  <a:pt x="81819" y="21565"/>
                  <a:pt x="81858" y="21545"/>
                </a:cubicBezTo>
                <a:cubicBezTo>
                  <a:pt x="81878" y="21545"/>
                  <a:pt x="81898" y="21545"/>
                  <a:pt x="81898" y="21545"/>
                </a:cubicBezTo>
                <a:cubicBezTo>
                  <a:pt x="81918" y="21545"/>
                  <a:pt x="81958" y="21545"/>
                  <a:pt x="81978" y="21525"/>
                </a:cubicBezTo>
                <a:cubicBezTo>
                  <a:pt x="82018" y="21525"/>
                  <a:pt x="82077" y="21505"/>
                  <a:pt x="82137" y="21505"/>
                </a:cubicBezTo>
                <a:cubicBezTo>
                  <a:pt x="82276" y="21485"/>
                  <a:pt x="82415" y="21465"/>
                  <a:pt x="82555" y="21425"/>
                </a:cubicBezTo>
                <a:cubicBezTo>
                  <a:pt x="82694" y="21405"/>
                  <a:pt x="82833" y="21386"/>
                  <a:pt x="82972" y="21366"/>
                </a:cubicBezTo>
                <a:cubicBezTo>
                  <a:pt x="83012" y="21346"/>
                  <a:pt x="83072" y="21346"/>
                  <a:pt x="83132" y="21326"/>
                </a:cubicBezTo>
                <a:cubicBezTo>
                  <a:pt x="83171" y="21326"/>
                  <a:pt x="83211" y="21326"/>
                  <a:pt x="83251" y="21306"/>
                </a:cubicBezTo>
                <a:cubicBezTo>
                  <a:pt x="83291" y="21306"/>
                  <a:pt x="83330" y="21306"/>
                  <a:pt x="83370" y="21286"/>
                </a:cubicBezTo>
                <a:cubicBezTo>
                  <a:pt x="83510" y="21266"/>
                  <a:pt x="83629" y="21246"/>
                  <a:pt x="83768" y="21226"/>
                </a:cubicBezTo>
                <a:cubicBezTo>
                  <a:pt x="83768" y="21226"/>
                  <a:pt x="83788" y="21226"/>
                  <a:pt x="83788" y="21207"/>
                </a:cubicBezTo>
                <a:cubicBezTo>
                  <a:pt x="83828" y="21207"/>
                  <a:pt x="83848" y="21207"/>
                  <a:pt x="83887" y="21207"/>
                </a:cubicBezTo>
                <a:cubicBezTo>
                  <a:pt x="83967" y="21187"/>
                  <a:pt x="84066" y="21167"/>
                  <a:pt x="84166" y="21147"/>
                </a:cubicBezTo>
                <a:lnTo>
                  <a:pt x="84345" y="21107"/>
                </a:lnTo>
                <a:cubicBezTo>
                  <a:pt x="84385" y="21107"/>
                  <a:pt x="84425" y="21087"/>
                  <a:pt x="84464" y="21087"/>
                </a:cubicBezTo>
                <a:cubicBezTo>
                  <a:pt x="84484" y="21087"/>
                  <a:pt x="84524" y="21067"/>
                  <a:pt x="84544" y="21067"/>
                </a:cubicBezTo>
                <a:cubicBezTo>
                  <a:pt x="84663" y="21047"/>
                  <a:pt x="84783" y="21028"/>
                  <a:pt x="84922" y="20988"/>
                </a:cubicBezTo>
                <a:cubicBezTo>
                  <a:pt x="84942" y="20988"/>
                  <a:pt x="84942" y="20988"/>
                  <a:pt x="84962" y="20988"/>
                </a:cubicBezTo>
                <a:cubicBezTo>
                  <a:pt x="85001" y="20968"/>
                  <a:pt x="85041" y="20968"/>
                  <a:pt x="85081" y="20968"/>
                </a:cubicBezTo>
                <a:cubicBezTo>
                  <a:pt x="85161" y="20948"/>
                  <a:pt x="85220" y="20928"/>
                  <a:pt x="85280" y="20928"/>
                </a:cubicBezTo>
                <a:lnTo>
                  <a:pt x="85519" y="20868"/>
                </a:lnTo>
                <a:cubicBezTo>
                  <a:pt x="85558" y="20868"/>
                  <a:pt x="85578" y="20849"/>
                  <a:pt x="85618" y="20849"/>
                </a:cubicBezTo>
                <a:cubicBezTo>
                  <a:pt x="85618" y="20849"/>
                  <a:pt x="85638" y="20849"/>
                  <a:pt x="85638" y="20849"/>
                </a:cubicBezTo>
                <a:cubicBezTo>
                  <a:pt x="85757" y="20809"/>
                  <a:pt x="85877" y="20789"/>
                  <a:pt x="85996" y="20769"/>
                </a:cubicBezTo>
                <a:cubicBezTo>
                  <a:pt x="86036" y="20749"/>
                  <a:pt x="86056" y="20749"/>
                  <a:pt x="86096" y="20749"/>
                </a:cubicBezTo>
                <a:lnTo>
                  <a:pt x="86215" y="20709"/>
                </a:lnTo>
                <a:lnTo>
                  <a:pt x="86334" y="20689"/>
                </a:lnTo>
                <a:cubicBezTo>
                  <a:pt x="86454" y="20669"/>
                  <a:pt x="86573" y="20630"/>
                  <a:pt x="86672" y="20610"/>
                </a:cubicBezTo>
                <a:cubicBezTo>
                  <a:pt x="86692" y="20610"/>
                  <a:pt x="86712" y="20590"/>
                  <a:pt x="86712" y="20590"/>
                </a:cubicBezTo>
                <a:cubicBezTo>
                  <a:pt x="86812" y="20570"/>
                  <a:pt x="86911" y="20550"/>
                  <a:pt x="87011" y="20530"/>
                </a:cubicBezTo>
                <a:cubicBezTo>
                  <a:pt x="87050" y="20510"/>
                  <a:pt x="87110" y="20510"/>
                  <a:pt x="87150" y="20490"/>
                </a:cubicBezTo>
                <a:lnTo>
                  <a:pt x="87269" y="20471"/>
                </a:lnTo>
                <a:cubicBezTo>
                  <a:pt x="87289" y="20451"/>
                  <a:pt x="87309" y="20451"/>
                  <a:pt x="87349" y="20451"/>
                </a:cubicBezTo>
                <a:cubicBezTo>
                  <a:pt x="87448" y="20411"/>
                  <a:pt x="87568" y="20391"/>
                  <a:pt x="87667" y="20371"/>
                </a:cubicBezTo>
                <a:lnTo>
                  <a:pt x="87687" y="20351"/>
                </a:lnTo>
                <a:cubicBezTo>
                  <a:pt x="87727" y="20351"/>
                  <a:pt x="87747" y="20331"/>
                  <a:pt x="87786" y="20331"/>
                </a:cubicBezTo>
                <a:cubicBezTo>
                  <a:pt x="87846" y="20311"/>
                  <a:pt x="87906" y="20292"/>
                  <a:pt x="87985" y="20272"/>
                </a:cubicBezTo>
                <a:cubicBezTo>
                  <a:pt x="88045" y="20272"/>
                  <a:pt x="88105" y="20252"/>
                  <a:pt x="88144" y="20232"/>
                </a:cubicBezTo>
                <a:cubicBezTo>
                  <a:pt x="88184" y="20232"/>
                  <a:pt x="88224" y="20212"/>
                  <a:pt x="88244" y="20212"/>
                </a:cubicBezTo>
                <a:cubicBezTo>
                  <a:pt x="88264" y="20212"/>
                  <a:pt x="88284" y="20192"/>
                  <a:pt x="88284" y="20192"/>
                </a:cubicBezTo>
                <a:cubicBezTo>
                  <a:pt x="88383" y="20172"/>
                  <a:pt x="88503" y="20132"/>
                  <a:pt x="88602" y="20112"/>
                </a:cubicBezTo>
                <a:cubicBezTo>
                  <a:pt x="88622" y="20112"/>
                  <a:pt x="88642" y="20093"/>
                  <a:pt x="88662" y="20093"/>
                </a:cubicBezTo>
                <a:cubicBezTo>
                  <a:pt x="88682" y="20093"/>
                  <a:pt x="88721" y="20073"/>
                  <a:pt x="88741" y="20073"/>
                </a:cubicBezTo>
                <a:cubicBezTo>
                  <a:pt x="88801" y="20053"/>
                  <a:pt x="88841" y="20033"/>
                  <a:pt x="88900" y="20033"/>
                </a:cubicBezTo>
                <a:cubicBezTo>
                  <a:pt x="88960" y="19993"/>
                  <a:pt x="89040" y="19973"/>
                  <a:pt x="89099" y="19953"/>
                </a:cubicBezTo>
                <a:cubicBezTo>
                  <a:pt x="89119" y="19953"/>
                  <a:pt x="89139" y="19953"/>
                  <a:pt x="89159" y="19933"/>
                </a:cubicBezTo>
                <a:lnTo>
                  <a:pt x="89179" y="19933"/>
                </a:lnTo>
                <a:cubicBezTo>
                  <a:pt x="89278" y="19914"/>
                  <a:pt x="89378" y="19874"/>
                  <a:pt x="89477" y="19854"/>
                </a:cubicBezTo>
                <a:cubicBezTo>
                  <a:pt x="89497" y="19834"/>
                  <a:pt x="89517" y="19834"/>
                  <a:pt x="89537" y="19814"/>
                </a:cubicBezTo>
                <a:cubicBezTo>
                  <a:pt x="89577" y="19814"/>
                  <a:pt x="89617" y="19794"/>
                  <a:pt x="89636" y="19794"/>
                </a:cubicBezTo>
                <a:cubicBezTo>
                  <a:pt x="89676" y="19774"/>
                  <a:pt x="89716" y="19774"/>
                  <a:pt x="89756" y="19754"/>
                </a:cubicBezTo>
                <a:cubicBezTo>
                  <a:pt x="89835" y="19735"/>
                  <a:pt x="89915" y="19715"/>
                  <a:pt x="89995" y="19675"/>
                </a:cubicBezTo>
                <a:cubicBezTo>
                  <a:pt x="89995" y="19675"/>
                  <a:pt x="90014" y="19675"/>
                  <a:pt x="90034" y="19675"/>
                </a:cubicBezTo>
                <a:cubicBezTo>
                  <a:pt x="90034" y="19655"/>
                  <a:pt x="90034" y="19655"/>
                  <a:pt x="90034" y="19655"/>
                </a:cubicBezTo>
                <a:cubicBezTo>
                  <a:pt x="90134" y="19635"/>
                  <a:pt x="90213" y="19595"/>
                  <a:pt x="90313" y="19575"/>
                </a:cubicBezTo>
                <a:cubicBezTo>
                  <a:pt x="90333" y="19555"/>
                  <a:pt x="90353" y="19555"/>
                  <a:pt x="90392" y="19536"/>
                </a:cubicBezTo>
                <a:cubicBezTo>
                  <a:pt x="90392" y="19536"/>
                  <a:pt x="90412" y="19536"/>
                  <a:pt x="90432" y="19536"/>
                </a:cubicBezTo>
                <a:cubicBezTo>
                  <a:pt x="90432" y="19516"/>
                  <a:pt x="90452" y="19516"/>
                  <a:pt x="90472" y="19516"/>
                </a:cubicBezTo>
                <a:cubicBezTo>
                  <a:pt x="90512" y="19496"/>
                  <a:pt x="90532" y="19476"/>
                  <a:pt x="90571" y="19476"/>
                </a:cubicBezTo>
                <a:cubicBezTo>
                  <a:pt x="90631" y="19456"/>
                  <a:pt x="90691" y="19436"/>
                  <a:pt x="90770" y="19396"/>
                </a:cubicBezTo>
                <a:cubicBezTo>
                  <a:pt x="90790" y="19396"/>
                  <a:pt x="90790" y="19396"/>
                  <a:pt x="90810" y="19376"/>
                </a:cubicBezTo>
                <a:cubicBezTo>
                  <a:pt x="90830" y="19376"/>
                  <a:pt x="90830" y="19376"/>
                  <a:pt x="90830" y="19376"/>
                </a:cubicBezTo>
                <a:cubicBezTo>
                  <a:pt x="90929" y="19337"/>
                  <a:pt x="91009" y="19317"/>
                  <a:pt x="91089" y="19277"/>
                </a:cubicBezTo>
                <a:cubicBezTo>
                  <a:pt x="91109" y="19277"/>
                  <a:pt x="91128" y="19257"/>
                  <a:pt x="91128" y="19257"/>
                </a:cubicBezTo>
                <a:cubicBezTo>
                  <a:pt x="91168" y="19257"/>
                  <a:pt x="91188" y="19237"/>
                  <a:pt x="91228" y="19217"/>
                </a:cubicBezTo>
                <a:cubicBezTo>
                  <a:pt x="91268" y="19217"/>
                  <a:pt x="91307" y="19197"/>
                  <a:pt x="91347" y="19178"/>
                </a:cubicBezTo>
                <a:cubicBezTo>
                  <a:pt x="91387" y="19158"/>
                  <a:pt x="91427" y="19138"/>
                  <a:pt x="91467" y="19118"/>
                </a:cubicBezTo>
                <a:cubicBezTo>
                  <a:pt x="91486" y="19118"/>
                  <a:pt x="91506" y="19098"/>
                  <a:pt x="91546" y="19098"/>
                </a:cubicBezTo>
                <a:cubicBezTo>
                  <a:pt x="91546" y="19078"/>
                  <a:pt x="91566" y="19078"/>
                  <a:pt x="91586" y="19078"/>
                </a:cubicBezTo>
                <a:cubicBezTo>
                  <a:pt x="91666" y="19038"/>
                  <a:pt x="91745" y="18998"/>
                  <a:pt x="91825" y="18959"/>
                </a:cubicBezTo>
                <a:cubicBezTo>
                  <a:pt x="91825" y="18959"/>
                  <a:pt x="91825" y="18959"/>
                  <a:pt x="91825" y="18959"/>
                </a:cubicBezTo>
                <a:cubicBezTo>
                  <a:pt x="91845" y="18959"/>
                  <a:pt x="91864" y="18939"/>
                  <a:pt x="91884" y="18939"/>
                </a:cubicBezTo>
                <a:cubicBezTo>
                  <a:pt x="91944" y="18919"/>
                  <a:pt x="92004" y="18879"/>
                  <a:pt x="92043" y="18859"/>
                </a:cubicBezTo>
                <a:cubicBezTo>
                  <a:pt x="92063" y="18839"/>
                  <a:pt x="92083" y="18839"/>
                  <a:pt x="92103" y="18839"/>
                </a:cubicBezTo>
                <a:cubicBezTo>
                  <a:pt x="92143" y="18819"/>
                  <a:pt x="92163" y="18800"/>
                  <a:pt x="92203" y="18780"/>
                </a:cubicBezTo>
                <a:cubicBezTo>
                  <a:pt x="92222" y="18780"/>
                  <a:pt x="92242" y="18760"/>
                  <a:pt x="92282" y="18740"/>
                </a:cubicBezTo>
                <a:cubicBezTo>
                  <a:pt x="92302" y="18720"/>
                  <a:pt x="92342" y="18700"/>
                  <a:pt x="92382" y="18700"/>
                </a:cubicBezTo>
                <a:cubicBezTo>
                  <a:pt x="92402" y="18680"/>
                  <a:pt x="92441" y="18660"/>
                  <a:pt x="92461" y="18660"/>
                </a:cubicBezTo>
                <a:cubicBezTo>
                  <a:pt x="92461" y="18640"/>
                  <a:pt x="92481" y="18640"/>
                  <a:pt x="92481" y="18640"/>
                </a:cubicBezTo>
                <a:cubicBezTo>
                  <a:pt x="92561" y="18601"/>
                  <a:pt x="92620" y="18561"/>
                  <a:pt x="92700" y="18521"/>
                </a:cubicBezTo>
                <a:cubicBezTo>
                  <a:pt x="92700" y="18521"/>
                  <a:pt x="92700" y="18521"/>
                  <a:pt x="92700" y="18521"/>
                </a:cubicBezTo>
                <a:cubicBezTo>
                  <a:pt x="92720" y="18521"/>
                  <a:pt x="92720" y="18501"/>
                  <a:pt x="92740" y="18501"/>
                </a:cubicBezTo>
                <a:cubicBezTo>
                  <a:pt x="92799" y="18461"/>
                  <a:pt x="92859" y="18441"/>
                  <a:pt x="92899" y="18402"/>
                </a:cubicBezTo>
                <a:cubicBezTo>
                  <a:pt x="92919" y="18402"/>
                  <a:pt x="92919" y="18382"/>
                  <a:pt x="92939" y="18382"/>
                </a:cubicBezTo>
                <a:cubicBezTo>
                  <a:pt x="92959" y="18362"/>
                  <a:pt x="92978" y="18342"/>
                  <a:pt x="93018" y="18342"/>
                </a:cubicBezTo>
                <a:cubicBezTo>
                  <a:pt x="93038" y="18322"/>
                  <a:pt x="93078" y="18302"/>
                  <a:pt x="93098" y="18282"/>
                </a:cubicBezTo>
                <a:cubicBezTo>
                  <a:pt x="93118" y="18262"/>
                  <a:pt x="93138" y="18262"/>
                  <a:pt x="93157" y="18243"/>
                </a:cubicBezTo>
                <a:cubicBezTo>
                  <a:pt x="93177" y="18223"/>
                  <a:pt x="93217" y="18203"/>
                  <a:pt x="93237" y="18183"/>
                </a:cubicBezTo>
                <a:cubicBezTo>
                  <a:pt x="93257" y="18183"/>
                  <a:pt x="93257" y="18163"/>
                  <a:pt x="93277" y="18163"/>
                </a:cubicBezTo>
                <a:cubicBezTo>
                  <a:pt x="93317" y="18143"/>
                  <a:pt x="93336" y="18123"/>
                  <a:pt x="93356" y="18103"/>
                </a:cubicBezTo>
                <a:cubicBezTo>
                  <a:pt x="93376" y="18083"/>
                  <a:pt x="93416" y="18064"/>
                  <a:pt x="93436" y="18044"/>
                </a:cubicBezTo>
                <a:cubicBezTo>
                  <a:pt x="93456" y="18024"/>
                  <a:pt x="93476" y="18024"/>
                  <a:pt x="93476" y="18024"/>
                </a:cubicBezTo>
                <a:lnTo>
                  <a:pt x="93555" y="17964"/>
                </a:lnTo>
                <a:cubicBezTo>
                  <a:pt x="93575" y="17944"/>
                  <a:pt x="93615" y="17924"/>
                  <a:pt x="93635" y="17884"/>
                </a:cubicBezTo>
                <a:cubicBezTo>
                  <a:pt x="93635" y="17884"/>
                  <a:pt x="93655" y="17884"/>
                  <a:pt x="93655" y="17884"/>
                </a:cubicBezTo>
                <a:cubicBezTo>
                  <a:pt x="93675" y="17845"/>
                  <a:pt x="93714" y="17825"/>
                  <a:pt x="93734" y="17805"/>
                </a:cubicBezTo>
                <a:cubicBezTo>
                  <a:pt x="93754" y="17785"/>
                  <a:pt x="93774" y="17765"/>
                  <a:pt x="93794" y="17745"/>
                </a:cubicBezTo>
                <a:cubicBezTo>
                  <a:pt x="93814" y="17745"/>
                  <a:pt x="93814" y="17745"/>
                  <a:pt x="93814" y="17725"/>
                </a:cubicBezTo>
                <a:cubicBezTo>
                  <a:pt x="93854" y="17705"/>
                  <a:pt x="93874" y="17666"/>
                  <a:pt x="93913" y="17646"/>
                </a:cubicBezTo>
                <a:cubicBezTo>
                  <a:pt x="93933" y="17626"/>
                  <a:pt x="93933" y="17606"/>
                  <a:pt x="93953" y="17586"/>
                </a:cubicBezTo>
                <a:lnTo>
                  <a:pt x="93953" y="17586"/>
                </a:lnTo>
                <a:cubicBezTo>
                  <a:pt x="93993" y="17546"/>
                  <a:pt x="94033" y="17507"/>
                  <a:pt x="94073" y="17467"/>
                </a:cubicBezTo>
                <a:cubicBezTo>
                  <a:pt x="94073" y="17467"/>
                  <a:pt x="94073" y="17467"/>
                  <a:pt x="94073" y="17447"/>
                </a:cubicBezTo>
                <a:cubicBezTo>
                  <a:pt x="94092" y="17447"/>
                  <a:pt x="94112" y="17427"/>
                  <a:pt x="94112" y="17407"/>
                </a:cubicBezTo>
                <a:cubicBezTo>
                  <a:pt x="94132" y="17387"/>
                  <a:pt x="94152" y="17387"/>
                  <a:pt x="94152" y="17367"/>
                </a:cubicBezTo>
                <a:cubicBezTo>
                  <a:pt x="94172" y="17347"/>
                  <a:pt x="94192" y="17327"/>
                  <a:pt x="94192" y="17308"/>
                </a:cubicBezTo>
                <a:cubicBezTo>
                  <a:pt x="94212" y="17288"/>
                  <a:pt x="94212" y="17288"/>
                  <a:pt x="94232" y="17268"/>
                </a:cubicBezTo>
                <a:cubicBezTo>
                  <a:pt x="94232" y="17268"/>
                  <a:pt x="94232" y="17248"/>
                  <a:pt x="94252" y="17248"/>
                </a:cubicBezTo>
                <a:cubicBezTo>
                  <a:pt x="94271" y="17208"/>
                  <a:pt x="94291" y="17168"/>
                  <a:pt x="94311" y="17129"/>
                </a:cubicBezTo>
                <a:lnTo>
                  <a:pt x="103661" y="876"/>
                </a:lnTo>
                <a:cubicBezTo>
                  <a:pt x="103601" y="936"/>
                  <a:pt x="103581" y="976"/>
                  <a:pt x="103541" y="1035"/>
                </a:cubicBezTo>
                <a:close/>
              </a:path>
            </a:pathLst>
          </a:custGeom>
          <a:solidFill>
            <a:srgbClr val="060B25"/>
          </a:solid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endParaRPr>
          </a:p>
        </p:txBody>
      </p:sp>
      <p:sp>
        <p:nvSpPr>
          <p:cNvPr id="49" name="Oval 48">
            <a:extLst>
              <a:ext uri="{FF2B5EF4-FFF2-40B4-BE49-F238E27FC236}">
                <a16:creationId xmlns:a16="http://schemas.microsoft.com/office/drawing/2014/main" id="{918B7BC9-3D7E-FB80-25E1-095E3F145D21}"/>
              </a:ext>
            </a:extLst>
          </p:cNvPr>
          <p:cNvSpPr>
            <a:spLocks noChangeAspect="1"/>
          </p:cNvSpPr>
          <p:nvPr/>
        </p:nvSpPr>
        <p:spPr>
          <a:xfrm>
            <a:off x="948005" y="2878015"/>
            <a:ext cx="274320" cy="274320"/>
          </a:xfrm>
          <a:prstGeom prst="ellipse">
            <a:avLst/>
          </a:prstGeom>
          <a:solidFill>
            <a:srgbClr val="6360D8"/>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69" name="Oval 68">
            <a:extLst>
              <a:ext uri="{FF2B5EF4-FFF2-40B4-BE49-F238E27FC236}">
                <a16:creationId xmlns:a16="http://schemas.microsoft.com/office/drawing/2014/main" id="{CCA9DC65-2305-DC77-05F2-24AB0D1FF719}"/>
              </a:ext>
            </a:extLst>
          </p:cNvPr>
          <p:cNvSpPr>
            <a:spLocks noChangeAspect="1"/>
          </p:cNvSpPr>
          <p:nvPr/>
        </p:nvSpPr>
        <p:spPr>
          <a:xfrm>
            <a:off x="924100" y="3589028"/>
            <a:ext cx="274320" cy="274320"/>
          </a:xfrm>
          <a:prstGeom prst="ellipse">
            <a:avLst/>
          </a:prstGeom>
          <a:solidFill>
            <a:srgbClr val="6360D8"/>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70" name="Oval 69">
            <a:extLst>
              <a:ext uri="{FF2B5EF4-FFF2-40B4-BE49-F238E27FC236}">
                <a16:creationId xmlns:a16="http://schemas.microsoft.com/office/drawing/2014/main" id="{0C7B16BB-8D81-DEC1-BB82-91A21272BF76}"/>
              </a:ext>
            </a:extLst>
          </p:cNvPr>
          <p:cNvSpPr>
            <a:spLocks noChangeAspect="1"/>
          </p:cNvSpPr>
          <p:nvPr/>
        </p:nvSpPr>
        <p:spPr>
          <a:xfrm>
            <a:off x="1201982" y="3863348"/>
            <a:ext cx="274320" cy="274320"/>
          </a:xfrm>
          <a:prstGeom prst="ellipse">
            <a:avLst/>
          </a:prstGeom>
          <a:solidFill>
            <a:srgbClr val="6360D8"/>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71" name="Oval 70">
            <a:extLst>
              <a:ext uri="{FF2B5EF4-FFF2-40B4-BE49-F238E27FC236}">
                <a16:creationId xmlns:a16="http://schemas.microsoft.com/office/drawing/2014/main" id="{11ABB280-1922-0682-54BC-B9BB0D5759DF}"/>
              </a:ext>
            </a:extLst>
          </p:cNvPr>
          <p:cNvSpPr>
            <a:spLocks noChangeAspect="1"/>
          </p:cNvSpPr>
          <p:nvPr/>
        </p:nvSpPr>
        <p:spPr>
          <a:xfrm>
            <a:off x="1244708" y="3436372"/>
            <a:ext cx="274320" cy="274320"/>
          </a:xfrm>
          <a:prstGeom prst="ellipse">
            <a:avLst/>
          </a:prstGeom>
          <a:solidFill>
            <a:srgbClr val="6360D8"/>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72" name="Oval 71">
            <a:extLst>
              <a:ext uri="{FF2B5EF4-FFF2-40B4-BE49-F238E27FC236}">
                <a16:creationId xmlns:a16="http://schemas.microsoft.com/office/drawing/2014/main" id="{6439827B-E04A-07B8-3343-0680766502A1}"/>
              </a:ext>
            </a:extLst>
          </p:cNvPr>
          <p:cNvSpPr>
            <a:spLocks noChangeAspect="1"/>
          </p:cNvSpPr>
          <p:nvPr/>
        </p:nvSpPr>
        <p:spPr>
          <a:xfrm>
            <a:off x="1436581" y="2740855"/>
            <a:ext cx="274320" cy="274320"/>
          </a:xfrm>
          <a:prstGeom prst="ellipse">
            <a:avLst/>
          </a:prstGeom>
          <a:solidFill>
            <a:srgbClr val="6360D8"/>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73" name="Oval 72">
            <a:extLst>
              <a:ext uri="{FF2B5EF4-FFF2-40B4-BE49-F238E27FC236}">
                <a16:creationId xmlns:a16="http://schemas.microsoft.com/office/drawing/2014/main" id="{3CA97868-189D-13A2-30FB-F7949C0008F3}"/>
              </a:ext>
            </a:extLst>
          </p:cNvPr>
          <p:cNvSpPr>
            <a:spLocks noChangeAspect="1"/>
          </p:cNvSpPr>
          <p:nvPr/>
        </p:nvSpPr>
        <p:spPr>
          <a:xfrm>
            <a:off x="1623264" y="3299212"/>
            <a:ext cx="274320" cy="274320"/>
          </a:xfrm>
          <a:prstGeom prst="ellipse">
            <a:avLst/>
          </a:prstGeom>
          <a:solidFill>
            <a:srgbClr val="6360D8"/>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74" name="Oval 73">
            <a:extLst>
              <a:ext uri="{FF2B5EF4-FFF2-40B4-BE49-F238E27FC236}">
                <a16:creationId xmlns:a16="http://schemas.microsoft.com/office/drawing/2014/main" id="{C44BA640-FD5C-18F3-872E-4213E9D7FDD6}"/>
              </a:ext>
            </a:extLst>
          </p:cNvPr>
          <p:cNvSpPr>
            <a:spLocks noChangeAspect="1"/>
          </p:cNvSpPr>
          <p:nvPr/>
        </p:nvSpPr>
        <p:spPr>
          <a:xfrm>
            <a:off x="1670185" y="3724996"/>
            <a:ext cx="274320" cy="274320"/>
          </a:xfrm>
          <a:prstGeom prst="ellipse">
            <a:avLst/>
          </a:prstGeom>
          <a:solidFill>
            <a:srgbClr val="6360D8"/>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75" name="Oval 74">
            <a:extLst>
              <a:ext uri="{FF2B5EF4-FFF2-40B4-BE49-F238E27FC236}">
                <a16:creationId xmlns:a16="http://schemas.microsoft.com/office/drawing/2014/main" id="{C1464958-B6E9-C29F-B9A4-67E7CF4ECA66}"/>
              </a:ext>
            </a:extLst>
          </p:cNvPr>
          <p:cNvSpPr>
            <a:spLocks noChangeAspect="1"/>
          </p:cNvSpPr>
          <p:nvPr/>
        </p:nvSpPr>
        <p:spPr>
          <a:xfrm>
            <a:off x="868037" y="3203461"/>
            <a:ext cx="274320" cy="274320"/>
          </a:xfrm>
          <a:prstGeom prst="ellipse">
            <a:avLst/>
          </a:prstGeom>
          <a:solidFill>
            <a:srgbClr val="6360D8"/>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76" name="Oval 75">
            <a:extLst>
              <a:ext uri="{FF2B5EF4-FFF2-40B4-BE49-F238E27FC236}">
                <a16:creationId xmlns:a16="http://schemas.microsoft.com/office/drawing/2014/main" id="{401D7C2B-8067-0F56-8604-C51C0B975D2A}"/>
              </a:ext>
            </a:extLst>
          </p:cNvPr>
          <p:cNvSpPr>
            <a:spLocks noChangeAspect="1"/>
          </p:cNvSpPr>
          <p:nvPr/>
        </p:nvSpPr>
        <p:spPr>
          <a:xfrm>
            <a:off x="1394954" y="3073468"/>
            <a:ext cx="274320" cy="274320"/>
          </a:xfrm>
          <a:prstGeom prst="ellipse">
            <a:avLst/>
          </a:prstGeom>
          <a:solidFill>
            <a:srgbClr val="6360D8"/>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77" name="Oval 76">
            <a:extLst>
              <a:ext uri="{FF2B5EF4-FFF2-40B4-BE49-F238E27FC236}">
                <a16:creationId xmlns:a16="http://schemas.microsoft.com/office/drawing/2014/main" id="{C172ABF4-42D6-6F6B-35AB-9967EBF92D8B}"/>
              </a:ext>
            </a:extLst>
          </p:cNvPr>
          <p:cNvSpPr>
            <a:spLocks noChangeAspect="1"/>
          </p:cNvSpPr>
          <p:nvPr/>
        </p:nvSpPr>
        <p:spPr>
          <a:xfrm>
            <a:off x="947314" y="2529495"/>
            <a:ext cx="274320" cy="274320"/>
          </a:xfrm>
          <a:prstGeom prst="ellipse">
            <a:avLst/>
          </a:prstGeom>
          <a:solidFill>
            <a:srgbClr val="6360D8"/>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78" name="Oval 77">
            <a:extLst>
              <a:ext uri="{FF2B5EF4-FFF2-40B4-BE49-F238E27FC236}">
                <a16:creationId xmlns:a16="http://schemas.microsoft.com/office/drawing/2014/main" id="{0E1FA4DE-D3D7-E164-CBAC-DCB5C313A9AE}"/>
              </a:ext>
            </a:extLst>
          </p:cNvPr>
          <p:cNvSpPr>
            <a:spLocks noChangeAspect="1"/>
          </p:cNvSpPr>
          <p:nvPr/>
        </p:nvSpPr>
        <p:spPr>
          <a:xfrm>
            <a:off x="710143" y="3916469"/>
            <a:ext cx="274320" cy="274320"/>
          </a:xfrm>
          <a:prstGeom prst="ellipse">
            <a:avLst/>
          </a:prstGeom>
          <a:solidFill>
            <a:srgbClr val="6360D8"/>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81" name="Arrow: Right 80">
            <a:extLst>
              <a:ext uri="{FF2B5EF4-FFF2-40B4-BE49-F238E27FC236}">
                <a16:creationId xmlns:a16="http://schemas.microsoft.com/office/drawing/2014/main" id="{3B6E9A3C-C094-505A-9A7F-E48EB9CB5E37}"/>
              </a:ext>
            </a:extLst>
          </p:cNvPr>
          <p:cNvSpPr/>
          <p:nvPr/>
        </p:nvSpPr>
        <p:spPr>
          <a:xfrm rot="19973725" flipV="1">
            <a:off x="807095" y="4250347"/>
            <a:ext cx="715910" cy="395273"/>
          </a:xfrm>
          <a:prstGeom prst="rightArrow">
            <a:avLst/>
          </a:prstGeom>
          <a:gradFill>
            <a:gsLst>
              <a:gs pos="19000">
                <a:srgbClr val="F2F2F2"/>
              </a:gs>
              <a:gs pos="100000">
                <a:srgbClr val="7A78DE"/>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82" name="Oval 81">
            <a:extLst>
              <a:ext uri="{FF2B5EF4-FFF2-40B4-BE49-F238E27FC236}">
                <a16:creationId xmlns:a16="http://schemas.microsoft.com/office/drawing/2014/main" id="{24E86603-007E-E204-A5EC-0CBA618A9D26}"/>
              </a:ext>
            </a:extLst>
          </p:cNvPr>
          <p:cNvSpPr>
            <a:spLocks noChangeAspect="1"/>
          </p:cNvSpPr>
          <p:nvPr/>
        </p:nvSpPr>
        <p:spPr>
          <a:xfrm>
            <a:off x="4205404" y="3299212"/>
            <a:ext cx="274320" cy="274320"/>
          </a:xfrm>
          <a:prstGeom prst="ellipse">
            <a:avLst/>
          </a:prstGeom>
          <a:solidFill>
            <a:srgbClr val="6360D8"/>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83" name="Oval 82">
            <a:extLst>
              <a:ext uri="{FF2B5EF4-FFF2-40B4-BE49-F238E27FC236}">
                <a16:creationId xmlns:a16="http://schemas.microsoft.com/office/drawing/2014/main" id="{6A309B45-C3BE-8FF7-15E4-6B73BC201471}"/>
              </a:ext>
            </a:extLst>
          </p:cNvPr>
          <p:cNvSpPr>
            <a:spLocks noChangeAspect="1"/>
          </p:cNvSpPr>
          <p:nvPr/>
        </p:nvSpPr>
        <p:spPr>
          <a:xfrm>
            <a:off x="4838398" y="3299212"/>
            <a:ext cx="274320" cy="274320"/>
          </a:xfrm>
          <a:prstGeom prst="ellipse">
            <a:avLst/>
          </a:prstGeom>
          <a:solidFill>
            <a:srgbClr val="6360D8"/>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pic>
        <p:nvPicPr>
          <p:cNvPr id="90" name="Picture 89">
            <a:extLst>
              <a:ext uri="{FF2B5EF4-FFF2-40B4-BE49-F238E27FC236}">
                <a16:creationId xmlns:a16="http://schemas.microsoft.com/office/drawing/2014/main" id="{71D7BBEB-D91F-A5C5-8B58-8DE5C9854F6F}"/>
              </a:ext>
            </a:extLst>
          </p:cNvPr>
          <p:cNvPicPr>
            <a:picLocks noChangeAspect="1"/>
          </p:cNvPicPr>
          <p:nvPr/>
        </p:nvPicPr>
        <p:blipFill>
          <a:blip r:embed="rId8"/>
          <a:stretch>
            <a:fillRect/>
          </a:stretch>
        </p:blipFill>
        <p:spPr>
          <a:xfrm>
            <a:off x="5734262" y="2715118"/>
            <a:ext cx="723475" cy="723475"/>
          </a:xfrm>
          <a:prstGeom prst="rect">
            <a:avLst/>
          </a:prstGeom>
        </p:spPr>
      </p:pic>
      <p:sp>
        <p:nvSpPr>
          <p:cNvPr id="92" name="Shape 347">
            <a:extLst>
              <a:ext uri="{FF2B5EF4-FFF2-40B4-BE49-F238E27FC236}">
                <a16:creationId xmlns:a16="http://schemas.microsoft.com/office/drawing/2014/main" id="{42BF708B-FE38-F355-067D-BD555C096DDD}"/>
              </a:ext>
            </a:extLst>
          </p:cNvPr>
          <p:cNvSpPr txBox="1">
            <a:spLocks noChangeArrowheads="1"/>
          </p:cNvSpPr>
          <p:nvPr/>
        </p:nvSpPr>
        <p:spPr bwMode="auto">
          <a:xfrm>
            <a:off x="1373310" y="1732680"/>
            <a:ext cx="1981429" cy="405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2555" tIns="142555" rIns="142555" bIns="142555" anchor="ctr"/>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defTabSz="457200" fontAlgn="base">
              <a:spcBef>
                <a:spcPct val="0"/>
              </a:spcBef>
              <a:spcAft>
                <a:spcPct val="0"/>
              </a:spcAft>
              <a:defRPr>
                <a:solidFill>
                  <a:schemeClr val="tx1"/>
                </a:solidFill>
                <a:latin typeface="Myriad Pro" panose="020B0503030403020204" pitchFamily="34" charset="0"/>
              </a:defRPr>
            </a:lvl6pPr>
            <a:lvl7pPr marL="2971800" indent="-228600" defTabSz="457200" fontAlgn="base">
              <a:spcBef>
                <a:spcPct val="0"/>
              </a:spcBef>
              <a:spcAft>
                <a:spcPct val="0"/>
              </a:spcAft>
              <a:defRPr>
                <a:solidFill>
                  <a:schemeClr val="tx1"/>
                </a:solidFill>
                <a:latin typeface="Myriad Pro" panose="020B0503030403020204" pitchFamily="34" charset="0"/>
              </a:defRPr>
            </a:lvl7pPr>
            <a:lvl8pPr marL="3429000" indent="-228600" defTabSz="457200" fontAlgn="base">
              <a:spcBef>
                <a:spcPct val="0"/>
              </a:spcBef>
              <a:spcAft>
                <a:spcPct val="0"/>
              </a:spcAft>
              <a:defRPr>
                <a:solidFill>
                  <a:schemeClr val="tx1"/>
                </a:solidFill>
                <a:latin typeface="Myriad Pro" panose="020B0503030403020204" pitchFamily="34" charset="0"/>
              </a:defRPr>
            </a:lvl8pPr>
            <a:lvl9pPr marL="3886200" indent="-228600" defTabSz="457200" fontAlgn="base">
              <a:spcBef>
                <a:spcPct val="0"/>
              </a:spcBef>
              <a:spcAft>
                <a:spcPct val="0"/>
              </a:spcAft>
              <a:defRPr>
                <a:solidFill>
                  <a:schemeClr val="tx1"/>
                </a:solidFill>
                <a:latin typeface="Myriad Pro" panose="020B0503030403020204" pitchFamily="34" charset="0"/>
              </a:defRPr>
            </a:lvl9pPr>
          </a:lstStyle>
          <a:p>
            <a:pPr marL="0" marR="0" lvl="0" indent="0" algn="ctr" defTabSz="609585" eaLnBrk="1" fontAlgn="base" latinLnBrk="0" hangingPunct="1">
              <a:lnSpc>
                <a:spcPct val="100000"/>
              </a:lnSpc>
              <a:spcBef>
                <a:spcPts val="0"/>
              </a:spcBef>
              <a:spcAft>
                <a:spcPts val="300"/>
              </a:spcAft>
              <a:buClrTx/>
              <a:buSzPct val="80000"/>
              <a:buFontTx/>
              <a:buNone/>
              <a:tabLst/>
              <a:defRPr/>
            </a:pPr>
            <a:r>
              <a:rPr kumimoji="0" lang="en-US" altLang="en-US" sz="2400" b="1" i="0" u="none" strike="noStrike" kern="1200" cap="none" spc="0" normalizeH="0" baseline="0" noProof="0">
                <a:ln>
                  <a:noFill/>
                </a:ln>
                <a:solidFill>
                  <a:srgbClr val="060B25"/>
                </a:solidFill>
                <a:effectLst/>
                <a:uLnTx/>
                <a:uFillTx/>
                <a:latin typeface="Aptos" panose="020B0004020202020204" pitchFamily="34" charset="0"/>
                <a:ea typeface="Open Sans" panose="020B0604020202020204" charset="0"/>
                <a:cs typeface="Segoe UI" panose="020B0502040204020203" pitchFamily="34" charset="0"/>
                <a:sym typeface="Aptos" panose="020B0004020202020204" pitchFamily="34" charset="0"/>
              </a:rPr>
              <a:t>Acquire</a:t>
            </a:r>
          </a:p>
        </p:txBody>
      </p:sp>
      <p:sp>
        <p:nvSpPr>
          <p:cNvPr id="93" name="Shape 347">
            <a:extLst>
              <a:ext uri="{FF2B5EF4-FFF2-40B4-BE49-F238E27FC236}">
                <a16:creationId xmlns:a16="http://schemas.microsoft.com/office/drawing/2014/main" id="{4F1153D6-D1A2-F839-17E1-3C5CDCF2B858}"/>
              </a:ext>
            </a:extLst>
          </p:cNvPr>
          <p:cNvSpPr txBox="1">
            <a:spLocks noChangeArrowheads="1"/>
          </p:cNvSpPr>
          <p:nvPr/>
        </p:nvSpPr>
        <p:spPr bwMode="auto">
          <a:xfrm>
            <a:off x="8837263" y="1732680"/>
            <a:ext cx="1981429" cy="405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2555" tIns="142555" rIns="142555" bIns="142555" anchor="ctr"/>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defTabSz="457200" fontAlgn="base">
              <a:spcBef>
                <a:spcPct val="0"/>
              </a:spcBef>
              <a:spcAft>
                <a:spcPct val="0"/>
              </a:spcAft>
              <a:defRPr>
                <a:solidFill>
                  <a:schemeClr val="tx1"/>
                </a:solidFill>
                <a:latin typeface="Myriad Pro" panose="020B0503030403020204" pitchFamily="34" charset="0"/>
              </a:defRPr>
            </a:lvl6pPr>
            <a:lvl7pPr marL="2971800" indent="-228600" defTabSz="457200" fontAlgn="base">
              <a:spcBef>
                <a:spcPct val="0"/>
              </a:spcBef>
              <a:spcAft>
                <a:spcPct val="0"/>
              </a:spcAft>
              <a:defRPr>
                <a:solidFill>
                  <a:schemeClr val="tx1"/>
                </a:solidFill>
                <a:latin typeface="Myriad Pro" panose="020B0503030403020204" pitchFamily="34" charset="0"/>
              </a:defRPr>
            </a:lvl7pPr>
            <a:lvl8pPr marL="3429000" indent="-228600" defTabSz="457200" fontAlgn="base">
              <a:spcBef>
                <a:spcPct val="0"/>
              </a:spcBef>
              <a:spcAft>
                <a:spcPct val="0"/>
              </a:spcAft>
              <a:defRPr>
                <a:solidFill>
                  <a:schemeClr val="tx1"/>
                </a:solidFill>
                <a:latin typeface="Myriad Pro" panose="020B0503030403020204" pitchFamily="34" charset="0"/>
              </a:defRPr>
            </a:lvl8pPr>
            <a:lvl9pPr marL="3886200" indent="-228600" defTabSz="457200" fontAlgn="base">
              <a:spcBef>
                <a:spcPct val="0"/>
              </a:spcBef>
              <a:spcAft>
                <a:spcPct val="0"/>
              </a:spcAft>
              <a:defRPr>
                <a:solidFill>
                  <a:schemeClr val="tx1"/>
                </a:solidFill>
                <a:latin typeface="Myriad Pro" panose="020B0503030403020204" pitchFamily="34" charset="0"/>
              </a:defRPr>
            </a:lvl9pPr>
          </a:lstStyle>
          <a:p>
            <a:pPr marL="0" marR="0" lvl="0" indent="0" algn="ctr" defTabSz="609585" eaLnBrk="1" fontAlgn="base" latinLnBrk="0" hangingPunct="1">
              <a:lnSpc>
                <a:spcPct val="100000"/>
              </a:lnSpc>
              <a:spcBef>
                <a:spcPts val="0"/>
              </a:spcBef>
              <a:spcAft>
                <a:spcPts val="300"/>
              </a:spcAft>
              <a:buClrTx/>
              <a:buSzPct val="80000"/>
              <a:buFontTx/>
              <a:buNone/>
              <a:tabLst/>
              <a:defRPr/>
            </a:pPr>
            <a:r>
              <a:rPr kumimoji="0" lang="en-US" altLang="en-US" sz="2400" b="1" i="0" u="none" strike="noStrike" kern="1200" cap="none" spc="0" normalizeH="0" baseline="0" noProof="0">
                <a:ln>
                  <a:noFill/>
                </a:ln>
                <a:solidFill>
                  <a:srgbClr val="060B25"/>
                </a:solidFill>
                <a:effectLst/>
                <a:uLnTx/>
                <a:uFillTx/>
                <a:latin typeface="Aptos" panose="020B0004020202020204" pitchFamily="34" charset="0"/>
                <a:ea typeface="Open Sans" panose="020B0604020202020204" charset="0"/>
                <a:cs typeface="Segoe UI" panose="020B0502040204020203" pitchFamily="34" charset="0"/>
                <a:sym typeface="Aptos" panose="020B0004020202020204" pitchFamily="34" charset="0"/>
              </a:rPr>
              <a:t>Graph</a:t>
            </a:r>
          </a:p>
        </p:txBody>
      </p:sp>
      <p:sp>
        <p:nvSpPr>
          <p:cNvPr id="94" name="Shape 347">
            <a:extLst>
              <a:ext uri="{FF2B5EF4-FFF2-40B4-BE49-F238E27FC236}">
                <a16:creationId xmlns:a16="http://schemas.microsoft.com/office/drawing/2014/main" id="{62F0C13B-4C87-1AC9-E936-58BD0950BFBB}"/>
              </a:ext>
            </a:extLst>
          </p:cNvPr>
          <p:cNvSpPr txBox="1">
            <a:spLocks noChangeArrowheads="1"/>
          </p:cNvSpPr>
          <p:nvPr/>
        </p:nvSpPr>
        <p:spPr bwMode="auto">
          <a:xfrm>
            <a:off x="5105286" y="1732680"/>
            <a:ext cx="1981429" cy="405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2555" tIns="142555" rIns="142555" bIns="142555" anchor="ctr"/>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defTabSz="457200" fontAlgn="base">
              <a:spcBef>
                <a:spcPct val="0"/>
              </a:spcBef>
              <a:spcAft>
                <a:spcPct val="0"/>
              </a:spcAft>
              <a:defRPr>
                <a:solidFill>
                  <a:schemeClr val="tx1"/>
                </a:solidFill>
                <a:latin typeface="Myriad Pro" panose="020B0503030403020204" pitchFamily="34" charset="0"/>
              </a:defRPr>
            </a:lvl6pPr>
            <a:lvl7pPr marL="2971800" indent="-228600" defTabSz="457200" fontAlgn="base">
              <a:spcBef>
                <a:spcPct val="0"/>
              </a:spcBef>
              <a:spcAft>
                <a:spcPct val="0"/>
              </a:spcAft>
              <a:defRPr>
                <a:solidFill>
                  <a:schemeClr val="tx1"/>
                </a:solidFill>
                <a:latin typeface="Myriad Pro" panose="020B0503030403020204" pitchFamily="34" charset="0"/>
              </a:defRPr>
            </a:lvl7pPr>
            <a:lvl8pPr marL="3429000" indent="-228600" defTabSz="457200" fontAlgn="base">
              <a:spcBef>
                <a:spcPct val="0"/>
              </a:spcBef>
              <a:spcAft>
                <a:spcPct val="0"/>
              </a:spcAft>
              <a:defRPr>
                <a:solidFill>
                  <a:schemeClr val="tx1"/>
                </a:solidFill>
                <a:latin typeface="Myriad Pro" panose="020B0503030403020204" pitchFamily="34" charset="0"/>
              </a:defRPr>
            </a:lvl8pPr>
            <a:lvl9pPr marL="3886200" indent="-228600" defTabSz="457200" fontAlgn="base">
              <a:spcBef>
                <a:spcPct val="0"/>
              </a:spcBef>
              <a:spcAft>
                <a:spcPct val="0"/>
              </a:spcAft>
              <a:defRPr>
                <a:solidFill>
                  <a:schemeClr val="tx1"/>
                </a:solidFill>
                <a:latin typeface="Myriad Pro" panose="020B0503030403020204" pitchFamily="34" charset="0"/>
              </a:defRPr>
            </a:lvl9pPr>
          </a:lstStyle>
          <a:p>
            <a:pPr marL="0" marR="0" lvl="0" indent="0" algn="ctr" defTabSz="609585" eaLnBrk="1" fontAlgn="base" latinLnBrk="0" hangingPunct="1">
              <a:lnSpc>
                <a:spcPct val="100000"/>
              </a:lnSpc>
              <a:spcBef>
                <a:spcPts val="0"/>
              </a:spcBef>
              <a:spcAft>
                <a:spcPts val="300"/>
              </a:spcAft>
              <a:buClrTx/>
              <a:buSzPct val="80000"/>
              <a:buFontTx/>
              <a:buNone/>
              <a:tabLst/>
              <a:defRPr/>
            </a:pPr>
            <a:r>
              <a:rPr kumimoji="0" lang="en-US" altLang="en-US" sz="2400" b="1" i="0" u="none" strike="noStrike" kern="1200" cap="none" spc="0" normalizeH="0" baseline="0" noProof="0">
                <a:ln>
                  <a:noFill/>
                </a:ln>
                <a:solidFill>
                  <a:srgbClr val="060B25"/>
                </a:solidFill>
                <a:effectLst/>
                <a:uLnTx/>
                <a:uFillTx/>
                <a:latin typeface="Aptos" panose="020B0004020202020204" pitchFamily="34" charset="0"/>
                <a:ea typeface="Open Sans" panose="020B0604020202020204" charset="0"/>
                <a:cs typeface="Segoe UI" panose="020B0502040204020203" pitchFamily="34" charset="0"/>
                <a:sym typeface="Aptos" panose="020B0004020202020204" pitchFamily="34" charset="0"/>
              </a:rPr>
              <a:t>Consolidate</a:t>
            </a:r>
          </a:p>
        </p:txBody>
      </p:sp>
      <p:cxnSp>
        <p:nvCxnSpPr>
          <p:cNvPr id="95" name="Google Shape;330;p7">
            <a:extLst>
              <a:ext uri="{FF2B5EF4-FFF2-40B4-BE49-F238E27FC236}">
                <a16:creationId xmlns:a16="http://schemas.microsoft.com/office/drawing/2014/main" id="{6BFA4DDD-C8F8-0308-80B4-BB70D73702C4}"/>
              </a:ext>
            </a:extLst>
          </p:cNvPr>
          <p:cNvCxnSpPr>
            <a:cxnSpLocks/>
          </p:cNvCxnSpPr>
          <p:nvPr/>
        </p:nvCxnSpPr>
        <p:spPr>
          <a:xfrm>
            <a:off x="7282303" y="1964438"/>
            <a:ext cx="1817995" cy="0"/>
          </a:xfrm>
          <a:prstGeom prst="straightConnector1">
            <a:avLst/>
          </a:prstGeom>
          <a:noFill/>
          <a:ln w="9525" cap="flat" cmpd="sng">
            <a:solidFill>
              <a:srgbClr val="060B25"/>
            </a:solidFill>
            <a:prstDash val="solid"/>
            <a:round/>
            <a:headEnd type="none" w="sm" len="sm"/>
            <a:tailEnd type="none" w="sm" len="sm"/>
          </a:ln>
        </p:spPr>
      </p:cxnSp>
      <p:sp>
        <p:nvSpPr>
          <p:cNvPr id="96" name="Google Shape;331;p7">
            <a:extLst>
              <a:ext uri="{FF2B5EF4-FFF2-40B4-BE49-F238E27FC236}">
                <a16:creationId xmlns:a16="http://schemas.microsoft.com/office/drawing/2014/main" id="{54B16C8B-AC3E-5E62-7F08-4251201FC8AE}"/>
              </a:ext>
            </a:extLst>
          </p:cNvPr>
          <p:cNvSpPr/>
          <p:nvPr/>
        </p:nvSpPr>
        <p:spPr>
          <a:xfrm rot="11153676" flipH="1">
            <a:off x="9060889" y="1930409"/>
            <a:ext cx="78819" cy="82553"/>
          </a:xfrm>
          <a:prstGeom prst="ellipse">
            <a:avLst/>
          </a:prstGeom>
          <a:solidFill>
            <a:srgbClr val="060B25"/>
          </a:solidFill>
          <a:ln>
            <a:solidFill>
              <a:srgbClr val="060B25"/>
            </a:solidFill>
          </a:ln>
        </p:spPr>
        <p:txBody>
          <a:bodyPr spcFirstLastPara="1" wrap="square" lIns="88375" tIns="44175" rIns="88375" bIns="44175" anchor="ctr" anchorCtr="0">
            <a:noAutofit/>
          </a:bodyPr>
          <a:lstStyle/>
          <a:p>
            <a:pPr marL="0" marR="0" lvl="0" indent="0" algn="ctr">
              <a:spcBef>
                <a:spcPts val="0"/>
              </a:spcBef>
              <a:spcAft>
                <a:spcPts val="0"/>
              </a:spcAft>
              <a:buNone/>
            </a:pPr>
            <a:endParaRPr lang="en-US" sz="1418">
              <a:solidFill>
                <a:schemeClr val="lt1"/>
              </a:solidFill>
              <a:latin typeface="Aptos" panose="020B0004020202020204" pitchFamily="34" charset="0"/>
              <a:ea typeface="Arial"/>
              <a:cs typeface="Arial"/>
              <a:sym typeface="Aptos" panose="020B0004020202020204" pitchFamily="34" charset="0"/>
            </a:endParaRPr>
          </a:p>
        </p:txBody>
      </p:sp>
      <p:cxnSp>
        <p:nvCxnSpPr>
          <p:cNvPr id="104" name="Google Shape;330;p7">
            <a:extLst>
              <a:ext uri="{FF2B5EF4-FFF2-40B4-BE49-F238E27FC236}">
                <a16:creationId xmlns:a16="http://schemas.microsoft.com/office/drawing/2014/main" id="{E6967FF9-C00A-0E96-EFF0-5D91A7C54160}"/>
              </a:ext>
            </a:extLst>
          </p:cNvPr>
          <p:cNvCxnSpPr>
            <a:cxnSpLocks/>
          </p:cNvCxnSpPr>
          <p:nvPr/>
        </p:nvCxnSpPr>
        <p:spPr>
          <a:xfrm>
            <a:off x="3118278" y="1964438"/>
            <a:ext cx="1817995" cy="0"/>
          </a:xfrm>
          <a:prstGeom prst="straightConnector1">
            <a:avLst/>
          </a:prstGeom>
          <a:noFill/>
          <a:ln w="9525" cap="flat" cmpd="sng">
            <a:solidFill>
              <a:srgbClr val="060B25"/>
            </a:solidFill>
            <a:prstDash val="solid"/>
            <a:round/>
            <a:headEnd type="none" w="sm" len="sm"/>
            <a:tailEnd type="none" w="sm" len="sm"/>
          </a:ln>
        </p:spPr>
      </p:cxnSp>
      <p:sp>
        <p:nvSpPr>
          <p:cNvPr id="105" name="Google Shape;331;p7">
            <a:extLst>
              <a:ext uri="{FF2B5EF4-FFF2-40B4-BE49-F238E27FC236}">
                <a16:creationId xmlns:a16="http://schemas.microsoft.com/office/drawing/2014/main" id="{5A2AE2FC-6268-B309-063C-BAD325B3DFD9}"/>
              </a:ext>
            </a:extLst>
          </p:cNvPr>
          <p:cNvSpPr/>
          <p:nvPr/>
        </p:nvSpPr>
        <p:spPr>
          <a:xfrm rot="11153676" flipH="1">
            <a:off x="4896864" y="1930409"/>
            <a:ext cx="78819" cy="82553"/>
          </a:xfrm>
          <a:prstGeom prst="ellipse">
            <a:avLst/>
          </a:prstGeom>
          <a:solidFill>
            <a:srgbClr val="060B25"/>
          </a:solidFill>
          <a:ln>
            <a:solidFill>
              <a:srgbClr val="060B25"/>
            </a:solidFill>
          </a:ln>
        </p:spPr>
        <p:txBody>
          <a:bodyPr spcFirstLastPara="1" wrap="square" lIns="88375" tIns="44175" rIns="88375" bIns="44175" anchor="ctr" anchorCtr="0">
            <a:noAutofit/>
          </a:bodyPr>
          <a:lstStyle/>
          <a:p>
            <a:pPr marL="0" marR="0" lvl="0" indent="0" algn="ctr">
              <a:spcBef>
                <a:spcPts val="0"/>
              </a:spcBef>
              <a:spcAft>
                <a:spcPts val="0"/>
              </a:spcAft>
              <a:buNone/>
            </a:pPr>
            <a:endParaRPr lang="en-US" sz="1418">
              <a:solidFill>
                <a:schemeClr val="lt1"/>
              </a:solidFill>
              <a:latin typeface="Aptos" panose="020B0004020202020204" pitchFamily="34" charset="0"/>
              <a:ea typeface="Arial"/>
              <a:cs typeface="Arial"/>
              <a:sym typeface="Aptos" panose="020B0004020202020204" pitchFamily="34" charset="0"/>
            </a:endParaRPr>
          </a:p>
        </p:txBody>
      </p:sp>
      <p:pic>
        <p:nvPicPr>
          <p:cNvPr id="5" name="Picture 4" descr="A black background with a black square&#10;&#10;AI-generated content may be incorrect.">
            <a:extLst>
              <a:ext uri="{FF2B5EF4-FFF2-40B4-BE49-F238E27FC236}">
                <a16:creationId xmlns:a16="http://schemas.microsoft.com/office/drawing/2014/main" id="{6954164B-1ED1-98D0-58F9-D5D99AC589E2}"/>
              </a:ext>
            </a:extLst>
          </p:cNvPr>
          <p:cNvPicPr>
            <a:picLocks noChangeAspect="1"/>
          </p:cNvPicPr>
          <p:nvPr/>
        </p:nvPicPr>
        <p:blipFill>
          <a:blip r:embed="rId9">
            <a:extLst>
              <a:ext uri="{BEBA8EAE-BF5A-486C-A8C5-ECC9F3942E4B}">
                <a14:imgProps xmlns:a14="http://schemas.microsoft.com/office/drawing/2010/main">
                  <a14:imgLayer r:embed="rId10">
                    <a14:imgEffect>
                      <a14:brightnessContrast bright="-100000"/>
                    </a14:imgEffect>
                  </a14:imgLayer>
                </a14:imgProps>
              </a:ext>
            </a:extLst>
          </a:blip>
          <a:stretch>
            <a:fillRect/>
          </a:stretch>
        </p:blipFill>
        <p:spPr>
          <a:xfrm>
            <a:off x="5907047" y="3703928"/>
            <a:ext cx="377905" cy="377905"/>
          </a:xfrm>
          <a:prstGeom prst="rect">
            <a:avLst/>
          </a:prstGeom>
        </p:spPr>
      </p:pic>
      <p:pic>
        <p:nvPicPr>
          <p:cNvPr id="39" name="Picture 2" descr="Cyber Risk Management Company ISTARI Invests in Security Data Science  Pioneer Prevalent AI">
            <a:extLst>
              <a:ext uri="{FF2B5EF4-FFF2-40B4-BE49-F238E27FC236}">
                <a16:creationId xmlns:a16="http://schemas.microsoft.com/office/drawing/2014/main" id="{985B0E5B-61E6-AD72-965D-7EED384422B5}"/>
              </a:ext>
            </a:extLst>
          </p:cNvPr>
          <p:cNvPicPr>
            <a:picLocks noChangeAspect="1" noChangeArrowheads="1"/>
          </p:cNvPicPr>
          <p:nvPr/>
        </p:nvPicPr>
        <p:blipFill rotWithShape="1">
          <a:blip r:embed="rId11">
            <a:clrChange>
              <a:clrFrom>
                <a:srgbClr val="FFFFFF"/>
              </a:clrFrom>
              <a:clrTo>
                <a:srgbClr val="FFFFFF">
                  <a:alpha val="0"/>
                </a:srgbClr>
              </a:clrTo>
            </a:clrChange>
            <a:duotone>
              <a:prstClr val="black"/>
              <a:schemeClr val="tx1">
                <a:tint val="45000"/>
                <a:satMod val="400000"/>
              </a:schemeClr>
            </a:duotone>
            <a:extLst>
              <a:ext uri="{28A0092B-C50C-407E-A947-70E740481C1C}">
                <a14:useLocalDpi xmlns:a14="http://schemas.microsoft.com/office/drawing/2010/main" val="0"/>
              </a:ext>
            </a:extLst>
          </a:blip>
          <a:srcRect l="20167"/>
          <a:stretch/>
        </p:blipFill>
        <p:spPr bwMode="auto">
          <a:xfrm>
            <a:off x="5446483" y="3429765"/>
            <a:ext cx="1299032" cy="347472"/>
          </a:xfrm>
          <a:prstGeom prst="rect">
            <a:avLst/>
          </a:prstGeom>
          <a:noFill/>
          <a:extLst>
            <a:ext uri="{909E8E84-426E-40DD-AFC4-6F175D3DCCD1}">
              <a14:hiddenFill xmlns:a14="http://schemas.microsoft.com/office/drawing/2010/main">
                <a:solidFill>
                  <a:srgbClr val="FFFFFF"/>
                </a:solidFill>
              </a14:hiddenFill>
            </a:ext>
          </a:extLst>
        </p:spPr>
      </p:pic>
      <p:grpSp>
        <p:nvGrpSpPr>
          <p:cNvPr id="51" name="Group 50">
            <a:extLst>
              <a:ext uri="{FF2B5EF4-FFF2-40B4-BE49-F238E27FC236}">
                <a16:creationId xmlns:a16="http://schemas.microsoft.com/office/drawing/2014/main" id="{A7D5B37B-510B-9B65-E4D2-7478EC4D9991}"/>
              </a:ext>
            </a:extLst>
          </p:cNvPr>
          <p:cNvGrpSpPr/>
          <p:nvPr/>
        </p:nvGrpSpPr>
        <p:grpSpPr>
          <a:xfrm>
            <a:off x="8336239" y="2496828"/>
            <a:ext cx="3283906" cy="1930606"/>
            <a:chOff x="8336239" y="2700028"/>
            <a:chExt cx="3283906" cy="1930606"/>
          </a:xfrm>
        </p:grpSpPr>
        <p:sp>
          <p:nvSpPr>
            <p:cNvPr id="142" name="Rectangle 141">
              <a:extLst>
                <a:ext uri="{FF2B5EF4-FFF2-40B4-BE49-F238E27FC236}">
                  <a16:creationId xmlns:a16="http://schemas.microsoft.com/office/drawing/2014/main" id="{5A8DB365-2E3D-8607-C225-AC6CE3C5F278}"/>
                </a:ext>
              </a:extLst>
            </p:cNvPr>
            <p:cNvSpPr/>
            <p:nvPr/>
          </p:nvSpPr>
          <p:spPr>
            <a:xfrm rot="16200000">
              <a:off x="10932135" y="3567115"/>
              <a:ext cx="977128" cy="208443"/>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144" name="Rectangle 143">
              <a:extLst>
                <a:ext uri="{FF2B5EF4-FFF2-40B4-BE49-F238E27FC236}">
                  <a16:creationId xmlns:a16="http://schemas.microsoft.com/office/drawing/2014/main" id="{98FFA50C-4DED-2E8B-E4EF-4D96DF9D70B5}"/>
                </a:ext>
              </a:extLst>
            </p:cNvPr>
            <p:cNvSpPr/>
            <p:nvPr/>
          </p:nvSpPr>
          <p:spPr>
            <a:xfrm rot="16200000">
              <a:off x="10895503" y="3470168"/>
              <a:ext cx="839836" cy="279332"/>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145" name="Rectangle 144">
              <a:extLst>
                <a:ext uri="{FF2B5EF4-FFF2-40B4-BE49-F238E27FC236}">
                  <a16:creationId xmlns:a16="http://schemas.microsoft.com/office/drawing/2014/main" id="{8451ADAE-B111-6C1E-004F-95B62E46CB02}"/>
                </a:ext>
              </a:extLst>
            </p:cNvPr>
            <p:cNvSpPr/>
            <p:nvPr/>
          </p:nvSpPr>
          <p:spPr>
            <a:xfrm rot="16200000">
              <a:off x="10923686" y="3556454"/>
              <a:ext cx="839836" cy="163679"/>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146" name="Rectangle 145">
              <a:extLst>
                <a:ext uri="{FF2B5EF4-FFF2-40B4-BE49-F238E27FC236}">
                  <a16:creationId xmlns:a16="http://schemas.microsoft.com/office/drawing/2014/main" id="{A6D42118-0382-FA1C-4A59-BCD5D355FAE2}"/>
                </a:ext>
              </a:extLst>
            </p:cNvPr>
            <p:cNvSpPr/>
            <p:nvPr/>
          </p:nvSpPr>
          <p:spPr>
            <a:xfrm rot="18219801">
              <a:off x="11205142" y="3990293"/>
              <a:ext cx="72957" cy="57519"/>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pic>
          <p:nvPicPr>
            <p:cNvPr id="141" name="Picture 140" descr="A diagram of a flowchart&#10;&#10;Description automatically generated">
              <a:extLst>
                <a:ext uri="{FF2B5EF4-FFF2-40B4-BE49-F238E27FC236}">
                  <a16:creationId xmlns:a16="http://schemas.microsoft.com/office/drawing/2014/main" id="{E7F0FA4D-1651-B671-FE0A-49B6DCA8EAFF}"/>
                </a:ext>
              </a:extLst>
            </p:cNvPr>
            <p:cNvPicPr>
              <a:picLocks noChangeAspect="1"/>
            </p:cNvPicPr>
            <p:nvPr/>
          </p:nvPicPr>
          <p:blipFill>
            <a:blip r:embed="rId12">
              <a:extLst>
                <a:ext uri="{28A0092B-C50C-407E-A947-70E740481C1C}">
                  <a14:useLocalDpi xmlns:a14="http://schemas.microsoft.com/office/drawing/2010/main" val="0"/>
                </a:ext>
              </a:extLst>
            </a:blip>
            <a:srcRect r="23782"/>
            <a:stretch/>
          </p:blipFill>
          <p:spPr>
            <a:xfrm>
              <a:off x="8336239" y="2700028"/>
              <a:ext cx="3178134" cy="1930606"/>
            </a:xfrm>
            <a:prstGeom prst="rect">
              <a:avLst/>
            </a:prstGeom>
          </p:spPr>
        </p:pic>
        <p:sp>
          <p:nvSpPr>
            <p:cNvPr id="47" name="Rectangle 46">
              <a:extLst>
                <a:ext uri="{FF2B5EF4-FFF2-40B4-BE49-F238E27FC236}">
                  <a16:creationId xmlns:a16="http://schemas.microsoft.com/office/drawing/2014/main" id="{9E3B05DC-90C5-DBBE-95D6-90A265A8C65E}"/>
                </a:ext>
              </a:extLst>
            </p:cNvPr>
            <p:cNvSpPr/>
            <p:nvPr/>
          </p:nvSpPr>
          <p:spPr>
            <a:xfrm>
              <a:off x="11177756" y="3171291"/>
              <a:ext cx="353488" cy="852587"/>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rgbClr val="C00000"/>
                </a:solidFill>
                <a:latin typeface="Aptos" panose="020B0004020202020204" pitchFamily="34" charset="0"/>
                <a:sym typeface="Aptos" panose="020B0004020202020204" pitchFamily="34" charset="0"/>
              </a:endParaRPr>
            </a:p>
          </p:txBody>
        </p:sp>
        <p:sp>
          <p:nvSpPr>
            <p:cNvPr id="48" name="Rectangle 47">
              <a:extLst>
                <a:ext uri="{FF2B5EF4-FFF2-40B4-BE49-F238E27FC236}">
                  <a16:creationId xmlns:a16="http://schemas.microsoft.com/office/drawing/2014/main" id="{C8BDACA0-472D-3DBA-254F-A47A02D3D7C6}"/>
                </a:ext>
              </a:extLst>
            </p:cNvPr>
            <p:cNvSpPr/>
            <p:nvPr/>
          </p:nvSpPr>
          <p:spPr>
            <a:xfrm>
              <a:off x="11266657" y="3344989"/>
              <a:ext cx="353488" cy="852587"/>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rgbClr val="C00000"/>
                </a:solidFill>
                <a:latin typeface="Aptos" panose="020B0004020202020204" pitchFamily="34" charset="0"/>
                <a:sym typeface="Aptos" panose="020B0004020202020204" pitchFamily="34" charset="0"/>
              </a:endParaRPr>
            </a:p>
          </p:txBody>
        </p:sp>
        <p:sp>
          <p:nvSpPr>
            <p:cNvPr id="50" name="Rectangle 49">
              <a:extLst>
                <a:ext uri="{FF2B5EF4-FFF2-40B4-BE49-F238E27FC236}">
                  <a16:creationId xmlns:a16="http://schemas.microsoft.com/office/drawing/2014/main" id="{453C4E75-CB31-9FAF-D518-4C8941D4057B}"/>
                </a:ext>
              </a:extLst>
            </p:cNvPr>
            <p:cNvSpPr/>
            <p:nvPr/>
          </p:nvSpPr>
          <p:spPr>
            <a:xfrm rot="2157162">
              <a:off x="11180309" y="4017594"/>
              <a:ext cx="162124" cy="56593"/>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rgbClr val="C00000"/>
                </a:solidFill>
                <a:latin typeface="Aptos" panose="020B0004020202020204" pitchFamily="34" charset="0"/>
                <a:sym typeface="Aptos" panose="020B0004020202020204" pitchFamily="34" charset="0"/>
              </a:endParaRPr>
            </a:p>
          </p:txBody>
        </p:sp>
      </p:grpSp>
      <p:sp>
        <p:nvSpPr>
          <p:cNvPr id="52" name="object 8">
            <a:extLst>
              <a:ext uri="{FF2B5EF4-FFF2-40B4-BE49-F238E27FC236}">
                <a16:creationId xmlns:a16="http://schemas.microsoft.com/office/drawing/2014/main" id="{2F277EB1-6380-A8F3-37EC-2659EA04891A}"/>
              </a:ext>
            </a:extLst>
          </p:cNvPr>
          <p:cNvSpPr txBox="1"/>
          <p:nvPr/>
        </p:nvSpPr>
        <p:spPr>
          <a:xfrm>
            <a:off x="647998" y="525983"/>
            <a:ext cx="11355315" cy="743793"/>
          </a:xfrm>
          <a:prstGeom prst="rect">
            <a:avLst/>
          </a:prstGeom>
        </p:spPr>
        <p:txBody>
          <a:bodyPr vert="horz" wrap="square" lIns="0" tIns="0" rIns="0" bIns="0" rtlCol="0">
            <a:spAutoFit/>
          </a:bodyPr>
          <a:lstStyle/>
          <a:p>
            <a:pPr marL="20319" marR="0" lvl="0" indent="0" algn="l" defTabSz="1219170" eaLnBrk="1" fontAlgn="auto" latinLnBrk="0" hangingPunct="1">
              <a:lnSpc>
                <a:spcPts val="2180"/>
              </a:lnSpc>
              <a:spcBef>
                <a:spcPts val="0"/>
              </a:spcBef>
              <a:spcAft>
                <a:spcPts val="0"/>
              </a:spcAft>
              <a:buClrTx/>
              <a:buSzTx/>
              <a:buFontTx/>
              <a:buNone/>
              <a:tabLst/>
              <a:defRPr/>
            </a:pPr>
            <a:r>
              <a:rPr kumimoji="0" lang="en-US" sz="1400" i="0" u="none" strike="noStrike" kern="1200" cap="none" spc="-100" normalizeH="0" noProof="0">
                <a:ln>
                  <a:noFill/>
                </a:ln>
                <a:solidFill>
                  <a:srgbClr val="595959"/>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Platform Foundation</a:t>
            </a:r>
          </a:p>
          <a:p>
            <a:pPr marL="20319" marR="0" lvl="0" indent="0" algn="l" defTabSz="1219170" eaLnBrk="1" fontAlgn="auto" latinLnBrk="0" hangingPunct="1">
              <a:spcBef>
                <a:spcPts val="0"/>
              </a:spcBef>
              <a:spcAft>
                <a:spcPts val="0"/>
              </a:spcAft>
              <a:buClrTx/>
              <a:buSzTx/>
              <a:buFontTx/>
              <a:buNone/>
              <a:tabLst/>
              <a:defRPr/>
            </a:pPr>
            <a:r>
              <a:rPr kumimoji="0" lang="en-US" sz="3000" b="1" i="0" u="none" strike="noStrike" kern="1200" cap="none" spc="-100" normalizeH="0" noProof="0">
                <a:ln>
                  <a:noFill/>
                </a:ln>
                <a:solidFill>
                  <a:srgbClr val="060B25"/>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Purpose-Buil</a:t>
            </a:r>
            <a:r>
              <a:rPr lang="en-US" sz="3000" b="1" spc="-100">
                <a:solidFill>
                  <a:srgbClr val="060B25"/>
                </a:solidFill>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t</a:t>
            </a:r>
            <a:r>
              <a:rPr kumimoji="0" lang="en-US" sz="3000" b="1" i="0" u="none" strike="noStrike" kern="1200" cap="none" spc="-100" normalizeH="0" noProof="0">
                <a:ln>
                  <a:noFill/>
                </a:ln>
                <a:solidFill>
                  <a:srgbClr val="060B25"/>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 Data Fabric Powering Cyber Resilience at Scale</a:t>
            </a:r>
          </a:p>
        </p:txBody>
      </p:sp>
      <p:sp>
        <p:nvSpPr>
          <p:cNvPr id="2" name="Shape 347">
            <a:extLst>
              <a:ext uri="{FF2B5EF4-FFF2-40B4-BE49-F238E27FC236}">
                <a16:creationId xmlns:a16="http://schemas.microsoft.com/office/drawing/2014/main" id="{013BCD68-7602-6067-ED29-371B71007287}"/>
              </a:ext>
            </a:extLst>
          </p:cNvPr>
          <p:cNvSpPr txBox="1">
            <a:spLocks noChangeArrowheads="1"/>
          </p:cNvSpPr>
          <p:nvPr/>
        </p:nvSpPr>
        <p:spPr bwMode="auto">
          <a:xfrm>
            <a:off x="4268699" y="4465109"/>
            <a:ext cx="3654602" cy="1590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2555" tIns="142555" rIns="142555" bIns="142555"/>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defTabSz="457200" fontAlgn="base">
              <a:spcBef>
                <a:spcPct val="0"/>
              </a:spcBef>
              <a:spcAft>
                <a:spcPct val="0"/>
              </a:spcAft>
              <a:defRPr>
                <a:solidFill>
                  <a:schemeClr val="tx1"/>
                </a:solidFill>
                <a:latin typeface="Myriad Pro" panose="020B0503030403020204" pitchFamily="34" charset="0"/>
              </a:defRPr>
            </a:lvl6pPr>
            <a:lvl7pPr marL="2971800" indent="-228600" defTabSz="457200" fontAlgn="base">
              <a:spcBef>
                <a:spcPct val="0"/>
              </a:spcBef>
              <a:spcAft>
                <a:spcPct val="0"/>
              </a:spcAft>
              <a:defRPr>
                <a:solidFill>
                  <a:schemeClr val="tx1"/>
                </a:solidFill>
                <a:latin typeface="Myriad Pro" panose="020B0503030403020204" pitchFamily="34" charset="0"/>
              </a:defRPr>
            </a:lvl7pPr>
            <a:lvl8pPr marL="3429000" indent="-228600" defTabSz="457200" fontAlgn="base">
              <a:spcBef>
                <a:spcPct val="0"/>
              </a:spcBef>
              <a:spcAft>
                <a:spcPct val="0"/>
              </a:spcAft>
              <a:defRPr>
                <a:solidFill>
                  <a:schemeClr val="tx1"/>
                </a:solidFill>
                <a:latin typeface="Myriad Pro" panose="020B0503030403020204" pitchFamily="34" charset="0"/>
              </a:defRPr>
            </a:lvl8pPr>
            <a:lvl9pPr marL="3886200" indent="-228600" defTabSz="457200" fontAlgn="base">
              <a:spcBef>
                <a:spcPct val="0"/>
              </a:spcBef>
              <a:spcAft>
                <a:spcPct val="0"/>
              </a:spcAft>
              <a:defRPr>
                <a:solidFill>
                  <a:schemeClr val="tx1"/>
                </a:solidFill>
                <a:latin typeface="Myriad Pro" panose="020B0503030403020204" pitchFamily="34" charset="0"/>
              </a:defRPr>
            </a:lvl9pPr>
          </a:lstStyle>
          <a:p>
            <a:pPr marL="0" marR="0" lvl="0" indent="0" algn="ctr" defTabSz="609585" eaLnBrk="1" fontAlgn="base" latinLnBrk="0" hangingPunct="1">
              <a:lnSpc>
                <a:spcPct val="100000"/>
              </a:lnSpc>
              <a:spcBef>
                <a:spcPts val="0"/>
              </a:spcBef>
              <a:spcAft>
                <a:spcPts val="300"/>
              </a:spcAft>
              <a:buClrTx/>
              <a:buSzPct val="80000"/>
              <a:buFontTx/>
              <a:buNone/>
              <a:tabLst/>
              <a:defRPr/>
            </a:pPr>
            <a:r>
              <a:rPr kumimoji="0" lang="en-US" altLang="en-US" sz="1800" b="1" i="0" u="none" strike="noStrike" kern="1200" cap="none" spc="0" normalizeH="0" baseline="0" noProof="0">
                <a:ln>
                  <a:noFill/>
                </a:ln>
                <a:solidFill>
                  <a:srgbClr val="6360D8"/>
                </a:solidFill>
                <a:effectLst/>
                <a:uLnTx/>
                <a:uFillTx/>
                <a:latin typeface="Aptos" panose="020B0004020202020204" pitchFamily="34" charset="0"/>
                <a:ea typeface="Open Sans" panose="020B0604020202020204" charset="0"/>
                <a:cs typeface="Segoe UI" panose="020B0502040204020203" pitchFamily="34" charset="0"/>
                <a:sym typeface="Aptos" panose="020B0004020202020204" pitchFamily="34" charset="0"/>
              </a:rPr>
              <a:t>Entity Resolution</a:t>
            </a:r>
          </a:p>
          <a:p>
            <a:pPr marL="0" marR="0" lvl="0" indent="0" algn="ctr" defTabSz="609585" eaLnBrk="1" fontAlgn="base" latinLnBrk="0" hangingPunct="1">
              <a:lnSpc>
                <a:spcPct val="100000"/>
              </a:lnSpc>
              <a:spcBef>
                <a:spcPts val="0"/>
              </a:spcBef>
              <a:spcAft>
                <a:spcPts val="600"/>
              </a:spcAft>
              <a:buClrTx/>
              <a:buSzPct val="80000"/>
              <a:buFontTx/>
              <a:buNone/>
              <a:tabLst/>
              <a:defRPr/>
            </a:pPr>
            <a:r>
              <a:rPr lang="en-US" altLang="en-US" sz="1050">
                <a:solidFill>
                  <a:srgbClr val="595959"/>
                </a:solidFill>
                <a:latin typeface="Aptos" panose="020B0004020202020204" pitchFamily="34" charset="0"/>
                <a:ea typeface="Open Sans" panose="020B0604020202020204" charset="0"/>
                <a:cs typeface="Segoe UI" panose="020B0502040204020203" pitchFamily="34" charset="0"/>
                <a:sym typeface="Aptos" panose="020B0004020202020204" pitchFamily="34" charset="0"/>
              </a:rPr>
              <a:t>Prevalent AI delivers accurate, dependable asset intelligence by discovering and enriching assets directly from raw source data. It standardizes disparate formats using a rich ontology, de-duplicates and correlates records to eliminate redundancy and resolves conflicts to create a unified view of every asset, laying the groundwork for reliable AI-driven analysis</a:t>
            </a:r>
          </a:p>
        </p:txBody>
      </p:sp>
      <p:sp>
        <p:nvSpPr>
          <p:cNvPr id="6" name="Shape 347">
            <a:extLst>
              <a:ext uri="{FF2B5EF4-FFF2-40B4-BE49-F238E27FC236}">
                <a16:creationId xmlns:a16="http://schemas.microsoft.com/office/drawing/2014/main" id="{6DDAD4E1-33BF-FC69-E099-1502F5A0260A}"/>
              </a:ext>
            </a:extLst>
          </p:cNvPr>
          <p:cNvSpPr txBox="1">
            <a:spLocks noChangeArrowheads="1"/>
          </p:cNvSpPr>
          <p:nvPr/>
        </p:nvSpPr>
        <p:spPr bwMode="auto">
          <a:xfrm>
            <a:off x="536723" y="4465109"/>
            <a:ext cx="3654602" cy="1590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2555" tIns="142555" rIns="142555" bIns="142555"/>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defTabSz="457200" fontAlgn="base">
              <a:spcBef>
                <a:spcPct val="0"/>
              </a:spcBef>
              <a:spcAft>
                <a:spcPct val="0"/>
              </a:spcAft>
              <a:defRPr>
                <a:solidFill>
                  <a:schemeClr val="tx1"/>
                </a:solidFill>
                <a:latin typeface="Myriad Pro" panose="020B0503030403020204" pitchFamily="34" charset="0"/>
              </a:defRPr>
            </a:lvl6pPr>
            <a:lvl7pPr marL="2971800" indent="-228600" defTabSz="457200" fontAlgn="base">
              <a:spcBef>
                <a:spcPct val="0"/>
              </a:spcBef>
              <a:spcAft>
                <a:spcPct val="0"/>
              </a:spcAft>
              <a:defRPr>
                <a:solidFill>
                  <a:schemeClr val="tx1"/>
                </a:solidFill>
                <a:latin typeface="Myriad Pro" panose="020B0503030403020204" pitchFamily="34" charset="0"/>
              </a:defRPr>
            </a:lvl7pPr>
            <a:lvl8pPr marL="3429000" indent="-228600" defTabSz="457200" fontAlgn="base">
              <a:spcBef>
                <a:spcPct val="0"/>
              </a:spcBef>
              <a:spcAft>
                <a:spcPct val="0"/>
              </a:spcAft>
              <a:defRPr>
                <a:solidFill>
                  <a:schemeClr val="tx1"/>
                </a:solidFill>
                <a:latin typeface="Myriad Pro" panose="020B0503030403020204" pitchFamily="34" charset="0"/>
              </a:defRPr>
            </a:lvl8pPr>
            <a:lvl9pPr marL="3886200" indent="-228600" defTabSz="457200" fontAlgn="base">
              <a:spcBef>
                <a:spcPct val="0"/>
              </a:spcBef>
              <a:spcAft>
                <a:spcPct val="0"/>
              </a:spcAft>
              <a:defRPr>
                <a:solidFill>
                  <a:schemeClr val="tx1"/>
                </a:solidFill>
                <a:latin typeface="Myriad Pro" panose="020B0503030403020204" pitchFamily="34" charset="0"/>
              </a:defRPr>
            </a:lvl9pPr>
          </a:lstStyle>
          <a:p>
            <a:pPr marL="0" marR="0" lvl="0" indent="0" algn="ctr" defTabSz="609585" eaLnBrk="1" fontAlgn="base" latinLnBrk="0" hangingPunct="1">
              <a:lnSpc>
                <a:spcPct val="100000"/>
              </a:lnSpc>
              <a:spcBef>
                <a:spcPts val="0"/>
              </a:spcBef>
              <a:spcAft>
                <a:spcPts val="300"/>
              </a:spcAft>
              <a:buClrTx/>
              <a:buSzPct val="80000"/>
              <a:buFontTx/>
              <a:buNone/>
              <a:tabLst/>
              <a:defRPr/>
            </a:pPr>
            <a:r>
              <a:rPr kumimoji="0" lang="en-US" altLang="en-US" sz="1800" b="1" i="0" u="none" strike="noStrike" kern="1200" cap="none" spc="0" normalizeH="0" baseline="0" noProof="0">
                <a:ln>
                  <a:noFill/>
                </a:ln>
                <a:solidFill>
                  <a:srgbClr val="6360D8"/>
                </a:solidFill>
                <a:effectLst/>
                <a:uLnTx/>
                <a:uFillTx/>
                <a:latin typeface="Aptos" panose="020B0004020202020204" pitchFamily="34" charset="0"/>
                <a:ea typeface="Open Sans" panose="020B0604020202020204" charset="0"/>
                <a:cs typeface="Segoe UI" panose="020B0502040204020203" pitchFamily="34" charset="0"/>
                <a:sym typeface="Aptos" panose="020B0004020202020204" pitchFamily="34" charset="0"/>
              </a:rPr>
              <a:t>Data Bridge</a:t>
            </a:r>
            <a:endParaRPr kumimoji="0" lang="en-US" altLang="en-US" sz="1800" b="0" i="0" u="none" strike="noStrike" kern="1200" cap="none" spc="0" normalizeH="0" baseline="0" noProof="0">
              <a:ln>
                <a:noFill/>
              </a:ln>
              <a:solidFill>
                <a:srgbClr val="6360D8"/>
              </a:solidFill>
              <a:effectLst/>
              <a:uLnTx/>
              <a:uFillTx/>
              <a:latin typeface="Aptos" panose="020B0004020202020204" pitchFamily="34" charset="0"/>
              <a:ea typeface="Open Sans" panose="020B0604020202020204" charset="0"/>
              <a:cs typeface="Segoe UI" panose="020B0502040204020203" pitchFamily="34" charset="0"/>
              <a:sym typeface="Aptos" panose="020B0004020202020204" pitchFamily="34" charset="0"/>
            </a:endParaRPr>
          </a:p>
          <a:p>
            <a:pPr algn="ctr">
              <a:spcBef>
                <a:spcPts val="300"/>
              </a:spcBef>
            </a:pPr>
            <a:r>
              <a:rPr lang="en-US" sz="1050" b="0" i="0" u="none" strike="noStrike">
                <a:solidFill>
                  <a:srgbClr val="595959"/>
                </a:solidFill>
                <a:effectLst/>
                <a:latin typeface="Aptos" panose="020B0004020202020204" pitchFamily="34" charset="0"/>
                <a:sym typeface="Aptos" panose="020B0004020202020204" pitchFamily="34" charset="0"/>
              </a:rPr>
              <a:t>Data Bridge enables integration across 100+ tools, connecting assets and data from any source, cloud or on-prem, with speed and simplicity. Cyber and non-cyber data is unified, to provide rich business context and enable monitoring and reporting of controls across domains and against multiple regulatory and compliance requirements</a:t>
            </a:r>
            <a:endParaRPr lang="en-US" altLang="en-US" sz="1000">
              <a:solidFill>
                <a:srgbClr val="060B25"/>
              </a:solidFill>
              <a:latin typeface="Aptos" panose="020B0004020202020204" pitchFamily="34" charset="0"/>
              <a:ea typeface="Open Sans" panose="020B0604020202020204" charset="0"/>
              <a:cs typeface="Segoe UI" panose="020B0502040204020203" pitchFamily="34" charset="0"/>
              <a:sym typeface="Aptos" panose="020B0004020202020204" pitchFamily="34" charset="0"/>
            </a:endParaRPr>
          </a:p>
        </p:txBody>
      </p:sp>
      <p:sp>
        <p:nvSpPr>
          <p:cNvPr id="8" name="Shape 347">
            <a:extLst>
              <a:ext uri="{FF2B5EF4-FFF2-40B4-BE49-F238E27FC236}">
                <a16:creationId xmlns:a16="http://schemas.microsoft.com/office/drawing/2014/main" id="{E8E7D12D-2021-1A21-CA57-B85A952AB1A8}"/>
              </a:ext>
            </a:extLst>
          </p:cNvPr>
          <p:cNvSpPr txBox="1">
            <a:spLocks noChangeArrowheads="1"/>
          </p:cNvSpPr>
          <p:nvPr/>
        </p:nvSpPr>
        <p:spPr bwMode="auto">
          <a:xfrm>
            <a:off x="8000676" y="4465109"/>
            <a:ext cx="3654602" cy="1590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2555" tIns="142555" rIns="142555" bIns="142555"/>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defTabSz="457200" fontAlgn="base">
              <a:spcBef>
                <a:spcPct val="0"/>
              </a:spcBef>
              <a:spcAft>
                <a:spcPct val="0"/>
              </a:spcAft>
              <a:defRPr>
                <a:solidFill>
                  <a:schemeClr val="tx1"/>
                </a:solidFill>
                <a:latin typeface="Myriad Pro" panose="020B0503030403020204" pitchFamily="34" charset="0"/>
              </a:defRPr>
            </a:lvl6pPr>
            <a:lvl7pPr marL="2971800" indent="-228600" defTabSz="457200" fontAlgn="base">
              <a:spcBef>
                <a:spcPct val="0"/>
              </a:spcBef>
              <a:spcAft>
                <a:spcPct val="0"/>
              </a:spcAft>
              <a:defRPr>
                <a:solidFill>
                  <a:schemeClr val="tx1"/>
                </a:solidFill>
                <a:latin typeface="Myriad Pro" panose="020B0503030403020204" pitchFamily="34" charset="0"/>
              </a:defRPr>
            </a:lvl7pPr>
            <a:lvl8pPr marL="3429000" indent="-228600" defTabSz="457200" fontAlgn="base">
              <a:spcBef>
                <a:spcPct val="0"/>
              </a:spcBef>
              <a:spcAft>
                <a:spcPct val="0"/>
              </a:spcAft>
              <a:defRPr>
                <a:solidFill>
                  <a:schemeClr val="tx1"/>
                </a:solidFill>
                <a:latin typeface="Myriad Pro" panose="020B0503030403020204" pitchFamily="34" charset="0"/>
              </a:defRPr>
            </a:lvl8pPr>
            <a:lvl9pPr marL="3886200" indent="-228600" defTabSz="457200" fontAlgn="base">
              <a:spcBef>
                <a:spcPct val="0"/>
              </a:spcBef>
              <a:spcAft>
                <a:spcPct val="0"/>
              </a:spcAft>
              <a:defRPr>
                <a:solidFill>
                  <a:schemeClr val="tx1"/>
                </a:solidFill>
                <a:latin typeface="Myriad Pro" panose="020B0503030403020204" pitchFamily="34" charset="0"/>
              </a:defRPr>
            </a:lvl9pPr>
          </a:lstStyle>
          <a:p>
            <a:pPr marL="0" marR="0" lvl="0" indent="0" algn="ctr" defTabSz="609585" eaLnBrk="1" fontAlgn="base" latinLnBrk="0" hangingPunct="1">
              <a:lnSpc>
                <a:spcPct val="100000"/>
              </a:lnSpc>
              <a:spcBef>
                <a:spcPts val="0"/>
              </a:spcBef>
              <a:spcAft>
                <a:spcPts val="300"/>
              </a:spcAft>
              <a:buClrTx/>
              <a:buSzPct val="80000"/>
              <a:buFontTx/>
              <a:buNone/>
              <a:tabLst/>
              <a:defRPr/>
            </a:pPr>
            <a:r>
              <a:rPr kumimoji="0" lang="en-US" altLang="en-US" sz="1800" b="1" i="0" u="none" strike="noStrike" kern="1200" cap="none" spc="0" normalizeH="0" baseline="0" noProof="0">
                <a:ln>
                  <a:noFill/>
                </a:ln>
                <a:solidFill>
                  <a:srgbClr val="6360D8"/>
                </a:solidFill>
                <a:effectLst/>
                <a:uLnTx/>
                <a:uFillTx/>
                <a:latin typeface="Aptos" panose="020B0004020202020204" pitchFamily="34" charset="0"/>
                <a:ea typeface="Open Sans" panose="020B0604020202020204" charset="0"/>
                <a:cs typeface="Segoe UI" panose="020B0502040204020203" pitchFamily="34" charset="0"/>
                <a:sym typeface="Aptos" panose="020B0004020202020204" pitchFamily="34" charset="0"/>
              </a:rPr>
              <a:t>Knowledge Graph</a:t>
            </a:r>
          </a:p>
          <a:p>
            <a:pPr marL="0" marR="0" lvl="0" indent="0" algn="ctr" defTabSz="609585" eaLnBrk="1" fontAlgn="base" latinLnBrk="0" hangingPunct="1">
              <a:lnSpc>
                <a:spcPct val="100000"/>
              </a:lnSpc>
              <a:spcBef>
                <a:spcPts val="0"/>
              </a:spcBef>
              <a:spcAft>
                <a:spcPts val="600"/>
              </a:spcAft>
              <a:buClrTx/>
              <a:buSzPct val="80000"/>
              <a:buFontTx/>
              <a:buNone/>
              <a:tabLst/>
              <a:defRPr/>
            </a:pPr>
            <a:r>
              <a:rPr lang="en-US" altLang="en-US" sz="1050">
                <a:solidFill>
                  <a:srgbClr val="595959"/>
                </a:solidFill>
                <a:latin typeface="Aptos" panose="020B0004020202020204" pitchFamily="34" charset="0"/>
                <a:ea typeface="Open Sans" panose="020B0604020202020204" charset="0"/>
                <a:cs typeface="Segoe UI" panose="020B0502040204020203" pitchFamily="34" charset="0"/>
                <a:sym typeface="Aptos" panose="020B0004020202020204" pitchFamily="34" charset="0"/>
              </a:rPr>
              <a:t>At the core of Prevalent AI’s platform, the Knowledge Graph dynamically maps the enterprise environment, enabling deep, contextual queries on assets and security posture. It powers advanced use cases and functions as the authoritative data layer for enterprise AI</a:t>
            </a:r>
          </a:p>
        </p:txBody>
      </p:sp>
      <p:sp>
        <p:nvSpPr>
          <p:cNvPr id="9" name="Rectangle 8">
            <a:extLst>
              <a:ext uri="{FF2B5EF4-FFF2-40B4-BE49-F238E27FC236}">
                <a16:creationId xmlns:a16="http://schemas.microsoft.com/office/drawing/2014/main" id="{9C3549B8-1412-6299-BE9D-8A1DEBEFB667}"/>
              </a:ext>
            </a:extLst>
          </p:cNvPr>
          <p:cNvSpPr/>
          <p:nvPr/>
        </p:nvSpPr>
        <p:spPr>
          <a:xfrm>
            <a:off x="11066012" y="429535"/>
            <a:ext cx="914400" cy="914400"/>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C00000"/>
                </a:solidFill>
              </a:rPr>
              <a:t>VARIANT</a:t>
            </a:r>
          </a:p>
        </p:txBody>
      </p:sp>
    </p:spTree>
    <p:extLst>
      <p:ext uri="{BB962C8B-B14F-4D97-AF65-F5344CB8AC3E}">
        <p14:creationId xmlns:p14="http://schemas.microsoft.com/office/powerpoint/2010/main" val="1500932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82A1B-EE1F-C0E7-94EE-0A15E0B5CB5C}"/>
            </a:ext>
          </a:extLst>
        </p:cNvPr>
        <p:cNvGrpSpPr/>
        <p:nvPr/>
      </p:nvGrpSpPr>
      <p:grpSpPr>
        <a:xfrm>
          <a:off x="0" y="0"/>
          <a:ext cx="0" cy="0"/>
          <a:chOff x="0" y="0"/>
          <a:chExt cx="0" cy="0"/>
        </a:xfrm>
      </p:grpSpPr>
      <p:graphicFrame>
        <p:nvGraphicFramePr>
          <p:cNvPr id="41" name="think-cell data - do not delete" hidden="1">
            <a:extLst>
              <a:ext uri="{FF2B5EF4-FFF2-40B4-BE49-F238E27FC236}">
                <a16:creationId xmlns:a16="http://schemas.microsoft.com/office/drawing/2014/main" id="{DE9E5446-A34D-942C-2A62-C5340696C22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41" name="think-cell data - do not delete" hidden="1">
                        <a:extLst>
                          <a:ext uri="{FF2B5EF4-FFF2-40B4-BE49-F238E27FC236}">
                            <a16:creationId xmlns:a16="http://schemas.microsoft.com/office/drawing/2014/main" id="{DE9E5446-A34D-942C-2A62-C5340696C22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47" name="object 8">
            <a:extLst>
              <a:ext uri="{FF2B5EF4-FFF2-40B4-BE49-F238E27FC236}">
                <a16:creationId xmlns:a16="http://schemas.microsoft.com/office/drawing/2014/main" id="{62603E82-FC89-18AF-CBCF-245DFACCF1F1}"/>
              </a:ext>
            </a:extLst>
          </p:cNvPr>
          <p:cNvSpPr txBox="1"/>
          <p:nvPr/>
        </p:nvSpPr>
        <p:spPr>
          <a:xfrm>
            <a:off x="647998" y="525983"/>
            <a:ext cx="11355315" cy="743793"/>
          </a:xfrm>
          <a:prstGeom prst="rect">
            <a:avLst/>
          </a:prstGeom>
        </p:spPr>
        <p:txBody>
          <a:bodyPr vert="horz" wrap="square" lIns="0" tIns="0" rIns="0" bIns="0" rtlCol="0">
            <a:spAutoFit/>
          </a:bodyPr>
          <a:lstStyle/>
          <a:p>
            <a:pPr marL="20319" lvl="0" defTabSz="1219170">
              <a:lnSpc>
                <a:spcPts val="2180"/>
              </a:lnSpc>
              <a:defRPr/>
            </a:pPr>
            <a:r>
              <a:rPr lang="en-US" sz="1400" spc="-100" dirty="0">
                <a:solidFill>
                  <a:srgbClr val="595959"/>
                </a:solidFill>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Platform Foundation</a:t>
            </a:r>
          </a:p>
          <a:p>
            <a:pPr marL="20319" marR="0" lvl="0" indent="0" algn="l" defTabSz="1219170" eaLnBrk="1" fontAlgn="auto" latinLnBrk="0" hangingPunct="1">
              <a:spcBef>
                <a:spcPts val="0"/>
              </a:spcBef>
              <a:spcAft>
                <a:spcPts val="0"/>
              </a:spcAft>
              <a:buClrTx/>
              <a:buSzTx/>
              <a:buFontTx/>
              <a:buNone/>
              <a:tabLst/>
              <a:defRPr/>
            </a:pPr>
            <a:r>
              <a:rPr kumimoji="0" lang="en-US" sz="3000" b="1" i="0" u="none" strike="noStrike" kern="1200" cap="none" spc="-100" normalizeH="0" noProof="0" dirty="0">
                <a:ln>
                  <a:noFill/>
                </a:ln>
                <a:solidFill>
                  <a:srgbClr val="060B25"/>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100+ Integrations Deliver a Single Source of Truth</a:t>
            </a:r>
          </a:p>
        </p:txBody>
      </p:sp>
      <p:grpSp>
        <p:nvGrpSpPr>
          <p:cNvPr id="3" name="Group 2">
            <a:extLst>
              <a:ext uri="{FF2B5EF4-FFF2-40B4-BE49-F238E27FC236}">
                <a16:creationId xmlns:a16="http://schemas.microsoft.com/office/drawing/2014/main" id="{DD4B3ECD-6A0B-6641-5485-4A18FF1D6805}"/>
              </a:ext>
            </a:extLst>
          </p:cNvPr>
          <p:cNvGrpSpPr/>
          <p:nvPr/>
        </p:nvGrpSpPr>
        <p:grpSpPr>
          <a:xfrm>
            <a:off x="-10536768" y="1701487"/>
            <a:ext cx="33239634" cy="3049807"/>
            <a:chOff x="-10536768" y="1540122"/>
            <a:chExt cx="33239634" cy="4659384"/>
          </a:xfrm>
        </p:grpSpPr>
        <p:sp>
          <p:nvSpPr>
            <p:cNvPr id="366" name="Arrow: Down 365">
              <a:extLst>
                <a:ext uri="{FF2B5EF4-FFF2-40B4-BE49-F238E27FC236}">
                  <a16:creationId xmlns:a16="http://schemas.microsoft.com/office/drawing/2014/main" id="{9FBA4C1E-CD55-C256-DC89-8E2FB8F3FD45}"/>
                </a:ext>
              </a:extLst>
            </p:cNvPr>
            <p:cNvSpPr/>
            <p:nvPr/>
          </p:nvSpPr>
          <p:spPr>
            <a:xfrm flipH="1">
              <a:off x="6578226" y="4499176"/>
              <a:ext cx="122646" cy="788992"/>
            </a:xfrm>
            <a:prstGeom prst="downArrow">
              <a:avLst/>
            </a:prstGeom>
            <a:ln w="155575">
              <a:gradFill>
                <a:gsLst>
                  <a:gs pos="0">
                    <a:srgbClr val="F1F1FF"/>
                  </a:gs>
                  <a:gs pos="100000">
                    <a:srgbClr val="6360D8"/>
                  </a:gs>
                </a:gsLst>
                <a:lin ang="15600000" scaled="0"/>
              </a:gradFill>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219170"/>
              <a:endParaRPr lang="en-US" sz="2400">
                <a:solidFill>
                  <a:prstClr val="black"/>
                </a:solidFill>
                <a:latin typeface="Aptos" panose="020B0004020202020204" pitchFamily="34" charset="0"/>
                <a:ea typeface="+mn-lt"/>
                <a:cs typeface="+mn-lt"/>
                <a:sym typeface="Aptos" panose="020B0004020202020204" pitchFamily="34" charset="0"/>
              </a:endParaRPr>
            </a:p>
          </p:txBody>
        </p:sp>
        <p:sp>
          <p:nvSpPr>
            <p:cNvPr id="364" name="Arrow: Down 363">
              <a:extLst>
                <a:ext uri="{FF2B5EF4-FFF2-40B4-BE49-F238E27FC236}">
                  <a16:creationId xmlns:a16="http://schemas.microsoft.com/office/drawing/2014/main" id="{3DB7D585-CD48-6603-68F6-1C58673A5261}"/>
                </a:ext>
              </a:extLst>
            </p:cNvPr>
            <p:cNvSpPr/>
            <p:nvPr/>
          </p:nvSpPr>
          <p:spPr>
            <a:xfrm flipH="1">
              <a:off x="5491129" y="4499176"/>
              <a:ext cx="122646" cy="788992"/>
            </a:xfrm>
            <a:prstGeom prst="downArrow">
              <a:avLst/>
            </a:prstGeom>
            <a:ln w="155575">
              <a:gradFill>
                <a:gsLst>
                  <a:gs pos="0">
                    <a:srgbClr val="F1F1FF"/>
                  </a:gs>
                  <a:gs pos="100000">
                    <a:srgbClr val="6360D8"/>
                  </a:gs>
                </a:gsLst>
                <a:lin ang="15600000" scaled="0"/>
              </a:gradFill>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219170"/>
              <a:endParaRPr lang="en-US" sz="2400">
                <a:solidFill>
                  <a:prstClr val="black"/>
                </a:solidFill>
                <a:latin typeface="Aptos" panose="020B0004020202020204" pitchFamily="34" charset="0"/>
                <a:ea typeface="+mn-lt"/>
                <a:cs typeface="+mn-lt"/>
                <a:sym typeface="Aptos" panose="020B0004020202020204" pitchFamily="34" charset="0"/>
              </a:endParaRPr>
            </a:p>
          </p:txBody>
        </p:sp>
        <p:grpSp>
          <p:nvGrpSpPr>
            <p:cNvPr id="57" name="Group 56">
              <a:extLst>
                <a:ext uri="{FF2B5EF4-FFF2-40B4-BE49-F238E27FC236}">
                  <a16:creationId xmlns:a16="http://schemas.microsoft.com/office/drawing/2014/main" id="{1BF60639-FDF6-5D9C-7E29-9B2B236D4BF8}"/>
                </a:ext>
              </a:extLst>
            </p:cNvPr>
            <p:cNvGrpSpPr/>
            <p:nvPr/>
          </p:nvGrpSpPr>
          <p:grpSpPr>
            <a:xfrm flipH="1">
              <a:off x="5313690" y="1540122"/>
              <a:ext cx="6878310" cy="4457605"/>
              <a:chOff x="0" y="1782678"/>
              <a:chExt cx="5697141" cy="3633326"/>
            </a:xfrm>
            <a:solidFill>
              <a:schemeClr val="bg1"/>
            </a:solidFill>
          </p:grpSpPr>
          <p:sp>
            <p:nvSpPr>
              <p:cNvPr id="58" name="Freeform: Shape 57">
                <a:extLst>
                  <a:ext uri="{FF2B5EF4-FFF2-40B4-BE49-F238E27FC236}">
                    <a16:creationId xmlns:a16="http://schemas.microsoft.com/office/drawing/2014/main" id="{964B4D3E-63BE-E8E2-0CA5-4A979DA998AE}"/>
                  </a:ext>
                </a:extLst>
              </p:cNvPr>
              <p:cNvSpPr>
                <a:spLocks/>
              </p:cNvSpPr>
              <p:nvPr/>
            </p:nvSpPr>
            <p:spPr bwMode="auto">
              <a:xfrm>
                <a:off x="0" y="1782678"/>
                <a:ext cx="4324350" cy="1462954"/>
              </a:xfrm>
              <a:custGeom>
                <a:avLst/>
                <a:gdLst>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5534819 w 5765800"/>
                  <a:gd name="connsiteY98" fmla="*/ 1915319 h 1917700"/>
                  <a:gd name="connsiteX99" fmla="*/ 5497513 w 5765800"/>
                  <a:gd name="connsiteY99" fmla="*/ 1912938 h 1917700"/>
                  <a:gd name="connsiteX100" fmla="*/ 5475685 w 5765800"/>
                  <a:gd name="connsiteY100" fmla="*/ 1911350 h 1917700"/>
                  <a:gd name="connsiteX101" fmla="*/ 5453856 w 5765800"/>
                  <a:gd name="connsiteY101" fmla="*/ 1908969 h 1917700"/>
                  <a:gd name="connsiteX102" fmla="*/ 5431631 w 5765800"/>
                  <a:gd name="connsiteY102" fmla="*/ 1905794 h 1917700"/>
                  <a:gd name="connsiteX103" fmla="*/ 5408216 w 5765800"/>
                  <a:gd name="connsiteY103" fmla="*/ 1902619 h 1917700"/>
                  <a:gd name="connsiteX104" fmla="*/ 5384800 w 5765800"/>
                  <a:gd name="connsiteY104" fmla="*/ 1898650 h 1917700"/>
                  <a:gd name="connsiteX105" fmla="*/ 5360194 w 5765800"/>
                  <a:gd name="connsiteY105" fmla="*/ 1894681 h 1917700"/>
                  <a:gd name="connsiteX106" fmla="*/ 5335985 w 5765800"/>
                  <a:gd name="connsiteY106" fmla="*/ 1889919 h 1917700"/>
                  <a:gd name="connsiteX107" fmla="*/ 5330582 w 5765800"/>
                  <a:gd name="connsiteY107" fmla="*/ 1888890 h 1917700"/>
                  <a:gd name="connsiteX108" fmla="*/ 5267960 w 5765800"/>
                  <a:gd name="connsiteY108" fmla="*/ 1891982 h 1917700"/>
                  <a:gd name="connsiteX109" fmla="*/ 4455160 w 5765800"/>
                  <a:gd name="connsiteY109" fmla="*/ 1800542 h 1917700"/>
                  <a:gd name="connsiteX110" fmla="*/ 4409440 w 5765800"/>
                  <a:gd name="connsiteY110" fmla="*/ 1790382 h 1917700"/>
                  <a:gd name="connsiteX111" fmla="*/ 4389120 w 5765800"/>
                  <a:gd name="connsiteY111" fmla="*/ 1785302 h 1917700"/>
                  <a:gd name="connsiteX112" fmla="*/ 4358640 w 5765800"/>
                  <a:gd name="connsiteY112" fmla="*/ 1785302 h 1917700"/>
                  <a:gd name="connsiteX113" fmla="*/ 3566160 w 5765800"/>
                  <a:gd name="connsiteY113" fmla="*/ 1668462 h 1917700"/>
                  <a:gd name="connsiteX114" fmla="*/ 3413760 w 5765800"/>
                  <a:gd name="connsiteY114" fmla="*/ 1648142 h 1917700"/>
                  <a:gd name="connsiteX115" fmla="*/ 2529840 w 5765800"/>
                  <a:gd name="connsiteY115" fmla="*/ 1485582 h 1917700"/>
                  <a:gd name="connsiteX116" fmla="*/ 1559560 w 5765800"/>
                  <a:gd name="connsiteY116" fmla="*/ 1424622 h 1917700"/>
                  <a:gd name="connsiteX117" fmla="*/ 1498600 w 5765800"/>
                  <a:gd name="connsiteY117" fmla="*/ 1419542 h 1917700"/>
                  <a:gd name="connsiteX118" fmla="*/ 858520 w 5765800"/>
                  <a:gd name="connsiteY118" fmla="*/ 1373822 h 1917700"/>
                  <a:gd name="connsiteX119" fmla="*/ 457200 w 5765800"/>
                  <a:gd name="connsiteY119" fmla="*/ 1353502 h 1917700"/>
                  <a:gd name="connsiteX120" fmla="*/ 167640 w 5765800"/>
                  <a:gd name="connsiteY120" fmla="*/ 1343342 h 1917700"/>
                  <a:gd name="connsiteX121" fmla="*/ 162758 w 5765800"/>
                  <a:gd name="connsiteY121" fmla="*/ 1184672 h 1917700"/>
                  <a:gd name="connsiteX122" fmla="*/ 0 w 5765800"/>
                  <a:gd name="connsiteY122" fmla="*/ 1184672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5534819 w 5765800"/>
                  <a:gd name="connsiteY98" fmla="*/ 1915319 h 1917700"/>
                  <a:gd name="connsiteX99" fmla="*/ 5497513 w 5765800"/>
                  <a:gd name="connsiteY99" fmla="*/ 1912938 h 1917700"/>
                  <a:gd name="connsiteX100" fmla="*/ 5475685 w 5765800"/>
                  <a:gd name="connsiteY100" fmla="*/ 1911350 h 1917700"/>
                  <a:gd name="connsiteX101" fmla="*/ 5453856 w 5765800"/>
                  <a:gd name="connsiteY101" fmla="*/ 1908969 h 1917700"/>
                  <a:gd name="connsiteX102" fmla="*/ 5431631 w 5765800"/>
                  <a:gd name="connsiteY102" fmla="*/ 1905794 h 1917700"/>
                  <a:gd name="connsiteX103" fmla="*/ 5408216 w 5765800"/>
                  <a:gd name="connsiteY103" fmla="*/ 1902619 h 1917700"/>
                  <a:gd name="connsiteX104" fmla="*/ 5384800 w 5765800"/>
                  <a:gd name="connsiteY104" fmla="*/ 1898650 h 1917700"/>
                  <a:gd name="connsiteX105" fmla="*/ 5360194 w 5765800"/>
                  <a:gd name="connsiteY105" fmla="*/ 1894681 h 1917700"/>
                  <a:gd name="connsiteX106" fmla="*/ 5335985 w 5765800"/>
                  <a:gd name="connsiteY106" fmla="*/ 1889919 h 1917700"/>
                  <a:gd name="connsiteX107" fmla="*/ 5330582 w 5765800"/>
                  <a:gd name="connsiteY107" fmla="*/ 1888890 h 1917700"/>
                  <a:gd name="connsiteX108" fmla="*/ 5267960 w 5765800"/>
                  <a:gd name="connsiteY108" fmla="*/ 1891982 h 1917700"/>
                  <a:gd name="connsiteX109" fmla="*/ 4455160 w 5765800"/>
                  <a:gd name="connsiteY109" fmla="*/ 1800542 h 1917700"/>
                  <a:gd name="connsiteX110" fmla="*/ 4409440 w 5765800"/>
                  <a:gd name="connsiteY110" fmla="*/ 1790382 h 1917700"/>
                  <a:gd name="connsiteX111" fmla="*/ 4389120 w 5765800"/>
                  <a:gd name="connsiteY111" fmla="*/ 1785302 h 1917700"/>
                  <a:gd name="connsiteX112" fmla="*/ 4358640 w 5765800"/>
                  <a:gd name="connsiteY112" fmla="*/ 1785302 h 1917700"/>
                  <a:gd name="connsiteX113" fmla="*/ 3566160 w 5765800"/>
                  <a:gd name="connsiteY113" fmla="*/ 1668462 h 1917700"/>
                  <a:gd name="connsiteX114" fmla="*/ 3413760 w 5765800"/>
                  <a:gd name="connsiteY114" fmla="*/ 1648142 h 1917700"/>
                  <a:gd name="connsiteX115" fmla="*/ 2529840 w 5765800"/>
                  <a:gd name="connsiteY115" fmla="*/ 1485582 h 1917700"/>
                  <a:gd name="connsiteX116" fmla="*/ 1559560 w 5765800"/>
                  <a:gd name="connsiteY116" fmla="*/ 1424622 h 1917700"/>
                  <a:gd name="connsiteX117" fmla="*/ 1498600 w 5765800"/>
                  <a:gd name="connsiteY117" fmla="*/ 1419542 h 1917700"/>
                  <a:gd name="connsiteX118" fmla="*/ 858520 w 5765800"/>
                  <a:gd name="connsiteY118" fmla="*/ 1373822 h 1917700"/>
                  <a:gd name="connsiteX119" fmla="*/ 457200 w 5765800"/>
                  <a:gd name="connsiteY119" fmla="*/ 1353502 h 1917700"/>
                  <a:gd name="connsiteX120" fmla="*/ 167640 w 5765800"/>
                  <a:gd name="connsiteY120" fmla="*/ 1343342 h 1917700"/>
                  <a:gd name="connsiteX121" fmla="*/ 0 w 5765800"/>
                  <a:gd name="connsiteY121" fmla="*/ 1184672 h 1917700"/>
                  <a:gd name="connsiteX122" fmla="*/ 0 w 5765800"/>
                  <a:gd name="connsiteY122"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5534819 w 5765800"/>
                  <a:gd name="connsiteY98" fmla="*/ 1915319 h 1917700"/>
                  <a:gd name="connsiteX99" fmla="*/ 5497513 w 5765800"/>
                  <a:gd name="connsiteY99" fmla="*/ 1912938 h 1917700"/>
                  <a:gd name="connsiteX100" fmla="*/ 5475685 w 5765800"/>
                  <a:gd name="connsiteY100" fmla="*/ 1911350 h 1917700"/>
                  <a:gd name="connsiteX101" fmla="*/ 5453856 w 5765800"/>
                  <a:gd name="connsiteY101" fmla="*/ 1908969 h 1917700"/>
                  <a:gd name="connsiteX102" fmla="*/ 5431631 w 5765800"/>
                  <a:gd name="connsiteY102" fmla="*/ 1905794 h 1917700"/>
                  <a:gd name="connsiteX103" fmla="*/ 5408216 w 5765800"/>
                  <a:gd name="connsiteY103" fmla="*/ 1902619 h 1917700"/>
                  <a:gd name="connsiteX104" fmla="*/ 5384800 w 5765800"/>
                  <a:gd name="connsiteY104" fmla="*/ 1898650 h 1917700"/>
                  <a:gd name="connsiteX105" fmla="*/ 5360194 w 5765800"/>
                  <a:gd name="connsiteY105" fmla="*/ 1894681 h 1917700"/>
                  <a:gd name="connsiteX106" fmla="*/ 5335985 w 5765800"/>
                  <a:gd name="connsiteY106" fmla="*/ 1889919 h 1917700"/>
                  <a:gd name="connsiteX107" fmla="*/ 5330582 w 5765800"/>
                  <a:gd name="connsiteY107" fmla="*/ 1888890 h 1917700"/>
                  <a:gd name="connsiteX108" fmla="*/ 4455160 w 5765800"/>
                  <a:gd name="connsiteY108" fmla="*/ 1800542 h 1917700"/>
                  <a:gd name="connsiteX109" fmla="*/ 4409440 w 5765800"/>
                  <a:gd name="connsiteY109" fmla="*/ 1790382 h 1917700"/>
                  <a:gd name="connsiteX110" fmla="*/ 4389120 w 5765800"/>
                  <a:gd name="connsiteY110" fmla="*/ 1785302 h 1917700"/>
                  <a:gd name="connsiteX111" fmla="*/ 4358640 w 5765800"/>
                  <a:gd name="connsiteY111" fmla="*/ 1785302 h 1917700"/>
                  <a:gd name="connsiteX112" fmla="*/ 3566160 w 5765800"/>
                  <a:gd name="connsiteY112" fmla="*/ 1668462 h 1917700"/>
                  <a:gd name="connsiteX113" fmla="*/ 3413760 w 5765800"/>
                  <a:gd name="connsiteY113" fmla="*/ 1648142 h 1917700"/>
                  <a:gd name="connsiteX114" fmla="*/ 2529840 w 5765800"/>
                  <a:gd name="connsiteY114" fmla="*/ 1485582 h 1917700"/>
                  <a:gd name="connsiteX115" fmla="*/ 1559560 w 5765800"/>
                  <a:gd name="connsiteY115" fmla="*/ 1424622 h 1917700"/>
                  <a:gd name="connsiteX116" fmla="*/ 1498600 w 5765800"/>
                  <a:gd name="connsiteY116" fmla="*/ 1419542 h 1917700"/>
                  <a:gd name="connsiteX117" fmla="*/ 858520 w 5765800"/>
                  <a:gd name="connsiteY117" fmla="*/ 1373822 h 1917700"/>
                  <a:gd name="connsiteX118" fmla="*/ 457200 w 5765800"/>
                  <a:gd name="connsiteY118" fmla="*/ 1353502 h 1917700"/>
                  <a:gd name="connsiteX119" fmla="*/ 167640 w 5765800"/>
                  <a:gd name="connsiteY119" fmla="*/ 1343342 h 1917700"/>
                  <a:gd name="connsiteX120" fmla="*/ 0 w 5765800"/>
                  <a:gd name="connsiteY120" fmla="*/ 1184672 h 1917700"/>
                  <a:gd name="connsiteX121" fmla="*/ 0 w 5765800"/>
                  <a:gd name="connsiteY121"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5534819 w 5765800"/>
                  <a:gd name="connsiteY98" fmla="*/ 1915319 h 1917700"/>
                  <a:gd name="connsiteX99" fmla="*/ 5497513 w 5765800"/>
                  <a:gd name="connsiteY99" fmla="*/ 1912938 h 1917700"/>
                  <a:gd name="connsiteX100" fmla="*/ 5475685 w 5765800"/>
                  <a:gd name="connsiteY100" fmla="*/ 1911350 h 1917700"/>
                  <a:gd name="connsiteX101" fmla="*/ 5453856 w 5765800"/>
                  <a:gd name="connsiteY101" fmla="*/ 1908969 h 1917700"/>
                  <a:gd name="connsiteX102" fmla="*/ 5431631 w 5765800"/>
                  <a:gd name="connsiteY102" fmla="*/ 1905794 h 1917700"/>
                  <a:gd name="connsiteX103" fmla="*/ 5408216 w 5765800"/>
                  <a:gd name="connsiteY103" fmla="*/ 1902619 h 1917700"/>
                  <a:gd name="connsiteX104" fmla="*/ 5384800 w 5765800"/>
                  <a:gd name="connsiteY104" fmla="*/ 1898650 h 1917700"/>
                  <a:gd name="connsiteX105" fmla="*/ 5360194 w 5765800"/>
                  <a:gd name="connsiteY105" fmla="*/ 1894681 h 1917700"/>
                  <a:gd name="connsiteX106" fmla="*/ 5335985 w 5765800"/>
                  <a:gd name="connsiteY106" fmla="*/ 1889919 h 1917700"/>
                  <a:gd name="connsiteX107" fmla="*/ 4455160 w 5765800"/>
                  <a:gd name="connsiteY107" fmla="*/ 1800542 h 1917700"/>
                  <a:gd name="connsiteX108" fmla="*/ 4409440 w 5765800"/>
                  <a:gd name="connsiteY108" fmla="*/ 1790382 h 1917700"/>
                  <a:gd name="connsiteX109" fmla="*/ 4389120 w 5765800"/>
                  <a:gd name="connsiteY109" fmla="*/ 1785302 h 1917700"/>
                  <a:gd name="connsiteX110" fmla="*/ 4358640 w 5765800"/>
                  <a:gd name="connsiteY110" fmla="*/ 1785302 h 1917700"/>
                  <a:gd name="connsiteX111" fmla="*/ 3566160 w 5765800"/>
                  <a:gd name="connsiteY111" fmla="*/ 1668462 h 1917700"/>
                  <a:gd name="connsiteX112" fmla="*/ 3413760 w 5765800"/>
                  <a:gd name="connsiteY112" fmla="*/ 1648142 h 1917700"/>
                  <a:gd name="connsiteX113" fmla="*/ 2529840 w 5765800"/>
                  <a:gd name="connsiteY113" fmla="*/ 1485582 h 1917700"/>
                  <a:gd name="connsiteX114" fmla="*/ 1559560 w 5765800"/>
                  <a:gd name="connsiteY114" fmla="*/ 1424622 h 1917700"/>
                  <a:gd name="connsiteX115" fmla="*/ 1498600 w 5765800"/>
                  <a:gd name="connsiteY115" fmla="*/ 1419542 h 1917700"/>
                  <a:gd name="connsiteX116" fmla="*/ 858520 w 5765800"/>
                  <a:gd name="connsiteY116" fmla="*/ 1373822 h 1917700"/>
                  <a:gd name="connsiteX117" fmla="*/ 457200 w 5765800"/>
                  <a:gd name="connsiteY117" fmla="*/ 1353502 h 1917700"/>
                  <a:gd name="connsiteX118" fmla="*/ 167640 w 5765800"/>
                  <a:gd name="connsiteY118" fmla="*/ 1343342 h 1917700"/>
                  <a:gd name="connsiteX119" fmla="*/ 0 w 5765800"/>
                  <a:gd name="connsiteY119" fmla="*/ 1184672 h 1917700"/>
                  <a:gd name="connsiteX120" fmla="*/ 0 w 5765800"/>
                  <a:gd name="connsiteY120"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5534819 w 5765800"/>
                  <a:gd name="connsiteY98" fmla="*/ 1915319 h 1917700"/>
                  <a:gd name="connsiteX99" fmla="*/ 5497513 w 5765800"/>
                  <a:gd name="connsiteY99" fmla="*/ 1912938 h 1917700"/>
                  <a:gd name="connsiteX100" fmla="*/ 5475685 w 5765800"/>
                  <a:gd name="connsiteY100" fmla="*/ 1911350 h 1917700"/>
                  <a:gd name="connsiteX101" fmla="*/ 5453856 w 5765800"/>
                  <a:gd name="connsiteY101" fmla="*/ 1908969 h 1917700"/>
                  <a:gd name="connsiteX102" fmla="*/ 5431631 w 5765800"/>
                  <a:gd name="connsiteY102" fmla="*/ 1905794 h 1917700"/>
                  <a:gd name="connsiteX103" fmla="*/ 5408216 w 5765800"/>
                  <a:gd name="connsiteY103" fmla="*/ 1902619 h 1917700"/>
                  <a:gd name="connsiteX104" fmla="*/ 5384800 w 5765800"/>
                  <a:gd name="connsiteY104" fmla="*/ 1898650 h 1917700"/>
                  <a:gd name="connsiteX105" fmla="*/ 5360194 w 5765800"/>
                  <a:gd name="connsiteY105" fmla="*/ 1894681 h 1917700"/>
                  <a:gd name="connsiteX106" fmla="*/ 4455160 w 5765800"/>
                  <a:gd name="connsiteY106" fmla="*/ 1800542 h 1917700"/>
                  <a:gd name="connsiteX107" fmla="*/ 4409440 w 5765800"/>
                  <a:gd name="connsiteY107" fmla="*/ 1790382 h 1917700"/>
                  <a:gd name="connsiteX108" fmla="*/ 4389120 w 5765800"/>
                  <a:gd name="connsiteY108" fmla="*/ 1785302 h 1917700"/>
                  <a:gd name="connsiteX109" fmla="*/ 4358640 w 5765800"/>
                  <a:gd name="connsiteY109" fmla="*/ 1785302 h 1917700"/>
                  <a:gd name="connsiteX110" fmla="*/ 3566160 w 5765800"/>
                  <a:gd name="connsiteY110" fmla="*/ 1668462 h 1917700"/>
                  <a:gd name="connsiteX111" fmla="*/ 3413760 w 5765800"/>
                  <a:gd name="connsiteY111" fmla="*/ 1648142 h 1917700"/>
                  <a:gd name="connsiteX112" fmla="*/ 2529840 w 5765800"/>
                  <a:gd name="connsiteY112" fmla="*/ 1485582 h 1917700"/>
                  <a:gd name="connsiteX113" fmla="*/ 1559560 w 5765800"/>
                  <a:gd name="connsiteY113" fmla="*/ 1424622 h 1917700"/>
                  <a:gd name="connsiteX114" fmla="*/ 1498600 w 5765800"/>
                  <a:gd name="connsiteY114" fmla="*/ 1419542 h 1917700"/>
                  <a:gd name="connsiteX115" fmla="*/ 858520 w 5765800"/>
                  <a:gd name="connsiteY115" fmla="*/ 1373822 h 1917700"/>
                  <a:gd name="connsiteX116" fmla="*/ 457200 w 5765800"/>
                  <a:gd name="connsiteY116" fmla="*/ 1353502 h 1917700"/>
                  <a:gd name="connsiteX117" fmla="*/ 167640 w 5765800"/>
                  <a:gd name="connsiteY117" fmla="*/ 1343342 h 1917700"/>
                  <a:gd name="connsiteX118" fmla="*/ 0 w 5765800"/>
                  <a:gd name="connsiteY118" fmla="*/ 1184672 h 1917700"/>
                  <a:gd name="connsiteX119" fmla="*/ 0 w 5765800"/>
                  <a:gd name="connsiteY119"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5534819 w 5765800"/>
                  <a:gd name="connsiteY98" fmla="*/ 1915319 h 1917700"/>
                  <a:gd name="connsiteX99" fmla="*/ 5497513 w 5765800"/>
                  <a:gd name="connsiteY99" fmla="*/ 1912938 h 1917700"/>
                  <a:gd name="connsiteX100" fmla="*/ 5475685 w 5765800"/>
                  <a:gd name="connsiteY100" fmla="*/ 1911350 h 1917700"/>
                  <a:gd name="connsiteX101" fmla="*/ 5453856 w 5765800"/>
                  <a:gd name="connsiteY101" fmla="*/ 1908969 h 1917700"/>
                  <a:gd name="connsiteX102" fmla="*/ 5431631 w 5765800"/>
                  <a:gd name="connsiteY102" fmla="*/ 1905794 h 1917700"/>
                  <a:gd name="connsiteX103" fmla="*/ 5408216 w 5765800"/>
                  <a:gd name="connsiteY103" fmla="*/ 1902619 h 1917700"/>
                  <a:gd name="connsiteX104" fmla="*/ 5384800 w 5765800"/>
                  <a:gd name="connsiteY104" fmla="*/ 1898650 h 1917700"/>
                  <a:gd name="connsiteX105" fmla="*/ 4455160 w 5765800"/>
                  <a:gd name="connsiteY105" fmla="*/ 1800542 h 1917700"/>
                  <a:gd name="connsiteX106" fmla="*/ 4409440 w 5765800"/>
                  <a:gd name="connsiteY106" fmla="*/ 1790382 h 1917700"/>
                  <a:gd name="connsiteX107" fmla="*/ 4389120 w 5765800"/>
                  <a:gd name="connsiteY107" fmla="*/ 1785302 h 1917700"/>
                  <a:gd name="connsiteX108" fmla="*/ 4358640 w 5765800"/>
                  <a:gd name="connsiteY108" fmla="*/ 1785302 h 1917700"/>
                  <a:gd name="connsiteX109" fmla="*/ 3566160 w 5765800"/>
                  <a:gd name="connsiteY109" fmla="*/ 1668462 h 1917700"/>
                  <a:gd name="connsiteX110" fmla="*/ 3413760 w 5765800"/>
                  <a:gd name="connsiteY110" fmla="*/ 1648142 h 1917700"/>
                  <a:gd name="connsiteX111" fmla="*/ 2529840 w 5765800"/>
                  <a:gd name="connsiteY111" fmla="*/ 1485582 h 1917700"/>
                  <a:gd name="connsiteX112" fmla="*/ 1559560 w 5765800"/>
                  <a:gd name="connsiteY112" fmla="*/ 1424622 h 1917700"/>
                  <a:gd name="connsiteX113" fmla="*/ 1498600 w 5765800"/>
                  <a:gd name="connsiteY113" fmla="*/ 1419542 h 1917700"/>
                  <a:gd name="connsiteX114" fmla="*/ 858520 w 5765800"/>
                  <a:gd name="connsiteY114" fmla="*/ 1373822 h 1917700"/>
                  <a:gd name="connsiteX115" fmla="*/ 457200 w 5765800"/>
                  <a:gd name="connsiteY115" fmla="*/ 1353502 h 1917700"/>
                  <a:gd name="connsiteX116" fmla="*/ 167640 w 5765800"/>
                  <a:gd name="connsiteY116" fmla="*/ 1343342 h 1917700"/>
                  <a:gd name="connsiteX117" fmla="*/ 0 w 5765800"/>
                  <a:gd name="connsiteY117" fmla="*/ 1184672 h 1917700"/>
                  <a:gd name="connsiteX118" fmla="*/ 0 w 5765800"/>
                  <a:gd name="connsiteY118"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5534819 w 5765800"/>
                  <a:gd name="connsiteY98" fmla="*/ 1915319 h 1917700"/>
                  <a:gd name="connsiteX99" fmla="*/ 5497513 w 5765800"/>
                  <a:gd name="connsiteY99" fmla="*/ 1912938 h 1917700"/>
                  <a:gd name="connsiteX100" fmla="*/ 5475685 w 5765800"/>
                  <a:gd name="connsiteY100" fmla="*/ 1911350 h 1917700"/>
                  <a:gd name="connsiteX101" fmla="*/ 5453856 w 5765800"/>
                  <a:gd name="connsiteY101" fmla="*/ 1908969 h 1917700"/>
                  <a:gd name="connsiteX102" fmla="*/ 5431631 w 5765800"/>
                  <a:gd name="connsiteY102" fmla="*/ 1905794 h 1917700"/>
                  <a:gd name="connsiteX103" fmla="*/ 5408216 w 5765800"/>
                  <a:gd name="connsiteY103" fmla="*/ 1902619 h 1917700"/>
                  <a:gd name="connsiteX104" fmla="*/ 4455160 w 5765800"/>
                  <a:gd name="connsiteY104" fmla="*/ 1800542 h 1917700"/>
                  <a:gd name="connsiteX105" fmla="*/ 4409440 w 5765800"/>
                  <a:gd name="connsiteY105" fmla="*/ 1790382 h 1917700"/>
                  <a:gd name="connsiteX106" fmla="*/ 4389120 w 5765800"/>
                  <a:gd name="connsiteY106" fmla="*/ 1785302 h 1917700"/>
                  <a:gd name="connsiteX107" fmla="*/ 4358640 w 5765800"/>
                  <a:gd name="connsiteY107" fmla="*/ 1785302 h 1917700"/>
                  <a:gd name="connsiteX108" fmla="*/ 3566160 w 5765800"/>
                  <a:gd name="connsiteY108" fmla="*/ 1668462 h 1917700"/>
                  <a:gd name="connsiteX109" fmla="*/ 3413760 w 5765800"/>
                  <a:gd name="connsiteY109" fmla="*/ 1648142 h 1917700"/>
                  <a:gd name="connsiteX110" fmla="*/ 2529840 w 5765800"/>
                  <a:gd name="connsiteY110" fmla="*/ 1485582 h 1917700"/>
                  <a:gd name="connsiteX111" fmla="*/ 1559560 w 5765800"/>
                  <a:gd name="connsiteY111" fmla="*/ 1424622 h 1917700"/>
                  <a:gd name="connsiteX112" fmla="*/ 1498600 w 5765800"/>
                  <a:gd name="connsiteY112" fmla="*/ 1419542 h 1917700"/>
                  <a:gd name="connsiteX113" fmla="*/ 858520 w 5765800"/>
                  <a:gd name="connsiteY113" fmla="*/ 1373822 h 1917700"/>
                  <a:gd name="connsiteX114" fmla="*/ 457200 w 5765800"/>
                  <a:gd name="connsiteY114" fmla="*/ 1353502 h 1917700"/>
                  <a:gd name="connsiteX115" fmla="*/ 167640 w 5765800"/>
                  <a:gd name="connsiteY115" fmla="*/ 1343342 h 1917700"/>
                  <a:gd name="connsiteX116" fmla="*/ 0 w 5765800"/>
                  <a:gd name="connsiteY116" fmla="*/ 1184672 h 1917700"/>
                  <a:gd name="connsiteX117" fmla="*/ 0 w 5765800"/>
                  <a:gd name="connsiteY117"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5534819 w 5765800"/>
                  <a:gd name="connsiteY98" fmla="*/ 1915319 h 1917700"/>
                  <a:gd name="connsiteX99" fmla="*/ 5497513 w 5765800"/>
                  <a:gd name="connsiteY99" fmla="*/ 1912938 h 1917700"/>
                  <a:gd name="connsiteX100" fmla="*/ 5475685 w 5765800"/>
                  <a:gd name="connsiteY100" fmla="*/ 1911350 h 1917700"/>
                  <a:gd name="connsiteX101" fmla="*/ 5453856 w 5765800"/>
                  <a:gd name="connsiteY101" fmla="*/ 1908969 h 1917700"/>
                  <a:gd name="connsiteX102" fmla="*/ 5431631 w 5765800"/>
                  <a:gd name="connsiteY102" fmla="*/ 1905794 h 1917700"/>
                  <a:gd name="connsiteX103" fmla="*/ 4455160 w 5765800"/>
                  <a:gd name="connsiteY103" fmla="*/ 1800542 h 1917700"/>
                  <a:gd name="connsiteX104" fmla="*/ 4409440 w 5765800"/>
                  <a:gd name="connsiteY104" fmla="*/ 1790382 h 1917700"/>
                  <a:gd name="connsiteX105" fmla="*/ 4389120 w 5765800"/>
                  <a:gd name="connsiteY105" fmla="*/ 1785302 h 1917700"/>
                  <a:gd name="connsiteX106" fmla="*/ 4358640 w 5765800"/>
                  <a:gd name="connsiteY106" fmla="*/ 1785302 h 1917700"/>
                  <a:gd name="connsiteX107" fmla="*/ 3566160 w 5765800"/>
                  <a:gd name="connsiteY107" fmla="*/ 1668462 h 1917700"/>
                  <a:gd name="connsiteX108" fmla="*/ 3413760 w 5765800"/>
                  <a:gd name="connsiteY108" fmla="*/ 1648142 h 1917700"/>
                  <a:gd name="connsiteX109" fmla="*/ 2529840 w 5765800"/>
                  <a:gd name="connsiteY109" fmla="*/ 1485582 h 1917700"/>
                  <a:gd name="connsiteX110" fmla="*/ 1559560 w 5765800"/>
                  <a:gd name="connsiteY110" fmla="*/ 1424622 h 1917700"/>
                  <a:gd name="connsiteX111" fmla="*/ 1498600 w 5765800"/>
                  <a:gd name="connsiteY111" fmla="*/ 1419542 h 1917700"/>
                  <a:gd name="connsiteX112" fmla="*/ 858520 w 5765800"/>
                  <a:gd name="connsiteY112" fmla="*/ 1373822 h 1917700"/>
                  <a:gd name="connsiteX113" fmla="*/ 457200 w 5765800"/>
                  <a:gd name="connsiteY113" fmla="*/ 1353502 h 1917700"/>
                  <a:gd name="connsiteX114" fmla="*/ 167640 w 5765800"/>
                  <a:gd name="connsiteY114" fmla="*/ 1343342 h 1917700"/>
                  <a:gd name="connsiteX115" fmla="*/ 0 w 5765800"/>
                  <a:gd name="connsiteY115" fmla="*/ 1184672 h 1917700"/>
                  <a:gd name="connsiteX116" fmla="*/ 0 w 5765800"/>
                  <a:gd name="connsiteY116"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5534819 w 5765800"/>
                  <a:gd name="connsiteY98" fmla="*/ 1915319 h 1917700"/>
                  <a:gd name="connsiteX99" fmla="*/ 5497513 w 5765800"/>
                  <a:gd name="connsiteY99" fmla="*/ 1912938 h 1917700"/>
                  <a:gd name="connsiteX100" fmla="*/ 5475685 w 5765800"/>
                  <a:gd name="connsiteY100" fmla="*/ 1911350 h 1917700"/>
                  <a:gd name="connsiteX101" fmla="*/ 5453856 w 5765800"/>
                  <a:gd name="connsiteY101" fmla="*/ 1908969 h 1917700"/>
                  <a:gd name="connsiteX102" fmla="*/ 4455160 w 5765800"/>
                  <a:gd name="connsiteY102" fmla="*/ 1800542 h 1917700"/>
                  <a:gd name="connsiteX103" fmla="*/ 4409440 w 5765800"/>
                  <a:gd name="connsiteY103" fmla="*/ 1790382 h 1917700"/>
                  <a:gd name="connsiteX104" fmla="*/ 4389120 w 5765800"/>
                  <a:gd name="connsiteY104" fmla="*/ 1785302 h 1917700"/>
                  <a:gd name="connsiteX105" fmla="*/ 4358640 w 5765800"/>
                  <a:gd name="connsiteY105" fmla="*/ 1785302 h 1917700"/>
                  <a:gd name="connsiteX106" fmla="*/ 3566160 w 5765800"/>
                  <a:gd name="connsiteY106" fmla="*/ 1668462 h 1917700"/>
                  <a:gd name="connsiteX107" fmla="*/ 3413760 w 5765800"/>
                  <a:gd name="connsiteY107" fmla="*/ 1648142 h 1917700"/>
                  <a:gd name="connsiteX108" fmla="*/ 2529840 w 5765800"/>
                  <a:gd name="connsiteY108" fmla="*/ 1485582 h 1917700"/>
                  <a:gd name="connsiteX109" fmla="*/ 1559560 w 5765800"/>
                  <a:gd name="connsiteY109" fmla="*/ 1424622 h 1917700"/>
                  <a:gd name="connsiteX110" fmla="*/ 1498600 w 5765800"/>
                  <a:gd name="connsiteY110" fmla="*/ 1419542 h 1917700"/>
                  <a:gd name="connsiteX111" fmla="*/ 858520 w 5765800"/>
                  <a:gd name="connsiteY111" fmla="*/ 1373822 h 1917700"/>
                  <a:gd name="connsiteX112" fmla="*/ 457200 w 5765800"/>
                  <a:gd name="connsiteY112" fmla="*/ 1353502 h 1917700"/>
                  <a:gd name="connsiteX113" fmla="*/ 167640 w 5765800"/>
                  <a:gd name="connsiteY113" fmla="*/ 1343342 h 1917700"/>
                  <a:gd name="connsiteX114" fmla="*/ 0 w 5765800"/>
                  <a:gd name="connsiteY114" fmla="*/ 1184672 h 1917700"/>
                  <a:gd name="connsiteX115" fmla="*/ 0 w 5765800"/>
                  <a:gd name="connsiteY115"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5534819 w 5765800"/>
                  <a:gd name="connsiteY98" fmla="*/ 1915319 h 1917700"/>
                  <a:gd name="connsiteX99" fmla="*/ 5497513 w 5765800"/>
                  <a:gd name="connsiteY99" fmla="*/ 1912938 h 1917700"/>
                  <a:gd name="connsiteX100" fmla="*/ 5475685 w 5765800"/>
                  <a:gd name="connsiteY100" fmla="*/ 1911350 h 1917700"/>
                  <a:gd name="connsiteX101" fmla="*/ 4455160 w 5765800"/>
                  <a:gd name="connsiteY101" fmla="*/ 1800542 h 1917700"/>
                  <a:gd name="connsiteX102" fmla="*/ 4409440 w 5765800"/>
                  <a:gd name="connsiteY102" fmla="*/ 1790382 h 1917700"/>
                  <a:gd name="connsiteX103" fmla="*/ 4389120 w 5765800"/>
                  <a:gd name="connsiteY103" fmla="*/ 1785302 h 1917700"/>
                  <a:gd name="connsiteX104" fmla="*/ 4358640 w 5765800"/>
                  <a:gd name="connsiteY104" fmla="*/ 1785302 h 1917700"/>
                  <a:gd name="connsiteX105" fmla="*/ 3566160 w 5765800"/>
                  <a:gd name="connsiteY105" fmla="*/ 1668462 h 1917700"/>
                  <a:gd name="connsiteX106" fmla="*/ 3413760 w 5765800"/>
                  <a:gd name="connsiteY106" fmla="*/ 1648142 h 1917700"/>
                  <a:gd name="connsiteX107" fmla="*/ 2529840 w 5765800"/>
                  <a:gd name="connsiteY107" fmla="*/ 1485582 h 1917700"/>
                  <a:gd name="connsiteX108" fmla="*/ 1559560 w 5765800"/>
                  <a:gd name="connsiteY108" fmla="*/ 1424622 h 1917700"/>
                  <a:gd name="connsiteX109" fmla="*/ 1498600 w 5765800"/>
                  <a:gd name="connsiteY109" fmla="*/ 1419542 h 1917700"/>
                  <a:gd name="connsiteX110" fmla="*/ 858520 w 5765800"/>
                  <a:gd name="connsiteY110" fmla="*/ 1373822 h 1917700"/>
                  <a:gd name="connsiteX111" fmla="*/ 457200 w 5765800"/>
                  <a:gd name="connsiteY111" fmla="*/ 1353502 h 1917700"/>
                  <a:gd name="connsiteX112" fmla="*/ 167640 w 5765800"/>
                  <a:gd name="connsiteY112" fmla="*/ 1343342 h 1917700"/>
                  <a:gd name="connsiteX113" fmla="*/ 0 w 5765800"/>
                  <a:gd name="connsiteY113" fmla="*/ 1184672 h 1917700"/>
                  <a:gd name="connsiteX114" fmla="*/ 0 w 5765800"/>
                  <a:gd name="connsiteY114"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5534819 w 5765800"/>
                  <a:gd name="connsiteY98" fmla="*/ 1915319 h 1917700"/>
                  <a:gd name="connsiteX99" fmla="*/ 5497513 w 5765800"/>
                  <a:gd name="connsiteY99" fmla="*/ 1912938 h 1917700"/>
                  <a:gd name="connsiteX100" fmla="*/ 4455160 w 5765800"/>
                  <a:gd name="connsiteY100" fmla="*/ 1800542 h 1917700"/>
                  <a:gd name="connsiteX101" fmla="*/ 4409440 w 5765800"/>
                  <a:gd name="connsiteY101" fmla="*/ 1790382 h 1917700"/>
                  <a:gd name="connsiteX102" fmla="*/ 4389120 w 5765800"/>
                  <a:gd name="connsiteY102" fmla="*/ 1785302 h 1917700"/>
                  <a:gd name="connsiteX103" fmla="*/ 4358640 w 5765800"/>
                  <a:gd name="connsiteY103" fmla="*/ 1785302 h 1917700"/>
                  <a:gd name="connsiteX104" fmla="*/ 3566160 w 5765800"/>
                  <a:gd name="connsiteY104" fmla="*/ 1668462 h 1917700"/>
                  <a:gd name="connsiteX105" fmla="*/ 3413760 w 5765800"/>
                  <a:gd name="connsiteY105" fmla="*/ 1648142 h 1917700"/>
                  <a:gd name="connsiteX106" fmla="*/ 2529840 w 5765800"/>
                  <a:gd name="connsiteY106" fmla="*/ 1485582 h 1917700"/>
                  <a:gd name="connsiteX107" fmla="*/ 1559560 w 5765800"/>
                  <a:gd name="connsiteY107" fmla="*/ 1424622 h 1917700"/>
                  <a:gd name="connsiteX108" fmla="*/ 1498600 w 5765800"/>
                  <a:gd name="connsiteY108" fmla="*/ 1419542 h 1917700"/>
                  <a:gd name="connsiteX109" fmla="*/ 858520 w 5765800"/>
                  <a:gd name="connsiteY109" fmla="*/ 1373822 h 1917700"/>
                  <a:gd name="connsiteX110" fmla="*/ 457200 w 5765800"/>
                  <a:gd name="connsiteY110" fmla="*/ 1353502 h 1917700"/>
                  <a:gd name="connsiteX111" fmla="*/ 167640 w 5765800"/>
                  <a:gd name="connsiteY111" fmla="*/ 1343342 h 1917700"/>
                  <a:gd name="connsiteX112" fmla="*/ 0 w 5765800"/>
                  <a:gd name="connsiteY112" fmla="*/ 1184672 h 1917700"/>
                  <a:gd name="connsiteX113" fmla="*/ 0 w 5765800"/>
                  <a:gd name="connsiteY113"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5534819 w 5765800"/>
                  <a:gd name="connsiteY98" fmla="*/ 1915319 h 1917700"/>
                  <a:gd name="connsiteX99" fmla="*/ 4455160 w 5765800"/>
                  <a:gd name="connsiteY99" fmla="*/ 1800542 h 1917700"/>
                  <a:gd name="connsiteX100" fmla="*/ 4409440 w 5765800"/>
                  <a:gd name="connsiteY100" fmla="*/ 1790382 h 1917700"/>
                  <a:gd name="connsiteX101" fmla="*/ 4389120 w 5765800"/>
                  <a:gd name="connsiteY101" fmla="*/ 1785302 h 1917700"/>
                  <a:gd name="connsiteX102" fmla="*/ 4358640 w 5765800"/>
                  <a:gd name="connsiteY102" fmla="*/ 1785302 h 1917700"/>
                  <a:gd name="connsiteX103" fmla="*/ 3566160 w 5765800"/>
                  <a:gd name="connsiteY103" fmla="*/ 1668462 h 1917700"/>
                  <a:gd name="connsiteX104" fmla="*/ 3413760 w 5765800"/>
                  <a:gd name="connsiteY104" fmla="*/ 1648142 h 1917700"/>
                  <a:gd name="connsiteX105" fmla="*/ 2529840 w 5765800"/>
                  <a:gd name="connsiteY105" fmla="*/ 1485582 h 1917700"/>
                  <a:gd name="connsiteX106" fmla="*/ 1559560 w 5765800"/>
                  <a:gd name="connsiteY106" fmla="*/ 1424622 h 1917700"/>
                  <a:gd name="connsiteX107" fmla="*/ 1498600 w 5765800"/>
                  <a:gd name="connsiteY107" fmla="*/ 1419542 h 1917700"/>
                  <a:gd name="connsiteX108" fmla="*/ 858520 w 5765800"/>
                  <a:gd name="connsiteY108" fmla="*/ 1373822 h 1917700"/>
                  <a:gd name="connsiteX109" fmla="*/ 457200 w 5765800"/>
                  <a:gd name="connsiteY109" fmla="*/ 1353502 h 1917700"/>
                  <a:gd name="connsiteX110" fmla="*/ 167640 w 5765800"/>
                  <a:gd name="connsiteY110" fmla="*/ 1343342 h 1917700"/>
                  <a:gd name="connsiteX111" fmla="*/ 0 w 5765800"/>
                  <a:gd name="connsiteY111" fmla="*/ 1184672 h 1917700"/>
                  <a:gd name="connsiteX112" fmla="*/ 0 w 5765800"/>
                  <a:gd name="connsiteY112"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4455160 w 5765800"/>
                  <a:gd name="connsiteY98" fmla="*/ 1800542 h 1917700"/>
                  <a:gd name="connsiteX99" fmla="*/ 4409440 w 5765800"/>
                  <a:gd name="connsiteY99" fmla="*/ 1790382 h 1917700"/>
                  <a:gd name="connsiteX100" fmla="*/ 4389120 w 5765800"/>
                  <a:gd name="connsiteY100" fmla="*/ 1785302 h 1917700"/>
                  <a:gd name="connsiteX101" fmla="*/ 4358640 w 5765800"/>
                  <a:gd name="connsiteY101" fmla="*/ 1785302 h 1917700"/>
                  <a:gd name="connsiteX102" fmla="*/ 3566160 w 5765800"/>
                  <a:gd name="connsiteY102" fmla="*/ 1668462 h 1917700"/>
                  <a:gd name="connsiteX103" fmla="*/ 3413760 w 5765800"/>
                  <a:gd name="connsiteY103" fmla="*/ 1648142 h 1917700"/>
                  <a:gd name="connsiteX104" fmla="*/ 2529840 w 5765800"/>
                  <a:gd name="connsiteY104" fmla="*/ 1485582 h 1917700"/>
                  <a:gd name="connsiteX105" fmla="*/ 1559560 w 5765800"/>
                  <a:gd name="connsiteY105" fmla="*/ 1424622 h 1917700"/>
                  <a:gd name="connsiteX106" fmla="*/ 1498600 w 5765800"/>
                  <a:gd name="connsiteY106" fmla="*/ 1419542 h 1917700"/>
                  <a:gd name="connsiteX107" fmla="*/ 858520 w 5765800"/>
                  <a:gd name="connsiteY107" fmla="*/ 1373822 h 1917700"/>
                  <a:gd name="connsiteX108" fmla="*/ 457200 w 5765800"/>
                  <a:gd name="connsiteY108" fmla="*/ 1353502 h 1917700"/>
                  <a:gd name="connsiteX109" fmla="*/ 167640 w 5765800"/>
                  <a:gd name="connsiteY109" fmla="*/ 1343342 h 1917700"/>
                  <a:gd name="connsiteX110" fmla="*/ 0 w 5765800"/>
                  <a:gd name="connsiteY110" fmla="*/ 1184672 h 1917700"/>
                  <a:gd name="connsiteX111" fmla="*/ 0 w 5765800"/>
                  <a:gd name="connsiteY111"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4455160 w 5765800"/>
                  <a:gd name="connsiteY97" fmla="*/ 1800542 h 1917700"/>
                  <a:gd name="connsiteX98" fmla="*/ 4409440 w 5765800"/>
                  <a:gd name="connsiteY98" fmla="*/ 1790382 h 1917700"/>
                  <a:gd name="connsiteX99" fmla="*/ 4389120 w 5765800"/>
                  <a:gd name="connsiteY99" fmla="*/ 1785302 h 1917700"/>
                  <a:gd name="connsiteX100" fmla="*/ 4358640 w 5765800"/>
                  <a:gd name="connsiteY100" fmla="*/ 1785302 h 1917700"/>
                  <a:gd name="connsiteX101" fmla="*/ 3566160 w 5765800"/>
                  <a:gd name="connsiteY101" fmla="*/ 1668462 h 1917700"/>
                  <a:gd name="connsiteX102" fmla="*/ 3413760 w 5765800"/>
                  <a:gd name="connsiteY102" fmla="*/ 1648142 h 1917700"/>
                  <a:gd name="connsiteX103" fmla="*/ 2529840 w 5765800"/>
                  <a:gd name="connsiteY103" fmla="*/ 1485582 h 1917700"/>
                  <a:gd name="connsiteX104" fmla="*/ 1559560 w 5765800"/>
                  <a:gd name="connsiteY104" fmla="*/ 1424622 h 1917700"/>
                  <a:gd name="connsiteX105" fmla="*/ 1498600 w 5765800"/>
                  <a:gd name="connsiteY105" fmla="*/ 1419542 h 1917700"/>
                  <a:gd name="connsiteX106" fmla="*/ 858520 w 5765800"/>
                  <a:gd name="connsiteY106" fmla="*/ 1373822 h 1917700"/>
                  <a:gd name="connsiteX107" fmla="*/ 457200 w 5765800"/>
                  <a:gd name="connsiteY107" fmla="*/ 1353502 h 1917700"/>
                  <a:gd name="connsiteX108" fmla="*/ 167640 w 5765800"/>
                  <a:gd name="connsiteY108" fmla="*/ 1343342 h 1917700"/>
                  <a:gd name="connsiteX109" fmla="*/ 0 w 5765800"/>
                  <a:gd name="connsiteY109" fmla="*/ 1184672 h 1917700"/>
                  <a:gd name="connsiteX110" fmla="*/ 0 w 5765800"/>
                  <a:gd name="connsiteY110"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4455160 w 5765800"/>
                  <a:gd name="connsiteY96" fmla="*/ 1800542 h 1917700"/>
                  <a:gd name="connsiteX97" fmla="*/ 4409440 w 5765800"/>
                  <a:gd name="connsiteY97" fmla="*/ 1790382 h 1917700"/>
                  <a:gd name="connsiteX98" fmla="*/ 4389120 w 5765800"/>
                  <a:gd name="connsiteY98" fmla="*/ 1785302 h 1917700"/>
                  <a:gd name="connsiteX99" fmla="*/ 4358640 w 5765800"/>
                  <a:gd name="connsiteY99" fmla="*/ 1785302 h 1917700"/>
                  <a:gd name="connsiteX100" fmla="*/ 3566160 w 5765800"/>
                  <a:gd name="connsiteY100" fmla="*/ 1668462 h 1917700"/>
                  <a:gd name="connsiteX101" fmla="*/ 3413760 w 5765800"/>
                  <a:gd name="connsiteY101" fmla="*/ 1648142 h 1917700"/>
                  <a:gd name="connsiteX102" fmla="*/ 2529840 w 5765800"/>
                  <a:gd name="connsiteY102" fmla="*/ 1485582 h 1917700"/>
                  <a:gd name="connsiteX103" fmla="*/ 1559560 w 5765800"/>
                  <a:gd name="connsiteY103" fmla="*/ 1424622 h 1917700"/>
                  <a:gd name="connsiteX104" fmla="*/ 1498600 w 5765800"/>
                  <a:gd name="connsiteY104" fmla="*/ 1419542 h 1917700"/>
                  <a:gd name="connsiteX105" fmla="*/ 858520 w 5765800"/>
                  <a:gd name="connsiteY105" fmla="*/ 1373822 h 1917700"/>
                  <a:gd name="connsiteX106" fmla="*/ 457200 w 5765800"/>
                  <a:gd name="connsiteY106" fmla="*/ 1353502 h 1917700"/>
                  <a:gd name="connsiteX107" fmla="*/ 167640 w 5765800"/>
                  <a:gd name="connsiteY107" fmla="*/ 1343342 h 1917700"/>
                  <a:gd name="connsiteX108" fmla="*/ 0 w 5765800"/>
                  <a:gd name="connsiteY108" fmla="*/ 1184672 h 1917700"/>
                  <a:gd name="connsiteX109" fmla="*/ 0 w 5765800"/>
                  <a:gd name="connsiteY109" fmla="*/ 0 h 1917700"/>
                  <a:gd name="connsiteX0" fmla="*/ 0 w 5765800"/>
                  <a:gd name="connsiteY0" fmla="*/ 0 h 1943100"/>
                  <a:gd name="connsiteX1" fmla="*/ 2595960 w 5765800"/>
                  <a:gd name="connsiteY1" fmla="*/ 0 h 1943100"/>
                  <a:gd name="connsiteX2" fmla="*/ 2597547 w 5765800"/>
                  <a:gd name="connsiteY2" fmla="*/ 0 h 1943100"/>
                  <a:gd name="connsiteX3" fmla="*/ 2626519 w 5765800"/>
                  <a:gd name="connsiteY3" fmla="*/ 0 h 1943100"/>
                  <a:gd name="connsiteX4" fmla="*/ 2656285 w 5765800"/>
                  <a:gd name="connsiteY4" fmla="*/ 397 h 1943100"/>
                  <a:gd name="connsiteX5" fmla="*/ 2685256 w 5765800"/>
                  <a:gd name="connsiteY5" fmla="*/ 1191 h 1943100"/>
                  <a:gd name="connsiteX6" fmla="*/ 2715022 w 5765800"/>
                  <a:gd name="connsiteY6" fmla="*/ 2381 h 1943100"/>
                  <a:gd name="connsiteX7" fmla="*/ 2743994 w 5765800"/>
                  <a:gd name="connsiteY7" fmla="*/ 3572 h 1943100"/>
                  <a:gd name="connsiteX8" fmla="*/ 2773760 w 5765800"/>
                  <a:gd name="connsiteY8" fmla="*/ 5159 h 1943100"/>
                  <a:gd name="connsiteX9" fmla="*/ 2802731 w 5765800"/>
                  <a:gd name="connsiteY9" fmla="*/ 7541 h 1943100"/>
                  <a:gd name="connsiteX10" fmla="*/ 2832100 w 5765800"/>
                  <a:gd name="connsiteY10" fmla="*/ 9922 h 1943100"/>
                  <a:gd name="connsiteX11" fmla="*/ 2861072 w 5765800"/>
                  <a:gd name="connsiteY11" fmla="*/ 11906 h 1943100"/>
                  <a:gd name="connsiteX12" fmla="*/ 2890044 w 5765800"/>
                  <a:gd name="connsiteY12" fmla="*/ 15081 h 1943100"/>
                  <a:gd name="connsiteX13" fmla="*/ 2919413 w 5765800"/>
                  <a:gd name="connsiteY13" fmla="*/ 18256 h 1943100"/>
                  <a:gd name="connsiteX14" fmla="*/ 2948385 w 5765800"/>
                  <a:gd name="connsiteY14" fmla="*/ 21828 h 1943100"/>
                  <a:gd name="connsiteX15" fmla="*/ 2977356 w 5765800"/>
                  <a:gd name="connsiteY15" fmla="*/ 25400 h 1943100"/>
                  <a:gd name="connsiteX16" fmla="*/ 3005931 w 5765800"/>
                  <a:gd name="connsiteY16" fmla="*/ 29369 h 1943100"/>
                  <a:gd name="connsiteX17" fmla="*/ 3035300 w 5765800"/>
                  <a:gd name="connsiteY17" fmla="*/ 33734 h 1943100"/>
                  <a:gd name="connsiteX18" fmla="*/ 3063875 w 5765800"/>
                  <a:gd name="connsiteY18" fmla="*/ 38100 h 1943100"/>
                  <a:gd name="connsiteX19" fmla="*/ 3092450 w 5765800"/>
                  <a:gd name="connsiteY19" fmla="*/ 42863 h 1943100"/>
                  <a:gd name="connsiteX20" fmla="*/ 3121025 w 5765800"/>
                  <a:gd name="connsiteY20" fmla="*/ 48419 h 1943100"/>
                  <a:gd name="connsiteX21" fmla="*/ 3149600 w 5765800"/>
                  <a:gd name="connsiteY21" fmla="*/ 53578 h 1943100"/>
                  <a:gd name="connsiteX22" fmla="*/ 3178175 w 5765800"/>
                  <a:gd name="connsiteY22" fmla="*/ 59134 h 1943100"/>
                  <a:gd name="connsiteX23" fmla="*/ 3206750 w 5765800"/>
                  <a:gd name="connsiteY23" fmla="*/ 65088 h 1943100"/>
                  <a:gd name="connsiteX24" fmla="*/ 3234531 w 5765800"/>
                  <a:gd name="connsiteY24" fmla="*/ 71834 h 1943100"/>
                  <a:gd name="connsiteX25" fmla="*/ 3262710 w 5765800"/>
                  <a:gd name="connsiteY25" fmla="*/ 77788 h 1943100"/>
                  <a:gd name="connsiteX26" fmla="*/ 3290888 w 5765800"/>
                  <a:gd name="connsiteY26" fmla="*/ 84931 h 1943100"/>
                  <a:gd name="connsiteX27" fmla="*/ 3319066 w 5765800"/>
                  <a:gd name="connsiteY27" fmla="*/ 92075 h 1943100"/>
                  <a:gd name="connsiteX28" fmla="*/ 3346847 w 5765800"/>
                  <a:gd name="connsiteY28" fmla="*/ 99219 h 1943100"/>
                  <a:gd name="connsiteX29" fmla="*/ 3374628 w 5765800"/>
                  <a:gd name="connsiteY29" fmla="*/ 107156 h 1943100"/>
                  <a:gd name="connsiteX30" fmla="*/ 3402013 w 5765800"/>
                  <a:gd name="connsiteY30" fmla="*/ 115094 h 1943100"/>
                  <a:gd name="connsiteX31" fmla="*/ 3429794 w 5765800"/>
                  <a:gd name="connsiteY31" fmla="*/ 123031 h 1943100"/>
                  <a:gd name="connsiteX32" fmla="*/ 3457178 w 5765800"/>
                  <a:gd name="connsiteY32" fmla="*/ 131366 h 1943100"/>
                  <a:gd name="connsiteX33" fmla="*/ 3484563 w 5765800"/>
                  <a:gd name="connsiteY33" fmla="*/ 140097 h 1943100"/>
                  <a:gd name="connsiteX34" fmla="*/ 3511550 w 5765800"/>
                  <a:gd name="connsiteY34" fmla="*/ 149225 h 1943100"/>
                  <a:gd name="connsiteX35" fmla="*/ 3538935 w 5765800"/>
                  <a:gd name="connsiteY35" fmla="*/ 158353 h 1943100"/>
                  <a:gd name="connsiteX36" fmla="*/ 3565922 w 5765800"/>
                  <a:gd name="connsiteY36" fmla="*/ 167481 h 1943100"/>
                  <a:gd name="connsiteX37" fmla="*/ 3592116 w 5765800"/>
                  <a:gd name="connsiteY37" fmla="*/ 177800 h 1943100"/>
                  <a:gd name="connsiteX38" fmla="*/ 3618706 w 5765800"/>
                  <a:gd name="connsiteY38" fmla="*/ 187722 h 1943100"/>
                  <a:gd name="connsiteX39" fmla="*/ 3645297 w 5765800"/>
                  <a:gd name="connsiteY39" fmla="*/ 198041 h 1943100"/>
                  <a:gd name="connsiteX40" fmla="*/ 3671888 w 5765800"/>
                  <a:gd name="connsiteY40" fmla="*/ 208359 h 1943100"/>
                  <a:gd name="connsiteX41" fmla="*/ 3697685 w 5765800"/>
                  <a:gd name="connsiteY41" fmla="*/ 219472 h 1943100"/>
                  <a:gd name="connsiteX42" fmla="*/ 3724275 w 5765800"/>
                  <a:gd name="connsiteY42" fmla="*/ 230584 h 1943100"/>
                  <a:gd name="connsiteX43" fmla="*/ 3749675 w 5765800"/>
                  <a:gd name="connsiteY43" fmla="*/ 241300 h 1943100"/>
                  <a:gd name="connsiteX44" fmla="*/ 3775869 w 5765800"/>
                  <a:gd name="connsiteY44" fmla="*/ 253603 h 1943100"/>
                  <a:gd name="connsiteX45" fmla="*/ 3801269 w 5765800"/>
                  <a:gd name="connsiteY45" fmla="*/ 264716 h 1943100"/>
                  <a:gd name="connsiteX46" fmla="*/ 3826669 w 5765800"/>
                  <a:gd name="connsiteY46" fmla="*/ 277416 h 1943100"/>
                  <a:gd name="connsiteX47" fmla="*/ 3851672 w 5765800"/>
                  <a:gd name="connsiteY47" fmla="*/ 289719 h 1943100"/>
                  <a:gd name="connsiteX48" fmla="*/ 3876675 w 5765800"/>
                  <a:gd name="connsiteY48" fmla="*/ 302022 h 1943100"/>
                  <a:gd name="connsiteX49" fmla="*/ 3901678 w 5765800"/>
                  <a:gd name="connsiteY49" fmla="*/ 314722 h 1943100"/>
                  <a:gd name="connsiteX50" fmla="*/ 3926285 w 5765800"/>
                  <a:gd name="connsiteY50" fmla="*/ 328216 h 1943100"/>
                  <a:gd name="connsiteX51" fmla="*/ 3950891 w 5765800"/>
                  <a:gd name="connsiteY51" fmla="*/ 341313 h 1943100"/>
                  <a:gd name="connsiteX52" fmla="*/ 3974703 w 5765800"/>
                  <a:gd name="connsiteY52" fmla="*/ 354806 h 1943100"/>
                  <a:gd name="connsiteX53" fmla="*/ 3999310 w 5765800"/>
                  <a:gd name="connsiteY53" fmla="*/ 368697 h 1943100"/>
                  <a:gd name="connsiteX54" fmla="*/ 4023122 w 5765800"/>
                  <a:gd name="connsiteY54" fmla="*/ 382588 h 1943100"/>
                  <a:gd name="connsiteX55" fmla="*/ 4046538 w 5765800"/>
                  <a:gd name="connsiteY55" fmla="*/ 397272 h 1943100"/>
                  <a:gd name="connsiteX56" fmla="*/ 4069953 w 5765800"/>
                  <a:gd name="connsiteY56" fmla="*/ 411559 h 1943100"/>
                  <a:gd name="connsiteX57" fmla="*/ 4093369 w 5765800"/>
                  <a:gd name="connsiteY57" fmla="*/ 426244 h 1943100"/>
                  <a:gd name="connsiteX58" fmla="*/ 4115991 w 5765800"/>
                  <a:gd name="connsiteY58" fmla="*/ 441325 h 1943100"/>
                  <a:gd name="connsiteX59" fmla="*/ 4139010 w 5765800"/>
                  <a:gd name="connsiteY59" fmla="*/ 456406 h 1943100"/>
                  <a:gd name="connsiteX60" fmla="*/ 4162028 w 5765800"/>
                  <a:gd name="connsiteY60" fmla="*/ 471884 h 1943100"/>
                  <a:gd name="connsiteX61" fmla="*/ 4184253 w 5765800"/>
                  <a:gd name="connsiteY61" fmla="*/ 487759 h 1943100"/>
                  <a:gd name="connsiteX62" fmla="*/ 4206478 w 5765800"/>
                  <a:gd name="connsiteY62" fmla="*/ 503634 h 1943100"/>
                  <a:gd name="connsiteX63" fmla="*/ 4228306 w 5765800"/>
                  <a:gd name="connsiteY63" fmla="*/ 519509 h 1943100"/>
                  <a:gd name="connsiteX64" fmla="*/ 4250135 w 5765800"/>
                  <a:gd name="connsiteY64" fmla="*/ 536575 h 1943100"/>
                  <a:gd name="connsiteX65" fmla="*/ 4271566 w 5765800"/>
                  <a:gd name="connsiteY65" fmla="*/ 552847 h 1943100"/>
                  <a:gd name="connsiteX66" fmla="*/ 4292997 w 5765800"/>
                  <a:gd name="connsiteY66" fmla="*/ 569516 h 1943100"/>
                  <a:gd name="connsiteX67" fmla="*/ 4519613 w 5765800"/>
                  <a:gd name="connsiteY67" fmla="*/ 752475 h 1943100"/>
                  <a:gd name="connsiteX68" fmla="*/ 4624388 w 5765800"/>
                  <a:gd name="connsiteY68" fmla="*/ 837406 h 1943100"/>
                  <a:gd name="connsiteX69" fmla="*/ 4724400 w 5765800"/>
                  <a:gd name="connsiteY69" fmla="*/ 919956 h 1943100"/>
                  <a:gd name="connsiteX70" fmla="*/ 4820444 w 5765800"/>
                  <a:gd name="connsiteY70" fmla="*/ 999331 h 1943100"/>
                  <a:gd name="connsiteX71" fmla="*/ 4912916 w 5765800"/>
                  <a:gd name="connsiteY71" fmla="*/ 1077119 h 1943100"/>
                  <a:gd name="connsiteX72" fmla="*/ 4957366 w 5765800"/>
                  <a:gd name="connsiteY72" fmla="*/ 1115616 h 1943100"/>
                  <a:gd name="connsiteX73" fmla="*/ 5001816 w 5765800"/>
                  <a:gd name="connsiteY73" fmla="*/ 1153716 h 1943100"/>
                  <a:gd name="connsiteX74" fmla="*/ 5045472 w 5765800"/>
                  <a:gd name="connsiteY74" fmla="*/ 1192213 h 1943100"/>
                  <a:gd name="connsiteX75" fmla="*/ 5088335 w 5765800"/>
                  <a:gd name="connsiteY75" fmla="*/ 1230313 h 1943100"/>
                  <a:gd name="connsiteX76" fmla="*/ 5131197 w 5765800"/>
                  <a:gd name="connsiteY76" fmla="*/ 1268810 h 1943100"/>
                  <a:gd name="connsiteX77" fmla="*/ 5173663 w 5765800"/>
                  <a:gd name="connsiteY77" fmla="*/ 1307306 h 1943100"/>
                  <a:gd name="connsiteX78" fmla="*/ 5215731 w 5765800"/>
                  <a:gd name="connsiteY78" fmla="*/ 1345803 h 1943100"/>
                  <a:gd name="connsiteX79" fmla="*/ 5257403 w 5765800"/>
                  <a:gd name="connsiteY79" fmla="*/ 1385094 h 1943100"/>
                  <a:gd name="connsiteX80" fmla="*/ 5299075 w 5765800"/>
                  <a:gd name="connsiteY80" fmla="*/ 1424385 h 1943100"/>
                  <a:gd name="connsiteX81" fmla="*/ 5340747 w 5765800"/>
                  <a:gd name="connsiteY81" fmla="*/ 1464072 h 1943100"/>
                  <a:gd name="connsiteX82" fmla="*/ 5381625 w 5765800"/>
                  <a:gd name="connsiteY82" fmla="*/ 1504950 h 1943100"/>
                  <a:gd name="connsiteX83" fmla="*/ 5423297 w 5765800"/>
                  <a:gd name="connsiteY83" fmla="*/ 1546225 h 1943100"/>
                  <a:gd name="connsiteX84" fmla="*/ 5464969 w 5765800"/>
                  <a:gd name="connsiteY84" fmla="*/ 1588294 h 1943100"/>
                  <a:gd name="connsiteX85" fmla="*/ 5507038 w 5765800"/>
                  <a:gd name="connsiteY85" fmla="*/ 1631156 h 1943100"/>
                  <a:gd name="connsiteX86" fmla="*/ 5549106 w 5765800"/>
                  <a:gd name="connsiteY86" fmla="*/ 1675606 h 1943100"/>
                  <a:gd name="connsiteX87" fmla="*/ 5591175 w 5765800"/>
                  <a:gd name="connsiteY87" fmla="*/ 1720453 h 1943100"/>
                  <a:gd name="connsiteX88" fmla="*/ 5634038 w 5765800"/>
                  <a:gd name="connsiteY88" fmla="*/ 1766491 h 1943100"/>
                  <a:gd name="connsiteX89" fmla="*/ 5677297 w 5765800"/>
                  <a:gd name="connsiteY89" fmla="*/ 1813719 h 1943100"/>
                  <a:gd name="connsiteX90" fmla="*/ 5721350 w 5765800"/>
                  <a:gd name="connsiteY90" fmla="*/ 1862931 h 1943100"/>
                  <a:gd name="connsiteX91" fmla="*/ 5765800 w 5765800"/>
                  <a:gd name="connsiteY91" fmla="*/ 1912938 h 1943100"/>
                  <a:gd name="connsiteX92" fmla="*/ 5735638 w 5765800"/>
                  <a:gd name="connsiteY92" fmla="*/ 1914525 h 1943100"/>
                  <a:gd name="connsiteX93" fmla="*/ 5705078 w 5765800"/>
                  <a:gd name="connsiteY93" fmla="*/ 1916510 h 1943100"/>
                  <a:gd name="connsiteX94" fmla="*/ 5673328 w 5765800"/>
                  <a:gd name="connsiteY94" fmla="*/ 1917303 h 1943100"/>
                  <a:gd name="connsiteX95" fmla="*/ 5640388 w 5765800"/>
                  <a:gd name="connsiteY95" fmla="*/ 1943100 h 1943100"/>
                  <a:gd name="connsiteX96" fmla="*/ 4455160 w 5765800"/>
                  <a:gd name="connsiteY96" fmla="*/ 1800542 h 1943100"/>
                  <a:gd name="connsiteX97" fmla="*/ 4409440 w 5765800"/>
                  <a:gd name="connsiteY97" fmla="*/ 1790382 h 1943100"/>
                  <a:gd name="connsiteX98" fmla="*/ 4389120 w 5765800"/>
                  <a:gd name="connsiteY98" fmla="*/ 1785302 h 1943100"/>
                  <a:gd name="connsiteX99" fmla="*/ 4358640 w 5765800"/>
                  <a:gd name="connsiteY99" fmla="*/ 1785302 h 1943100"/>
                  <a:gd name="connsiteX100" fmla="*/ 3566160 w 5765800"/>
                  <a:gd name="connsiteY100" fmla="*/ 1668462 h 1943100"/>
                  <a:gd name="connsiteX101" fmla="*/ 3413760 w 5765800"/>
                  <a:gd name="connsiteY101" fmla="*/ 1648142 h 1943100"/>
                  <a:gd name="connsiteX102" fmla="*/ 2529840 w 5765800"/>
                  <a:gd name="connsiteY102" fmla="*/ 1485582 h 1943100"/>
                  <a:gd name="connsiteX103" fmla="*/ 1559560 w 5765800"/>
                  <a:gd name="connsiteY103" fmla="*/ 1424622 h 1943100"/>
                  <a:gd name="connsiteX104" fmla="*/ 1498600 w 5765800"/>
                  <a:gd name="connsiteY104" fmla="*/ 1419542 h 1943100"/>
                  <a:gd name="connsiteX105" fmla="*/ 858520 w 5765800"/>
                  <a:gd name="connsiteY105" fmla="*/ 1373822 h 1943100"/>
                  <a:gd name="connsiteX106" fmla="*/ 457200 w 5765800"/>
                  <a:gd name="connsiteY106" fmla="*/ 1353502 h 1943100"/>
                  <a:gd name="connsiteX107" fmla="*/ 167640 w 5765800"/>
                  <a:gd name="connsiteY107" fmla="*/ 1343342 h 1943100"/>
                  <a:gd name="connsiteX108" fmla="*/ 0 w 5765800"/>
                  <a:gd name="connsiteY108" fmla="*/ 1184672 h 1943100"/>
                  <a:gd name="connsiteX109" fmla="*/ 0 w 5765800"/>
                  <a:gd name="connsiteY109" fmla="*/ 0 h 1943100"/>
                  <a:gd name="connsiteX0" fmla="*/ 0 w 5765800"/>
                  <a:gd name="connsiteY0" fmla="*/ 0 h 1917303"/>
                  <a:gd name="connsiteX1" fmla="*/ 2595960 w 5765800"/>
                  <a:gd name="connsiteY1" fmla="*/ 0 h 1917303"/>
                  <a:gd name="connsiteX2" fmla="*/ 2597547 w 5765800"/>
                  <a:gd name="connsiteY2" fmla="*/ 0 h 1917303"/>
                  <a:gd name="connsiteX3" fmla="*/ 2626519 w 5765800"/>
                  <a:gd name="connsiteY3" fmla="*/ 0 h 1917303"/>
                  <a:gd name="connsiteX4" fmla="*/ 2656285 w 5765800"/>
                  <a:gd name="connsiteY4" fmla="*/ 397 h 1917303"/>
                  <a:gd name="connsiteX5" fmla="*/ 2685256 w 5765800"/>
                  <a:gd name="connsiteY5" fmla="*/ 1191 h 1917303"/>
                  <a:gd name="connsiteX6" fmla="*/ 2715022 w 5765800"/>
                  <a:gd name="connsiteY6" fmla="*/ 2381 h 1917303"/>
                  <a:gd name="connsiteX7" fmla="*/ 2743994 w 5765800"/>
                  <a:gd name="connsiteY7" fmla="*/ 3572 h 1917303"/>
                  <a:gd name="connsiteX8" fmla="*/ 2773760 w 5765800"/>
                  <a:gd name="connsiteY8" fmla="*/ 5159 h 1917303"/>
                  <a:gd name="connsiteX9" fmla="*/ 2802731 w 5765800"/>
                  <a:gd name="connsiteY9" fmla="*/ 7541 h 1917303"/>
                  <a:gd name="connsiteX10" fmla="*/ 2832100 w 5765800"/>
                  <a:gd name="connsiteY10" fmla="*/ 9922 h 1917303"/>
                  <a:gd name="connsiteX11" fmla="*/ 2861072 w 5765800"/>
                  <a:gd name="connsiteY11" fmla="*/ 11906 h 1917303"/>
                  <a:gd name="connsiteX12" fmla="*/ 2890044 w 5765800"/>
                  <a:gd name="connsiteY12" fmla="*/ 15081 h 1917303"/>
                  <a:gd name="connsiteX13" fmla="*/ 2919413 w 5765800"/>
                  <a:gd name="connsiteY13" fmla="*/ 18256 h 1917303"/>
                  <a:gd name="connsiteX14" fmla="*/ 2948385 w 5765800"/>
                  <a:gd name="connsiteY14" fmla="*/ 21828 h 1917303"/>
                  <a:gd name="connsiteX15" fmla="*/ 2977356 w 5765800"/>
                  <a:gd name="connsiteY15" fmla="*/ 25400 h 1917303"/>
                  <a:gd name="connsiteX16" fmla="*/ 3005931 w 5765800"/>
                  <a:gd name="connsiteY16" fmla="*/ 29369 h 1917303"/>
                  <a:gd name="connsiteX17" fmla="*/ 3035300 w 5765800"/>
                  <a:gd name="connsiteY17" fmla="*/ 33734 h 1917303"/>
                  <a:gd name="connsiteX18" fmla="*/ 3063875 w 5765800"/>
                  <a:gd name="connsiteY18" fmla="*/ 38100 h 1917303"/>
                  <a:gd name="connsiteX19" fmla="*/ 3092450 w 5765800"/>
                  <a:gd name="connsiteY19" fmla="*/ 42863 h 1917303"/>
                  <a:gd name="connsiteX20" fmla="*/ 3121025 w 5765800"/>
                  <a:gd name="connsiteY20" fmla="*/ 48419 h 1917303"/>
                  <a:gd name="connsiteX21" fmla="*/ 3149600 w 5765800"/>
                  <a:gd name="connsiteY21" fmla="*/ 53578 h 1917303"/>
                  <a:gd name="connsiteX22" fmla="*/ 3178175 w 5765800"/>
                  <a:gd name="connsiteY22" fmla="*/ 59134 h 1917303"/>
                  <a:gd name="connsiteX23" fmla="*/ 3206750 w 5765800"/>
                  <a:gd name="connsiteY23" fmla="*/ 65088 h 1917303"/>
                  <a:gd name="connsiteX24" fmla="*/ 3234531 w 5765800"/>
                  <a:gd name="connsiteY24" fmla="*/ 71834 h 1917303"/>
                  <a:gd name="connsiteX25" fmla="*/ 3262710 w 5765800"/>
                  <a:gd name="connsiteY25" fmla="*/ 77788 h 1917303"/>
                  <a:gd name="connsiteX26" fmla="*/ 3290888 w 5765800"/>
                  <a:gd name="connsiteY26" fmla="*/ 84931 h 1917303"/>
                  <a:gd name="connsiteX27" fmla="*/ 3319066 w 5765800"/>
                  <a:gd name="connsiteY27" fmla="*/ 92075 h 1917303"/>
                  <a:gd name="connsiteX28" fmla="*/ 3346847 w 5765800"/>
                  <a:gd name="connsiteY28" fmla="*/ 99219 h 1917303"/>
                  <a:gd name="connsiteX29" fmla="*/ 3374628 w 5765800"/>
                  <a:gd name="connsiteY29" fmla="*/ 107156 h 1917303"/>
                  <a:gd name="connsiteX30" fmla="*/ 3402013 w 5765800"/>
                  <a:gd name="connsiteY30" fmla="*/ 115094 h 1917303"/>
                  <a:gd name="connsiteX31" fmla="*/ 3429794 w 5765800"/>
                  <a:gd name="connsiteY31" fmla="*/ 123031 h 1917303"/>
                  <a:gd name="connsiteX32" fmla="*/ 3457178 w 5765800"/>
                  <a:gd name="connsiteY32" fmla="*/ 131366 h 1917303"/>
                  <a:gd name="connsiteX33" fmla="*/ 3484563 w 5765800"/>
                  <a:gd name="connsiteY33" fmla="*/ 140097 h 1917303"/>
                  <a:gd name="connsiteX34" fmla="*/ 3511550 w 5765800"/>
                  <a:gd name="connsiteY34" fmla="*/ 149225 h 1917303"/>
                  <a:gd name="connsiteX35" fmla="*/ 3538935 w 5765800"/>
                  <a:gd name="connsiteY35" fmla="*/ 158353 h 1917303"/>
                  <a:gd name="connsiteX36" fmla="*/ 3565922 w 5765800"/>
                  <a:gd name="connsiteY36" fmla="*/ 167481 h 1917303"/>
                  <a:gd name="connsiteX37" fmla="*/ 3592116 w 5765800"/>
                  <a:gd name="connsiteY37" fmla="*/ 177800 h 1917303"/>
                  <a:gd name="connsiteX38" fmla="*/ 3618706 w 5765800"/>
                  <a:gd name="connsiteY38" fmla="*/ 187722 h 1917303"/>
                  <a:gd name="connsiteX39" fmla="*/ 3645297 w 5765800"/>
                  <a:gd name="connsiteY39" fmla="*/ 198041 h 1917303"/>
                  <a:gd name="connsiteX40" fmla="*/ 3671888 w 5765800"/>
                  <a:gd name="connsiteY40" fmla="*/ 208359 h 1917303"/>
                  <a:gd name="connsiteX41" fmla="*/ 3697685 w 5765800"/>
                  <a:gd name="connsiteY41" fmla="*/ 219472 h 1917303"/>
                  <a:gd name="connsiteX42" fmla="*/ 3724275 w 5765800"/>
                  <a:gd name="connsiteY42" fmla="*/ 230584 h 1917303"/>
                  <a:gd name="connsiteX43" fmla="*/ 3749675 w 5765800"/>
                  <a:gd name="connsiteY43" fmla="*/ 241300 h 1917303"/>
                  <a:gd name="connsiteX44" fmla="*/ 3775869 w 5765800"/>
                  <a:gd name="connsiteY44" fmla="*/ 253603 h 1917303"/>
                  <a:gd name="connsiteX45" fmla="*/ 3801269 w 5765800"/>
                  <a:gd name="connsiteY45" fmla="*/ 264716 h 1917303"/>
                  <a:gd name="connsiteX46" fmla="*/ 3826669 w 5765800"/>
                  <a:gd name="connsiteY46" fmla="*/ 277416 h 1917303"/>
                  <a:gd name="connsiteX47" fmla="*/ 3851672 w 5765800"/>
                  <a:gd name="connsiteY47" fmla="*/ 289719 h 1917303"/>
                  <a:gd name="connsiteX48" fmla="*/ 3876675 w 5765800"/>
                  <a:gd name="connsiteY48" fmla="*/ 302022 h 1917303"/>
                  <a:gd name="connsiteX49" fmla="*/ 3901678 w 5765800"/>
                  <a:gd name="connsiteY49" fmla="*/ 314722 h 1917303"/>
                  <a:gd name="connsiteX50" fmla="*/ 3926285 w 5765800"/>
                  <a:gd name="connsiteY50" fmla="*/ 328216 h 1917303"/>
                  <a:gd name="connsiteX51" fmla="*/ 3950891 w 5765800"/>
                  <a:gd name="connsiteY51" fmla="*/ 341313 h 1917303"/>
                  <a:gd name="connsiteX52" fmla="*/ 3974703 w 5765800"/>
                  <a:gd name="connsiteY52" fmla="*/ 354806 h 1917303"/>
                  <a:gd name="connsiteX53" fmla="*/ 3999310 w 5765800"/>
                  <a:gd name="connsiteY53" fmla="*/ 368697 h 1917303"/>
                  <a:gd name="connsiteX54" fmla="*/ 4023122 w 5765800"/>
                  <a:gd name="connsiteY54" fmla="*/ 382588 h 1917303"/>
                  <a:gd name="connsiteX55" fmla="*/ 4046538 w 5765800"/>
                  <a:gd name="connsiteY55" fmla="*/ 397272 h 1917303"/>
                  <a:gd name="connsiteX56" fmla="*/ 4069953 w 5765800"/>
                  <a:gd name="connsiteY56" fmla="*/ 411559 h 1917303"/>
                  <a:gd name="connsiteX57" fmla="*/ 4093369 w 5765800"/>
                  <a:gd name="connsiteY57" fmla="*/ 426244 h 1917303"/>
                  <a:gd name="connsiteX58" fmla="*/ 4115991 w 5765800"/>
                  <a:gd name="connsiteY58" fmla="*/ 441325 h 1917303"/>
                  <a:gd name="connsiteX59" fmla="*/ 4139010 w 5765800"/>
                  <a:gd name="connsiteY59" fmla="*/ 456406 h 1917303"/>
                  <a:gd name="connsiteX60" fmla="*/ 4162028 w 5765800"/>
                  <a:gd name="connsiteY60" fmla="*/ 471884 h 1917303"/>
                  <a:gd name="connsiteX61" fmla="*/ 4184253 w 5765800"/>
                  <a:gd name="connsiteY61" fmla="*/ 487759 h 1917303"/>
                  <a:gd name="connsiteX62" fmla="*/ 4206478 w 5765800"/>
                  <a:gd name="connsiteY62" fmla="*/ 503634 h 1917303"/>
                  <a:gd name="connsiteX63" fmla="*/ 4228306 w 5765800"/>
                  <a:gd name="connsiteY63" fmla="*/ 519509 h 1917303"/>
                  <a:gd name="connsiteX64" fmla="*/ 4250135 w 5765800"/>
                  <a:gd name="connsiteY64" fmla="*/ 536575 h 1917303"/>
                  <a:gd name="connsiteX65" fmla="*/ 4271566 w 5765800"/>
                  <a:gd name="connsiteY65" fmla="*/ 552847 h 1917303"/>
                  <a:gd name="connsiteX66" fmla="*/ 4292997 w 5765800"/>
                  <a:gd name="connsiteY66" fmla="*/ 569516 h 1917303"/>
                  <a:gd name="connsiteX67" fmla="*/ 4519613 w 5765800"/>
                  <a:gd name="connsiteY67" fmla="*/ 752475 h 1917303"/>
                  <a:gd name="connsiteX68" fmla="*/ 4624388 w 5765800"/>
                  <a:gd name="connsiteY68" fmla="*/ 837406 h 1917303"/>
                  <a:gd name="connsiteX69" fmla="*/ 4724400 w 5765800"/>
                  <a:gd name="connsiteY69" fmla="*/ 919956 h 1917303"/>
                  <a:gd name="connsiteX70" fmla="*/ 4820444 w 5765800"/>
                  <a:gd name="connsiteY70" fmla="*/ 999331 h 1917303"/>
                  <a:gd name="connsiteX71" fmla="*/ 4912916 w 5765800"/>
                  <a:gd name="connsiteY71" fmla="*/ 1077119 h 1917303"/>
                  <a:gd name="connsiteX72" fmla="*/ 4957366 w 5765800"/>
                  <a:gd name="connsiteY72" fmla="*/ 1115616 h 1917303"/>
                  <a:gd name="connsiteX73" fmla="*/ 5001816 w 5765800"/>
                  <a:gd name="connsiteY73" fmla="*/ 1153716 h 1917303"/>
                  <a:gd name="connsiteX74" fmla="*/ 5045472 w 5765800"/>
                  <a:gd name="connsiteY74" fmla="*/ 1192213 h 1917303"/>
                  <a:gd name="connsiteX75" fmla="*/ 5088335 w 5765800"/>
                  <a:gd name="connsiteY75" fmla="*/ 1230313 h 1917303"/>
                  <a:gd name="connsiteX76" fmla="*/ 5131197 w 5765800"/>
                  <a:gd name="connsiteY76" fmla="*/ 1268810 h 1917303"/>
                  <a:gd name="connsiteX77" fmla="*/ 5173663 w 5765800"/>
                  <a:gd name="connsiteY77" fmla="*/ 1307306 h 1917303"/>
                  <a:gd name="connsiteX78" fmla="*/ 5215731 w 5765800"/>
                  <a:gd name="connsiteY78" fmla="*/ 1345803 h 1917303"/>
                  <a:gd name="connsiteX79" fmla="*/ 5257403 w 5765800"/>
                  <a:gd name="connsiteY79" fmla="*/ 1385094 h 1917303"/>
                  <a:gd name="connsiteX80" fmla="*/ 5299075 w 5765800"/>
                  <a:gd name="connsiteY80" fmla="*/ 1424385 h 1917303"/>
                  <a:gd name="connsiteX81" fmla="*/ 5340747 w 5765800"/>
                  <a:gd name="connsiteY81" fmla="*/ 1464072 h 1917303"/>
                  <a:gd name="connsiteX82" fmla="*/ 5381625 w 5765800"/>
                  <a:gd name="connsiteY82" fmla="*/ 1504950 h 1917303"/>
                  <a:gd name="connsiteX83" fmla="*/ 5423297 w 5765800"/>
                  <a:gd name="connsiteY83" fmla="*/ 1546225 h 1917303"/>
                  <a:gd name="connsiteX84" fmla="*/ 5464969 w 5765800"/>
                  <a:gd name="connsiteY84" fmla="*/ 1588294 h 1917303"/>
                  <a:gd name="connsiteX85" fmla="*/ 5507038 w 5765800"/>
                  <a:gd name="connsiteY85" fmla="*/ 1631156 h 1917303"/>
                  <a:gd name="connsiteX86" fmla="*/ 5549106 w 5765800"/>
                  <a:gd name="connsiteY86" fmla="*/ 1675606 h 1917303"/>
                  <a:gd name="connsiteX87" fmla="*/ 5591175 w 5765800"/>
                  <a:gd name="connsiteY87" fmla="*/ 1720453 h 1917303"/>
                  <a:gd name="connsiteX88" fmla="*/ 5634038 w 5765800"/>
                  <a:gd name="connsiteY88" fmla="*/ 1766491 h 1917303"/>
                  <a:gd name="connsiteX89" fmla="*/ 5677297 w 5765800"/>
                  <a:gd name="connsiteY89" fmla="*/ 1813719 h 1917303"/>
                  <a:gd name="connsiteX90" fmla="*/ 5721350 w 5765800"/>
                  <a:gd name="connsiteY90" fmla="*/ 1862931 h 1917303"/>
                  <a:gd name="connsiteX91" fmla="*/ 5765800 w 5765800"/>
                  <a:gd name="connsiteY91" fmla="*/ 1912938 h 1917303"/>
                  <a:gd name="connsiteX92" fmla="*/ 5735638 w 5765800"/>
                  <a:gd name="connsiteY92" fmla="*/ 1914525 h 1917303"/>
                  <a:gd name="connsiteX93" fmla="*/ 5705078 w 5765800"/>
                  <a:gd name="connsiteY93" fmla="*/ 1916510 h 1917303"/>
                  <a:gd name="connsiteX94" fmla="*/ 5673328 w 5765800"/>
                  <a:gd name="connsiteY94" fmla="*/ 1917303 h 1917303"/>
                  <a:gd name="connsiteX95" fmla="*/ 4455160 w 5765800"/>
                  <a:gd name="connsiteY95" fmla="*/ 1800542 h 1917303"/>
                  <a:gd name="connsiteX96" fmla="*/ 4409440 w 5765800"/>
                  <a:gd name="connsiteY96" fmla="*/ 1790382 h 1917303"/>
                  <a:gd name="connsiteX97" fmla="*/ 4389120 w 5765800"/>
                  <a:gd name="connsiteY97" fmla="*/ 1785302 h 1917303"/>
                  <a:gd name="connsiteX98" fmla="*/ 4358640 w 5765800"/>
                  <a:gd name="connsiteY98" fmla="*/ 1785302 h 1917303"/>
                  <a:gd name="connsiteX99" fmla="*/ 3566160 w 5765800"/>
                  <a:gd name="connsiteY99" fmla="*/ 1668462 h 1917303"/>
                  <a:gd name="connsiteX100" fmla="*/ 3413760 w 5765800"/>
                  <a:gd name="connsiteY100" fmla="*/ 1648142 h 1917303"/>
                  <a:gd name="connsiteX101" fmla="*/ 2529840 w 5765800"/>
                  <a:gd name="connsiteY101" fmla="*/ 1485582 h 1917303"/>
                  <a:gd name="connsiteX102" fmla="*/ 1559560 w 5765800"/>
                  <a:gd name="connsiteY102" fmla="*/ 1424622 h 1917303"/>
                  <a:gd name="connsiteX103" fmla="*/ 1498600 w 5765800"/>
                  <a:gd name="connsiteY103" fmla="*/ 1419542 h 1917303"/>
                  <a:gd name="connsiteX104" fmla="*/ 858520 w 5765800"/>
                  <a:gd name="connsiteY104" fmla="*/ 1373822 h 1917303"/>
                  <a:gd name="connsiteX105" fmla="*/ 457200 w 5765800"/>
                  <a:gd name="connsiteY105" fmla="*/ 1353502 h 1917303"/>
                  <a:gd name="connsiteX106" fmla="*/ 167640 w 5765800"/>
                  <a:gd name="connsiteY106" fmla="*/ 1343342 h 1917303"/>
                  <a:gd name="connsiteX107" fmla="*/ 0 w 5765800"/>
                  <a:gd name="connsiteY107" fmla="*/ 1184672 h 1917303"/>
                  <a:gd name="connsiteX108" fmla="*/ 0 w 5765800"/>
                  <a:gd name="connsiteY108" fmla="*/ 0 h 1917303"/>
                  <a:gd name="connsiteX0" fmla="*/ 0 w 5765800"/>
                  <a:gd name="connsiteY0" fmla="*/ 0 h 1916510"/>
                  <a:gd name="connsiteX1" fmla="*/ 2595960 w 5765800"/>
                  <a:gd name="connsiteY1" fmla="*/ 0 h 1916510"/>
                  <a:gd name="connsiteX2" fmla="*/ 2597547 w 5765800"/>
                  <a:gd name="connsiteY2" fmla="*/ 0 h 1916510"/>
                  <a:gd name="connsiteX3" fmla="*/ 2626519 w 5765800"/>
                  <a:gd name="connsiteY3" fmla="*/ 0 h 1916510"/>
                  <a:gd name="connsiteX4" fmla="*/ 2656285 w 5765800"/>
                  <a:gd name="connsiteY4" fmla="*/ 397 h 1916510"/>
                  <a:gd name="connsiteX5" fmla="*/ 2685256 w 5765800"/>
                  <a:gd name="connsiteY5" fmla="*/ 1191 h 1916510"/>
                  <a:gd name="connsiteX6" fmla="*/ 2715022 w 5765800"/>
                  <a:gd name="connsiteY6" fmla="*/ 2381 h 1916510"/>
                  <a:gd name="connsiteX7" fmla="*/ 2743994 w 5765800"/>
                  <a:gd name="connsiteY7" fmla="*/ 3572 h 1916510"/>
                  <a:gd name="connsiteX8" fmla="*/ 2773760 w 5765800"/>
                  <a:gd name="connsiteY8" fmla="*/ 5159 h 1916510"/>
                  <a:gd name="connsiteX9" fmla="*/ 2802731 w 5765800"/>
                  <a:gd name="connsiteY9" fmla="*/ 7541 h 1916510"/>
                  <a:gd name="connsiteX10" fmla="*/ 2832100 w 5765800"/>
                  <a:gd name="connsiteY10" fmla="*/ 9922 h 1916510"/>
                  <a:gd name="connsiteX11" fmla="*/ 2861072 w 5765800"/>
                  <a:gd name="connsiteY11" fmla="*/ 11906 h 1916510"/>
                  <a:gd name="connsiteX12" fmla="*/ 2890044 w 5765800"/>
                  <a:gd name="connsiteY12" fmla="*/ 15081 h 1916510"/>
                  <a:gd name="connsiteX13" fmla="*/ 2919413 w 5765800"/>
                  <a:gd name="connsiteY13" fmla="*/ 18256 h 1916510"/>
                  <a:gd name="connsiteX14" fmla="*/ 2948385 w 5765800"/>
                  <a:gd name="connsiteY14" fmla="*/ 21828 h 1916510"/>
                  <a:gd name="connsiteX15" fmla="*/ 2977356 w 5765800"/>
                  <a:gd name="connsiteY15" fmla="*/ 25400 h 1916510"/>
                  <a:gd name="connsiteX16" fmla="*/ 3005931 w 5765800"/>
                  <a:gd name="connsiteY16" fmla="*/ 29369 h 1916510"/>
                  <a:gd name="connsiteX17" fmla="*/ 3035300 w 5765800"/>
                  <a:gd name="connsiteY17" fmla="*/ 33734 h 1916510"/>
                  <a:gd name="connsiteX18" fmla="*/ 3063875 w 5765800"/>
                  <a:gd name="connsiteY18" fmla="*/ 38100 h 1916510"/>
                  <a:gd name="connsiteX19" fmla="*/ 3092450 w 5765800"/>
                  <a:gd name="connsiteY19" fmla="*/ 42863 h 1916510"/>
                  <a:gd name="connsiteX20" fmla="*/ 3121025 w 5765800"/>
                  <a:gd name="connsiteY20" fmla="*/ 48419 h 1916510"/>
                  <a:gd name="connsiteX21" fmla="*/ 3149600 w 5765800"/>
                  <a:gd name="connsiteY21" fmla="*/ 53578 h 1916510"/>
                  <a:gd name="connsiteX22" fmla="*/ 3178175 w 5765800"/>
                  <a:gd name="connsiteY22" fmla="*/ 59134 h 1916510"/>
                  <a:gd name="connsiteX23" fmla="*/ 3206750 w 5765800"/>
                  <a:gd name="connsiteY23" fmla="*/ 65088 h 1916510"/>
                  <a:gd name="connsiteX24" fmla="*/ 3234531 w 5765800"/>
                  <a:gd name="connsiteY24" fmla="*/ 71834 h 1916510"/>
                  <a:gd name="connsiteX25" fmla="*/ 3262710 w 5765800"/>
                  <a:gd name="connsiteY25" fmla="*/ 77788 h 1916510"/>
                  <a:gd name="connsiteX26" fmla="*/ 3290888 w 5765800"/>
                  <a:gd name="connsiteY26" fmla="*/ 84931 h 1916510"/>
                  <a:gd name="connsiteX27" fmla="*/ 3319066 w 5765800"/>
                  <a:gd name="connsiteY27" fmla="*/ 92075 h 1916510"/>
                  <a:gd name="connsiteX28" fmla="*/ 3346847 w 5765800"/>
                  <a:gd name="connsiteY28" fmla="*/ 99219 h 1916510"/>
                  <a:gd name="connsiteX29" fmla="*/ 3374628 w 5765800"/>
                  <a:gd name="connsiteY29" fmla="*/ 107156 h 1916510"/>
                  <a:gd name="connsiteX30" fmla="*/ 3402013 w 5765800"/>
                  <a:gd name="connsiteY30" fmla="*/ 115094 h 1916510"/>
                  <a:gd name="connsiteX31" fmla="*/ 3429794 w 5765800"/>
                  <a:gd name="connsiteY31" fmla="*/ 123031 h 1916510"/>
                  <a:gd name="connsiteX32" fmla="*/ 3457178 w 5765800"/>
                  <a:gd name="connsiteY32" fmla="*/ 131366 h 1916510"/>
                  <a:gd name="connsiteX33" fmla="*/ 3484563 w 5765800"/>
                  <a:gd name="connsiteY33" fmla="*/ 140097 h 1916510"/>
                  <a:gd name="connsiteX34" fmla="*/ 3511550 w 5765800"/>
                  <a:gd name="connsiteY34" fmla="*/ 149225 h 1916510"/>
                  <a:gd name="connsiteX35" fmla="*/ 3538935 w 5765800"/>
                  <a:gd name="connsiteY35" fmla="*/ 158353 h 1916510"/>
                  <a:gd name="connsiteX36" fmla="*/ 3565922 w 5765800"/>
                  <a:gd name="connsiteY36" fmla="*/ 167481 h 1916510"/>
                  <a:gd name="connsiteX37" fmla="*/ 3592116 w 5765800"/>
                  <a:gd name="connsiteY37" fmla="*/ 177800 h 1916510"/>
                  <a:gd name="connsiteX38" fmla="*/ 3618706 w 5765800"/>
                  <a:gd name="connsiteY38" fmla="*/ 187722 h 1916510"/>
                  <a:gd name="connsiteX39" fmla="*/ 3645297 w 5765800"/>
                  <a:gd name="connsiteY39" fmla="*/ 198041 h 1916510"/>
                  <a:gd name="connsiteX40" fmla="*/ 3671888 w 5765800"/>
                  <a:gd name="connsiteY40" fmla="*/ 208359 h 1916510"/>
                  <a:gd name="connsiteX41" fmla="*/ 3697685 w 5765800"/>
                  <a:gd name="connsiteY41" fmla="*/ 219472 h 1916510"/>
                  <a:gd name="connsiteX42" fmla="*/ 3724275 w 5765800"/>
                  <a:gd name="connsiteY42" fmla="*/ 230584 h 1916510"/>
                  <a:gd name="connsiteX43" fmla="*/ 3749675 w 5765800"/>
                  <a:gd name="connsiteY43" fmla="*/ 241300 h 1916510"/>
                  <a:gd name="connsiteX44" fmla="*/ 3775869 w 5765800"/>
                  <a:gd name="connsiteY44" fmla="*/ 253603 h 1916510"/>
                  <a:gd name="connsiteX45" fmla="*/ 3801269 w 5765800"/>
                  <a:gd name="connsiteY45" fmla="*/ 264716 h 1916510"/>
                  <a:gd name="connsiteX46" fmla="*/ 3826669 w 5765800"/>
                  <a:gd name="connsiteY46" fmla="*/ 277416 h 1916510"/>
                  <a:gd name="connsiteX47" fmla="*/ 3851672 w 5765800"/>
                  <a:gd name="connsiteY47" fmla="*/ 289719 h 1916510"/>
                  <a:gd name="connsiteX48" fmla="*/ 3876675 w 5765800"/>
                  <a:gd name="connsiteY48" fmla="*/ 302022 h 1916510"/>
                  <a:gd name="connsiteX49" fmla="*/ 3901678 w 5765800"/>
                  <a:gd name="connsiteY49" fmla="*/ 314722 h 1916510"/>
                  <a:gd name="connsiteX50" fmla="*/ 3926285 w 5765800"/>
                  <a:gd name="connsiteY50" fmla="*/ 328216 h 1916510"/>
                  <a:gd name="connsiteX51" fmla="*/ 3950891 w 5765800"/>
                  <a:gd name="connsiteY51" fmla="*/ 341313 h 1916510"/>
                  <a:gd name="connsiteX52" fmla="*/ 3974703 w 5765800"/>
                  <a:gd name="connsiteY52" fmla="*/ 354806 h 1916510"/>
                  <a:gd name="connsiteX53" fmla="*/ 3999310 w 5765800"/>
                  <a:gd name="connsiteY53" fmla="*/ 368697 h 1916510"/>
                  <a:gd name="connsiteX54" fmla="*/ 4023122 w 5765800"/>
                  <a:gd name="connsiteY54" fmla="*/ 382588 h 1916510"/>
                  <a:gd name="connsiteX55" fmla="*/ 4046538 w 5765800"/>
                  <a:gd name="connsiteY55" fmla="*/ 397272 h 1916510"/>
                  <a:gd name="connsiteX56" fmla="*/ 4069953 w 5765800"/>
                  <a:gd name="connsiteY56" fmla="*/ 411559 h 1916510"/>
                  <a:gd name="connsiteX57" fmla="*/ 4093369 w 5765800"/>
                  <a:gd name="connsiteY57" fmla="*/ 426244 h 1916510"/>
                  <a:gd name="connsiteX58" fmla="*/ 4115991 w 5765800"/>
                  <a:gd name="connsiteY58" fmla="*/ 441325 h 1916510"/>
                  <a:gd name="connsiteX59" fmla="*/ 4139010 w 5765800"/>
                  <a:gd name="connsiteY59" fmla="*/ 456406 h 1916510"/>
                  <a:gd name="connsiteX60" fmla="*/ 4162028 w 5765800"/>
                  <a:gd name="connsiteY60" fmla="*/ 471884 h 1916510"/>
                  <a:gd name="connsiteX61" fmla="*/ 4184253 w 5765800"/>
                  <a:gd name="connsiteY61" fmla="*/ 487759 h 1916510"/>
                  <a:gd name="connsiteX62" fmla="*/ 4206478 w 5765800"/>
                  <a:gd name="connsiteY62" fmla="*/ 503634 h 1916510"/>
                  <a:gd name="connsiteX63" fmla="*/ 4228306 w 5765800"/>
                  <a:gd name="connsiteY63" fmla="*/ 519509 h 1916510"/>
                  <a:gd name="connsiteX64" fmla="*/ 4250135 w 5765800"/>
                  <a:gd name="connsiteY64" fmla="*/ 536575 h 1916510"/>
                  <a:gd name="connsiteX65" fmla="*/ 4271566 w 5765800"/>
                  <a:gd name="connsiteY65" fmla="*/ 552847 h 1916510"/>
                  <a:gd name="connsiteX66" fmla="*/ 4292997 w 5765800"/>
                  <a:gd name="connsiteY66" fmla="*/ 569516 h 1916510"/>
                  <a:gd name="connsiteX67" fmla="*/ 4519613 w 5765800"/>
                  <a:gd name="connsiteY67" fmla="*/ 752475 h 1916510"/>
                  <a:gd name="connsiteX68" fmla="*/ 4624388 w 5765800"/>
                  <a:gd name="connsiteY68" fmla="*/ 837406 h 1916510"/>
                  <a:gd name="connsiteX69" fmla="*/ 4724400 w 5765800"/>
                  <a:gd name="connsiteY69" fmla="*/ 919956 h 1916510"/>
                  <a:gd name="connsiteX70" fmla="*/ 4820444 w 5765800"/>
                  <a:gd name="connsiteY70" fmla="*/ 999331 h 1916510"/>
                  <a:gd name="connsiteX71" fmla="*/ 4912916 w 5765800"/>
                  <a:gd name="connsiteY71" fmla="*/ 1077119 h 1916510"/>
                  <a:gd name="connsiteX72" fmla="*/ 4957366 w 5765800"/>
                  <a:gd name="connsiteY72" fmla="*/ 1115616 h 1916510"/>
                  <a:gd name="connsiteX73" fmla="*/ 5001816 w 5765800"/>
                  <a:gd name="connsiteY73" fmla="*/ 1153716 h 1916510"/>
                  <a:gd name="connsiteX74" fmla="*/ 5045472 w 5765800"/>
                  <a:gd name="connsiteY74" fmla="*/ 1192213 h 1916510"/>
                  <a:gd name="connsiteX75" fmla="*/ 5088335 w 5765800"/>
                  <a:gd name="connsiteY75" fmla="*/ 1230313 h 1916510"/>
                  <a:gd name="connsiteX76" fmla="*/ 5131197 w 5765800"/>
                  <a:gd name="connsiteY76" fmla="*/ 1268810 h 1916510"/>
                  <a:gd name="connsiteX77" fmla="*/ 5173663 w 5765800"/>
                  <a:gd name="connsiteY77" fmla="*/ 1307306 h 1916510"/>
                  <a:gd name="connsiteX78" fmla="*/ 5215731 w 5765800"/>
                  <a:gd name="connsiteY78" fmla="*/ 1345803 h 1916510"/>
                  <a:gd name="connsiteX79" fmla="*/ 5257403 w 5765800"/>
                  <a:gd name="connsiteY79" fmla="*/ 1385094 h 1916510"/>
                  <a:gd name="connsiteX80" fmla="*/ 5299075 w 5765800"/>
                  <a:gd name="connsiteY80" fmla="*/ 1424385 h 1916510"/>
                  <a:gd name="connsiteX81" fmla="*/ 5340747 w 5765800"/>
                  <a:gd name="connsiteY81" fmla="*/ 1464072 h 1916510"/>
                  <a:gd name="connsiteX82" fmla="*/ 5381625 w 5765800"/>
                  <a:gd name="connsiteY82" fmla="*/ 1504950 h 1916510"/>
                  <a:gd name="connsiteX83" fmla="*/ 5423297 w 5765800"/>
                  <a:gd name="connsiteY83" fmla="*/ 1546225 h 1916510"/>
                  <a:gd name="connsiteX84" fmla="*/ 5464969 w 5765800"/>
                  <a:gd name="connsiteY84" fmla="*/ 1588294 h 1916510"/>
                  <a:gd name="connsiteX85" fmla="*/ 5507038 w 5765800"/>
                  <a:gd name="connsiteY85" fmla="*/ 1631156 h 1916510"/>
                  <a:gd name="connsiteX86" fmla="*/ 5549106 w 5765800"/>
                  <a:gd name="connsiteY86" fmla="*/ 1675606 h 1916510"/>
                  <a:gd name="connsiteX87" fmla="*/ 5591175 w 5765800"/>
                  <a:gd name="connsiteY87" fmla="*/ 1720453 h 1916510"/>
                  <a:gd name="connsiteX88" fmla="*/ 5634038 w 5765800"/>
                  <a:gd name="connsiteY88" fmla="*/ 1766491 h 1916510"/>
                  <a:gd name="connsiteX89" fmla="*/ 5677297 w 5765800"/>
                  <a:gd name="connsiteY89" fmla="*/ 1813719 h 1916510"/>
                  <a:gd name="connsiteX90" fmla="*/ 5721350 w 5765800"/>
                  <a:gd name="connsiteY90" fmla="*/ 1862931 h 1916510"/>
                  <a:gd name="connsiteX91" fmla="*/ 5765800 w 5765800"/>
                  <a:gd name="connsiteY91" fmla="*/ 1912938 h 1916510"/>
                  <a:gd name="connsiteX92" fmla="*/ 5735638 w 5765800"/>
                  <a:gd name="connsiteY92" fmla="*/ 1914525 h 1916510"/>
                  <a:gd name="connsiteX93" fmla="*/ 5705078 w 5765800"/>
                  <a:gd name="connsiteY93" fmla="*/ 1916510 h 1916510"/>
                  <a:gd name="connsiteX94" fmla="*/ 4455160 w 5765800"/>
                  <a:gd name="connsiteY94" fmla="*/ 1800542 h 1916510"/>
                  <a:gd name="connsiteX95" fmla="*/ 4409440 w 5765800"/>
                  <a:gd name="connsiteY95" fmla="*/ 1790382 h 1916510"/>
                  <a:gd name="connsiteX96" fmla="*/ 4389120 w 5765800"/>
                  <a:gd name="connsiteY96" fmla="*/ 1785302 h 1916510"/>
                  <a:gd name="connsiteX97" fmla="*/ 4358640 w 5765800"/>
                  <a:gd name="connsiteY97" fmla="*/ 1785302 h 1916510"/>
                  <a:gd name="connsiteX98" fmla="*/ 3566160 w 5765800"/>
                  <a:gd name="connsiteY98" fmla="*/ 1668462 h 1916510"/>
                  <a:gd name="connsiteX99" fmla="*/ 3413760 w 5765800"/>
                  <a:gd name="connsiteY99" fmla="*/ 1648142 h 1916510"/>
                  <a:gd name="connsiteX100" fmla="*/ 2529840 w 5765800"/>
                  <a:gd name="connsiteY100" fmla="*/ 1485582 h 1916510"/>
                  <a:gd name="connsiteX101" fmla="*/ 1559560 w 5765800"/>
                  <a:gd name="connsiteY101" fmla="*/ 1424622 h 1916510"/>
                  <a:gd name="connsiteX102" fmla="*/ 1498600 w 5765800"/>
                  <a:gd name="connsiteY102" fmla="*/ 1419542 h 1916510"/>
                  <a:gd name="connsiteX103" fmla="*/ 858520 w 5765800"/>
                  <a:gd name="connsiteY103" fmla="*/ 1373822 h 1916510"/>
                  <a:gd name="connsiteX104" fmla="*/ 457200 w 5765800"/>
                  <a:gd name="connsiteY104" fmla="*/ 1353502 h 1916510"/>
                  <a:gd name="connsiteX105" fmla="*/ 167640 w 5765800"/>
                  <a:gd name="connsiteY105" fmla="*/ 1343342 h 1916510"/>
                  <a:gd name="connsiteX106" fmla="*/ 0 w 5765800"/>
                  <a:gd name="connsiteY106" fmla="*/ 1184672 h 1916510"/>
                  <a:gd name="connsiteX107" fmla="*/ 0 w 5765800"/>
                  <a:gd name="connsiteY107" fmla="*/ 0 h 1916510"/>
                  <a:gd name="connsiteX0" fmla="*/ 0 w 5765800"/>
                  <a:gd name="connsiteY0" fmla="*/ 0 h 1914525"/>
                  <a:gd name="connsiteX1" fmla="*/ 2595960 w 5765800"/>
                  <a:gd name="connsiteY1" fmla="*/ 0 h 1914525"/>
                  <a:gd name="connsiteX2" fmla="*/ 2597547 w 5765800"/>
                  <a:gd name="connsiteY2" fmla="*/ 0 h 1914525"/>
                  <a:gd name="connsiteX3" fmla="*/ 2626519 w 5765800"/>
                  <a:gd name="connsiteY3" fmla="*/ 0 h 1914525"/>
                  <a:gd name="connsiteX4" fmla="*/ 2656285 w 5765800"/>
                  <a:gd name="connsiteY4" fmla="*/ 397 h 1914525"/>
                  <a:gd name="connsiteX5" fmla="*/ 2685256 w 5765800"/>
                  <a:gd name="connsiteY5" fmla="*/ 1191 h 1914525"/>
                  <a:gd name="connsiteX6" fmla="*/ 2715022 w 5765800"/>
                  <a:gd name="connsiteY6" fmla="*/ 2381 h 1914525"/>
                  <a:gd name="connsiteX7" fmla="*/ 2743994 w 5765800"/>
                  <a:gd name="connsiteY7" fmla="*/ 3572 h 1914525"/>
                  <a:gd name="connsiteX8" fmla="*/ 2773760 w 5765800"/>
                  <a:gd name="connsiteY8" fmla="*/ 5159 h 1914525"/>
                  <a:gd name="connsiteX9" fmla="*/ 2802731 w 5765800"/>
                  <a:gd name="connsiteY9" fmla="*/ 7541 h 1914525"/>
                  <a:gd name="connsiteX10" fmla="*/ 2832100 w 5765800"/>
                  <a:gd name="connsiteY10" fmla="*/ 9922 h 1914525"/>
                  <a:gd name="connsiteX11" fmla="*/ 2861072 w 5765800"/>
                  <a:gd name="connsiteY11" fmla="*/ 11906 h 1914525"/>
                  <a:gd name="connsiteX12" fmla="*/ 2890044 w 5765800"/>
                  <a:gd name="connsiteY12" fmla="*/ 15081 h 1914525"/>
                  <a:gd name="connsiteX13" fmla="*/ 2919413 w 5765800"/>
                  <a:gd name="connsiteY13" fmla="*/ 18256 h 1914525"/>
                  <a:gd name="connsiteX14" fmla="*/ 2948385 w 5765800"/>
                  <a:gd name="connsiteY14" fmla="*/ 21828 h 1914525"/>
                  <a:gd name="connsiteX15" fmla="*/ 2977356 w 5765800"/>
                  <a:gd name="connsiteY15" fmla="*/ 25400 h 1914525"/>
                  <a:gd name="connsiteX16" fmla="*/ 3005931 w 5765800"/>
                  <a:gd name="connsiteY16" fmla="*/ 29369 h 1914525"/>
                  <a:gd name="connsiteX17" fmla="*/ 3035300 w 5765800"/>
                  <a:gd name="connsiteY17" fmla="*/ 33734 h 1914525"/>
                  <a:gd name="connsiteX18" fmla="*/ 3063875 w 5765800"/>
                  <a:gd name="connsiteY18" fmla="*/ 38100 h 1914525"/>
                  <a:gd name="connsiteX19" fmla="*/ 3092450 w 5765800"/>
                  <a:gd name="connsiteY19" fmla="*/ 42863 h 1914525"/>
                  <a:gd name="connsiteX20" fmla="*/ 3121025 w 5765800"/>
                  <a:gd name="connsiteY20" fmla="*/ 48419 h 1914525"/>
                  <a:gd name="connsiteX21" fmla="*/ 3149600 w 5765800"/>
                  <a:gd name="connsiteY21" fmla="*/ 53578 h 1914525"/>
                  <a:gd name="connsiteX22" fmla="*/ 3178175 w 5765800"/>
                  <a:gd name="connsiteY22" fmla="*/ 59134 h 1914525"/>
                  <a:gd name="connsiteX23" fmla="*/ 3206750 w 5765800"/>
                  <a:gd name="connsiteY23" fmla="*/ 65088 h 1914525"/>
                  <a:gd name="connsiteX24" fmla="*/ 3234531 w 5765800"/>
                  <a:gd name="connsiteY24" fmla="*/ 71834 h 1914525"/>
                  <a:gd name="connsiteX25" fmla="*/ 3262710 w 5765800"/>
                  <a:gd name="connsiteY25" fmla="*/ 77788 h 1914525"/>
                  <a:gd name="connsiteX26" fmla="*/ 3290888 w 5765800"/>
                  <a:gd name="connsiteY26" fmla="*/ 84931 h 1914525"/>
                  <a:gd name="connsiteX27" fmla="*/ 3319066 w 5765800"/>
                  <a:gd name="connsiteY27" fmla="*/ 92075 h 1914525"/>
                  <a:gd name="connsiteX28" fmla="*/ 3346847 w 5765800"/>
                  <a:gd name="connsiteY28" fmla="*/ 99219 h 1914525"/>
                  <a:gd name="connsiteX29" fmla="*/ 3374628 w 5765800"/>
                  <a:gd name="connsiteY29" fmla="*/ 107156 h 1914525"/>
                  <a:gd name="connsiteX30" fmla="*/ 3402013 w 5765800"/>
                  <a:gd name="connsiteY30" fmla="*/ 115094 h 1914525"/>
                  <a:gd name="connsiteX31" fmla="*/ 3429794 w 5765800"/>
                  <a:gd name="connsiteY31" fmla="*/ 123031 h 1914525"/>
                  <a:gd name="connsiteX32" fmla="*/ 3457178 w 5765800"/>
                  <a:gd name="connsiteY32" fmla="*/ 131366 h 1914525"/>
                  <a:gd name="connsiteX33" fmla="*/ 3484563 w 5765800"/>
                  <a:gd name="connsiteY33" fmla="*/ 140097 h 1914525"/>
                  <a:gd name="connsiteX34" fmla="*/ 3511550 w 5765800"/>
                  <a:gd name="connsiteY34" fmla="*/ 149225 h 1914525"/>
                  <a:gd name="connsiteX35" fmla="*/ 3538935 w 5765800"/>
                  <a:gd name="connsiteY35" fmla="*/ 158353 h 1914525"/>
                  <a:gd name="connsiteX36" fmla="*/ 3565922 w 5765800"/>
                  <a:gd name="connsiteY36" fmla="*/ 167481 h 1914525"/>
                  <a:gd name="connsiteX37" fmla="*/ 3592116 w 5765800"/>
                  <a:gd name="connsiteY37" fmla="*/ 177800 h 1914525"/>
                  <a:gd name="connsiteX38" fmla="*/ 3618706 w 5765800"/>
                  <a:gd name="connsiteY38" fmla="*/ 187722 h 1914525"/>
                  <a:gd name="connsiteX39" fmla="*/ 3645297 w 5765800"/>
                  <a:gd name="connsiteY39" fmla="*/ 198041 h 1914525"/>
                  <a:gd name="connsiteX40" fmla="*/ 3671888 w 5765800"/>
                  <a:gd name="connsiteY40" fmla="*/ 208359 h 1914525"/>
                  <a:gd name="connsiteX41" fmla="*/ 3697685 w 5765800"/>
                  <a:gd name="connsiteY41" fmla="*/ 219472 h 1914525"/>
                  <a:gd name="connsiteX42" fmla="*/ 3724275 w 5765800"/>
                  <a:gd name="connsiteY42" fmla="*/ 230584 h 1914525"/>
                  <a:gd name="connsiteX43" fmla="*/ 3749675 w 5765800"/>
                  <a:gd name="connsiteY43" fmla="*/ 241300 h 1914525"/>
                  <a:gd name="connsiteX44" fmla="*/ 3775869 w 5765800"/>
                  <a:gd name="connsiteY44" fmla="*/ 253603 h 1914525"/>
                  <a:gd name="connsiteX45" fmla="*/ 3801269 w 5765800"/>
                  <a:gd name="connsiteY45" fmla="*/ 264716 h 1914525"/>
                  <a:gd name="connsiteX46" fmla="*/ 3826669 w 5765800"/>
                  <a:gd name="connsiteY46" fmla="*/ 277416 h 1914525"/>
                  <a:gd name="connsiteX47" fmla="*/ 3851672 w 5765800"/>
                  <a:gd name="connsiteY47" fmla="*/ 289719 h 1914525"/>
                  <a:gd name="connsiteX48" fmla="*/ 3876675 w 5765800"/>
                  <a:gd name="connsiteY48" fmla="*/ 302022 h 1914525"/>
                  <a:gd name="connsiteX49" fmla="*/ 3901678 w 5765800"/>
                  <a:gd name="connsiteY49" fmla="*/ 314722 h 1914525"/>
                  <a:gd name="connsiteX50" fmla="*/ 3926285 w 5765800"/>
                  <a:gd name="connsiteY50" fmla="*/ 328216 h 1914525"/>
                  <a:gd name="connsiteX51" fmla="*/ 3950891 w 5765800"/>
                  <a:gd name="connsiteY51" fmla="*/ 341313 h 1914525"/>
                  <a:gd name="connsiteX52" fmla="*/ 3974703 w 5765800"/>
                  <a:gd name="connsiteY52" fmla="*/ 354806 h 1914525"/>
                  <a:gd name="connsiteX53" fmla="*/ 3999310 w 5765800"/>
                  <a:gd name="connsiteY53" fmla="*/ 368697 h 1914525"/>
                  <a:gd name="connsiteX54" fmla="*/ 4023122 w 5765800"/>
                  <a:gd name="connsiteY54" fmla="*/ 382588 h 1914525"/>
                  <a:gd name="connsiteX55" fmla="*/ 4046538 w 5765800"/>
                  <a:gd name="connsiteY55" fmla="*/ 397272 h 1914525"/>
                  <a:gd name="connsiteX56" fmla="*/ 4069953 w 5765800"/>
                  <a:gd name="connsiteY56" fmla="*/ 411559 h 1914525"/>
                  <a:gd name="connsiteX57" fmla="*/ 4093369 w 5765800"/>
                  <a:gd name="connsiteY57" fmla="*/ 426244 h 1914525"/>
                  <a:gd name="connsiteX58" fmla="*/ 4115991 w 5765800"/>
                  <a:gd name="connsiteY58" fmla="*/ 441325 h 1914525"/>
                  <a:gd name="connsiteX59" fmla="*/ 4139010 w 5765800"/>
                  <a:gd name="connsiteY59" fmla="*/ 456406 h 1914525"/>
                  <a:gd name="connsiteX60" fmla="*/ 4162028 w 5765800"/>
                  <a:gd name="connsiteY60" fmla="*/ 471884 h 1914525"/>
                  <a:gd name="connsiteX61" fmla="*/ 4184253 w 5765800"/>
                  <a:gd name="connsiteY61" fmla="*/ 487759 h 1914525"/>
                  <a:gd name="connsiteX62" fmla="*/ 4206478 w 5765800"/>
                  <a:gd name="connsiteY62" fmla="*/ 503634 h 1914525"/>
                  <a:gd name="connsiteX63" fmla="*/ 4228306 w 5765800"/>
                  <a:gd name="connsiteY63" fmla="*/ 519509 h 1914525"/>
                  <a:gd name="connsiteX64" fmla="*/ 4250135 w 5765800"/>
                  <a:gd name="connsiteY64" fmla="*/ 536575 h 1914525"/>
                  <a:gd name="connsiteX65" fmla="*/ 4271566 w 5765800"/>
                  <a:gd name="connsiteY65" fmla="*/ 552847 h 1914525"/>
                  <a:gd name="connsiteX66" fmla="*/ 4292997 w 5765800"/>
                  <a:gd name="connsiteY66" fmla="*/ 569516 h 1914525"/>
                  <a:gd name="connsiteX67" fmla="*/ 4519613 w 5765800"/>
                  <a:gd name="connsiteY67" fmla="*/ 752475 h 1914525"/>
                  <a:gd name="connsiteX68" fmla="*/ 4624388 w 5765800"/>
                  <a:gd name="connsiteY68" fmla="*/ 837406 h 1914525"/>
                  <a:gd name="connsiteX69" fmla="*/ 4724400 w 5765800"/>
                  <a:gd name="connsiteY69" fmla="*/ 919956 h 1914525"/>
                  <a:gd name="connsiteX70" fmla="*/ 4820444 w 5765800"/>
                  <a:gd name="connsiteY70" fmla="*/ 999331 h 1914525"/>
                  <a:gd name="connsiteX71" fmla="*/ 4912916 w 5765800"/>
                  <a:gd name="connsiteY71" fmla="*/ 1077119 h 1914525"/>
                  <a:gd name="connsiteX72" fmla="*/ 4957366 w 5765800"/>
                  <a:gd name="connsiteY72" fmla="*/ 1115616 h 1914525"/>
                  <a:gd name="connsiteX73" fmla="*/ 5001816 w 5765800"/>
                  <a:gd name="connsiteY73" fmla="*/ 1153716 h 1914525"/>
                  <a:gd name="connsiteX74" fmla="*/ 5045472 w 5765800"/>
                  <a:gd name="connsiteY74" fmla="*/ 1192213 h 1914525"/>
                  <a:gd name="connsiteX75" fmla="*/ 5088335 w 5765800"/>
                  <a:gd name="connsiteY75" fmla="*/ 1230313 h 1914525"/>
                  <a:gd name="connsiteX76" fmla="*/ 5131197 w 5765800"/>
                  <a:gd name="connsiteY76" fmla="*/ 1268810 h 1914525"/>
                  <a:gd name="connsiteX77" fmla="*/ 5173663 w 5765800"/>
                  <a:gd name="connsiteY77" fmla="*/ 1307306 h 1914525"/>
                  <a:gd name="connsiteX78" fmla="*/ 5215731 w 5765800"/>
                  <a:gd name="connsiteY78" fmla="*/ 1345803 h 1914525"/>
                  <a:gd name="connsiteX79" fmla="*/ 5257403 w 5765800"/>
                  <a:gd name="connsiteY79" fmla="*/ 1385094 h 1914525"/>
                  <a:gd name="connsiteX80" fmla="*/ 5299075 w 5765800"/>
                  <a:gd name="connsiteY80" fmla="*/ 1424385 h 1914525"/>
                  <a:gd name="connsiteX81" fmla="*/ 5340747 w 5765800"/>
                  <a:gd name="connsiteY81" fmla="*/ 1464072 h 1914525"/>
                  <a:gd name="connsiteX82" fmla="*/ 5381625 w 5765800"/>
                  <a:gd name="connsiteY82" fmla="*/ 1504950 h 1914525"/>
                  <a:gd name="connsiteX83" fmla="*/ 5423297 w 5765800"/>
                  <a:gd name="connsiteY83" fmla="*/ 1546225 h 1914525"/>
                  <a:gd name="connsiteX84" fmla="*/ 5464969 w 5765800"/>
                  <a:gd name="connsiteY84" fmla="*/ 1588294 h 1914525"/>
                  <a:gd name="connsiteX85" fmla="*/ 5507038 w 5765800"/>
                  <a:gd name="connsiteY85" fmla="*/ 1631156 h 1914525"/>
                  <a:gd name="connsiteX86" fmla="*/ 5549106 w 5765800"/>
                  <a:gd name="connsiteY86" fmla="*/ 1675606 h 1914525"/>
                  <a:gd name="connsiteX87" fmla="*/ 5591175 w 5765800"/>
                  <a:gd name="connsiteY87" fmla="*/ 1720453 h 1914525"/>
                  <a:gd name="connsiteX88" fmla="*/ 5634038 w 5765800"/>
                  <a:gd name="connsiteY88" fmla="*/ 1766491 h 1914525"/>
                  <a:gd name="connsiteX89" fmla="*/ 5677297 w 5765800"/>
                  <a:gd name="connsiteY89" fmla="*/ 1813719 h 1914525"/>
                  <a:gd name="connsiteX90" fmla="*/ 5721350 w 5765800"/>
                  <a:gd name="connsiteY90" fmla="*/ 1862931 h 1914525"/>
                  <a:gd name="connsiteX91" fmla="*/ 5765800 w 5765800"/>
                  <a:gd name="connsiteY91" fmla="*/ 1912938 h 1914525"/>
                  <a:gd name="connsiteX92" fmla="*/ 5735638 w 5765800"/>
                  <a:gd name="connsiteY92" fmla="*/ 1914525 h 1914525"/>
                  <a:gd name="connsiteX93" fmla="*/ 4455160 w 5765800"/>
                  <a:gd name="connsiteY93" fmla="*/ 1800542 h 1914525"/>
                  <a:gd name="connsiteX94" fmla="*/ 4409440 w 5765800"/>
                  <a:gd name="connsiteY94" fmla="*/ 1790382 h 1914525"/>
                  <a:gd name="connsiteX95" fmla="*/ 4389120 w 5765800"/>
                  <a:gd name="connsiteY95" fmla="*/ 1785302 h 1914525"/>
                  <a:gd name="connsiteX96" fmla="*/ 4358640 w 5765800"/>
                  <a:gd name="connsiteY96" fmla="*/ 1785302 h 1914525"/>
                  <a:gd name="connsiteX97" fmla="*/ 3566160 w 5765800"/>
                  <a:gd name="connsiteY97" fmla="*/ 1668462 h 1914525"/>
                  <a:gd name="connsiteX98" fmla="*/ 3413760 w 5765800"/>
                  <a:gd name="connsiteY98" fmla="*/ 1648142 h 1914525"/>
                  <a:gd name="connsiteX99" fmla="*/ 2529840 w 5765800"/>
                  <a:gd name="connsiteY99" fmla="*/ 1485582 h 1914525"/>
                  <a:gd name="connsiteX100" fmla="*/ 1559560 w 5765800"/>
                  <a:gd name="connsiteY100" fmla="*/ 1424622 h 1914525"/>
                  <a:gd name="connsiteX101" fmla="*/ 1498600 w 5765800"/>
                  <a:gd name="connsiteY101" fmla="*/ 1419542 h 1914525"/>
                  <a:gd name="connsiteX102" fmla="*/ 858520 w 5765800"/>
                  <a:gd name="connsiteY102" fmla="*/ 1373822 h 1914525"/>
                  <a:gd name="connsiteX103" fmla="*/ 457200 w 5765800"/>
                  <a:gd name="connsiteY103" fmla="*/ 1353502 h 1914525"/>
                  <a:gd name="connsiteX104" fmla="*/ 167640 w 5765800"/>
                  <a:gd name="connsiteY104" fmla="*/ 1343342 h 1914525"/>
                  <a:gd name="connsiteX105" fmla="*/ 0 w 5765800"/>
                  <a:gd name="connsiteY105" fmla="*/ 1184672 h 1914525"/>
                  <a:gd name="connsiteX106" fmla="*/ 0 w 5765800"/>
                  <a:gd name="connsiteY106" fmla="*/ 0 h 1914525"/>
                  <a:gd name="connsiteX0" fmla="*/ 0 w 5765800"/>
                  <a:gd name="connsiteY0" fmla="*/ 0 h 1912938"/>
                  <a:gd name="connsiteX1" fmla="*/ 2595960 w 5765800"/>
                  <a:gd name="connsiteY1" fmla="*/ 0 h 1912938"/>
                  <a:gd name="connsiteX2" fmla="*/ 2597547 w 5765800"/>
                  <a:gd name="connsiteY2" fmla="*/ 0 h 1912938"/>
                  <a:gd name="connsiteX3" fmla="*/ 2626519 w 5765800"/>
                  <a:gd name="connsiteY3" fmla="*/ 0 h 1912938"/>
                  <a:gd name="connsiteX4" fmla="*/ 2656285 w 5765800"/>
                  <a:gd name="connsiteY4" fmla="*/ 397 h 1912938"/>
                  <a:gd name="connsiteX5" fmla="*/ 2685256 w 5765800"/>
                  <a:gd name="connsiteY5" fmla="*/ 1191 h 1912938"/>
                  <a:gd name="connsiteX6" fmla="*/ 2715022 w 5765800"/>
                  <a:gd name="connsiteY6" fmla="*/ 2381 h 1912938"/>
                  <a:gd name="connsiteX7" fmla="*/ 2743994 w 5765800"/>
                  <a:gd name="connsiteY7" fmla="*/ 3572 h 1912938"/>
                  <a:gd name="connsiteX8" fmla="*/ 2773760 w 5765800"/>
                  <a:gd name="connsiteY8" fmla="*/ 5159 h 1912938"/>
                  <a:gd name="connsiteX9" fmla="*/ 2802731 w 5765800"/>
                  <a:gd name="connsiteY9" fmla="*/ 7541 h 1912938"/>
                  <a:gd name="connsiteX10" fmla="*/ 2832100 w 5765800"/>
                  <a:gd name="connsiteY10" fmla="*/ 9922 h 1912938"/>
                  <a:gd name="connsiteX11" fmla="*/ 2861072 w 5765800"/>
                  <a:gd name="connsiteY11" fmla="*/ 11906 h 1912938"/>
                  <a:gd name="connsiteX12" fmla="*/ 2890044 w 5765800"/>
                  <a:gd name="connsiteY12" fmla="*/ 15081 h 1912938"/>
                  <a:gd name="connsiteX13" fmla="*/ 2919413 w 5765800"/>
                  <a:gd name="connsiteY13" fmla="*/ 18256 h 1912938"/>
                  <a:gd name="connsiteX14" fmla="*/ 2948385 w 5765800"/>
                  <a:gd name="connsiteY14" fmla="*/ 21828 h 1912938"/>
                  <a:gd name="connsiteX15" fmla="*/ 2977356 w 5765800"/>
                  <a:gd name="connsiteY15" fmla="*/ 25400 h 1912938"/>
                  <a:gd name="connsiteX16" fmla="*/ 3005931 w 5765800"/>
                  <a:gd name="connsiteY16" fmla="*/ 29369 h 1912938"/>
                  <a:gd name="connsiteX17" fmla="*/ 3035300 w 5765800"/>
                  <a:gd name="connsiteY17" fmla="*/ 33734 h 1912938"/>
                  <a:gd name="connsiteX18" fmla="*/ 3063875 w 5765800"/>
                  <a:gd name="connsiteY18" fmla="*/ 38100 h 1912938"/>
                  <a:gd name="connsiteX19" fmla="*/ 3092450 w 5765800"/>
                  <a:gd name="connsiteY19" fmla="*/ 42863 h 1912938"/>
                  <a:gd name="connsiteX20" fmla="*/ 3121025 w 5765800"/>
                  <a:gd name="connsiteY20" fmla="*/ 48419 h 1912938"/>
                  <a:gd name="connsiteX21" fmla="*/ 3149600 w 5765800"/>
                  <a:gd name="connsiteY21" fmla="*/ 53578 h 1912938"/>
                  <a:gd name="connsiteX22" fmla="*/ 3178175 w 5765800"/>
                  <a:gd name="connsiteY22" fmla="*/ 59134 h 1912938"/>
                  <a:gd name="connsiteX23" fmla="*/ 3206750 w 5765800"/>
                  <a:gd name="connsiteY23" fmla="*/ 65088 h 1912938"/>
                  <a:gd name="connsiteX24" fmla="*/ 3234531 w 5765800"/>
                  <a:gd name="connsiteY24" fmla="*/ 71834 h 1912938"/>
                  <a:gd name="connsiteX25" fmla="*/ 3262710 w 5765800"/>
                  <a:gd name="connsiteY25" fmla="*/ 77788 h 1912938"/>
                  <a:gd name="connsiteX26" fmla="*/ 3290888 w 5765800"/>
                  <a:gd name="connsiteY26" fmla="*/ 84931 h 1912938"/>
                  <a:gd name="connsiteX27" fmla="*/ 3319066 w 5765800"/>
                  <a:gd name="connsiteY27" fmla="*/ 92075 h 1912938"/>
                  <a:gd name="connsiteX28" fmla="*/ 3346847 w 5765800"/>
                  <a:gd name="connsiteY28" fmla="*/ 99219 h 1912938"/>
                  <a:gd name="connsiteX29" fmla="*/ 3374628 w 5765800"/>
                  <a:gd name="connsiteY29" fmla="*/ 107156 h 1912938"/>
                  <a:gd name="connsiteX30" fmla="*/ 3402013 w 5765800"/>
                  <a:gd name="connsiteY30" fmla="*/ 115094 h 1912938"/>
                  <a:gd name="connsiteX31" fmla="*/ 3429794 w 5765800"/>
                  <a:gd name="connsiteY31" fmla="*/ 123031 h 1912938"/>
                  <a:gd name="connsiteX32" fmla="*/ 3457178 w 5765800"/>
                  <a:gd name="connsiteY32" fmla="*/ 131366 h 1912938"/>
                  <a:gd name="connsiteX33" fmla="*/ 3484563 w 5765800"/>
                  <a:gd name="connsiteY33" fmla="*/ 140097 h 1912938"/>
                  <a:gd name="connsiteX34" fmla="*/ 3511550 w 5765800"/>
                  <a:gd name="connsiteY34" fmla="*/ 149225 h 1912938"/>
                  <a:gd name="connsiteX35" fmla="*/ 3538935 w 5765800"/>
                  <a:gd name="connsiteY35" fmla="*/ 158353 h 1912938"/>
                  <a:gd name="connsiteX36" fmla="*/ 3565922 w 5765800"/>
                  <a:gd name="connsiteY36" fmla="*/ 167481 h 1912938"/>
                  <a:gd name="connsiteX37" fmla="*/ 3592116 w 5765800"/>
                  <a:gd name="connsiteY37" fmla="*/ 177800 h 1912938"/>
                  <a:gd name="connsiteX38" fmla="*/ 3618706 w 5765800"/>
                  <a:gd name="connsiteY38" fmla="*/ 187722 h 1912938"/>
                  <a:gd name="connsiteX39" fmla="*/ 3645297 w 5765800"/>
                  <a:gd name="connsiteY39" fmla="*/ 198041 h 1912938"/>
                  <a:gd name="connsiteX40" fmla="*/ 3671888 w 5765800"/>
                  <a:gd name="connsiteY40" fmla="*/ 208359 h 1912938"/>
                  <a:gd name="connsiteX41" fmla="*/ 3697685 w 5765800"/>
                  <a:gd name="connsiteY41" fmla="*/ 219472 h 1912938"/>
                  <a:gd name="connsiteX42" fmla="*/ 3724275 w 5765800"/>
                  <a:gd name="connsiteY42" fmla="*/ 230584 h 1912938"/>
                  <a:gd name="connsiteX43" fmla="*/ 3749675 w 5765800"/>
                  <a:gd name="connsiteY43" fmla="*/ 241300 h 1912938"/>
                  <a:gd name="connsiteX44" fmla="*/ 3775869 w 5765800"/>
                  <a:gd name="connsiteY44" fmla="*/ 253603 h 1912938"/>
                  <a:gd name="connsiteX45" fmla="*/ 3801269 w 5765800"/>
                  <a:gd name="connsiteY45" fmla="*/ 264716 h 1912938"/>
                  <a:gd name="connsiteX46" fmla="*/ 3826669 w 5765800"/>
                  <a:gd name="connsiteY46" fmla="*/ 277416 h 1912938"/>
                  <a:gd name="connsiteX47" fmla="*/ 3851672 w 5765800"/>
                  <a:gd name="connsiteY47" fmla="*/ 289719 h 1912938"/>
                  <a:gd name="connsiteX48" fmla="*/ 3876675 w 5765800"/>
                  <a:gd name="connsiteY48" fmla="*/ 302022 h 1912938"/>
                  <a:gd name="connsiteX49" fmla="*/ 3901678 w 5765800"/>
                  <a:gd name="connsiteY49" fmla="*/ 314722 h 1912938"/>
                  <a:gd name="connsiteX50" fmla="*/ 3926285 w 5765800"/>
                  <a:gd name="connsiteY50" fmla="*/ 328216 h 1912938"/>
                  <a:gd name="connsiteX51" fmla="*/ 3950891 w 5765800"/>
                  <a:gd name="connsiteY51" fmla="*/ 341313 h 1912938"/>
                  <a:gd name="connsiteX52" fmla="*/ 3974703 w 5765800"/>
                  <a:gd name="connsiteY52" fmla="*/ 354806 h 1912938"/>
                  <a:gd name="connsiteX53" fmla="*/ 3999310 w 5765800"/>
                  <a:gd name="connsiteY53" fmla="*/ 368697 h 1912938"/>
                  <a:gd name="connsiteX54" fmla="*/ 4023122 w 5765800"/>
                  <a:gd name="connsiteY54" fmla="*/ 382588 h 1912938"/>
                  <a:gd name="connsiteX55" fmla="*/ 4046538 w 5765800"/>
                  <a:gd name="connsiteY55" fmla="*/ 397272 h 1912938"/>
                  <a:gd name="connsiteX56" fmla="*/ 4069953 w 5765800"/>
                  <a:gd name="connsiteY56" fmla="*/ 411559 h 1912938"/>
                  <a:gd name="connsiteX57" fmla="*/ 4093369 w 5765800"/>
                  <a:gd name="connsiteY57" fmla="*/ 426244 h 1912938"/>
                  <a:gd name="connsiteX58" fmla="*/ 4115991 w 5765800"/>
                  <a:gd name="connsiteY58" fmla="*/ 441325 h 1912938"/>
                  <a:gd name="connsiteX59" fmla="*/ 4139010 w 5765800"/>
                  <a:gd name="connsiteY59" fmla="*/ 456406 h 1912938"/>
                  <a:gd name="connsiteX60" fmla="*/ 4162028 w 5765800"/>
                  <a:gd name="connsiteY60" fmla="*/ 471884 h 1912938"/>
                  <a:gd name="connsiteX61" fmla="*/ 4184253 w 5765800"/>
                  <a:gd name="connsiteY61" fmla="*/ 487759 h 1912938"/>
                  <a:gd name="connsiteX62" fmla="*/ 4206478 w 5765800"/>
                  <a:gd name="connsiteY62" fmla="*/ 503634 h 1912938"/>
                  <a:gd name="connsiteX63" fmla="*/ 4228306 w 5765800"/>
                  <a:gd name="connsiteY63" fmla="*/ 519509 h 1912938"/>
                  <a:gd name="connsiteX64" fmla="*/ 4250135 w 5765800"/>
                  <a:gd name="connsiteY64" fmla="*/ 536575 h 1912938"/>
                  <a:gd name="connsiteX65" fmla="*/ 4271566 w 5765800"/>
                  <a:gd name="connsiteY65" fmla="*/ 552847 h 1912938"/>
                  <a:gd name="connsiteX66" fmla="*/ 4292997 w 5765800"/>
                  <a:gd name="connsiteY66" fmla="*/ 569516 h 1912938"/>
                  <a:gd name="connsiteX67" fmla="*/ 4519613 w 5765800"/>
                  <a:gd name="connsiteY67" fmla="*/ 752475 h 1912938"/>
                  <a:gd name="connsiteX68" fmla="*/ 4624388 w 5765800"/>
                  <a:gd name="connsiteY68" fmla="*/ 837406 h 1912938"/>
                  <a:gd name="connsiteX69" fmla="*/ 4724400 w 5765800"/>
                  <a:gd name="connsiteY69" fmla="*/ 919956 h 1912938"/>
                  <a:gd name="connsiteX70" fmla="*/ 4820444 w 5765800"/>
                  <a:gd name="connsiteY70" fmla="*/ 999331 h 1912938"/>
                  <a:gd name="connsiteX71" fmla="*/ 4912916 w 5765800"/>
                  <a:gd name="connsiteY71" fmla="*/ 1077119 h 1912938"/>
                  <a:gd name="connsiteX72" fmla="*/ 4957366 w 5765800"/>
                  <a:gd name="connsiteY72" fmla="*/ 1115616 h 1912938"/>
                  <a:gd name="connsiteX73" fmla="*/ 5001816 w 5765800"/>
                  <a:gd name="connsiteY73" fmla="*/ 1153716 h 1912938"/>
                  <a:gd name="connsiteX74" fmla="*/ 5045472 w 5765800"/>
                  <a:gd name="connsiteY74" fmla="*/ 1192213 h 1912938"/>
                  <a:gd name="connsiteX75" fmla="*/ 5088335 w 5765800"/>
                  <a:gd name="connsiteY75" fmla="*/ 1230313 h 1912938"/>
                  <a:gd name="connsiteX76" fmla="*/ 5131197 w 5765800"/>
                  <a:gd name="connsiteY76" fmla="*/ 1268810 h 1912938"/>
                  <a:gd name="connsiteX77" fmla="*/ 5173663 w 5765800"/>
                  <a:gd name="connsiteY77" fmla="*/ 1307306 h 1912938"/>
                  <a:gd name="connsiteX78" fmla="*/ 5215731 w 5765800"/>
                  <a:gd name="connsiteY78" fmla="*/ 1345803 h 1912938"/>
                  <a:gd name="connsiteX79" fmla="*/ 5257403 w 5765800"/>
                  <a:gd name="connsiteY79" fmla="*/ 1385094 h 1912938"/>
                  <a:gd name="connsiteX80" fmla="*/ 5299075 w 5765800"/>
                  <a:gd name="connsiteY80" fmla="*/ 1424385 h 1912938"/>
                  <a:gd name="connsiteX81" fmla="*/ 5340747 w 5765800"/>
                  <a:gd name="connsiteY81" fmla="*/ 1464072 h 1912938"/>
                  <a:gd name="connsiteX82" fmla="*/ 5381625 w 5765800"/>
                  <a:gd name="connsiteY82" fmla="*/ 1504950 h 1912938"/>
                  <a:gd name="connsiteX83" fmla="*/ 5423297 w 5765800"/>
                  <a:gd name="connsiteY83" fmla="*/ 1546225 h 1912938"/>
                  <a:gd name="connsiteX84" fmla="*/ 5464969 w 5765800"/>
                  <a:gd name="connsiteY84" fmla="*/ 1588294 h 1912938"/>
                  <a:gd name="connsiteX85" fmla="*/ 5507038 w 5765800"/>
                  <a:gd name="connsiteY85" fmla="*/ 1631156 h 1912938"/>
                  <a:gd name="connsiteX86" fmla="*/ 5549106 w 5765800"/>
                  <a:gd name="connsiteY86" fmla="*/ 1675606 h 1912938"/>
                  <a:gd name="connsiteX87" fmla="*/ 5591175 w 5765800"/>
                  <a:gd name="connsiteY87" fmla="*/ 1720453 h 1912938"/>
                  <a:gd name="connsiteX88" fmla="*/ 5634038 w 5765800"/>
                  <a:gd name="connsiteY88" fmla="*/ 1766491 h 1912938"/>
                  <a:gd name="connsiteX89" fmla="*/ 5677297 w 5765800"/>
                  <a:gd name="connsiteY89" fmla="*/ 1813719 h 1912938"/>
                  <a:gd name="connsiteX90" fmla="*/ 5721350 w 5765800"/>
                  <a:gd name="connsiteY90" fmla="*/ 1862931 h 1912938"/>
                  <a:gd name="connsiteX91" fmla="*/ 5765800 w 5765800"/>
                  <a:gd name="connsiteY91" fmla="*/ 1912938 h 1912938"/>
                  <a:gd name="connsiteX92" fmla="*/ 4455160 w 5765800"/>
                  <a:gd name="connsiteY92" fmla="*/ 1800542 h 1912938"/>
                  <a:gd name="connsiteX93" fmla="*/ 4409440 w 5765800"/>
                  <a:gd name="connsiteY93" fmla="*/ 1790382 h 1912938"/>
                  <a:gd name="connsiteX94" fmla="*/ 4389120 w 5765800"/>
                  <a:gd name="connsiteY94" fmla="*/ 1785302 h 1912938"/>
                  <a:gd name="connsiteX95" fmla="*/ 4358640 w 5765800"/>
                  <a:gd name="connsiteY95" fmla="*/ 1785302 h 1912938"/>
                  <a:gd name="connsiteX96" fmla="*/ 3566160 w 5765800"/>
                  <a:gd name="connsiteY96" fmla="*/ 1668462 h 1912938"/>
                  <a:gd name="connsiteX97" fmla="*/ 3413760 w 5765800"/>
                  <a:gd name="connsiteY97" fmla="*/ 1648142 h 1912938"/>
                  <a:gd name="connsiteX98" fmla="*/ 2529840 w 5765800"/>
                  <a:gd name="connsiteY98" fmla="*/ 1485582 h 1912938"/>
                  <a:gd name="connsiteX99" fmla="*/ 1559560 w 5765800"/>
                  <a:gd name="connsiteY99" fmla="*/ 1424622 h 1912938"/>
                  <a:gd name="connsiteX100" fmla="*/ 1498600 w 5765800"/>
                  <a:gd name="connsiteY100" fmla="*/ 1419542 h 1912938"/>
                  <a:gd name="connsiteX101" fmla="*/ 858520 w 5765800"/>
                  <a:gd name="connsiteY101" fmla="*/ 1373822 h 1912938"/>
                  <a:gd name="connsiteX102" fmla="*/ 457200 w 5765800"/>
                  <a:gd name="connsiteY102" fmla="*/ 1353502 h 1912938"/>
                  <a:gd name="connsiteX103" fmla="*/ 167640 w 5765800"/>
                  <a:gd name="connsiteY103" fmla="*/ 1343342 h 1912938"/>
                  <a:gd name="connsiteX104" fmla="*/ 0 w 5765800"/>
                  <a:gd name="connsiteY104" fmla="*/ 1184672 h 1912938"/>
                  <a:gd name="connsiteX105" fmla="*/ 0 w 5765800"/>
                  <a:gd name="connsiteY105" fmla="*/ 0 h 1912938"/>
                  <a:gd name="connsiteX0" fmla="*/ 0 w 5765800"/>
                  <a:gd name="connsiteY0" fmla="*/ 0 h 1912938"/>
                  <a:gd name="connsiteX1" fmla="*/ 2595960 w 5765800"/>
                  <a:gd name="connsiteY1" fmla="*/ 0 h 1912938"/>
                  <a:gd name="connsiteX2" fmla="*/ 2597547 w 5765800"/>
                  <a:gd name="connsiteY2" fmla="*/ 0 h 1912938"/>
                  <a:gd name="connsiteX3" fmla="*/ 2626519 w 5765800"/>
                  <a:gd name="connsiteY3" fmla="*/ 0 h 1912938"/>
                  <a:gd name="connsiteX4" fmla="*/ 2656285 w 5765800"/>
                  <a:gd name="connsiteY4" fmla="*/ 397 h 1912938"/>
                  <a:gd name="connsiteX5" fmla="*/ 2685256 w 5765800"/>
                  <a:gd name="connsiteY5" fmla="*/ 1191 h 1912938"/>
                  <a:gd name="connsiteX6" fmla="*/ 2715022 w 5765800"/>
                  <a:gd name="connsiteY6" fmla="*/ 2381 h 1912938"/>
                  <a:gd name="connsiteX7" fmla="*/ 2743994 w 5765800"/>
                  <a:gd name="connsiteY7" fmla="*/ 3572 h 1912938"/>
                  <a:gd name="connsiteX8" fmla="*/ 2773760 w 5765800"/>
                  <a:gd name="connsiteY8" fmla="*/ 5159 h 1912938"/>
                  <a:gd name="connsiteX9" fmla="*/ 2802731 w 5765800"/>
                  <a:gd name="connsiteY9" fmla="*/ 7541 h 1912938"/>
                  <a:gd name="connsiteX10" fmla="*/ 2832100 w 5765800"/>
                  <a:gd name="connsiteY10" fmla="*/ 9922 h 1912938"/>
                  <a:gd name="connsiteX11" fmla="*/ 2861072 w 5765800"/>
                  <a:gd name="connsiteY11" fmla="*/ 11906 h 1912938"/>
                  <a:gd name="connsiteX12" fmla="*/ 2890044 w 5765800"/>
                  <a:gd name="connsiteY12" fmla="*/ 15081 h 1912938"/>
                  <a:gd name="connsiteX13" fmla="*/ 2919413 w 5765800"/>
                  <a:gd name="connsiteY13" fmla="*/ 18256 h 1912938"/>
                  <a:gd name="connsiteX14" fmla="*/ 2948385 w 5765800"/>
                  <a:gd name="connsiteY14" fmla="*/ 21828 h 1912938"/>
                  <a:gd name="connsiteX15" fmla="*/ 2977356 w 5765800"/>
                  <a:gd name="connsiteY15" fmla="*/ 25400 h 1912938"/>
                  <a:gd name="connsiteX16" fmla="*/ 3005931 w 5765800"/>
                  <a:gd name="connsiteY16" fmla="*/ 29369 h 1912938"/>
                  <a:gd name="connsiteX17" fmla="*/ 3035300 w 5765800"/>
                  <a:gd name="connsiteY17" fmla="*/ 33734 h 1912938"/>
                  <a:gd name="connsiteX18" fmla="*/ 3063875 w 5765800"/>
                  <a:gd name="connsiteY18" fmla="*/ 38100 h 1912938"/>
                  <a:gd name="connsiteX19" fmla="*/ 3092450 w 5765800"/>
                  <a:gd name="connsiteY19" fmla="*/ 42863 h 1912938"/>
                  <a:gd name="connsiteX20" fmla="*/ 3121025 w 5765800"/>
                  <a:gd name="connsiteY20" fmla="*/ 48419 h 1912938"/>
                  <a:gd name="connsiteX21" fmla="*/ 3149600 w 5765800"/>
                  <a:gd name="connsiteY21" fmla="*/ 53578 h 1912938"/>
                  <a:gd name="connsiteX22" fmla="*/ 3178175 w 5765800"/>
                  <a:gd name="connsiteY22" fmla="*/ 59134 h 1912938"/>
                  <a:gd name="connsiteX23" fmla="*/ 3206750 w 5765800"/>
                  <a:gd name="connsiteY23" fmla="*/ 65088 h 1912938"/>
                  <a:gd name="connsiteX24" fmla="*/ 3234531 w 5765800"/>
                  <a:gd name="connsiteY24" fmla="*/ 71834 h 1912938"/>
                  <a:gd name="connsiteX25" fmla="*/ 3262710 w 5765800"/>
                  <a:gd name="connsiteY25" fmla="*/ 77788 h 1912938"/>
                  <a:gd name="connsiteX26" fmla="*/ 3290888 w 5765800"/>
                  <a:gd name="connsiteY26" fmla="*/ 84931 h 1912938"/>
                  <a:gd name="connsiteX27" fmla="*/ 3319066 w 5765800"/>
                  <a:gd name="connsiteY27" fmla="*/ 92075 h 1912938"/>
                  <a:gd name="connsiteX28" fmla="*/ 3346847 w 5765800"/>
                  <a:gd name="connsiteY28" fmla="*/ 99219 h 1912938"/>
                  <a:gd name="connsiteX29" fmla="*/ 3374628 w 5765800"/>
                  <a:gd name="connsiteY29" fmla="*/ 107156 h 1912938"/>
                  <a:gd name="connsiteX30" fmla="*/ 3402013 w 5765800"/>
                  <a:gd name="connsiteY30" fmla="*/ 115094 h 1912938"/>
                  <a:gd name="connsiteX31" fmla="*/ 3429794 w 5765800"/>
                  <a:gd name="connsiteY31" fmla="*/ 123031 h 1912938"/>
                  <a:gd name="connsiteX32" fmla="*/ 3457178 w 5765800"/>
                  <a:gd name="connsiteY32" fmla="*/ 131366 h 1912938"/>
                  <a:gd name="connsiteX33" fmla="*/ 3484563 w 5765800"/>
                  <a:gd name="connsiteY33" fmla="*/ 140097 h 1912938"/>
                  <a:gd name="connsiteX34" fmla="*/ 3511550 w 5765800"/>
                  <a:gd name="connsiteY34" fmla="*/ 149225 h 1912938"/>
                  <a:gd name="connsiteX35" fmla="*/ 3538935 w 5765800"/>
                  <a:gd name="connsiteY35" fmla="*/ 158353 h 1912938"/>
                  <a:gd name="connsiteX36" fmla="*/ 3565922 w 5765800"/>
                  <a:gd name="connsiteY36" fmla="*/ 167481 h 1912938"/>
                  <a:gd name="connsiteX37" fmla="*/ 3592116 w 5765800"/>
                  <a:gd name="connsiteY37" fmla="*/ 177800 h 1912938"/>
                  <a:gd name="connsiteX38" fmla="*/ 3618706 w 5765800"/>
                  <a:gd name="connsiteY38" fmla="*/ 187722 h 1912938"/>
                  <a:gd name="connsiteX39" fmla="*/ 3645297 w 5765800"/>
                  <a:gd name="connsiteY39" fmla="*/ 198041 h 1912938"/>
                  <a:gd name="connsiteX40" fmla="*/ 3671888 w 5765800"/>
                  <a:gd name="connsiteY40" fmla="*/ 208359 h 1912938"/>
                  <a:gd name="connsiteX41" fmla="*/ 3697685 w 5765800"/>
                  <a:gd name="connsiteY41" fmla="*/ 219472 h 1912938"/>
                  <a:gd name="connsiteX42" fmla="*/ 3724275 w 5765800"/>
                  <a:gd name="connsiteY42" fmla="*/ 230584 h 1912938"/>
                  <a:gd name="connsiteX43" fmla="*/ 3749675 w 5765800"/>
                  <a:gd name="connsiteY43" fmla="*/ 241300 h 1912938"/>
                  <a:gd name="connsiteX44" fmla="*/ 3775869 w 5765800"/>
                  <a:gd name="connsiteY44" fmla="*/ 253603 h 1912938"/>
                  <a:gd name="connsiteX45" fmla="*/ 3801269 w 5765800"/>
                  <a:gd name="connsiteY45" fmla="*/ 264716 h 1912938"/>
                  <a:gd name="connsiteX46" fmla="*/ 3826669 w 5765800"/>
                  <a:gd name="connsiteY46" fmla="*/ 277416 h 1912938"/>
                  <a:gd name="connsiteX47" fmla="*/ 3851672 w 5765800"/>
                  <a:gd name="connsiteY47" fmla="*/ 289719 h 1912938"/>
                  <a:gd name="connsiteX48" fmla="*/ 3876675 w 5765800"/>
                  <a:gd name="connsiteY48" fmla="*/ 302022 h 1912938"/>
                  <a:gd name="connsiteX49" fmla="*/ 3901678 w 5765800"/>
                  <a:gd name="connsiteY49" fmla="*/ 314722 h 1912938"/>
                  <a:gd name="connsiteX50" fmla="*/ 3926285 w 5765800"/>
                  <a:gd name="connsiteY50" fmla="*/ 328216 h 1912938"/>
                  <a:gd name="connsiteX51" fmla="*/ 3950891 w 5765800"/>
                  <a:gd name="connsiteY51" fmla="*/ 341313 h 1912938"/>
                  <a:gd name="connsiteX52" fmla="*/ 3974703 w 5765800"/>
                  <a:gd name="connsiteY52" fmla="*/ 354806 h 1912938"/>
                  <a:gd name="connsiteX53" fmla="*/ 3999310 w 5765800"/>
                  <a:gd name="connsiteY53" fmla="*/ 368697 h 1912938"/>
                  <a:gd name="connsiteX54" fmla="*/ 4023122 w 5765800"/>
                  <a:gd name="connsiteY54" fmla="*/ 382588 h 1912938"/>
                  <a:gd name="connsiteX55" fmla="*/ 4046538 w 5765800"/>
                  <a:gd name="connsiteY55" fmla="*/ 397272 h 1912938"/>
                  <a:gd name="connsiteX56" fmla="*/ 4069953 w 5765800"/>
                  <a:gd name="connsiteY56" fmla="*/ 411559 h 1912938"/>
                  <a:gd name="connsiteX57" fmla="*/ 4093369 w 5765800"/>
                  <a:gd name="connsiteY57" fmla="*/ 426244 h 1912938"/>
                  <a:gd name="connsiteX58" fmla="*/ 4115991 w 5765800"/>
                  <a:gd name="connsiteY58" fmla="*/ 441325 h 1912938"/>
                  <a:gd name="connsiteX59" fmla="*/ 4139010 w 5765800"/>
                  <a:gd name="connsiteY59" fmla="*/ 456406 h 1912938"/>
                  <a:gd name="connsiteX60" fmla="*/ 4162028 w 5765800"/>
                  <a:gd name="connsiteY60" fmla="*/ 471884 h 1912938"/>
                  <a:gd name="connsiteX61" fmla="*/ 4184253 w 5765800"/>
                  <a:gd name="connsiteY61" fmla="*/ 487759 h 1912938"/>
                  <a:gd name="connsiteX62" fmla="*/ 4206478 w 5765800"/>
                  <a:gd name="connsiteY62" fmla="*/ 503634 h 1912938"/>
                  <a:gd name="connsiteX63" fmla="*/ 4228306 w 5765800"/>
                  <a:gd name="connsiteY63" fmla="*/ 519509 h 1912938"/>
                  <a:gd name="connsiteX64" fmla="*/ 4250135 w 5765800"/>
                  <a:gd name="connsiteY64" fmla="*/ 536575 h 1912938"/>
                  <a:gd name="connsiteX65" fmla="*/ 4271566 w 5765800"/>
                  <a:gd name="connsiteY65" fmla="*/ 552847 h 1912938"/>
                  <a:gd name="connsiteX66" fmla="*/ 4292997 w 5765800"/>
                  <a:gd name="connsiteY66" fmla="*/ 569516 h 1912938"/>
                  <a:gd name="connsiteX67" fmla="*/ 4519613 w 5765800"/>
                  <a:gd name="connsiteY67" fmla="*/ 752475 h 1912938"/>
                  <a:gd name="connsiteX68" fmla="*/ 4624388 w 5765800"/>
                  <a:gd name="connsiteY68" fmla="*/ 837406 h 1912938"/>
                  <a:gd name="connsiteX69" fmla="*/ 4724400 w 5765800"/>
                  <a:gd name="connsiteY69" fmla="*/ 919956 h 1912938"/>
                  <a:gd name="connsiteX70" fmla="*/ 4820444 w 5765800"/>
                  <a:gd name="connsiteY70" fmla="*/ 999331 h 1912938"/>
                  <a:gd name="connsiteX71" fmla="*/ 4912916 w 5765800"/>
                  <a:gd name="connsiteY71" fmla="*/ 1077119 h 1912938"/>
                  <a:gd name="connsiteX72" fmla="*/ 4957366 w 5765800"/>
                  <a:gd name="connsiteY72" fmla="*/ 1115616 h 1912938"/>
                  <a:gd name="connsiteX73" fmla="*/ 5001816 w 5765800"/>
                  <a:gd name="connsiteY73" fmla="*/ 1153716 h 1912938"/>
                  <a:gd name="connsiteX74" fmla="*/ 5045472 w 5765800"/>
                  <a:gd name="connsiteY74" fmla="*/ 1192213 h 1912938"/>
                  <a:gd name="connsiteX75" fmla="*/ 5088335 w 5765800"/>
                  <a:gd name="connsiteY75" fmla="*/ 1230313 h 1912938"/>
                  <a:gd name="connsiteX76" fmla="*/ 5131197 w 5765800"/>
                  <a:gd name="connsiteY76" fmla="*/ 1268810 h 1912938"/>
                  <a:gd name="connsiteX77" fmla="*/ 5173663 w 5765800"/>
                  <a:gd name="connsiteY77" fmla="*/ 1307306 h 1912938"/>
                  <a:gd name="connsiteX78" fmla="*/ 5215731 w 5765800"/>
                  <a:gd name="connsiteY78" fmla="*/ 1345803 h 1912938"/>
                  <a:gd name="connsiteX79" fmla="*/ 5257403 w 5765800"/>
                  <a:gd name="connsiteY79" fmla="*/ 1385094 h 1912938"/>
                  <a:gd name="connsiteX80" fmla="*/ 5299075 w 5765800"/>
                  <a:gd name="connsiteY80" fmla="*/ 1424385 h 1912938"/>
                  <a:gd name="connsiteX81" fmla="*/ 5340747 w 5765800"/>
                  <a:gd name="connsiteY81" fmla="*/ 1464072 h 1912938"/>
                  <a:gd name="connsiteX82" fmla="*/ 5381625 w 5765800"/>
                  <a:gd name="connsiteY82" fmla="*/ 1504950 h 1912938"/>
                  <a:gd name="connsiteX83" fmla="*/ 5423297 w 5765800"/>
                  <a:gd name="connsiteY83" fmla="*/ 1546225 h 1912938"/>
                  <a:gd name="connsiteX84" fmla="*/ 5464969 w 5765800"/>
                  <a:gd name="connsiteY84" fmla="*/ 1588294 h 1912938"/>
                  <a:gd name="connsiteX85" fmla="*/ 5507038 w 5765800"/>
                  <a:gd name="connsiteY85" fmla="*/ 1631156 h 1912938"/>
                  <a:gd name="connsiteX86" fmla="*/ 5549106 w 5765800"/>
                  <a:gd name="connsiteY86" fmla="*/ 1675606 h 1912938"/>
                  <a:gd name="connsiteX87" fmla="*/ 5591175 w 5765800"/>
                  <a:gd name="connsiteY87" fmla="*/ 1720453 h 1912938"/>
                  <a:gd name="connsiteX88" fmla="*/ 5634038 w 5765800"/>
                  <a:gd name="connsiteY88" fmla="*/ 1766491 h 1912938"/>
                  <a:gd name="connsiteX89" fmla="*/ 5677297 w 5765800"/>
                  <a:gd name="connsiteY89" fmla="*/ 1813719 h 1912938"/>
                  <a:gd name="connsiteX90" fmla="*/ 5721350 w 5765800"/>
                  <a:gd name="connsiteY90" fmla="*/ 1862931 h 1912938"/>
                  <a:gd name="connsiteX91" fmla="*/ 5765800 w 5765800"/>
                  <a:gd name="connsiteY91" fmla="*/ 1912938 h 1912938"/>
                  <a:gd name="connsiteX92" fmla="*/ 4455160 w 5765800"/>
                  <a:gd name="connsiteY92" fmla="*/ 1800542 h 1912938"/>
                  <a:gd name="connsiteX93" fmla="*/ 4409440 w 5765800"/>
                  <a:gd name="connsiteY93" fmla="*/ 1790382 h 1912938"/>
                  <a:gd name="connsiteX94" fmla="*/ 4389120 w 5765800"/>
                  <a:gd name="connsiteY94" fmla="*/ 1785302 h 1912938"/>
                  <a:gd name="connsiteX95" fmla="*/ 4358640 w 5765800"/>
                  <a:gd name="connsiteY95" fmla="*/ 1785302 h 1912938"/>
                  <a:gd name="connsiteX96" fmla="*/ 3566160 w 5765800"/>
                  <a:gd name="connsiteY96" fmla="*/ 1668462 h 1912938"/>
                  <a:gd name="connsiteX97" fmla="*/ 3413760 w 5765800"/>
                  <a:gd name="connsiteY97" fmla="*/ 1648142 h 1912938"/>
                  <a:gd name="connsiteX98" fmla="*/ 2529840 w 5765800"/>
                  <a:gd name="connsiteY98" fmla="*/ 1485582 h 1912938"/>
                  <a:gd name="connsiteX99" fmla="*/ 1559560 w 5765800"/>
                  <a:gd name="connsiteY99" fmla="*/ 1424622 h 1912938"/>
                  <a:gd name="connsiteX100" fmla="*/ 1498600 w 5765800"/>
                  <a:gd name="connsiteY100" fmla="*/ 1419542 h 1912938"/>
                  <a:gd name="connsiteX101" fmla="*/ 858520 w 5765800"/>
                  <a:gd name="connsiteY101" fmla="*/ 1373822 h 1912938"/>
                  <a:gd name="connsiteX102" fmla="*/ 457200 w 5765800"/>
                  <a:gd name="connsiteY102" fmla="*/ 1353502 h 1912938"/>
                  <a:gd name="connsiteX103" fmla="*/ 167640 w 5765800"/>
                  <a:gd name="connsiteY103" fmla="*/ 1343342 h 1912938"/>
                  <a:gd name="connsiteX104" fmla="*/ 0 w 5765800"/>
                  <a:gd name="connsiteY104" fmla="*/ 1184672 h 1912938"/>
                  <a:gd name="connsiteX105" fmla="*/ 0 w 5765800"/>
                  <a:gd name="connsiteY105" fmla="*/ 0 h 1912938"/>
                  <a:gd name="connsiteX0" fmla="*/ 0 w 5765800"/>
                  <a:gd name="connsiteY0" fmla="*/ 0 h 1917814"/>
                  <a:gd name="connsiteX1" fmla="*/ 2595960 w 5765800"/>
                  <a:gd name="connsiteY1" fmla="*/ 0 h 1917814"/>
                  <a:gd name="connsiteX2" fmla="*/ 2597547 w 5765800"/>
                  <a:gd name="connsiteY2" fmla="*/ 0 h 1917814"/>
                  <a:gd name="connsiteX3" fmla="*/ 2626519 w 5765800"/>
                  <a:gd name="connsiteY3" fmla="*/ 0 h 1917814"/>
                  <a:gd name="connsiteX4" fmla="*/ 2656285 w 5765800"/>
                  <a:gd name="connsiteY4" fmla="*/ 397 h 1917814"/>
                  <a:gd name="connsiteX5" fmla="*/ 2685256 w 5765800"/>
                  <a:gd name="connsiteY5" fmla="*/ 1191 h 1917814"/>
                  <a:gd name="connsiteX6" fmla="*/ 2715022 w 5765800"/>
                  <a:gd name="connsiteY6" fmla="*/ 2381 h 1917814"/>
                  <a:gd name="connsiteX7" fmla="*/ 2743994 w 5765800"/>
                  <a:gd name="connsiteY7" fmla="*/ 3572 h 1917814"/>
                  <a:gd name="connsiteX8" fmla="*/ 2773760 w 5765800"/>
                  <a:gd name="connsiteY8" fmla="*/ 5159 h 1917814"/>
                  <a:gd name="connsiteX9" fmla="*/ 2802731 w 5765800"/>
                  <a:gd name="connsiteY9" fmla="*/ 7541 h 1917814"/>
                  <a:gd name="connsiteX10" fmla="*/ 2832100 w 5765800"/>
                  <a:gd name="connsiteY10" fmla="*/ 9922 h 1917814"/>
                  <a:gd name="connsiteX11" fmla="*/ 2861072 w 5765800"/>
                  <a:gd name="connsiteY11" fmla="*/ 11906 h 1917814"/>
                  <a:gd name="connsiteX12" fmla="*/ 2890044 w 5765800"/>
                  <a:gd name="connsiteY12" fmla="*/ 15081 h 1917814"/>
                  <a:gd name="connsiteX13" fmla="*/ 2919413 w 5765800"/>
                  <a:gd name="connsiteY13" fmla="*/ 18256 h 1917814"/>
                  <a:gd name="connsiteX14" fmla="*/ 2948385 w 5765800"/>
                  <a:gd name="connsiteY14" fmla="*/ 21828 h 1917814"/>
                  <a:gd name="connsiteX15" fmla="*/ 2977356 w 5765800"/>
                  <a:gd name="connsiteY15" fmla="*/ 25400 h 1917814"/>
                  <a:gd name="connsiteX16" fmla="*/ 3005931 w 5765800"/>
                  <a:gd name="connsiteY16" fmla="*/ 29369 h 1917814"/>
                  <a:gd name="connsiteX17" fmla="*/ 3035300 w 5765800"/>
                  <a:gd name="connsiteY17" fmla="*/ 33734 h 1917814"/>
                  <a:gd name="connsiteX18" fmla="*/ 3063875 w 5765800"/>
                  <a:gd name="connsiteY18" fmla="*/ 38100 h 1917814"/>
                  <a:gd name="connsiteX19" fmla="*/ 3092450 w 5765800"/>
                  <a:gd name="connsiteY19" fmla="*/ 42863 h 1917814"/>
                  <a:gd name="connsiteX20" fmla="*/ 3121025 w 5765800"/>
                  <a:gd name="connsiteY20" fmla="*/ 48419 h 1917814"/>
                  <a:gd name="connsiteX21" fmla="*/ 3149600 w 5765800"/>
                  <a:gd name="connsiteY21" fmla="*/ 53578 h 1917814"/>
                  <a:gd name="connsiteX22" fmla="*/ 3178175 w 5765800"/>
                  <a:gd name="connsiteY22" fmla="*/ 59134 h 1917814"/>
                  <a:gd name="connsiteX23" fmla="*/ 3206750 w 5765800"/>
                  <a:gd name="connsiteY23" fmla="*/ 65088 h 1917814"/>
                  <a:gd name="connsiteX24" fmla="*/ 3234531 w 5765800"/>
                  <a:gd name="connsiteY24" fmla="*/ 71834 h 1917814"/>
                  <a:gd name="connsiteX25" fmla="*/ 3262710 w 5765800"/>
                  <a:gd name="connsiteY25" fmla="*/ 77788 h 1917814"/>
                  <a:gd name="connsiteX26" fmla="*/ 3290888 w 5765800"/>
                  <a:gd name="connsiteY26" fmla="*/ 84931 h 1917814"/>
                  <a:gd name="connsiteX27" fmla="*/ 3319066 w 5765800"/>
                  <a:gd name="connsiteY27" fmla="*/ 92075 h 1917814"/>
                  <a:gd name="connsiteX28" fmla="*/ 3346847 w 5765800"/>
                  <a:gd name="connsiteY28" fmla="*/ 99219 h 1917814"/>
                  <a:gd name="connsiteX29" fmla="*/ 3374628 w 5765800"/>
                  <a:gd name="connsiteY29" fmla="*/ 107156 h 1917814"/>
                  <a:gd name="connsiteX30" fmla="*/ 3402013 w 5765800"/>
                  <a:gd name="connsiteY30" fmla="*/ 115094 h 1917814"/>
                  <a:gd name="connsiteX31" fmla="*/ 3429794 w 5765800"/>
                  <a:gd name="connsiteY31" fmla="*/ 123031 h 1917814"/>
                  <a:gd name="connsiteX32" fmla="*/ 3457178 w 5765800"/>
                  <a:gd name="connsiteY32" fmla="*/ 131366 h 1917814"/>
                  <a:gd name="connsiteX33" fmla="*/ 3484563 w 5765800"/>
                  <a:gd name="connsiteY33" fmla="*/ 140097 h 1917814"/>
                  <a:gd name="connsiteX34" fmla="*/ 3511550 w 5765800"/>
                  <a:gd name="connsiteY34" fmla="*/ 149225 h 1917814"/>
                  <a:gd name="connsiteX35" fmla="*/ 3538935 w 5765800"/>
                  <a:gd name="connsiteY35" fmla="*/ 158353 h 1917814"/>
                  <a:gd name="connsiteX36" fmla="*/ 3565922 w 5765800"/>
                  <a:gd name="connsiteY36" fmla="*/ 167481 h 1917814"/>
                  <a:gd name="connsiteX37" fmla="*/ 3592116 w 5765800"/>
                  <a:gd name="connsiteY37" fmla="*/ 177800 h 1917814"/>
                  <a:gd name="connsiteX38" fmla="*/ 3618706 w 5765800"/>
                  <a:gd name="connsiteY38" fmla="*/ 187722 h 1917814"/>
                  <a:gd name="connsiteX39" fmla="*/ 3645297 w 5765800"/>
                  <a:gd name="connsiteY39" fmla="*/ 198041 h 1917814"/>
                  <a:gd name="connsiteX40" fmla="*/ 3671888 w 5765800"/>
                  <a:gd name="connsiteY40" fmla="*/ 208359 h 1917814"/>
                  <a:gd name="connsiteX41" fmla="*/ 3697685 w 5765800"/>
                  <a:gd name="connsiteY41" fmla="*/ 219472 h 1917814"/>
                  <a:gd name="connsiteX42" fmla="*/ 3724275 w 5765800"/>
                  <a:gd name="connsiteY42" fmla="*/ 230584 h 1917814"/>
                  <a:gd name="connsiteX43" fmla="*/ 3749675 w 5765800"/>
                  <a:gd name="connsiteY43" fmla="*/ 241300 h 1917814"/>
                  <a:gd name="connsiteX44" fmla="*/ 3775869 w 5765800"/>
                  <a:gd name="connsiteY44" fmla="*/ 253603 h 1917814"/>
                  <a:gd name="connsiteX45" fmla="*/ 3801269 w 5765800"/>
                  <a:gd name="connsiteY45" fmla="*/ 264716 h 1917814"/>
                  <a:gd name="connsiteX46" fmla="*/ 3826669 w 5765800"/>
                  <a:gd name="connsiteY46" fmla="*/ 277416 h 1917814"/>
                  <a:gd name="connsiteX47" fmla="*/ 3851672 w 5765800"/>
                  <a:gd name="connsiteY47" fmla="*/ 289719 h 1917814"/>
                  <a:gd name="connsiteX48" fmla="*/ 3876675 w 5765800"/>
                  <a:gd name="connsiteY48" fmla="*/ 302022 h 1917814"/>
                  <a:gd name="connsiteX49" fmla="*/ 3901678 w 5765800"/>
                  <a:gd name="connsiteY49" fmla="*/ 314722 h 1917814"/>
                  <a:gd name="connsiteX50" fmla="*/ 3926285 w 5765800"/>
                  <a:gd name="connsiteY50" fmla="*/ 328216 h 1917814"/>
                  <a:gd name="connsiteX51" fmla="*/ 3950891 w 5765800"/>
                  <a:gd name="connsiteY51" fmla="*/ 341313 h 1917814"/>
                  <a:gd name="connsiteX52" fmla="*/ 3974703 w 5765800"/>
                  <a:gd name="connsiteY52" fmla="*/ 354806 h 1917814"/>
                  <a:gd name="connsiteX53" fmla="*/ 3999310 w 5765800"/>
                  <a:gd name="connsiteY53" fmla="*/ 368697 h 1917814"/>
                  <a:gd name="connsiteX54" fmla="*/ 4023122 w 5765800"/>
                  <a:gd name="connsiteY54" fmla="*/ 382588 h 1917814"/>
                  <a:gd name="connsiteX55" fmla="*/ 4046538 w 5765800"/>
                  <a:gd name="connsiteY55" fmla="*/ 397272 h 1917814"/>
                  <a:gd name="connsiteX56" fmla="*/ 4069953 w 5765800"/>
                  <a:gd name="connsiteY56" fmla="*/ 411559 h 1917814"/>
                  <a:gd name="connsiteX57" fmla="*/ 4093369 w 5765800"/>
                  <a:gd name="connsiteY57" fmla="*/ 426244 h 1917814"/>
                  <a:gd name="connsiteX58" fmla="*/ 4115991 w 5765800"/>
                  <a:gd name="connsiteY58" fmla="*/ 441325 h 1917814"/>
                  <a:gd name="connsiteX59" fmla="*/ 4139010 w 5765800"/>
                  <a:gd name="connsiteY59" fmla="*/ 456406 h 1917814"/>
                  <a:gd name="connsiteX60" fmla="*/ 4162028 w 5765800"/>
                  <a:gd name="connsiteY60" fmla="*/ 471884 h 1917814"/>
                  <a:gd name="connsiteX61" fmla="*/ 4184253 w 5765800"/>
                  <a:gd name="connsiteY61" fmla="*/ 487759 h 1917814"/>
                  <a:gd name="connsiteX62" fmla="*/ 4206478 w 5765800"/>
                  <a:gd name="connsiteY62" fmla="*/ 503634 h 1917814"/>
                  <a:gd name="connsiteX63" fmla="*/ 4228306 w 5765800"/>
                  <a:gd name="connsiteY63" fmla="*/ 519509 h 1917814"/>
                  <a:gd name="connsiteX64" fmla="*/ 4250135 w 5765800"/>
                  <a:gd name="connsiteY64" fmla="*/ 536575 h 1917814"/>
                  <a:gd name="connsiteX65" fmla="*/ 4271566 w 5765800"/>
                  <a:gd name="connsiteY65" fmla="*/ 552847 h 1917814"/>
                  <a:gd name="connsiteX66" fmla="*/ 4292997 w 5765800"/>
                  <a:gd name="connsiteY66" fmla="*/ 569516 h 1917814"/>
                  <a:gd name="connsiteX67" fmla="*/ 4519613 w 5765800"/>
                  <a:gd name="connsiteY67" fmla="*/ 752475 h 1917814"/>
                  <a:gd name="connsiteX68" fmla="*/ 4624388 w 5765800"/>
                  <a:gd name="connsiteY68" fmla="*/ 837406 h 1917814"/>
                  <a:gd name="connsiteX69" fmla="*/ 4724400 w 5765800"/>
                  <a:gd name="connsiteY69" fmla="*/ 919956 h 1917814"/>
                  <a:gd name="connsiteX70" fmla="*/ 4820444 w 5765800"/>
                  <a:gd name="connsiteY70" fmla="*/ 999331 h 1917814"/>
                  <a:gd name="connsiteX71" fmla="*/ 4912916 w 5765800"/>
                  <a:gd name="connsiteY71" fmla="*/ 1077119 h 1917814"/>
                  <a:gd name="connsiteX72" fmla="*/ 4957366 w 5765800"/>
                  <a:gd name="connsiteY72" fmla="*/ 1115616 h 1917814"/>
                  <a:gd name="connsiteX73" fmla="*/ 5001816 w 5765800"/>
                  <a:gd name="connsiteY73" fmla="*/ 1153716 h 1917814"/>
                  <a:gd name="connsiteX74" fmla="*/ 5045472 w 5765800"/>
                  <a:gd name="connsiteY74" fmla="*/ 1192213 h 1917814"/>
                  <a:gd name="connsiteX75" fmla="*/ 5088335 w 5765800"/>
                  <a:gd name="connsiteY75" fmla="*/ 1230313 h 1917814"/>
                  <a:gd name="connsiteX76" fmla="*/ 5131197 w 5765800"/>
                  <a:gd name="connsiteY76" fmla="*/ 1268810 h 1917814"/>
                  <a:gd name="connsiteX77" fmla="*/ 5173663 w 5765800"/>
                  <a:gd name="connsiteY77" fmla="*/ 1307306 h 1917814"/>
                  <a:gd name="connsiteX78" fmla="*/ 5215731 w 5765800"/>
                  <a:gd name="connsiteY78" fmla="*/ 1345803 h 1917814"/>
                  <a:gd name="connsiteX79" fmla="*/ 5257403 w 5765800"/>
                  <a:gd name="connsiteY79" fmla="*/ 1385094 h 1917814"/>
                  <a:gd name="connsiteX80" fmla="*/ 5299075 w 5765800"/>
                  <a:gd name="connsiteY80" fmla="*/ 1424385 h 1917814"/>
                  <a:gd name="connsiteX81" fmla="*/ 5340747 w 5765800"/>
                  <a:gd name="connsiteY81" fmla="*/ 1464072 h 1917814"/>
                  <a:gd name="connsiteX82" fmla="*/ 5381625 w 5765800"/>
                  <a:gd name="connsiteY82" fmla="*/ 1504950 h 1917814"/>
                  <a:gd name="connsiteX83" fmla="*/ 5423297 w 5765800"/>
                  <a:gd name="connsiteY83" fmla="*/ 1546225 h 1917814"/>
                  <a:gd name="connsiteX84" fmla="*/ 5464969 w 5765800"/>
                  <a:gd name="connsiteY84" fmla="*/ 1588294 h 1917814"/>
                  <a:gd name="connsiteX85" fmla="*/ 5507038 w 5765800"/>
                  <a:gd name="connsiteY85" fmla="*/ 1631156 h 1917814"/>
                  <a:gd name="connsiteX86" fmla="*/ 5549106 w 5765800"/>
                  <a:gd name="connsiteY86" fmla="*/ 1675606 h 1917814"/>
                  <a:gd name="connsiteX87" fmla="*/ 5591175 w 5765800"/>
                  <a:gd name="connsiteY87" fmla="*/ 1720453 h 1917814"/>
                  <a:gd name="connsiteX88" fmla="*/ 5634038 w 5765800"/>
                  <a:gd name="connsiteY88" fmla="*/ 1766491 h 1917814"/>
                  <a:gd name="connsiteX89" fmla="*/ 5677297 w 5765800"/>
                  <a:gd name="connsiteY89" fmla="*/ 1813719 h 1917814"/>
                  <a:gd name="connsiteX90" fmla="*/ 5721350 w 5765800"/>
                  <a:gd name="connsiteY90" fmla="*/ 1862931 h 1917814"/>
                  <a:gd name="connsiteX91" fmla="*/ 5765800 w 5765800"/>
                  <a:gd name="connsiteY91" fmla="*/ 1912938 h 1917814"/>
                  <a:gd name="connsiteX92" fmla="*/ 4455160 w 5765800"/>
                  <a:gd name="connsiteY92" fmla="*/ 1800542 h 1917814"/>
                  <a:gd name="connsiteX93" fmla="*/ 4409440 w 5765800"/>
                  <a:gd name="connsiteY93" fmla="*/ 1790382 h 1917814"/>
                  <a:gd name="connsiteX94" fmla="*/ 4389120 w 5765800"/>
                  <a:gd name="connsiteY94" fmla="*/ 1785302 h 1917814"/>
                  <a:gd name="connsiteX95" fmla="*/ 4358640 w 5765800"/>
                  <a:gd name="connsiteY95" fmla="*/ 1785302 h 1917814"/>
                  <a:gd name="connsiteX96" fmla="*/ 3566160 w 5765800"/>
                  <a:gd name="connsiteY96" fmla="*/ 1668462 h 1917814"/>
                  <a:gd name="connsiteX97" fmla="*/ 3413760 w 5765800"/>
                  <a:gd name="connsiteY97" fmla="*/ 1648142 h 1917814"/>
                  <a:gd name="connsiteX98" fmla="*/ 2529840 w 5765800"/>
                  <a:gd name="connsiteY98" fmla="*/ 1485582 h 1917814"/>
                  <a:gd name="connsiteX99" fmla="*/ 1559560 w 5765800"/>
                  <a:gd name="connsiteY99" fmla="*/ 1424622 h 1917814"/>
                  <a:gd name="connsiteX100" fmla="*/ 1498600 w 5765800"/>
                  <a:gd name="connsiteY100" fmla="*/ 1419542 h 1917814"/>
                  <a:gd name="connsiteX101" fmla="*/ 858520 w 5765800"/>
                  <a:gd name="connsiteY101" fmla="*/ 1373822 h 1917814"/>
                  <a:gd name="connsiteX102" fmla="*/ 457200 w 5765800"/>
                  <a:gd name="connsiteY102" fmla="*/ 1353502 h 1917814"/>
                  <a:gd name="connsiteX103" fmla="*/ 167640 w 5765800"/>
                  <a:gd name="connsiteY103" fmla="*/ 1343342 h 1917814"/>
                  <a:gd name="connsiteX104" fmla="*/ 0 w 5765800"/>
                  <a:gd name="connsiteY104" fmla="*/ 1184672 h 1917814"/>
                  <a:gd name="connsiteX105" fmla="*/ 0 w 5765800"/>
                  <a:gd name="connsiteY105" fmla="*/ 0 h 1917814"/>
                  <a:gd name="connsiteX0" fmla="*/ 0 w 5765800"/>
                  <a:gd name="connsiteY0" fmla="*/ 0 h 1950605"/>
                  <a:gd name="connsiteX1" fmla="*/ 2595960 w 5765800"/>
                  <a:gd name="connsiteY1" fmla="*/ 0 h 1950605"/>
                  <a:gd name="connsiteX2" fmla="*/ 2597547 w 5765800"/>
                  <a:gd name="connsiteY2" fmla="*/ 0 h 1950605"/>
                  <a:gd name="connsiteX3" fmla="*/ 2626519 w 5765800"/>
                  <a:gd name="connsiteY3" fmla="*/ 0 h 1950605"/>
                  <a:gd name="connsiteX4" fmla="*/ 2656285 w 5765800"/>
                  <a:gd name="connsiteY4" fmla="*/ 397 h 1950605"/>
                  <a:gd name="connsiteX5" fmla="*/ 2685256 w 5765800"/>
                  <a:gd name="connsiteY5" fmla="*/ 1191 h 1950605"/>
                  <a:gd name="connsiteX6" fmla="*/ 2715022 w 5765800"/>
                  <a:gd name="connsiteY6" fmla="*/ 2381 h 1950605"/>
                  <a:gd name="connsiteX7" fmla="*/ 2743994 w 5765800"/>
                  <a:gd name="connsiteY7" fmla="*/ 3572 h 1950605"/>
                  <a:gd name="connsiteX8" fmla="*/ 2773760 w 5765800"/>
                  <a:gd name="connsiteY8" fmla="*/ 5159 h 1950605"/>
                  <a:gd name="connsiteX9" fmla="*/ 2802731 w 5765800"/>
                  <a:gd name="connsiteY9" fmla="*/ 7541 h 1950605"/>
                  <a:gd name="connsiteX10" fmla="*/ 2832100 w 5765800"/>
                  <a:gd name="connsiteY10" fmla="*/ 9922 h 1950605"/>
                  <a:gd name="connsiteX11" fmla="*/ 2861072 w 5765800"/>
                  <a:gd name="connsiteY11" fmla="*/ 11906 h 1950605"/>
                  <a:gd name="connsiteX12" fmla="*/ 2890044 w 5765800"/>
                  <a:gd name="connsiteY12" fmla="*/ 15081 h 1950605"/>
                  <a:gd name="connsiteX13" fmla="*/ 2919413 w 5765800"/>
                  <a:gd name="connsiteY13" fmla="*/ 18256 h 1950605"/>
                  <a:gd name="connsiteX14" fmla="*/ 2948385 w 5765800"/>
                  <a:gd name="connsiteY14" fmla="*/ 21828 h 1950605"/>
                  <a:gd name="connsiteX15" fmla="*/ 2977356 w 5765800"/>
                  <a:gd name="connsiteY15" fmla="*/ 25400 h 1950605"/>
                  <a:gd name="connsiteX16" fmla="*/ 3005931 w 5765800"/>
                  <a:gd name="connsiteY16" fmla="*/ 29369 h 1950605"/>
                  <a:gd name="connsiteX17" fmla="*/ 3035300 w 5765800"/>
                  <a:gd name="connsiteY17" fmla="*/ 33734 h 1950605"/>
                  <a:gd name="connsiteX18" fmla="*/ 3063875 w 5765800"/>
                  <a:gd name="connsiteY18" fmla="*/ 38100 h 1950605"/>
                  <a:gd name="connsiteX19" fmla="*/ 3092450 w 5765800"/>
                  <a:gd name="connsiteY19" fmla="*/ 42863 h 1950605"/>
                  <a:gd name="connsiteX20" fmla="*/ 3121025 w 5765800"/>
                  <a:gd name="connsiteY20" fmla="*/ 48419 h 1950605"/>
                  <a:gd name="connsiteX21" fmla="*/ 3149600 w 5765800"/>
                  <a:gd name="connsiteY21" fmla="*/ 53578 h 1950605"/>
                  <a:gd name="connsiteX22" fmla="*/ 3178175 w 5765800"/>
                  <a:gd name="connsiteY22" fmla="*/ 59134 h 1950605"/>
                  <a:gd name="connsiteX23" fmla="*/ 3206750 w 5765800"/>
                  <a:gd name="connsiteY23" fmla="*/ 65088 h 1950605"/>
                  <a:gd name="connsiteX24" fmla="*/ 3234531 w 5765800"/>
                  <a:gd name="connsiteY24" fmla="*/ 71834 h 1950605"/>
                  <a:gd name="connsiteX25" fmla="*/ 3262710 w 5765800"/>
                  <a:gd name="connsiteY25" fmla="*/ 77788 h 1950605"/>
                  <a:gd name="connsiteX26" fmla="*/ 3290888 w 5765800"/>
                  <a:gd name="connsiteY26" fmla="*/ 84931 h 1950605"/>
                  <a:gd name="connsiteX27" fmla="*/ 3319066 w 5765800"/>
                  <a:gd name="connsiteY27" fmla="*/ 92075 h 1950605"/>
                  <a:gd name="connsiteX28" fmla="*/ 3346847 w 5765800"/>
                  <a:gd name="connsiteY28" fmla="*/ 99219 h 1950605"/>
                  <a:gd name="connsiteX29" fmla="*/ 3374628 w 5765800"/>
                  <a:gd name="connsiteY29" fmla="*/ 107156 h 1950605"/>
                  <a:gd name="connsiteX30" fmla="*/ 3402013 w 5765800"/>
                  <a:gd name="connsiteY30" fmla="*/ 115094 h 1950605"/>
                  <a:gd name="connsiteX31" fmla="*/ 3429794 w 5765800"/>
                  <a:gd name="connsiteY31" fmla="*/ 123031 h 1950605"/>
                  <a:gd name="connsiteX32" fmla="*/ 3457178 w 5765800"/>
                  <a:gd name="connsiteY32" fmla="*/ 131366 h 1950605"/>
                  <a:gd name="connsiteX33" fmla="*/ 3484563 w 5765800"/>
                  <a:gd name="connsiteY33" fmla="*/ 140097 h 1950605"/>
                  <a:gd name="connsiteX34" fmla="*/ 3511550 w 5765800"/>
                  <a:gd name="connsiteY34" fmla="*/ 149225 h 1950605"/>
                  <a:gd name="connsiteX35" fmla="*/ 3538935 w 5765800"/>
                  <a:gd name="connsiteY35" fmla="*/ 158353 h 1950605"/>
                  <a:gd name="connsiteX36" fmla="*/ 3565922 w 5765800"/>
                  <a:gd name="connsiteY36" fmla="*/ 167481 h 1950605"/>
                  <a:gd name="connsiteX37" fmla="*/ 3592116 w 5765800"/>
                  <a:gd name="connsiteY37" fmla="*/ 177800 h 1950605"/>
                  <a:gd name="connsiteX38" fmla="*/ 3618706 w 5765800"/>
                  <a:gd name="connsiteY38" fmla="*/ 187722 h 1950605"/>
                  <a:gd name="connsiteX39" fmla="*/ 3645297 w 5765800"/>
                  <a:gd name="connsiteY39" fmla="*/ 198041 h 1950605"/>
                  <a:gd name="connsiteX40" fmla="*/ 3671888 w 5765800"/>
                  <a:gd name="connsiteY40" fmla="*/ 208359 h 1950605"/>
                  <a:gd name="connsiteX41" fmla="*/ 3697685 w 5765800"/>
                  <a:gd name="connsiteY41" fmla="*/ 219472 h 1950605"/>
                  <a:gd name="connsiteX42" fmla="*/ 3724275 w 5765800"/>
                  <a:gd name="connsiteY42" fmla="*/ 230584 h 1950605"/>
                  <a:gd name="connsiteX43" fmla="*/ 3749675 w 5765800"/>
                  <a:gd name="connsiteY43" fmla="*/ 241300 h 1950605"/>
                  <a:gd name="connsiteX44" fmla="*/ 3775869 w 5765800"/>
                  <a:gd name="connsiteY44" fmla="*/ 253603 h 1950605"/>
                  <a:gd name="connsiteX45" fmla="*/ 3801269 w 5765800"/>
                  <a:gd name="connsiteY45" fmla="*/ 264716 h 1950605"/>
                  <a:gd name="connsiteX46" fmla="*/ 3826669 w 5765800"/>
                  <a:gd name="connsiteY46" fmla="*/ 277416 h 1950605"/>
                  <a:gd name="connsiteX47" fmla="*/ 3851672 w 5765800"/>
                  <a:gd name="connsiteY47" fmla="*/ 289719 h 1950605"/>
                  <a:gd name="connsiteX48" fmla="*/ 3876675 w 5765800"/>
                  <a:gd name="connsiteY48" fmla="*/ 302022 h 1950605"/>
                  <a:gd name="connsiteX49" fmla="*/ 3901678 w 5765800"/>
                  <a:gd name="connsiteY49" fmla="*/ 314722 h 1950605"/>
                  <a:gd name="connsiteX50" fmla="*/ 3926285 w 5765800"/>
                  <a:gd name="connsiteY50" fmla="*/ 328216 h 1950605"/>
                  <a:gd name="connsiteX51" fmla="*/ 3950891 w 5765800"/>
                  <a:gd name="connsiteY51" fmla="*/ 341313 h 1950605"/>
                  <a:gd name="connsiteX52" fmla="*/ 3974703 w 5765800"/>
                  <a:gd name="connsiteY52" fmla="*/ 354806 h 1950605"/>
                  <a:gd name="connsiteX53" fmla="*/ 3999310 w 5765800"/>
                  <a:gd name="connsiteY53" fmla="*/ 368697 h 1950605"/>
                  <a:gd name="connsiteX54" fmla="*/ 4023122 w 5765800"/>
                  <a:gd name="connsiteY54" fmla="*/ 382588 h 1950605"/>
                  <a:gd name="connsiteX55" fmla="*/ 4046538 w 5765800"/>
                  <a:gd name="connsiteY55" fmla="*/ 397272 h 1950605"/>
                  <a:gd name="connsiteX56" fmla="*/ 4069953 w 5765800"/>
                  <a:gd name="connsiteY56" fmla="*/ 411559 h 1950605"/>
                  <a:gd name="connsiteX57" fmla="*/ 4093369 w 5765800"/>
                  <a:gd name="connsiteY57" fmla="*/ 426244 h 1950605"/>
                  <a:gd name="connsiteX58" fmla="*/ 4115991 w 5765800"/>
                  <a:gd name="connsiteY58" fmla="*/ 441325 h 1950605"/>
                  <a:gd name="connsiteX59" fmla="*/ 4139010 w 5765800"/>
                  <a:gd name="connsiteY59" fmla="*/ 456406 h 1950605"/>
                  <a:gd name="connsiteX60" fmla="*/ 4162028 w 5765800"/>
                  <a:gd name="connsiteY60" fmla="*/ 471884 h 1950605"/>
                  <a:gd name="connsiteX61" fmla="*/ 4184253 w 5765800"/>
                  <a:gd name="connsiteY61" fmla="*/ 487759 h 1950605"/>
                  <a:gd name="connsiteX62" fmla="*/ 4206478 w 5765800"/>
                  <a:gd name="connsiteY62" fmla="*/ 503634 h 1950605"/>
                  <a:gd name="connsiteX63" fmla="*/ 4228306 w 5765800"/>
                  <a:gd name="connsiteY63" fmla="*/ 519509 h 1950605"/>
                  <a:gd name="connsiteX64" fmla="*/ 4250135 w 5765800"/>
                  <a:gd name="connsiteY64" fmla="*/ 536575 h 1950605"/>
                  <a:gd name="connsiteX65" fmla="*/ 4271566 w 5765800"/>
                  <a:gd name="connsiteY65" fmla="*/ 552847 h 1950605"/>
                  <a:gd name="connsiteX66" fmla="*/ 4292997 w 5765800"/>
                  <a:gd name="connsiteY66" fmla="*/ 569516 h 1950605"/>
                  <a:gd name="connsiteX67" fmla="*/ 4519613 w 5765800"/>
                  <a:gd name="connsiteY67" fmla="*/ 752475 h 1950605"/>
                  <a:gd name="connsiteX68" fmla="*/ 4624388 w 5765800"/>
                  <a:gd name="connsiteY68" fmla="*/ 837406 h 1950605"/>
                  <a:gd name="connsiteX69" fmla="*/ 4724400 w 5765800"/>
                  <a:gd name="connsiteY69" fmla="*/ 919956 h 1950605"/>
                  <a:gd name="connsiteX70" fmla="*/ 4820444 w 5765800"/>
                  <a:gd name="connsiteY70" fmla="*/ 999331 h 1950605"/>
                  <a:gd name="connsiteX71" fmla="*/ 4912916 w 5765800"/>
                  <a:gd name="connsiteY71" fmla="*/ 1077119 h 1950605"/>
                  <a:gd name="connsiteX72" fmla="*/ 4957366 w 5765800"/>
                  <a:gd name="connsiteY72" fmla="*/ 1115616 h 1950605"/>
                  <a:gd name="connsiteX73" fmla="*/ 5001816 w 5765800"/>
                  <a:gd name="connsiteY73" fmla="*/ 1153716 h 1950605"/>
                  <a:gd name="connsiteX74" fmla="*/ 5045472 w 5765800"/>
                  <a:gd name="connsiteY74" fmla="*/ 1192213 h 1950605"/>
                  <a:gd name="connsiteX75" fmla="*/ 5088335 w 5765800"/>
                  <a:gd name="connsiteY75" fmla="*/ 1230313 h 1950605"/>
                  <a:gd name="connsiteX76" fmla="*/ 5131197 w 5765800"/>
                  <a:gd name="connsiteY76" fmla="*/ 1268810 h 1950605"/>
                  <a:gd name="connsiteX77" fmla="*/ 5173663 w 5765800"/>
                  <a:gd name="connsiteY77" fmla="*/ 1307306 h 1950605"/>
                  <a:gd name="connsiteX78" fmla="*/ 5215731 w 5765800"/>
                  <a:gd name="connsiteY78" fmla="*/ 1345803 h 1950605"/>
                  <a:gd name="connsiteX79" fmla="*/ 5257403 w 5765800"/>
                  <a:gd name="connsiteY79" fmla="*/ 1385094 h 1950605"/>
                  <a:gd name="connsiteX80" fmla="*/ 5299075 w 5765800"/>
                  <a:gd name="connsiteY80" fmla="*/ 1424385 h 1950605"/>
                  <a:gd name="connsiteX81" fmla="*/ 5340747 w 5765800"/>
                  <a:gd name="connsiteY81" fmla="*/ 1464072 h 1950605"/>
                  <a:gd name="connsiteX82" fmla="*/ 5381625 w 5765800"/>
                  <a:gd name="connsiteY82" fmla="*/ 1504950 h 1950605"/>
                  <a:gd name="connsiteX83" fmla="*/ 5423297 w 5765800"/>
                  <a:gd name="connsiteY83" fmla="*/ 1546225 h 1950605"/>
                  <a:gd name="connsiteX84" fmla="*/ 5464969 w 5765800"/>
                  <a:gd name="connsiteY84" fmla="*/ 1588294 h 1950605"/>
                  <a:gd name="connsiteX85" fmla="*/ 5507038 w 5765800"/>
                  <a:gd name="connsiteY85" fmla="*/ 1631156 h 1950605"/>
                  <a:gd name="connsiteX86" fmla="*/ 5549106 w 5765800"/>
                  <a:gd name="connsiteY86" fmla="*/ 1675606 h 1950605"/>
                  <a:gd name="connsiteX87" fmla="*/ 5591175 w 5765800"/>
                  <a:gd name="connsiteY87" fmla="*/ 1720453 h 1950605"/>
                  <a:gd name="connsiteX88" fmla="*/ 5634038 w 5765800"/>
                  <a:gd name="connsiteY88" fmla="*/ 1766491 h 1950605"/>
                  <a:gd name="connsiteX89" fmla="*/ 5677297 w 5765800"/>
                  <a:gd name="connsiteY89" fmla="*/ 1813719 h 1950605"/>
                  <a:gd name="connsiteX90" fmla="*/ 5721350 w 5765800"/>
                  <a:gd name="connsiteY90" fmla="*/ 1862931 h 1950605"/>
                  <a:gd name="connsiteX91" fmla="*/ 5765800 w 5765800"/>
                  <a:gd name="connsiteY91" fmla="*/ 1912938 h 1950605"/>
                  <a:gd name="connsiteX92" fmla="*/ 4455160 w 5765800"/>
                  <a:gd name="connsiteY92" fmla="*/ 1800542 h 1950605"/>
                  <a:gd name="connsiteX93" fmla="*/ 4409440 w 5765800"/>
                  <a:gd name="connsiteY93" fmla="*/ 1790382 h 1950605"/>
                  <a:gd name="connsiteX94" fmla="*/ 4389120 w 5765800"/>
                  <a:gd name="connsiteY94" fmla="*/ 1785302 h 1950605"/>
                  <a:gd name="connsiteX95" fmla="*/ 4358640 w 5765800"/>
                  <a:gd name="connsiteY95" fmla="*/ 1785302 h 1950605"/>
                  <a:gd name="connsiteX96" fmla="*/ 3566160 w 5765800"/>
                  <a:gd name="connsiteY96" fmla="*/ 1668462 h 1950605"/>
                  <a:gd name="connsiteX97" fmla="*/ 3413760 w 5765800"/>
                  <a:gd name="connsiteY97" fmla="*/ 1648142 h 1950605"/>
                  <a:gd name="connsiteX98" fmla="*/ 2529840 w 5765800"/>
                  <a:gd name="connsiteY98" fmla="*/ 1485582 h 1950605"/>
                  <a:gd name="connsiteX99" fmla="*/ 1559560 w 5765800"/>
                  <a:gd name="connsiteY99" fmla="*/ 1424622 h 1950605"/>
                  <a:gd name="connsiteX100" fmla="*/ 1498600 w 5765800"/>
                  <a:gd name="connsiteY100" fmla="*/ 1419542 h 1950605"/>
                  <a:gd name="connsiteX101" fmla="*/ 858520 w 5765800"/>
                  <a:gd name="connsiteY101" fmla="*/ 1373822 h 1950605"/>
                  <a:gd name="connsiteX102" fmla="*/ 457200 w 5765800"/>
                  <a:gd name="connsiteY102" fmla="*/ 1353502 h 1950605"/>
                  <a:gd name="connsiteX103" fmla="*/ 167640 w 5765800"/>
                  <a:gd name="connsiteY103" fmla="*/ 1343342 h 1950605"/>
                  <a:gd name="connsiteX104" fmla="*/ 0 w 5765800"/>
                  <a:gd name="connsiteY104" fmla="*/ 1184672 h 1950605"/>
                  <a:gd name="connsiteX105" fmla="*/ 0 w 5765800"/>
                  <a:gd name="connsiteY105" fmla="*/ 0 h 1950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5765800" h="1950605">
                    <a:moveTo>
                      <a:pt x="0" y="0"/>
                    </a:moveTo>
                    <a:lnTo>
                      <a:pt x="2595960" y="0"/>
                    </a:lnTo>
                    <a:lnTo>
                      <a:pt x="2597547" y="0"/>
                    </a:lnTo>
                    <a:lnTo>
                      <a:pt x="2626519" y="0"/>
                    </a:lnTo>
                    <a:lnTo>
                      <a:pt x="2656285" y="397"/>
                    </a:lnTo>
                    <a:lnTo>
                      <a:pt x="2685256" y="1191"/>
                    </a:lnTo>
                    <a:lnTo>
                      <a:pt x="2715022" y="2381"/>
                    </a:lnTo>
                    <a:lnTo>
                      <a:pt x="2743994" y="3572"/>
                    </a:lnTo>
                    <a:lnTo>
                      <a:pt x="2773760" y="5159"/>
                    </a:lnTo>
                    <a:lnTo>
                      <a:pt x="2802731" y="7541"/>
                    </a:lnTo>
                    <a:lnTo>
                      <a:pt x="2832100" y="9922"/>
                    </a:lnTo>
                    <a:lnTo>
                      <a:pt x="2861072" y="11906"/>
                    </a:lnTo>
                    <a:lnTo>
                      <a:pt x="2890044" y="15081"/>
                    </a:lnTo>
                    <a:lnTo>
                      <a:pt x="2919413" y="18256"/>
                    </a:lnTo>
                    <a:lnTo>
                      <a:pt x="2948385" y="21828"/>
                    </a:lnTo>
                    <a:lnTo>
                      <a:pt x="2977356" y="25400"/>
                    </a:lnTo>
                    <a:lnTo>
                      <a:pt x="3005931" y="29369"/>
                    </a:lnTo>
                    <a:lnTo>
                      <a:pt x="3035300" y="33734"/>
                    </a:lnTo>
                    <a:lnTo>
                      <a:pt x="3063875" y="38100"/>
                    </a:lnTo>
                    <a:lnTo>
                      <a:pt x="3092450" y="42863"/>
                    </a:lnTo>
                    <a:lnTo>
                      <a:pt x="3121025" y="48419"/>
                    </a:lnTo>
                    <a:lnTo>
                      <a:pt x="3149600" y="53578"/>
                    </a:lnTo>
                    <a:lnTo>
                      <a:pt x="3178175" y="59134"/>
                    </a:lnTo>
                    <a:lnTo>
                      <a:pt x="3206750" y="65088"/>
                    </a:lnTo>
                    <a:lnTo>
                      <a:pt x="3234531" y="71834"/>
                    </a:lnTo>
                    <a:lnTo>
                      <a:pt x="3262710" y="77788"/>
                    </a:lnTo>
                    <a:lnTo>
                      <a:pt x="3290888" y="84931"/>
                    </a:lnTo>
                    <a:lnTo>
                      <a:pt x="3319066" y="92075"/>
                    </a:lnTo>
                    <a:lnTo>
                      <a:pt x="3346847" y="99219"/>
                    </a:lnTo>
                    <a:lnTo>
                      <a:pt x="3374628" y="107156"/>
                    </a:lnTo>
                    <a:lnTo>
                      <a:pt x="3402013" y="115094"/>
                    </a:lnTo>
                    <a:lnTo>
                      <a:pt x="3429794" y="123031"/>
                    </a:lnTo>
                    <a:lnTo>
                      <a:pt x="3457178" y="131366"/>
                    </a:lnTo>
                    <a:lnTo>
                      <a:pt x="3484563" y="140097"/>
                    </a:lnTo>
                    <a:lnTo>
                      <a:pt x="3511550" y="149225"/>
                    </a:lnTo>
                    <a:lnTo>
                      <a:pt x="3538935" y="158353"/>
                    </a:lnTo>
                    <a:lnTo>
                      <a:pt x="3565922" y="167481"/>
                    </a:lnTo>
                    <a:lnTo>
                      <a:pt x="3592116" y="177800"/>
                    </a:lnTo>
                    <a:lnTo>
                      <a:pt x="3618706" y="187722"/>
                    </a:lnTo>
                    <a:lnTo>
                      <a:pt x="3645297" y="198041"/>
                    </a:lnTo>
                    <a:lnTo>
                      <a:pt x="3671888" y="208359"/>
                    </a:lnTo>
                    <a:lnTo>
                      <a:pt x="3697685" y="219472"/>
                    </a:lnTo>
                    <a:lnTo>
                      <a:pt x="3724275" y="230584"/>
                    </a:lnTo>
                    <a:lnTo>
                      <a:pt x="3749675" y="241300"/>
                    </a:lnTo>
                    <a:lnTo>
                      <a:pt x="3775869" y="253603"/>
                    </a:lnTo>
                    <a:lnTo>
                      <a:pt x="3801269" y="264716"/>
                    </a:lnTo>
                    <a:lnTo>
                      <a:pt x="3826669" y="277416"/>
                    </a:lnTo>
                    <a:lnTo>
                      <a:pt x="3851672" y="289719"/>
                    </a:lnTo>
                    <a:lnTo>
                      <a:pt x="3876675" y="302022"/>
                    </a:lnTo>
                    <a:lnTo>
                      <a:pt x="3901678" y="314722"/>
                    </a:lnTo>
                    <a:lnTo>
                      <a:pt x="3926285" y="328216"/>
                    </a:lnTo>
                    <a:lnTo>
                      <a:pt x="3950891" y="341313"/>
                    </a:lnTo>
                    <a:lnTo>
                      <a:pt x="3974703" y="354806"/>
                    </a:lnTo>
                    <a:lnTo>
                      <a:pt x="3999310" y="368697"/>
                    </a:lnTo>
                    <a:lnTo>
                      <a:pt x="4023122" y="382588"/>
                    </a:lnTo>
                    <a:lnTo>
                      <a:pt x="4046538" y="397272"/>
                    </a:lnTo>
                    <a:lnTo>
                      <a:pt x="4069953" y="411559"/>
                    </a:lnTo>
                    <a:lnTo>
                      <a:pt x="4093369" y="426244"/>
                    </a:lnTo>
                    <a:lnTo>
                      <a:pt x="4115991" y="441325"/>
                    </a:lnTo>
                    <a:lnTo>
                      <a:pt x="4139010" y="456406"/>
                    </a:lnTo>
                    <a:lnTo>
                      <a:pt x="4162028" y="471884"/>
                    </a:lnTo>
                    <a:lnTo>
                      <a:pt x="4184253" y="487759"/>
                    </a:lnTo>
                    <a:lnTo>
                      <a:pt x="4206478" y="503634"/>
                    </a:lnTo>
                    <a:lnTo>
                      <a:pt x="4228306" y="519509"/>
                    </a:lnTo>
                    <a:lnTo>
                      <a:pt x="4250135" y="536575"/>
                    </a:lnTo>
                    <a:lnTo>
                      <a:pt x="4271566" y="552847"/>
                    </a:lnTo>
                    <a:lnTo>
                      <a:pt x="4292997" y="569516"/>
                    </a:lnTo>
                    <a:lnTo>
                      <a:pt x="4519613" y="752475"/>
                    </a:lnTo>
                    <a:lnTo>
                      <a:pt x="4624388" y="837406"/>
                    </a:lnTo>
                    <a:lnTo>
                      <a:pt x="4724400" y="919956"/>
                    </a:lnTo>
                    <a:lnTo>
                      <a:pt x="4820444" y="999331"/>
                    </a:lnTo>
                    <a:lnTo>
                      <a:pt x="4912916" y="1077119"/>
                    </a:lnTo>
                    <a:lnTo>
                      <a:pt x="4957366" y="1115616"/>
                    </a:lnTo>
                    <a:lnTo>
                      <a:pt x="5001816" y="1153716"/>
                    </a:lnTo>
                    <a:lnTo>
                      <a:pt x="5045472" y="1192213"/>
                    </a:lnTo>
                    <a:lnTo>
                      <a:pt x="5088335" y="1230313"/>
                    </a:lnTo>
                    <a:lnTo>
                      <a:pt x="5131197" y="1268810"/>
                    </a:lnTo>
                    <a:lnTo>
                      <a:pt x="5173663" y="1307306"/>
                    </a:lnTo>
                    <a:lnTo>
                      <a:pt x="5215731" y="1345803"/>
                    </a:lnTo>
                    <a:lnTo>
                      <a:pt x="5257403" y="1385094"/>
                    </a:lnTo>
                    <a:lnTo>
                      <a:pt x="5299075" y="1424385"/>
                    </a:lnTo>
                    <a:lnTo>
                      <a:pt x="5340747" y="1464072"/>
                    </a:lnTo>
                    <a:lnTo>
                      <a:pt x="5381625" y="1504950"/>
                    </a:lnTo>
                    <a:lnTo>
                      <a:pt x="5423297" y="1546225"/>
                    </a:lnTo>
                    <a:lnTo>
                      <a:pt x="5464969" y="1588294"/>
                    </a:lnTo>
                    <a:lnTo>
                      <a:pt x="5507038" y="1631156"/>
                    </a:lnTo>
                    <a:lnTo>
                      <a:pt x="5549106" y="1675606"/>
                    </a:lnTo>
                    <a:lnTo>
                      <a:pt x="5591175" y="1720453"/>
                    </a:lnTo>
                    <a:lnTo>
                      <a:pt x="5634038" y="1766491"/>
                    </a:lnTo>
                    <a:lnTo>
                      <a:pt x="5677297" y="1813719"/>
                    </a:lnTo>
                    <a:lnTo>
                      <a:pt x="5721350" y="1862931"/>
                    </a:lnTo>
                    <a:lnTo>
                      <a:pt x="5765800" y="1912938"/>
                    </a:lnTo>
                    <a:cubicBezTo>
                      <a:pt x="5440680" y="2002473"/>
                      <a:pt x="5374640" y="1919287"/>
                      <a:pt x="4455160" y="1800542"/>
                    </a:cubicBezTo>
                    <a:lnTo>
                      <a:pt x="4409440" y="1790382"/>
                    </a:lnTo>
                    <a:cubicBezTo>
                      <a:pt x="4402637" y="1788812"/>
                      <a:pt x="4396067" y="1785997"/>
                      <a:pt x="4389120" y="1785302"/>
                    </a:cubicBezTo>
                    <a:cubicBezTo>
                      <a:pt x="4379010" y="1784291"/>
                      <a:pt x="4368800" y="1785302"/>
                      <a:pt x="4358640" y="1785302"/>
                    </a:cubicBezTo>
                    <a:lnTo>
                      <a:pt x="3566160" y="1668462"/>
                    </a:lnTo>
                    <a:cubicBezTo>
                      <a:pt x="3454246" y="1656027"/>
                      <a:pt x="3504970" y="1663344"/>
                      <a:pt x="3413760" y="1648142"/>
                    </a:cubicBezTo>
                    <a:lnTo>
                      <a:pt x="2529840" y="1485582"/>
                    </a:lnTo>
                    <a:lnTo>
                      <a:pt x="1559560" y="1424622"/>
                    </a:lnTo>
                    <a:cubicBezTo>
                      <a:pt x="1508791" y="1418981"/>
                      <a:pt x="1529174" y="1419542"/>
                      <a:pt x="1498600" y="1419542"/>
                    </a:cubicBezTo>
                    <a:lnTo>
                      <a:pt x="858520" y="1373822"/>
                    </a:lnTo>
                    <a:lnTo>
                      <a:pt x="457200" y="1353502"/>
                    </a:lnTo>
                    <a:lnTo>
                      <a:pt x="167640" y="1343342"/>
                    </a:lnTo>
                    <a:lnTo>
                      <a:pt x="0" y="1184672"/>
                    </a:lnTo>
                    <a:lnTo>
                      <a:pt x="0" y="0"/>
                    </a:lnTo>
                    <a:close/>
                  </a:path>
                </a:pathLst>
              </a:custGeom>
              <a:grpFill/>
              <a:ln>
                <a:noFill/>
              </a:ln>
            </p:spPr>
            <p:txBody>
              <a:bodyPr vert="horz" wrap="square" lIns="68580" tIns="34290" rIns="68580" bIns="34290" numCol="1" anchor="t" anchorCtr="0" compatLnSpc="1">
                <a:prstTxWarp prst="textNoShape">
                  <a:avLst/>
                </a:prstTxWarp>
                <a:noAutofit/>
              </a:bodyPr>
              <a:lstStyle/>
              <a:p>
                <a:endParaRPr lang="en-US" sz="1350">
                  <a:latin typeface="Aptos" panose="020B0004020202020204" pitchFamily="34" charset="0"/>
                  <a:sym typeface="Aptos" panose="020B0004020202020204" pitchFamily="34" charset="0"/>
                </a:endParaRPr>
              </a:p>
            </p:txBody>
          </p:sp>
          <p:sp>
            <p:nvSpPr>
              <p:cNvPr id="59" name="Freeform: Shape 58">
                <a:extLst>
                  <a:ext uri="{FF2B5EF4-FFF2-40B4-BE49-F238E27FC236}">
                    <a16:creationId xmlns:a16="http://schemas.microsoft.com/office/drawing/2014/main" id="{6672D4D4-21E4-272B-BC6E-927A771A0A91}"/>
                  </a:ext>
                </a:extLst>
              </p:cNvPr>
              <p:cNvSpPr>
                <a:spLocks/>
              </p:cNvSpPr>
              <p:nvPr/>
            </p:nvSpPr>
            <p:spPr bwMode="auto">
              <a:xfrm>
                <a:off x="0" y="2540644"/>
                <a:ext cx="5551885" cy="2001917"/>
              </a:xfrm>
              <a:custGeom>
                <a:avLst/>
                <a:gdLst>
                  <a:gd name="connsiteX0" fmla="*/ 7402513 w 7402513"/>
                  <a:gd name="connsiteY0" fmla="*/ 0 h 2669222"/>
                  <a:gd name="connsiteX1" fmla="*/ 7377115 w 7402513"/>
                  <a:gd name="connsiteY1" fmla="*/ 24221 h 2669222"/>
                  <a:gd name="connsiteX2" fmla="*/ 7352113 w 7402513"/>
                  <a:gd name="connsiteY2" fmla="*/ 49235 h 2669222"/>
                  <a:gd name="connsiteX3" fmla="*/ 7302109 w 7402513"/>
                  <a:gd name="connsiteY3" fmla="*/ 98471 h 2669222"/>
                  <a:gd name="connsiteX4" fmla="*/ 6867158 w 7402513"/>
                  <a:gd name="connsiteY4" fmla="*/ 461780 h 2669222"/>
                  <a:gd name="connsiteX5" fmla="*/ 6772831 w 7402513"/>
                  <a:gd name="connsiteY5" fmla="*/ 540796 h 2669222"/>
                  <a:gd name="connsiteX6" fmla="*/ 6268720 w 7402513"/>
                  <a:gd name="connsiteY6" fmla="*/ 1023302 h 2669222"/>
                  <a:gd name="connsiteX7" fmla="*/ 5674360 w 7402513"/>
                  <a:gd name="connsiteY7" fmla="*/ 1571942 h 2669222"/>
                  <a:gd name="connsiteX8" fmla="*/ 5217160 w 7402513"/>
                  <a:gd name="connsiteY8" fmla="*/ 2013902 h 2669222"/>
                  <a:gd name="connsiteX9" fmla="*/ 4495800 w 7402513"/>
                  <a:gd name="connsiteY9" fmla="*/ 2399982 h 2669222"/>
                  <a:gd name="connsiteX10" fmla="*/ 3576320 w 7402513"/>
                  <a:gd name="connsiteY10" fmla="*/ 2618422 h 2669222"/>
                  <a:gd name="connsiteX11" fmla="*/ 431800 w 7402513"/>
                  <a:gd name="connsiteY11" fmla="*/ 2669222 h 2669222"/>
                  <a:gd name="connsiteX12" fmla="*/ 81280 w 7402513"/>
                  <a:gd name="connsiteY12" fmla="*/ 2628582 h 2669222"/>
                  <a:gd name="connsiteX13" fmla="*/ 84638 w 7402513"/>
                  <a:gd name="connsiteY13" fmla="*/ 2561429 h 2669222"/>
                  <a:gd name="connsiteX14" fmla="*/ 0 w 7402513"/>
                  <a:gd name="connsiteY14" fmla="*/ 2561429 h 2669222"/>
                  <a:gd name="connsiteX15" fmla="*/ 0 w 7402513"/>
                  <a:gd name="connsiteY15" fmla="*/ 1360325 h 2669222"/>
                  <a:gd name="connsiteX16" fmla="*/ 96520 w 7402513"/>
                  <a:gd name="connsiteY16" fmla="*/ 1317942 h 2669222"/>
                  <a:gd name="connsiteX17" fmla="*/ 472440 w 7402513"/>
                  <a:gd name="connsiteY17" fmla="*/ 1317942 h 2669222"/>
                  <a:gd name="connsiteX18" fmla="*/ 2473960 w 7402513"/>
                  <a:gd name="connsiteY18" fmla="*/ 1323022 h 2669222"/>
                  <a:gd name="connsiteX19" fmla="*/ 4582160 w 7402513"/>
                  <a:gd name="connsiteY19" fmla="*/ 1292542 h 2669222"/>
                  <a:gd name="connsiteX20" fmla="*/ 5709920 w 7402513"/>
                  <a:gd name="connsiteY20" fmla="*/ 1028382 h 2669222"/>
                  <a:gd name="connsiteX21" fmla="*/ 6441440 w 7402513"/>
                  <a:gd name="connsiteY21" fmla="*/ 667702 h 2669222"/>
                  <a:gd name="connsiteX22" fmla="*/ 6701260 w 7402513"/>
                  <a:gd name="connsiteY22" fmla="*/ 545434 h 2669222"/>
                  <a:gd name="connsiteX23" fmla="*/ 7176307 w 7402513"/>
                  <a:gd name="connsiteY23" fmla="*/ 179074 h 2669222"/>
                  <a:gd name="connsiteX24" fmla="*/ 7289807 w 7402513"/>
                  <a:gd name="connsiteY24" fmla="*/ 89736 h 2669222"/>
                  <a:gd name="connsiteX0" fmla="*/ 7402513 w 7402513"/>
                  <a:gd name="connsiteY0" fmla="*/ 0 h 2669222"/>
                  <a:gd name="connsiteX1" fmla="*/ 7377115 w 7402513"/>
                  <a:gd name="connsiteY1" fmla="*/ 24221 h 2669222"/>
                  <a:gd name="connsiteX2" fmla="*/ 7352113 w 7402513"/>
                  <a:gd name="connsiteY2" fmla="*/ 49235 h 2669222"/>
                  <a:gd name="connsiteX3" fmla="*/ 7302109 w 7402513"/>
                  <a:gd name="connsiteY3" fmla="*/ 98471 h 2669222"/>
                  <a:gd name="connsiteX4" fmla="*/ 6867158 w 7402513"/>
                  <a:gd name="connsiteY4" fmla="*/ 461780 h 2669222"/>
                  <a:gd name="connsiteX5" fmla="*/ 6772831 w 7402513"/>
                  <a:gd name="connsiteY5" fmla="*/ 540796 h 2669222"/>
                  <a:gd name="connsiteX6" fmla="*/ 6268720 w 7402513"/>
                  <a:gd name="connsiteY6" fmla="*/ 1023302 h 2669222"/>
                  <a:gd name="connsiteX7" fmla="*/ 5674360 w 7402513"/>
                  <a:gd name="connsiteY7" fmla="*/ 1571942 h 2669222"/>
                  <a:gd name="connsiteX8" fmla="*/ 5217160 w 7402513"/>
                  <a:gd name="connsiteY8" fmla="*/ 2013902 h 2669222"/>
                  <a:gd name="connsiteX9" fmla="*/ 4495800 w 7402513"/>
                  <a:gd name="connsiteY9" fmla="*/ 2399982 h 2669222"/>
                  <a:gd name="connsiteX10" fmla="*/ 3576320 w 7402513"/>
                  <a:gd name="connsiteY10" fmla="*/ 2618422 h 2669222"/>
                  <a:gd name="connsiteX11" fmla="*/ 431800 w 7402513"/>
                  <a:gd name="connsiteY11" fmla="*/ 2669222 h 2669222"/>
                  <a:gd name="connsiteX12" fmla="*/ 81280 w 7402513"/>
                  <a:gd name="connsiteY12" fmla="*/ 2628582 h 2669222"/>
                  <a:gd name="connsiteX13" fmla="*/ 0 w 7402513"/>
                  <a:gd name="connsiteY13" fmla="*/ 2561429 h 2669222"/>
                  <a:gd name="connsiteX14" fmla="*/ 0 w 7402513"/>
                  <a:gd name="connsiteY14" fmla="*/ 1360325 h 2669222"/>
                  <a:gd name="connsiteX15" fmla="*/ 96520 w 7402513"/>
                  <a:gd name="connsiteY15" fmla="*/ 1317942 h 2669222"/>
                  <a:gd name="connsiteX16" fmla="*/ 472440 w 7402513"/>
                  <a:gd name="connsiteY16" fmla="*/ 1317942 h 2669222"/>
                  <a:gd name="connsiteX17" fmla="*/ 2473960 w 7402513"/>
                  <a:gd name="connsiteY17" fmla="*/ 1323022 h 2669222"/>
                  <a:gd name="connsiteX18" fmla="*/ 4582160 w 7402513"/>
                  <a:gd name="connsiteY18" fmla="*/ 1292542 h 2669222"/>
                  <a:gd name="connsiteX19" fmla="*/ 5709920 w 7402513"/>
                  <a:gd name="connsiteY19" fmla="*/ 1028382 h 2669222"/>
                  <a:gd name="connsiteX20" fmla="*/ 6441440 w 7402513"/>
                  <a:gd name="connsiteY20" fmla="*/ 667702 h 2669222"/>
                  <a:gd name="connsiteX21" fmla="*/ 6701260 w 7402513"/>
                  <a:gd name="connsiteY21" fmla="*/ 545434 h 2669222"/>
                  <a:gd name="connsiteX22" fmla="*/ 7176307 w 7402513"/>
                  <a:gd name="connsiteY22" fmla="*/ 179074 h 2669222"/>
                  <a:gd name="connsiteX23" fmla="*/ 7289807 w 7402513"/>
                  <a:gd name="connsiteY23" fmla="*/ 89736 h 2669222"/>
                  <a:gd name="connsiteX24" fmla="*/ 7402513 w 7402513"/>
                  <a:gd name="connsiteY24" fmla="*/ 0 h 2669222"/>
                  <a:gd name="connsiteX0" fmla="*/ 7402513 w 7402513"/>
                  <a:gd name="connsiteY0" fmla="*/ 0 h 2669222"/>
                  <a:gd name="connsiteX1" fmla="*/ 7377115 w 7402513"/>
                  <a:gd name="connsiteY1" fmla="*/ 24221 h 2669222"/>
                  <a:gd name="connsiteX2" fmla="*/ 7352113 w 7402513"/>
                  <a:gd name="connsiteY2" fmla="*/ 49235 h 2669222"/>
                  <a:gd name="connsiteX3" fmla="*/ 7302109 w 7402513"/>
                  <a:gd name="connsiteY3" fmla="*/ 98471 h 2669222"/>
                  <a:gd name="connsiteX4" fmla="*/ 6867158 w 7402513"/>
                  <a:gd name="connsiteY4" fmla="*/ 461780 h 2669222"/>
                  <a:gd name="connsiteX5" fmla="*/ 6788071 w 7402513"/>
                  <a:gd name="connsiteY5" fmla="*/ 550956 h 2669222"/>
                  <a:gd name="connsiteX6" fmla="*/ 6268720 w 7402513"/>
                  <a:gd name="connsiteY6" fmla="*/ 1023302 h 2669222"/>
                  <a:gd name="connsiteX7" fmla="*/ 5674360 w 7402513"/>
                  <a:gd name="connsiteY7" fmla="*/ 1571942 h 2669222"/>
                  <a:gd name="connsiteX8" fmla="*/ 5217160 w 7402513"/>
                  <a:gd name="connsiteY8" fmla="*/ 2013902 h 2669222"/>
                  <a:gd name="connsiteX9" fmla="*/ 4495800 w 7402513"/>
                  <a:gd name="connsiteY9" fmla="*/ 2399982 h 2669222"/>
                  <a:gd name="connsiteX10" fmla="*/ 3576320 w 7402513"/>
                  <a:gd name="connsiteY10" fmla="*/ 2618422 h 2669222"/>
                  <a:gd name="connsiteX11" fmla="*/ 431800 w 7402513"/>
                  <a:gd name="connsiteY11" fmla="*/ 2669222 h 2669222"/>
                  <a:gd name="connsiteX12" fmla="*/ 81280 w 7402513"/>
                  <a:gd name="connsiteY12" fmla="*/ 2628582 h 2669222"/>
                  <a:gd name="connsiteX13" fmla="*/ 0 w 7402513"/>
                  <a:gd name="connsiteY13" fmla="*/ 2561429 h 2669222"/>
                  <a:gd name="connsiteX14" fmla="*/ 0 w 7402513"/>
                  <a:gd name="connsiteY14" fmla="*/ 1360325 h 2669222"/>
                  <a:gd name="connsiteX15" fmla="*/ 96520 w 7402513"/>
                  <a:gd name="connsiteY15" fmla="*/ 1317942 h 2669222"/>
                  <a:gd name="connsiteX16" fmla="*/ 472440 w 7402513"/>
                  <a:gd name="connsiteY16" fmla="*/ 1317942 h 2669222"/>
                  <a:gd name="connsiteX17" fmla="*/ 2473960 w 7402513"/>
                  <a:gd name="connsiteY17" fmla="*/ 1323022 h 2669222"/>
                  <a:gd name="connsiteX18" fmla="*/ 4582160 w 7402513"/>
                  <a:gd name="connsiteY18" fmla="*/ 1292542 h 2669222"/>
                  <a:gd name="connsiteX19" fmla="*/ 5709920 w 7402513"/>
                  <a:gd name="connsiteY19" fmla="*/ 1028382 h 2669222"/>
                  <a:gd name="connsiteX20" fmla="*/ 6441440 w 7402513"/>
                  <a:gd name="connsiteY20" fmla="*/ 667702 h 2669222"/>
                  <a:gd name="connsiteX21" fmla="*/ 6701260 w 7402513"/>
                  <a:gd name="connsiteY21" fmla="*/ 545434 h 2669222"/>
                  <a:gd name="connsiteX22" fmla="*/ 7176307 w 7402513"/>
                  <a:gd name="connsiteY22" fmla="*/ 179074 h 2669222"/>
                  <a:gd name="connsiteX23" fmla="*/ 7289807 w 7402513"/>
                  <a:gd name="connsiteY23" fmla="*/ 89736 h 2669222"/>
                  <a:gd name="connsiteX24" fmla="*/ 7402513 w 7402513"/>
                  <a:gd name="connsiteY24" fmla="*/ 0 h 2669222"/>
                  <a:gd name="connsiteX0" fmla="*/ 7402513 w 7402513"/>
                  <a:gd name="connsiteY0" fmla="*/ 0 h 2669222"/>
                  <a:gd name="connsiteX1" fmla="*/ 7377115 w 7402513"/>
                  <a:gd name="connsiteY1" fmla="*/ 24221 h 2669222"/>
                  <a:gd name="connsiteX2" fmla="*/ 7352113 w 7402513"/>
                  <a:gd name="connsiteY2" fmla="*/ 49235 h 2669222"/>
                  <a:gd name="connsiteX3" fmla="*/ 7302109 w 7402513"/>
                  <a:gd name="connsiteY3" fmla="*/ 98471 h 2669222"/>
                  <a:gd name="connsiteX4" fmla="*/ 6887478 w 7402513"/>
                  <a:gd name="connsiteY4" fmla="*/ 477020 h 2669222"/>
                  <a:gd name="connsiteX5" fmla="*/ 6788071 w 7402513"/>
                  <a:gd name="connsiteY5" fmla="*/ 550956 h 2669222"/>
                  <a:gd name="connsiteX6" fmla="*/ 6268720 w 7402513"/>
                  <a:gd name="connsiteY6" fmla="*/ 1023302 h 2669222"/>
                  <a:gd name="connsiteX7" fmla="*/ 5674360 w 7402513"/>
                  <a:gd name="connsiteY7" fmla="*/ 1571942 h 2669222"/>
                  <a:gd name="connsiteX8" fmla="*/ 5217160 w 7402513"/>
                  <a:gd name="connsiteY8" fmla="*/ 2013902 h 2669222"/>
                  <a:gd name="connsiteX9" fmla="*/ 4495800 w 7402513"/>
                  <a:gd name="connsiteY9" fmla="*/ 2399982 h 2669222"/>
                  <a:gd name="connsiteX10" fmla="*/ 3576320 w 7402513"/>
                  <a:gd name="connsiteY10" fmla="*/ 2618422 h 2669222"/>
                  <a:gd name="connsiteX11" fmla="*/ 431800 w 7402513"/>
                  <a:gd name="connsiteY11" fmla="*/ 2669222 h 2669222"/>
                  <a:gd name="connsiteX12" fmla="*/ 81280 w 7402513"/>
                  <a:gd name="connsiteY12" fmla="*/ 2628582 h 2669222"/>
                  <a:gd name="connsiteX13" fmla="*/ 0 w 7402513"/>
                  <a:gd name="connsiteY13" fmla="*/ 2561429 h 2669222"/>
                  <a:gd name="connsiteX14" fmla="*/ 0 w 7402513"/>
                  <a:gd name="connsiteY14" fmla="*/ 1360325 h 2669222"/>
                  <a:gd name="connsiteX15" fmla="*/ 96520 w 7402513"/>
                  <a:gd name="connsiteY15" fmla="*/ 1317942 h 2669222"/>
                  <a:gd name="connsiteX16" fmla="*/ 472440 w 7402513"/>
                  <a:gd name="connsiteY16" fmla="*/ 1317942 h 2669222"/>
                  <a:gd name="connsiteX17" fmla="*/ 2473960 w 7402513"/>
                  <a:gd name="connsiteY17" fmla="*/ 1323022 h 2669222"/>
                  <a:gd name="connsiteX18" fmla="*/ 4582160 w 7402513"/>
                  <a:gd name="connsiteY18" fmla="*/ 1292542 h 2669222"/>
                  <a:gd name="connsiteX19" fmla="*/ 5709920 w 7402513"/>
                  <a:gd name="connsiteY19" fmla="*/ 1028382 h 2669222"/>
                  <a:gd name="connsiteX20" fmla="*/ 6441440 w 7402513"/>
                  <a:gd name="connsiteY20" fmla="*/ 667702 h 2669222"/>
                  <a:gd name="connsiteX21" fmla="*/ 6701260 w 7402513"/>
                  <a:gd name="connsiteY21" fmla="*/ 545434 h 2669222"/>
                  <a:gd name="connsiteX22" fmla="*/ 7176307 w 7402513"/>
                  <a:gd name="connsiteY22" fmla="*/ 179074 h 2669222"/>
                  <a:gd name="connsiteX23" fmla="*/ 7289807 w 7402513"/>
                  <a:gd name="connsiteY23" fmla="*/ 89736 h 2669222"/>
                  <a:gd name="connsiteX24" fmla="*/ 7402513 w 7402513"/>
                  <a:gd name="connsiteY24" fmla="*/ 0 h 2669222"/>
                  <a:gd name="connsiteX0" fmla="*/ 7402513 w 7402513"/>
                  <a:gd name="connsiteY0" fmla="*/ 0 h 2669222"/>
                  <a:gd name="connsiteX1" fmla="*/ 7377115 w 7402513"/>
                  <a:gd name="connsiteY1" fmla="*/ 24221 h 2669222"/>
                  <a:gd name="connsiteX2" fmla="*/ 7352113 w 7402513"/>
                  <a:gd name="connsiteY2" fmla="*/ 49235 h 2669222"/>
                  <a:gd name="connsiteX3" fmla="*/ 7302109 w 7402513"/>
                  <a:gd name="connsiteY3" fmla="*/ 98471 h 2669222"/>
                  <a:gd name="connsiteX4" fmla="*/ 6887478 w 7402513"/>
                  <a:gd name="connsiteY4" fmla="*/ 477020 h 2669222"/>
                  <a:gd name="connsiteX5" fmla="*/ 6788071 w 7402513"/>
                  <a:gd name="connsiteY5" fmla="*/ 550956 h 2669222"/>
                  <a:gd name="connsiteX6" fmla="*/ 6268720 w 7402513"/>
                  <a:gd name="connsiteY6" fmla="*/ 1023302 h 2669222"/>
                  <a:gd name="connsiteX7" fmla="*/ 5674360 w 7402513"/>
                  <a:gd name="connsiteY7" fmla="*/ 1571942 h 2669222"/>
                  <a:gd name="connsiteX8" fmla="*/ 5217160 w 7402513"/>
                  <a:gd name="connsiteY8" fmla="*/ 2013902 h 2669222"/>
                  <a:gd name="connsiteX9" fmla="*/ 4495800 w 7402513"/>
                  <a:gd name="connsiteY9" fmla="*/ 2399982 h 2669222"/>
                  <a:gd name="connsiteX10" fmla="*/ 3576320 w 7402513"/>
                  <a:gd name="connsiteY10" fmla="*/ 2618422 h 2669222"/>
                  <a:gd name="connsiteX11" fmla="*/ 431800 w 7402513"/>
                  <a:gd name="connsiteY11" fmla="*/ 2669222 h 2669222"/>
                  <a:gd name="connsiteX12" fmla="*/ 81280 w 7402513"/>
                  <a:gd name="connsiteY12" fmla="*/ 2628582 h 2669222"/>
                  <a:gd name="connsiteX13" fmla="*/ 0 w 7402513"/>
                  <a:gd name="connsiteY13" fmla="*/ 2561429 h 2669222"/>
                  <a:gd name="connsiteX14" fmla="*/ 0 w 7402513"/>
                  <a:gd name="connsiteY14" fmla="*/ 1360325 h 2669222"/>
                  <a:gd name="connsiteX15" fmla="*/ 96520 w 7402513"/>
                  <a:gd name="connsiteY15" fmla="*/ 1317942 h 2669222"/>
                  <a:gd name="connsiteX16" fmla="*/ 472440 w 7402513"/>
                  <a:gd name="connsiteY16" fmla="*/ 1317942 h 2669222"/>
                  <a:gd name="connsiteX17" fmla="*/ 2473960 w 7402513"/>
                  <a:gd name="connsiteY17" fmla="*/ 1323022 h 2669222"/>
                  <a:gd name="connsiteX18" fmla="*/ 4582160 w 7402513"/>
                  <a:gd name="connsiteY18" fmla="*/ 1292542 h 2669222"/>
                  <a:gd name="connsiteX19" fmla="*/ 5709920 w 7402513"/>
                  <a:gd name="connsiteY19" fmla="*/ 1028382 h 2669222"/>
                  <a:gd name="connsiteX20" fmla="*/ 6456680 w 7402513"/>
                  <a:gd name="connsiteY20" fmla="*/ 688657 h 2669222"/>
                  <a:gd name="connsiteX21" fmla="*/ 6701260 w 7402513"/>
                  <a:gd name="connsiteY21" fmla="*/ 545434 h 2669222"/>
                  <a:gd name="connsiteX22" fmla="*/ 7176307 w 7402513"/>
                  <a:gd name="connsiteY22" fmla="*/ 179074 h 2669222"/>
                  <a:gd name="connsiteX23" fmla="*/ 7289807 w 7402513"/>
                  <a:gd name="connsiteY23" fmla="*/ 89736 h 2669222"/>
                  <a:gd name="connsiteX24" fmla="*/ 7402513 w 7402513"/>
                  <a:gd name="connsiteY24" fmla="*/ 0 h 2669222"/>
                  <a:gd name="connsiteX0" fmla="*/ 7402513 w 7402513"/>
                  <a:gd name="connsiteY0" fmla="*/ 0 h 2669222"/>
                  <a:gd name="connsiteX1" fmla="*/ 7377115 w 7402513"/>
                  <a:gd name="connsiteY1" fmla="*/ 24221 h 2669222"/>
                  <a:gd name="connsiteX2" fmla="*/ 7352113 w 7402513"/>
                  <a:gd name="connsiteY2" fmla="*/ 49235 h 2669222"/>
                  <a:gd name="connsiteX3" fmla="*/ 7302109 w 7402513"/>
                  <a:gd name="connsiteY3" fmla="*/ 98471 h 2669222"/>
                  <a:gd name="connsiteX4" fmla="*/ 6887478 w 7402513"/>
                  <a:gd name="connsiteY4" fmla="*/ 477020 h 2669222"/>
                  <a:gd name="connsiteX5" fmla="*/ 6788071 w 7402513"/>
                  <a:gd name="connsiteY5" fmla="*/ 550956 h 2669222"/>
                  <a:gd name="connsiteX6" fmla="*/ 6268720 w 7402513"/>
                  <a:gd name="connsiteY6" fmla="*/ 1023302 h 2669222"/>
                  <a:gd name="connsiteX7" fmla="*/ 5674360 w 7402513"/>
                  <a:gd name="connsiteY7" fmla="*/ 1571942 h 2669222"/>
                  <a:gd name="connsiteX8" fmla="*/ 5217160 w 7402513"/>
                  <a:gd name="connsiteY8" fmla="*/ 2013902 h 2669222"/>
                  <a:gd name="connsiteX9" fmla="*/ 4495800 w 7402513"/>
                  <a:gd name="connsiteY9" fmla="*/ 2399982 h 2669222"/>
                  <a:gd name="connsiteX10" fmla="*/ 3576320 w 7402513"/>
                  <a:gd name="connsiteY10" fmla="*/ 2618422 h 2669222"/>
                  <a:gd name="connsiteX11" fmla="*/ 431800 w 7402513"/>
                  <a:gd name="connsiteY11" fmla="*/ 2669222 h 2669222"/>
                  <a:gd name="connsiteX12" fmla="*/ 81280 w 7402513"/>
                  <a:gd name="connsiteY12" fmla="*/ 2628582 h 2669222"/>
                  <a:gd name="connsiteX13" fmla="*/ 0 w 7402513"/>
                  <a:gd name="connsiteY13" fmla="*/ 2561429 h 2669222"/>
                  <a:gd name="connsiteX14" fmla="*/ 0 w 7402513"/>
                  <a:gd name="connsiteY14" fmla="*/ 1360325 h 2669222"/>
                  <a:gd name="connsiteX15" fmla="*/ 96520 w 7402513"/>
                  <a:gd name="connsiteY15" fmla="*/ 1317942 h 2669222"/>
                  <a:gd name="connsiteX16" fmla="*/ 472440 w 7402513"/>
                  <a:gd name="connsiteY16" fmla="*/ 1317942 h 2669222"/>
                  <a:gd name="connsiteX17" fmla="*/ 2473960 w 7402513"/>
                  <a:gd name="connsiteY17" fmla="*/ 1323022 h 2669222"/>
                  <a:gd name="connsiteX18" fmla="*/ 4582160 w 7402513"/>
                  <a:gd name="connsiteY18" fmla="*/ 1292542 h 2669222"/>
                  <a:gd name="connsiteX19" fmla="*/ 5709920 w 7402513"/>
                  <a:gd name="connsiteY19" fmla="*/ 1028382 h 2669222"/>
                  <a:gd name="connsiteX20" fmla="*/ 6456680 w 7402513"/>
                  <a:gd name="connsiteY20" fmla="*/ 688657 h 2669222"/>
                  <a:gd name="connsiteX21" fmla="*/ 6697450 w 7402513"/>
                  <a:gd name="connsiteY21" fmla="*/ 534004 h 2669222"/>
                  <a:gd name="connsiteX22" fmla="*/ 7176307 w 7402513"/>
                  <a:gd name="connsiteY22" fmla="*/ 179074 h 2669222"/>
                  <a:gd name="connsiteX23" fmla="*/ 7289807 w 7402513"/>
                  <a:gd name="connsiteY23" fmla="*/ 89736 h 2669222"/>
                  <a:gd name="connsiteX24" fmla="*/ 7402513 w 7402513"/>
                  <a:gd name="connsiteY24" fmla="*/ 0 h 2669222"/>
                  <a:gd name="connsiteX0" fmla="*/ 7402513 w 7402513"/>
                  <a:gd name="connsiteY0" fmla="*/ 0 h 2669222"/>
                  <a:gd name="connsiteX1" fmla="*/ 7377115 w 7402513"/>
                  <a:gd name="connsiteY1" fmla="*/ 24221 h 2669222"/>
                  <a:gd name="connsiteX2" fmla="*/ 7352113 w 7402513"/>
                  <a:gd name="connsiteY2" fmla="*/ 49235 h 2669222"/>
                  <a:gd name="connsiteX3" fmla="*/ 7302109 w 7402513"/>
                  <a:gd name="connsiteY3" fmla="*/ 98471 h 2669222"/>
                  <a:gd name="connsiteX4" fmla="*/ 6887478 w 7402513"/>
                  <a:gd name="connsiteY4" fmla="*/ 477020 h 2669222"/>
                  <a:gd name="connsiteX5" fmla="*/ 6788071 w 7402513"/>
                  <a:gd name="connsiteY5" fmla="*/ 550956 h 2669222"/>
                  <a:gd name="connsiteX6" fmla="*/ 6268720 w 7402513"/>
                  <a:gd name="connsiteY6" fmla="*/ 1023302 h 2669222"/>
                  <a:gd name="connsiteX7" fmla="*/ 5674360 w 7402513"/>
                  <a:gd name="connsiteY7" fmla="*/ 1571942 h 2669222"/>
                  <a:gd name="connsiteX8" fmla="*/ 5217160 w 7402513"/>
                  <a:gd name="connsiteY8" fmla="*/ 2013902 h 2669222"/>
                  <a:gd name="connsiteX9" fmla="*/ 4495800 w 7402513"/>
                  <a:gd name="connsiteY9" fmla="*/ 2399982 h 2669222"/>
                  <a:gd name="connsiteX10" fmla="*/ 3576320 w 7402513"/>
                  <a:gd name="connsiteY10" fmla="*/ 2618422 h 2669222"/>
                  <a:gd name="connsiteX11" fmla="*/ 431800 w 7402513"/>
                  <a:gd name="connsiteY11" fmla="*/ 2669222 h 2669222"/>
                  <a:gd name="connsiteX12" fmla="*/ 81280 w 7402513"/>
                  <a:gd name="connsiteY12" fmla="*/ 2628582 h 2669222"/>
                  <a:gd name="connsiteX13" fmla="*/ 0 w 7402513"/>
                  <a:gd name="connsiteY13" fmla="*/ 2561429 h 2669222"/>
                  <a:gd name="connsiteX14" fmla="*/ 0 w 7402513"/>
                  <a:gd name="connsiteY14" fmla="*/ 1360325 h 2669222"/>
                  <a:gd name="connsiteX15" fmla="*/ 96520 w 7402513"/>
                  <a:gd name="connsiteY15" fmla="*/ 1317942 h 2669222"/>
                  <a:gd name="connsiteX16" fmla="*/ 472440 w 7402513"/>
                  <a:gd name="connsiteY16" fmla="*/ 1317942 h 2669222"/>
                  <a:gd name="connsiteX17" fmla="*/ 2473960 w 7402513"/>
                  <a:gd name="connsiteY17" fmla="*/ 1323022 h 2669222"/>
                  <a:gd name="connsiteX18" fmla="*/ 4582160 w 7402513"/>
                  <a:gd name="connsiteY18" fmla="*/ 1292542 h 2669222"/>
                  <a:gd name="connsiteX19" fmla="*/ 5709920 w 7402513"/>
                  <a:gd name="connsiteY19" fmla="*/ 1028382 h 2669222"/>
                  <a:gd name="connsiteX20" fmla="*/ 6456680 w 7402513"/>
                  <a:gd name="connsiteY20" fmla="*/ 688657 h 2669222"/>
                  <a:gd name="connsiteX21" fmla="*/ 6697450 w 7402513"/>
                  <a:gd name="connsiteY21" fmla="*/ 534004 h 2669222"/>
                  <a:gd name="connsiteX22" fmla="*/ 7172497 w 7402513"/>
                  <a:gd name="connsiteY22" fmla="*/ 160024 h 2669222"/>
                  <a:gd name="connsiteX23" fmla="*/ 7289807 w 7402513"/>
                  <a:gd name="connsiteY23" fmla="*/ 89736 h 2669222"/>
                  <a:gd name="connsiteX24" fmla="*/ 7402513 w 7402513"/>
                  <a:gd name="connsiteY24" fmla="*/ 0 h 2669222"/>
                  <a:gd name="connsiteX0" fmla="*/ 7402513 w 7402513"/>
                  <a:gd name="connsiteY0" fmla="*/ 0 h 2669222"/>
                  <a:gd name="connsiteX1" fmla="*/ 7377115 w 7402513"/>
                  <a:gd name="connsiteY1" fmla="*/ 24221 h 2669222"/>
                  <a:gd name="connsiteX2" fmla="*/ 7352113 w 7402513"/>
                  <a:gd name="connsiteY2" fmla="*/ 49235 h 2669222"/>
                  <a:gd name="connsiteX3" fmla="*/ 7302109 w 7402513"/>
                  <a:gd name="connsiteY3" fmla="*/ 98471 h 2669222"/>
                  <a:gd name="connsiteX4" fmla="*/ 6887478 w 7402513"/>
                  <a:gd name="connsiteY4" fmla="*/ 477020 h 2669222"/>
                  <a:gd name="connsiteX5" fmla="*/ 6788071 w 7402513"/>
                  <a:gd name="connsiteY5" fmla="*/ 550956 h 2669222"/>
                  <a:gd name="connsiteX6" fmla="*/ 6268720 w 7402513"/>
                  <a:gd name="connsiteY6" fmla="*/ 1023302 h 2669222"/>
                  <a:gd name="connsiteX7" fmla="*/ 5674360 w 7402513"/>
                  <a:gd name="connsiteY7" fmla="*/ 1571942 h 2669222"/>
                  <a:gd name="connsiteX8" fmla="*/ 5217160 w 7402513"/>
                  <a:gd name="connsiteY8" fmla="*/ 2013902 h 2669222"/>
                  <a:gd name="connsiteX9" fmla="*/ 4495800 w 7402513"/>
                  <a:gd name="connsiteY9" fmla="*/ 2399982 h 2669222"/>
                  <a:gd name="connsiteX10" fmla="*/ 3576320 w 7402513"/>
                  <a:gd name="connsiteY10" fmla="*/ 2618422 h 2669222"/>
                  <a:gd name="connsiteX11" fmla="*/ 431800 w 7402513"/>
                  <a:gd name="connsiteY11" fmla="*/ 2669222 h 2669222"/>
                  <a:gd name="connsiteX12" fmla="*/ 81280 w 7402513"/>
                  <a:gd name="connsiteY12" fmla="*/ 2628582 h 2669222"/>
                  <a:gd name="connsiteX13" fmla="*/ 0 w 7402513"/>
                  <a:gd name="connsiteY13" fmla="*/ 2561429 h 2669222"/>
                  <a:gd name="connsiteX14" fmla="*/ 0 w 7402513"/>
                  <a:gd name="connsiteY14" fmla="*/ 1360325 h 2669222"/>
                  <a:gd name="connsiteX15" fmla="*/ 96520 w 7402513"/>
                  <a:gd name="connsiteY15" fmla="*/ 1317942 h 2669222"/>
                  <a:gd name="connsiteX16" fmla="*/ 472440 w 7402513"/>
                  <a:gd name="connsiteY16" fmla="*/ 1317942 h 2669222"/>
                  <a:gd name="connsiteX17" fmla="*/ 2473960 w 7402513"/>
                  <a:gd name="connsiteY17" fmla="*/ 1323022 h 2669222"/>
                  <a:gd name="connsiteX18" fmla="*/ 4582160 w 7402513"/>
                  <a:gd name="connsiteY18" fmla="*/ 1292542 h 2669222"/>
                  <a:gd name="connsiteX19" fmla="*/ 5709920 w 7402513"/>
                  <a:gd name="connsiteY19" fmla="*/ 1028382 h 2669222"/>
                  <a:gd name="connsiteX20" fmla="*/ 6456680 w 7402513"/>
                  <a:gd name="connsiteY20" fmla="*/ 688657 h 2669222"/>
                  <a:gd name="connsiteX21" fmla="*/ 6697450 w 7402513"/>
                  <a:gd name="connsiteY21" fmla="*/ 534004 h 2669222"/>
                  <a:gd name="connsiteX22" fmla="*/ 7172497 w 7402513"/>
                  <a:gd name="connsiteY22" fmla="*/ 160024 h 2669222"/>
                  <a:gd name="connsiteX23" fmla="*/ 7282187 w 7402513"/>
                  <a:gd name="connsiteY23" fmla="*/ 78306 h 2669222"/>
                  <a:gd name="connsiteX24" fmla="*/ 7402513 w 7402513"/>
                  <a:gd name="connsiteY24" fmla="*/ 0 h 2669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02513" h="2669222">
                    <a:moveTo>
                      <a:pt x="7402513" y="0"/>
                    </a:moveTo>
                    <a:lnTo>
                      <a:pt x="7377115" y="24221"/>
                    </a:lnTo>
                    <a:lnTo>
                      <a:pt x="7352113" y="49235"/>
                    </a:lnTo>
                    <a:lnTo>
                      <a:pt x="7302109" y="98471"/>
                    </a:lnTo>
                    <a:lnTo>
                      <a:pt x="6887478" y="477020"/>
                    </a:lnTo>
                    <a:lnTo>
                      <a:pt x="6788071" y="550956"/>
                    </a:lnTo>
                    <a:lnTo>
                      <a:pt x="6268720" y="1023302"/>
                    </a:lnTo>
                    <a:lnTo>
                      <a:pt x="5674360" y="1571942"/>
                    </a:lnTo>
                    <a:lnTo>
                      <a:pt x="5217160" y="2013902"/>
                    </a:lnTo>
                    <a:lnTo>
                      <a:pt x="4495800" y="2399982"/>
                    </a:lnTo>
                    <a:lnTo>
                      <a:pt x="3576320" y="2618422"/>
                    </a:lnTo>
                    <a:lnTo>
                      <a:pt x="431800" y="2669222"/>
                    </a:lnTo>
                    <a:lnTo>
                      <a:pt x="81280" y="2628582"/>
                    </a:lnTo>
                    <a:lnTo>
                      <a:pt x="0" y="2561429"/>
                    </a:lnTo>
                    <a:lnTo>
                      <a:pt x="0" y="1360325"/>
                    </a:lnTo>
                    <a:lnTo>
                      <a:pt x="96520" y="1317942"/>
                    </a:lnTo>
                    <a:lnTo>
                      <a:pt x="472440" y="1317942"/>
                    </a:lnTo>
                    <a:lnTo>
                      <a:pt x="2473960" y="1323022"/>
                    </a:lnTo>
                    <a:lnTo>
                      <a:pt x="4582160" y="1292542"/>
                    </a:lnTo>
                    <a:lnTo>
                      <a:pt x="5709920" y="1028382"/>
                    </a:lnTo>
                    <a:lnTo>
                      <a:pt x="6456680" y="688657"/>
                    </a:lnTo>
                    <a:lnTo>
                      <a:pt x="6697450" y="534004"/>
                    </a:lnTo>
                    <a:lnTo>
                      <a:pt x="7172497" y="160024"/>
                    </a:lnTo>
                    <a:lnTo>
                      <a:pt x="7282187" y="78306"/>
                    </a:lnTo>
                    <a:lnTo>
                      <a:pt x="7402513" y="0"/>
                    </a:lnTo>
                    <a:close/>
                  </a:path>
                </a:pathLst>
              </a:custGeom>
              <a:grpFill/>
              <a:ln>
                <a:noFill/>
              </a:ln>
            </p:spPr>
            <p:txBody>
              <a:bodyPr vert="horz" wrap="square" lIns="68580" tIns="34290" rIns="68580" bIns="34290" numCol="1" anchor="t" anchorCtr="0" compatLnSpc="1">
                <a:prstTxWarp prst="textNoShape">
                  <a:avLst/>
                </a:prstTxWarp>
                <a:noAutofit/>
              </a:bodyPr>
              <a:lstStyle/>
              <a:p>
                <a:endParaRPr lang="en-US" sz="1350">
                  <a:latin typeface="Aptos" panose="020B0004020202020204" pitchFamily="34" charset="0"/>
                  <a:sym typeface="Aptos" panose="020B0004020202020204" pitchFamily="34" charset="0"/>
                </a:endParaRPr>
              </a:p>
            </p:txBody>
          </p:sp>
          <p:sp>
            <p:nvSpPr>
              <p:cNvPr id="60" name="Freeform 7">
                <a:extLst>
                  <a:ext uri="{FF2B5EF4-FFF2-40B4-BE49-F238E27FC236}">
                    <a16:creationId xmlns:a16="http://schemas.microsoft.com/office/drawing/2014/main" id="{95BD0807-FEBF-FED2-8C35-98702E41957C}"/>
                  </a:ext>
                </a:extLst>
              </p:cNvPr>
              <p:cNvSpPr>
                <a:spLocks/>
              </p:cNvSpPr>
              <p:nvPr/>
            </p:nvSpPr>
            <p:spPr bwMode="auto">
              <a:xfrm>
                <a:off x="0" y="2614463"/>
                <a:ext cx="5476875" cy="2801541"/>
              </a:xfrm>
              <a:custGeom>
                <a:avLst/>
                <a:gdLst>
                  <a:gd name="T0" fmla="*/ 10686 w 18400"/>
                  <a:gd name="T1" fmla="*/ 8151 h 9410"/>
                  <a:gd name="T2" fmla="*/ 10923 w 18400"/>
                  <a:gd name="T3" fmla="*/ 7949 h 9410"/>
                  <a:gd name="T4" fmla="*/ 11151 w 18400"/>
                  <a:gd name="T5" fmla="*/ 7736 h 9410"/>
                  <a:gd name="T6" fmla="*/ 11371 w 18400"/>
                  <a:gd name="T7" fmla="*/ 7515 h 9410"/>
                  <a:gd name="T8" fmla="*/ 11795 w 18400"/>
                  <a:gd name="T9" fmla="*/ 7069 h 9410"/>
                  <a:gd name="T10" fmla="*/ 12029 w 18400"/>
                  <a:gd name="T11" fmla="*/ 6819 h 9410"/>
                  <a:gd name="T12" fmla="*/ 12531 w 18400"/>
                  <a:gd name="T13" fmla="*/ 6287 h 9410"/>
                  <a:gd name="T14" fmla="*/ 13522 w 18400"/>
                  <a:gd name="T15" fmla="*/ 5212 h 9410"/>
                  <a:gd name="T16" fmla="*/ 14217 w 18400"/>
                  <a:gd name="T17" fmla="*/ 4453 h 9410"/>
                  <a:gd name="T18" fmla="*/ 15031 w 18400"/>
                  <a:gd name="T19" fmla="*/ 3559 h 9410"/>
                  <a:gd name="T20" fmla="*/ 16052 w 18400"/>
                  <a:gd name="T21" fmla="*/ 2439 h 9410"/>
                  <a:gd name="T22" fmla="*/ 16677 w 18400"/>
                  <a:gd name="T23" fmla="*/ 1766 h 9410"/>
                  <a:gd name="T24" fmla="*/ 17313 w 18400"/>
                  <a:gd name="T25" fmla="*/ 1097 h 9410"/>
                  <a:gd name="T26" fmla="*/ 17961 w 18400"/>
                  <a:gd name="T27" fmla="*/ 435 h 9410"/>
                  <a:gd name="T28" fmla="*/ 18400 w 18400"/>
                  <a:gd name="T29" fmla="*/ 0 h 9410"/>
                  <a:gd name="T30" fmla="*/ 16224 w 18400"/>
                  <a:gd name="T31" fmla="*/ 1820 h 9410"/>
                  <a:gd name="T32" fmla="*/ 15159 w 18400"/>
                  <a:gd name="T33" fmla="*/ 2722 h 9410"/>
                  <a:gd name="T34" fmla="*/ 14800 w 18400"/>
                  <a:gd name="T35" fmla="*/ 3037 h 9410"/>
                  <a:gd name="T36" fmla="*/ 14667 w 18400"/>
                  <a:gd name="T37" fmla="*/ 3162 h 9410"/>
                  <a:gd name="T38" fmla="*/ 14352 w 18400"/>
                  <a:gd name="T39" fmla="*/ 3479 h 9410"/>
                  <a:gd name="T40" fmla="*/ 13970 w 18400"/>
                  <a:gd name="T41" fmla="*/ 3859 h 9410"/>
                  <a:gd name="T42" fmla="*/ 13636 w 18400"/>
                  <a:gd name="T43" fmla="*/ 4169 h 9410"/>
                  <a:gd name="T44" fmla="*/ 13327 w 18400"/>
                  <a:gd name="T45" fmla="*/ 4434 h 9410"/>
                  <a:gd name="T46" fmla="*/ 13127 w 18400"/>
                  <a:gd name="T47" fmla="*/ 4593 h 9410"/>
                  <a:gd name="T48" fmla="*/ 12917 w 18400"/>
                  <a:gd name="T49" fmla="*/ 4751 h 9410"/>
                  <a:gd name="T50" fmla="*/ 12694 w 18400"/>
                  <a:gd name="T51" fmla="*/ 4906 h 9410"/>
                  <a:gd name="T52" fmla="*/ 12463 w 18400"/>
                  <a:gd name="T53" fmla="*/ 5057 h 9410"/>
                  <a:gd name="T54" fmla="*/ 12218 w 18400"/>
                  <a:gd name="T55" fmla="*/ 5200 h 9410"/>
                  <a:gd name="T56" fmla="*/ 11962 w 18400"/>
                  <a:gd name="T57" fmla="*/ 5337 h 9410"/>
                  <a:gd name="T58" fmla="*/ 11697 w 18400"/>
                  <a:gd name="T59" fmla="*/ 5465 h 9410"/>
                  <a:gd name="T60" fmla="*/ 11418 w 18400"/>
                  <a:gd name="T61" fmla="*/ 5582 h 9410"/>
                  <a:gd name="T62" fmla="*/ 11127 w 18400"/>
                  <a:gd name="T63" fmla="*/ 5689 h 9410"/>
                  <a:gd name="T64" fmla="*/ 10824 w 18400"/>
                  <a:gd name="T65" fmla="*/ 5782 h 9410"/>
                  <a:gd name="T66" fmla="*/ 10509 w 18400"/>
                  <a:gd name="T67" fmla="*/ 5860 h 9410"/>
                  <a:gd name="T68" fmla="*/ 10312 w 18400"/>
                  <a:gd name="T69" fmla="*/ 5902 h 9410"/>
                  <a:gd name="T70" fmla="*/ 9926 w 18400"/>
                  <a:gd name="T71" fmla="*/ 5976 h 9410"/>
                  <a:gd name="T72" fmla="*/ 9363 w 18400"/>
                  <a:gd name="T73" fmla="*/ 6064 h 9410"/>
                  <a:gd name="T74" fmla="*/ 8826 w 18400"/>
                  <a:gd name="T75" fmla="*/ 6128 h 9410"/>
                  <a:gd name="T76" fmla="*/ 8318 w 18400"/>
                  <a:gd name="T77" fmla="*/ 6173 h 9410"/>
                  <a:gd name="T78" fmla="*/ 7843 w 18400"/>
                  <a:gd name="T79" fmla="*/ 6200 h 9410"/>
                  <a:gd name="T80" fmla="*/ 7404 w 18400"/>
                  <a:gd name="T81" fmla="*/ 6213 h 9410"/>
                  <a:gd name="T82" fmla="*/ 7006 w 18400"/>
                  <a:gd name="T83" fmla="*/ 6217 h 9410"/>
                  <a:gd name="T84" fmla="*/ 6444 w 18400"/>
                  <a:gd name="T85" fmla="*/ 6211 h 9410"/>
                  <a:gd name="T86" fmla="*/ 5958 w 18400"/>
                  <a:gd name="T87" fmla="*/ 6203 h 9410"/>
                  <a:gd name="T88" fmla="*/ 0 w 18400"/>
                  <a:gd name="T89" fmla="*/ 9410 h 9410"/>
                  <a:gd name="T90" fmla="*/ 6756 w 18400"/>
                  <a:gd name="T91" fmla="*/ 9410 h 9410"/>
                  <a:gd name="T92" fmla="*/ 7095 w 18400"/>
                  <a:gd name="T93" fmla="*/ 9403 h 9410"/>
                  <a:gd name="T94" fmla="*/ 7442 w 18400"/>
                  <a:gd name="T95" fmla="*/ 9386 h 9410"/>
                  <a:gd name="T96" fmla="*/ 7798 w 18400"/>
                  <a:gd name="T97" fmla="*/ 9355 h 9410"/>
                  <a:gd name="T98" fmla="*/ 8161 w 18400"/>
                  <a:gd name="T99" fmla="*/ 9303 h 9410"/>
                  <a:gd name="T100" fmla="*/ 8408 w 18400"/>
                  <a:gd name="T101" fmla="*/ 9255 h 9410"/>
                  <a:gd name="T102" fmla="*/ 8596 w 18400"/>
                  <a:gd name="T103" fmla="*/ 9210 h 9410"/>
                  <a:gd name="T104" fmla="*/ 8784 w 18400"/>
                  <a:gd name="T105" fmla="*/ 9159 h 9410"/>
                  <a:gd name="T106" fmla="*/ 8974 w 18400"/>
                  <a:gd name="T107" fmla="*/ 9099 h 9410"/>
                  <a:gd name="T108" fmla="*/ 9165 w 18400"/>
                  <a:gd name="T109" fmla="*/ 9031 h 9410"/>
                  <a:gd name="T110" fmla="*/ 9358 w 18400"/>
                  <a:gd name="T111" fmla="*/ 8954 h 9410"/>
                  <a:gd name="T112" fmla="*/ 9552 w 18400"/>
                  <a:gd name="T113" fmla="*/ 8867 h 9410"/>
                  <a:gd name="T114" fmla="*/ 9747 w 18400"/>
                  <a:gd name="T115" fmla="*/ 8770 h 9410"/>
                  <a:gd name="T116" fmla="*/ 9943 w 18400"/>
                  <a:gd name="T117" fmla="*/ 8662 h 9410"/>
                  <a:gd name="T118" fmla="*/ 10141 w 18400"/>
                  <a:gd name="T119" fmla="*/ 8542 h 9410"/>
                  <a:gd name="T120" fmla="*/ 10339 w 18400"/>
                  <a:gd name="T121" fmla="*/ 8410 h 9410"/>
                  <a:gd name="T122" fmla="*/ 10538 w 18400"/>
                  <a:gd name="T123" fmla="*/ 8266 h 9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400" h="9410">
                    <a:moveTo>
                      <a:pt x="10603" y="8215"/>
                    </a:moveTo>
                    <a:lnTo>
                      <a:pt x="10603" y="8215"/>
                    </a:lnTo>
                    <a:lnTo>
                      <a:pt x="10686" y="8151"/>
                    </a:lnTo>
                    <a:lnTo>
                      <a:pt x="10766" y="8085"/>
                    </a:lnTo>
                    <a:lnTo>
                      <a:pt x="10844" y="8017"/>
                    </a:lnTo>
                    <a:lnTo>
                      <a:pt x="10923" y="7949"/>
                    </a:lnTo>
                    <a:lnTo>
                      <a:pt x="11000" y="7879"/>
                    </a:lnTo>
                    <a:lnTo>
                      <a:pt x="11076" y="7807"/>
                    </a:lnTo>
                    <a:lnTo>
                      <a:pt x="11151" y="7736"/>
                    </a:lnTo>
                    <a:lnTo>
                      <a:pt x="11225" y="7663"/>
                    </a:lnTo>
                    <a:lnTo>
                      <a:pt x="11299" y="7590"/>
                    </a:lnTo>
                    <a:lnTo>
                      <a:pt x="11371" y="7515"/>
                    </a:lnTo>
                    <a:lnTo>
                      <a:pt x="11515" y="7367"/>
                    </a:lnTo>
                    <a:lnTo>
                      <a:pt x="11656" y="7218"/>
                    </a:lnTo>
                    <a:lnTo>
                      <a:pt x="11795" y="7069"/>
                    </a:lnTo>
                    <a:lnTo>
                      <a:pt x="11795" y="7069"/>
                    </a:lnTo>
                    <a:lnTo>
                      <a:pt x="11913" y="6944"/>
                    </a:lnTo>
                    <a:lnTo>
                      <a:pt x="12029" y="6819"/>
                    </a:lnTo>
                    <a:lnTo>
                      <a:pt x="12029" y="6819"/>
                    </a:lnTo>
                    <a:lnTo>
                      <a:pt x="12281" y="6553"/>
                    </a:lnTo>
                    <a:lnTo>
                      <a:pt x="12531" y="6287"/>
                    </a:lnTo>
                    <a:lnTo>
                      <a:pt x="12781" y="6018"/>
                    </a:lnTo>
                    <a:lnTo>
                      <a:pt x="13030" y="5748"/>
                    </a:lnTo>
                    <a:lnTo>
                      <a:pt x="13522" y="5212"/>
                    </a:lnTo>
                    <a:lnTo>
                      <a:pt x="14009" y="4680"/>
                    </a:lnTo>
                    <a:lnTo>
                      <a:pt x="14217" y="4453"/>
                    </a:lnTo>
                    <a:lnTo>
                      <a:pt x="14217" y="4453"/>
                    </a:lnTo>
                    <a:lnTo>
                      <a:pt x="14625" y="4006"/>
                    </a:lnTo>
                    <a:lnTo>
                      <a:pt x="15031" y="3559"/>
                    </a:lnTo>
                    <a:lnTo>
                      <a:pt x="15031" y="3559"/>
                    </a:lnTo>
                    <a:lnTo>
                      <a:pt x="15437" y="3112"/>
                    </a:lnTo>
                    <a:lnTo>
                      <a:pt x="15845" y="2664"/>
                    </a:lnTo>
                    <a:lnTo>
                      <a:pt x="16052" y="2439"/>
                    </a:lnTo>
                    <a:lnTo>
                      <a:pt x="16259" y="2215"/>
                    </a:lnTo>
                    <a:lnTo>
                      <a:pt x="16467" y="1990"/>
                    </a:lnTo>
                    <a:lnTo>
                      <a:pt x="16677" y="1766"/>
                    </a:lnTo>
                    <a:lnTo>
                      <a:pt x="16888" y="1542"/>
                    </a:lnTo>
                    <a:lnTo>
                      <a:pt x="17100" y="1320"/>
                    </a:lnTo>
                    <a:lnTo>
                      <a:pt x="17313" y="1097"/>
                    </a:lnTo>
                    <a:lnTo>
                      <a:pt x="17528" y="875"/>
                    </a:lnTo>
                    <a:lnTo>
                      <a:pt x="17744" y="654"/>
                    </a:lnTo>
                    <a:lnTo>
                      <a:pt x="17961" y="435"/>
                    </a:lnTo>
                    <a:lnTo>
                      <a:pt x="18180" y="218"/>
                    </a:lnTo>
                    <a:lnTo>
                      <a:pt x="18400" y="0"/>
                    </a:lnTo>
                    <a:lnTo>
                      <a:pt x="18400" y="0"/>
                    </a:lnTo>
                    <a:lnTo>
                      <a:pt x="17304" y="915"/>
                    </a:lnTo>
                    <a:lnTo>
                      <a:pt x="16751" y="1378"/>
                    </a:lnTo>
                    <a:lnTo>
                      <a:pt x="16224" y="1820"/>
                    </a:lnTo>
                    <a:lnTo>
                      <a:pt x="15744" y="2224"/>
                    </a:lnTo>
                    <a:lnTo>
                      <a:pt x="15333" y="2574"/>
                    </a:lnTo>
                    <a:lnTo>
                      <a:pt x="15159" y="2722"/>
                    </a:lnTo>
                    <a:lnTo>
                      <a:pt x="15011" y="2850"/>
                    </a:lnTo>
                    <a:lnTo>
                      <a:pt x="14891" y="2956"/>
                    </a:lnTo>
                    <a:lnTo>
                      <a:pt x="14800" y="3037"/>
                    </a:lnTo>
                    <a:lnTo>
                      <a:pt x="14800" y="3037"/>
                    </a:lnTo>
                    <a:lnTo>
                      <a:pt x="14736" y="3097"/>
                    </a:lnTo>
                    <a:lnTo>
                      <a:pt x="14667" y="3162"/>
                    </a:lnTo>
                    <a:lnTo>
                      <a:pt x="14595" y="3235"/>
                    </a:lnTo>
                    <a:lnTo>
                      <a:pt x="14519" y="3312"/>
                    </a:lnTo>
                    <a:lnTo>
                      <a:pt x="14352" y="3479"/>
                    </a:lnTo>
                    <a:lnTo>
                      <a:pt x="14170" y="3663"/>
                    </a:lnTo>
                    <a:lnTo>
                      <a:pt x="14072" y="3760"/>
                    </a:lnTo>
                    <a:lnTo>
                      <a:pt x="13970" y="3859"/>
                    </a:lnTo>
                    <a:lnTo>
                      <a:pt x="13864" y="3960"/>
                    </a:lnTo>
                    <a:lnTo>
                      <a:pt x="13753" y="4064"/>
                    </a:lnTo>
                    <a:lnTo>
                      <a:pt x="13636" y="4169"/>
                    </a:lnTo>
                    <a:lnTo>
                      <a:pt x="13517" y="4274"/>
                    </a:lnTo>
                    <a:lnTo>
                      <a:pt x="13391" y="4380"/>
                    </a:lnTo>
                    <a:lnTo>
                      <a:pt x="13327" y="4434"/>
                    </a:lnTo>
                    <a:lnTo>
                      <a:pt x="13261" y="4487"/>
                    </a:lnTo>
                    <a:lnTo>
                      <a:pt x="13195" y="4541"/>
                    </a:lnTo>
                    <a:lnTo>
                      <a:pt x="13127" y="4593"/>
                    </a:lnTo>
                    <a:lnTo>
                      <a:pt x="13059" y="4646"/>
                    </a:lnTo>
                    <a:lnTo>
                      <a:pt x="12988" y="4699"/>
                    </a:lnTo>
                    <a:lnTo>
                      <a:pt x="12917" y="4751"/>
                    </a:lnTo>
                    <a:lnTo>
                      <a:pt x="12844" y="4804"/>
                    </a:lnTo>
                    <a:lnTo>
                      <a:pt x="12770" y="4855"/>
                    </a:lnTo>
                    <a:lnTo>
                      <a:pt x="12694" y="4906"/>
                    </a:lnTo>
                    <a:lnTo>
                      <a:pt x="12619" y="4956"/>
                    </a:lnTo>
                    <a:lnTo>
                      <a:pt x="12541" y="5006"/>
                    </a:lnTo>
                    <a:lnTo>
                      <a:pt x="12463" y="5057"/>
                    </a:lnTo>
                    <a:lnTo>
                      <a:pt x="12383" y="5104"/>
                    </a:lnTo>
                    <a:lnTo>
                      <a:pt x="12300" y="5152"/>
                    </a:lnTo>
                    <a:lnTo>
                      <a:pt x="12218" y="5200"/>
                    </a:lnTo>
                    <a:lnTo>
                      <a:pt x="12134" y="5247"/>
                    </a:lnTo>
                    <a:lnTo>
                      <a:pt x="12049" y="5293"/>
                    </a:lnTo>
                    <a:lnTo>
                      <a:pt x="11962" y="5337"/>
                    </a:lnTo>
                    <a:lnTo>
                      <a:pt x="11875" y="5381"/>
                    </a:lnTo>
                    <a:lnTo>
                      <a:pt x="11787" y="5423"/>
                    </a:lnTo>
                    <a:lnTo>
                      <a:pt x="11697" y="5465"/>
                    </a:lnTo>
                    <a:lnTo>
                      <a:pt x="11605" y="5506"/>
                    </a:lnTo>
                    <a:lnTo>
                      <a:pt x="11512" y="5545"/>
                    </a:lnTo>
                    <a:lnTo>
                      <a:pt x="11418" y="5582"/>
                    </a:lnTo>
                    <a:lnTo>
                      <a:pt x="11322" y="5619"/>
                    </a:lnTo>
                    <a:lnTo>
                      <a:pt x="11225" y="5655"/>
                    </a:lnTo>
                    <a:lnTo>
                      <a:pt x="11127" y="5689"/>
                    </a:lnTo>
                    <a:lnTo>
                      <a:pt x="11027" y="5722"/>
                    </a:lnTo>
                    <a:lnTo>
                      <a:pt x="10927" y="5753"/>
                    </a:lnTo>
                    <a:lnTo>
                      <a:pt x="10824" y="5782"/>
                    </a:lnTo>
                    <a:lnTo>
                      <a:pt x="10721" y="5810"/>
                    </a:lnTo>
                    <a:lnTo>
                      <a:pt x="10616" y="5835"/>
                    </a:lnTo>
                    <a:lnTo>
                      <a:pt x="10509" y="5860"/>
                    </a:lnTo>
                    <a:lnTo>
                      <a:pt x="10509" y="5860"/>
                    </a:lnTo>
                    <a:lnTo>
                      <a:pt x="10411" y="5881"/>
                    </a:lnTo>
                    <a:lnTo>
                      <a:pt x="10312" y="5902"/>
                    </a:lnTo>
                    <a:lnTo>
                      <a:pt x="10216" y="5921"/>
                    </a:lnTo>
                    <a:lnTo>
                      <a:pt x="10119" y="5940"/>
                    </a:lnTo>
                    <a:lnTo>
                      <a:pt x="9926" y="5976"/>
                    </a:lnTo>
                    <a:lnTo>
                      <a:pt x="9735" y="6008"/>
                    </a:lnTo>
                    <a:lnTo>
                      <a:pt x="9548" y="6037"/>
                    </a:lnTo>
                    <a:lnTo>
                      <a:pt x="9363" y="6064"/>
                    </a:lnTo>
                    <a:lnTo>
                      <a:pt x="9181" y="6088"/>
                    </a:lnTo>
                    <a:lnTo>
                      <a:pt x="9002" y="6109"/>
                    </a:lnTo>
                    <a:lnTo>
                      <a:pt x="8826" y="6128"/>
                    </a:lnTo>
                    <a:lnTo>
                      <a:pt x="8653" y="6145"/>
                    </a:lnTo>
                    <a:lnTo>
                      <a:pt x="8483" y="6160"/>
                    </a:lnTo>
                    <a:lnTo>
                      <a:pt x="8318" y="6173"/>
                    </a:lnTo>
                    <a:lnTo>
                      <a:pt x="8156" y="6183"/>
                    </a:lnTo>
                    <a:lnTo>
                      <a:pt x="7997" y="6192"/>
                    </a:lnTo>
                    <a:lnTo>
                      <a:pt x="7843" y="6200"/>
                    </a:lnTo>
                    <a:lnTo>
                      <a:pt x="7692" y="6205"/>
                    </a:lnTo>
                    <a:lnTo>
                      <a:pt x="7545" y="6210"/>
                    </a:lnTo>
                    <a:lnTo>
                      <a:pt x="7404" y="6213"/>
                    </a:lnTo>
                    <a:lnTo>
                      <a:pt x="7267" y="6215"/>
                    </a:lnTo>
                    <a:lnTo>
                      <a:pt x="7134" y="6216"/>
                    </a:lnTo>
                    <a:lnTo>
                      <a:pt x="7006" y="6217"/>
                    </a:lnTo>
                    <a:lnTo>
                      <a:pt x="6883" y="6216"/>
                    </a:lnTo>
                    <a:lnTo>
                      <a:pt x="6654" y="6214"/>
                    </a:lnTo>
                    <a:lnTo>
                      <a:pt x="6444" y="6211"/>
                    </a:lnTo>
                    <a:lnTo>
                      <a:pt x="6258" y="6207"/>
                    </a:lnTo>
                    <a:lnTo>
                      <a:pt x="6096" y="6204"/>
                    </a:lnTo>
                    <a:lnTo>
                      <a:pt x="5958" y="6203"/>
                    </a:lnTo>
                    <a:lnTo>
                      <a:pt x="5958" y="6203"/>
                    </a:lnTo>
                    <a:lnTo>
                      <a:pt x="0" y="6203"/>
                    </a:lnTo>
                    <a:lnTo>
                      <a:pt x="0" y="9410"/>
                    </a:lnTo>
                    <a:lnTo>
                      <a:pt x="6646" y="9410"/>
                    </a:lnTo>
                    <a:lnTo>
                      <a:pt x="6646" y="9410"/>
                    </a:lnTo>
                    <a:lnTo>
                      <a:pt x="6756" y="9410"/>
                    </a:lnTo>
                    <a:lnTo>
                      <a:pt x="6868" y="9408"/>
                    </a:lnTo>
                    <a:lnTo>
                      <a:pt x="6981" y="9406"/>
                    </a:lnTo>
                    <a:lnTo>
                      <a:pt x="7095" y="9403"/>
                    </a:lnTo>
                    <a:lnTo>
                      <a:pt x="7209" y="9400"/>
                    </a:lnTo>
                    <a:lnTo>
                      <a:pt x="7325" y="9394"/>
                    </a:lnTo>
                    <a:lnTo>
                      <a:pt x="7442" y="9386"/>
                    </a:lnTo>
                    <a:lnTo>
                      <a:pt x="7560" y="9378"/>
                    </a:lnTo>
                    <a:lnTo>
                      <a:pt x="7678" y="9367"/>
                    </a:lnTo>
                    <a:lnTo>
                      <a:pt x="7798" y="9355"/>
                    </a:lnTo>
                    <a:lnTo>
                      <a:pt x="7919" y="9339"/>
                    </a:lnTo>
                    <a:lnTo>
                      <a:pt x="8039" y="9323"/>
                    </a:lnTo>
                    <a:lnTo>
                      <a:pt x="8161" y="9303"/>
                    </a:lnTo>
                    <a:lnTo>
                      <a:pt x="8284" y="9279"/>
                    </a:lnTo>
                    <a:lnTo>
                      <a:pt x="8347" y="9267"/>
                    </a:lnTo>
                    <a:lnTo>
                      <a:pt x="8408" y="9255"/>
                    </a:lnTo>
                    <a:lnTo>
                      <a:pt x="8470" y="9240"/>
                    </a:lnTo>
                    <a:lnTo>
                      <a:pt x="8533" y="9226"/>
                    </a:lnTo>
                    <a:lnTo>
                      <a:pt x="8596" y="9210"/>
                    </a:lnTo>
                    <a:lnTo>
                      <a:pt x="8659" y="9193"/>
                    </a:lnTo>
                    <a:lnTo>
                      <a:pt x="8721" y="9177"/>
                    </a:lnTo>
                    <a:lnTo>
                      <a:pt x="8784" y="9159"/>
                    </a:lnTo>
                    <a:lnTo>
                      <a:pt x="8847" y="9140"/>
                    </a:lnTo>
                    <a:lnTo>
                      <a:pt x="8910" y="9120"/>
                    </a:lnTo>
                    <a:lnTo>
                      <a:pt x="8974" y="9099"/>
                    </a:lnTo>
                    <a:lnTo>
                      <a:pt x="9037" y="9078"/>
                    </a:lnTo>
                    <a:lnTo>
                      <a:pt x="9101" y="9055"/>
                    </a:lnTo>
                    <a:lnTo>
                      <a:pt x="9165" y="9031"/>
                    </a:lnTo>
                    <a:lnTo>
                      <a:pt x="9229" y="9006"/>
                    </a:lnTo>
                    <a:lnTo>
                      <a:pt x="9294" y="8981"/>
                    </a:lnTo>
                    <a:lnTo>
                      <a:pt x="9358" y="8954"/>
                    </a:lnTo>
                    <a:lnTo>
                      <a:pt x="9423" y="8926"/>
                    </a:lnTo>
                    <a:lnTo>
                      <a:pt x="9487" y="8897"/>
                    </a:lnTo>
                    <a:lnTo>
                      <a:pt x="9552" y="8867"/>
                    </a:lnTo>
                    <a:lnTo>
                      <a:pt x="9617" y="8836"/>
                    </a:lnTo>
                    <a:lnTo>
                      <a:pt x="9683" y="8803"/>
                    </a:lnTo>
                    <a:lnTo>
                      <a:pt x="9747" y="8770"/>
                    </a:lnTo>
                    <a:lnTo>
                      <a:pt x="9812" y="8734"/>
                    </a:lnTo>
                    <a:lnTo>
                      <a:pt x="9878" y="8699"/>
                    </a:lnTo>
                    <a:lnTo>
                      <a:pt x="9943" y="8662"/>
                    </a:lnTo>
                    <a:lnTo>
                      <a:pt x="10009" y="8623"/>
                    </a:lnTo>
                    <a:lnTo>
                      <a:pt x="10075" y="8583"/>
                    </a:lnTo>
                    <a:lnTo>
                      <a:pt x="10141" y="8542"/>
                    </a:lnTo>
                    <a:lnTo>
                      <a:pt x="10206" y="8499"/>
                    </a:lnTo>
                    <a:lnTo>
                      <a:pt x="10272" y="8456"/>
                    </a:lnTo>
                    <a:lnTo>
                      <a:pt x="10339" y="8410"/>
                    </a:lnTo>
                    <a:lnTo>
                      <a:pt x="10404" y="8363"/>
                    </a:lnTo>
                    <a:lnTo>
                      <a:pt x="10471" y="8315"/>
                    </a:lnTo>
                    <a:lnTo>
                      <a:pt x="10538" y="8266"/>
                    </a:lnTo>
                    <a:lnTo>
                      <a:pt x="10603" y="8215"/>
                    </a:lnTo>
                    <a:lnTo>
                      <a:pt x="10603" y="8215"/>
                    </a:lnTo>
                    <a:close/>
                  </a:path>
                </a:pathLst>
              </a:custGeom>
              <a:grpFill/>
              <a:ln>
                <a:noFill/>
              </a:ln>
            </p:spPr>
            <p:txBody>
              <a:bodyPr vert="horz" wrap="square" lIns="68580" tIns="34290" rIns="68580" bIns="34290" numCol="1" anchor="t" anchorCtr="0" compatLnSpc="1">
                <a:prstTxWarp prst="textNoShape">
                  <a:avLst/>
                </a:prstTxWarp>
              </a:bodyPr>
              <a:lstStyle/>
              <a:p>
                <a:endParaRPr lang="en-US" sz="1350">
                  <a:latin typeface="Aptos" panose="020B0004020202020204" pitchFamily="34" charset="0"/>
                  <a:sym typeface="Aptos" panose="020B0004020202020204" pitchFamily="34" charset="0"/>
                </a:endParaRPr>
              </a:p>
            </p:txBody>
          </p:sp>
          <p:sp>
            <p:nvSpPr>
              <p:cNvPr id="61" name="Freeform 14">
                <a:extLst>
                  <a:ext uri="{FF2B5EF4-FFF2-40B4-BE49-F238E27FC236}">
                    <a16:creationId xmlns:a16="http://schemas.microsoft.com/office/drawing/2014/main" id="{899DF2D6-80EC-608E-0045-21358E115531}"/>
                  </a:ext>
                </a:extLst>
              </p:cNvPr>
              <p:cNvSpPr>
                <a:spLocks/>
              </p:cNvSpPr>
              <p:nvPr/>
            </p:nvSpPr>
            <p:spPr bwMode="auto">
              <a:xfrm>
                <a:off x="0" y="2408485"/>
                <a:ext cx="5697141" cy="1153716"/>
              </a:xfrm>
              <a:custGeom>
                <a:avLst/>
                <a:gdLst>
                  <a:gd name="T0" fmla="*/ 15799 w 19139"/>
                  <a:gd name="T1" fmla="*/ 2256 h 3876"/>
                  <a:gd name="T2" fmla="*/ 15509 w 19139"/>
                  <a:gd name="T3" fmla="*/ 2402 h 3876"/>
                  <a:gd name="T4" fmla="*/ 15268 w 19139"/>
                  <a:gd name="T5" fmla="*/ 2497 h 3876"/>
                  <a:gd name="T6" fmla="*/ 15092 w 19139"/>
                  <a:gd name="T7" fmla="*/ 2551 h 3876"/>
                  <a:gd name="T8" fmla="*/ 14902 w 19139"/>
                  <a:gd name="T9" fmla="*/ 2594 h 3876"/>
                  <a:gd name="T10" fmla="*/ 14693 w 19139"/>
                  <a:gd name="T11" fmla="*/ 2626 h 3876"/>
                  <a:gd name="T12" fmla="*/ 14608 w 19139"/>
                  <a:gd name="T13" fmla="*/ 2638 h 3876"/>
                  <a:gd name="T14" fmla="*/ 14528 w 19139"/>
                  <a:gd name="T15" fmla="*/ 2642 h 3876"/>
                  <a:gd name="T16" fmla="*/ 14212 w 19139"/>
                  <a:gd name="T17" fmla="*/ 2654 h 3876"/>
                  <a:gd name="T18" fmla="*/ 13852 w 19139"/>
                  <a:gd name="T19" fmla="*/ 2642 h 3876"/>
                  <a:gd name="T20" fmla="*/ 13686 w 19139"/>
                  <a:gd name="T21" fmla="*/ 2624 h 3876"/>
                  <a:gd name="T22" fmla="*/ 13445 w 19139"/>
                  <a:gd name="T23" fmla="*/ 2584 h 3876"/>
                  <a:gd name="T24" fmla="*/ 13187 w 19139"/>
                  <a:gd name="T25" fmla="*/ 2526 h 3876"/>
                  <a:gd name="T26" fmla="*/ 12700 w 19139"/>
                  <a:gd name="T27" fmla="*/ 2390 h 3876"/>
                  <a:gd name="T28" fmla="*/ 12104 w 19139"/>
                  <a:gd name="T29" fmla="*/ 2195 h 3876"/>
                  <a:gd name="T30" fmla="*/ 11337 w 19139"/>
                  <a:gd name="T31" fmla="*/ 1919 h 3876"/>
                  <a:gd name="T32" fmla="*/ 10301 w 19139"/>
                  <a:gd name="T33" fmla="*/ 1542 h 3876"/>
                  <a:gd name="T34" fmla="*/ 9770 w 19139"/>
                  <a:gd name="T35" fmla="*/ 1367 h 3876"/>
                  <a:gd name="T36" fmla="*/ 9419 w 19139"/>
                  <a:gd name="T37" fmla="*/ 1270 h 3876"/>
                  <a:gd name="T38" fmla="*/ 8478 w 19139"/>
                  <a:gd name="T39" fmla="*/ 1038 h 3876"/>
                  <a:gd name="T40" fmla="*/ 7991 w 19139"/>
                  <a:gd name="T41" fmla="*/ 933 h 3876"/>
                  <a:gd name="T42" fmla="*/ 7667 w 19139"/>
                  <a:gd name="T43" fmla="*/ 879 h 3876"/>
                  <a:gd name="T44" fmla="*/ 7325 w 19139"/>
                  <a:gd name="T45" fmla="*/ 839 h 3876"/>
                  <a:gd name="T46" fmla="*/ 6951 w 19139"/>
                  <a:gd name="T47" fmla="*/ 815 h 3876"/>
                  <a:gd name="T48" fmla="*/ 6528 w 19139"/>
                  <a:gd name="T49" fmla="*/ 807 h 3876"/>
                  <a:gd name="T50" fmla="*/ 0 w 19139"/>
                  <a:gd name="T51" fmla="*/ 3872 h 3876"/>
                  <a:gd name="T52" fmla="*/ 8683 w 19139"/>
                  <a:gd name="T53" fmla="*/ 3874 h 3876"/>
                  <a:gd name="T54" fmla="*/ 10054 w 19139"/>
                  <a:gd name="T55" fmla="*/ 3873 h 3876"/>
                  <a:gd name="T56" fmla="*/ 10734 w 19139"/>
                  <a:gd name="T57" fmla="*/ 3860 h 3876"/>
                  <a:gd name="T58" fmla="*/ 11393 w 19139"/>
                  <a:gd name="T59" fmla="*/ 3830 h 3876"/>
                  <a:gd name="T60" fmla="*/ 12014 w 19139"/>
                  <a:gd name="T61" fmla="*/ 3778 h 3876"/>
                  <a:gd name="T62" fmla="*/ 12586 w 19139"/>
                  <a:gd name="T63" fmla="*/ 3700 h 3876"/>
                  <a:gd name="T64" fmla="*/ 12848 w 19139"/>
                  <a:gd name="T65" fmla="*/ 3649 h 3876"/>
                  <a:gd name="T66" fmla="*/ 13093 w 19139"/>
                  <a:gd name="T67" fmla="*/ 3590 h 3876"/>
                  <a:gd name="T68" fmla="*/ 13454 w 19139"/>
                  <a:gd name="T69" fmla="*/ 3482 h 3876"/>
                  <a:gd name="T70" fmla="*/ 13953 w 19139"/>
                  <a:gd name="T71" fmla="*/ 3310 h 3876"/>
                  <a:gd name="T72" fmla="*/ 14458 w 19139"/>
                  <a:gd name="T73" fmla="*/ 3113 h 3876"/>
                  <a:gd name="T74" fmla="*/ 14959 w 19139"/>
                  <a:gd name="T75" fmla="*/ 2897 h 3876"/>
                  <a:gd name="T76" fmla="*/ 15439 w 19139"/>
                  <a:gd name="T77" fmla="*/ 2670 h 3876"/>
                  <a:gd name="T78" fmla="*/ 15884 w 19139"/>
                  <a:gd name="T79" fmla="*/ 2441 h 3876"/>
                  <a:gd name="T80" fmla="*/ 16284 w 19139"/>
                  <a:gd name="T81" fmla="*/ 2217 h 3876"/>
                  <a:gd name="T82" fmla="*/ 16622 w 19139"/>
                  <a:gd name="T83" fmla="*/ 2006 h 3876"/>
                  <a:gd name="T84" fmla="*/ 16856 w 19139"/>
                  <a:gd name="T85" fmla="*/ 1842 h 3876"/>
                  <a:gd name="T86" fmla="*/ 17533 w 19139"/>
                  <a:gd name="T87" fmla="*/ 1328 h 3876"/>
                  <a:gd name="T88" fmla="*/ 18653 w 19139"/>
                  <a:gd name="T89" fmla="*/ 446 h 3876"/>
                  <a:gd name="T90" fmla="*/ 18743 w 19139"/>
                  <a:gd name="T91" fmla="*/ 356 h 3876"/>
                  <a:gd name="T92" fmla="*/ 19139 w 19139"/>
                  <a:gd name="T93" fmla="*/ 0 h 3876"/>
                  <a:gd name="T94" fmla="*/ 17815 w 19139"/>
                  <a:gd name="T95" fmla="*/ 922 h 3876"/>
                  <a:gd name="T96" fmla="*/ 16517 w 19139"/>
                  <a:gd name="T97" fmla="*/ 1810 h 3876"/>
                  <a:gd name="T98" fmla="*/ 16047 w 19139"/>
                  <a:gd name="T99" fmla="*/ 2114 h 3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9139" h="3876">
                    <a:moveTo>
                      <a:pt x="16009" y="2137"/>
                    </a:moveTo>
                    <a:lnTo>
                      <a:pt x="16009" y="2137"/>
                    </a:lnTo>
                    <a:lnTo>
                      <a:pt x="15870" y="2217"/>
                    </a:lnTo>
                    <a:lnTo>
                      <a:pt x="15799" y="2256"/>
                    </a:lnTo>
                    <a:lnTo>
                      <a:pt x="15729" y="2294"/>
                    </a:lnTo>
                    <a:lnTo>
                      <a:pt x="15657" y="2332"/>
                    </a:lnTo>
                    <a:lnTo>
                      <a:pt x="15583" y="2368"/>
                    </a:lnTo>
                    <a:lnTo>
                      <a:pt x="15509" y="2402"/>
                    </a:lnTo>
                    <a:lnTo>
                      <a:pt x="15431" y="2436"/>
                    </a:lnTo>
                    <a:lnTo>
                      <a:pt x="15351" y="2467"/>
                    </a:lnTo>
                    <a:lnTo>
                      <a:pt x="15310" y="2483"/>
                    </a:lnTo>
                    <a:lnTo>
                      <a:pt x="15268" y="2497"/>
                    </a:lnTo>
                    <a:lnTo>
                      <a:pt x="15226" y="2512"/>
                    </a:lnTo>
                    <a:lnTo>
                      <a:pt x="15183" y="2525"/>
                    </a:lnTo>
                    <a:lnTo>
                      <a:pt x="15138" y="2537"/>
                    </a:lnTo>
                    <a:lnTo>
                      <a:pt x="15092" y="2551"/>
                    </a:lnTo>
                    <a:lnTo>
                      <a:pt x="15046" y="2562"/>
                    </a:lnTo>
                    <a:lnTo>
                      <a:pt x="14999" y="2573"/>
                    </a:lnTo>
                    <a:lnTo>
                      <a:pt x="14951" y="2584"/>
                    </a:lnTo>
                    <a:lnTo>
                      <a:pt x="14902" y="2594"/>
                    </a:lnTo>
                    <a:lnTo>
                      <a:pt x="14851" y="2603"/>
                    </a:lnTo>
                    <a:lnTo>
                      <a:pt x="14800" y="2612"/>
                    </a:lnTo>
                    <a:lnTo>
                      <a:pt x="14746" y="2620"/>
                    </a:lnTo>
                    <a:lnTo>
                      <a:pt x="14693" y="2626"/>
                    </a:lnTo>
                    <a:lnTo>
                      <a:pt x="14693" y="2626"/>
                    </a:lnTo>
                    <a:lnTo>
                      <a:pt x="14651" y="2632"/>
                    </a:lnTo>
                    <a:lnTo>
                      <a:pt x="14608" y="2638"/>
                    </a:lnTo>
                    <a:lnTo>
                      <a:pt x="14608" y="2638"/>
                    </a:lnTo>
                    <a:lnTo>
                      <a:pt x="14588" y="2639"/>
                    </a:lnTo>
                    <a:lnTo>
                      <a:pt x="14568" y="2640"/>
                    </a:lnTo>
                    <a:lnTo>
                      <a:pt x="14528" y="2642"/>
                    </a:lnTo>
                    <a:lnTo>
                      <a:pt x="14528" y="2642"/>
                    </a:lnTo>
                    <a:lnTo>
                      <a:pt x="14452" y="2646"/>
                    </a:lnTo>
                    <a:lnTo>
                      <a:pt x="14375" y="2651"/>
                    </a:lnTo>
                    <a:lnTo>
                      <a:pt x="14295" y="2653"/>
                    </a:lnTo>
                    <a:lnTo>
                      <a:pt x="14212" y="2654"/>
                    </a:lnTo>
                    <a:lnTo>
                      <a:pt x="14126" y="2654"/>
                    </a:lnTo>
                    <a:lnTo>
                      <a:pt x="14038" y="2652"/>
                    </a:lnTo>
                    <a:lnTo>
                      <a:pt x="13946" y="2648"/>
                    </a:lnTo>
                    <a:lnTo>
                      <a:pt x="13852" y="2642"/>
                    </a:lnTo>
                    <a:lnTo>
                      <a:pt x="13852" y="2642"/>
                    </a:lnTo>
                    <a:lnTo>
                      <a:pt x="13797" y="2638"/>
                    </a:lnTo>
                    <a:lnTo>
                      <a:pt x="13742" y="2632"/>
                    </a:lnTo>
                    <a:lnTo>
                      <a:pt x="13686" y="2624"/>
                    </a:lnTo>
                    <a:lnTo>
                      <a:pt x="13627" y="2616"/>
                    </a:lnTo>
                    <a:lnTo>
                      <a:pt x="13568" y="2606"/>
                    </a:lnTo>
                    <a:lnTo>
                      <a:pt x="13506" y="2596"/>
                    </a:lnTo>
                    <a:lnTo>
                      <a:pt x="13445" y="2584"/>
                    </a:lnTo>
                    <a:lnTo>
                      <a:pt x="13382" y="2572"/>
                    </a:lnTo>
                    <a:lnTo>
                      <a:pt x="13318" y="2557"/>
                    </a:lnTo>
                    <a:lnTo>
                      <a:pt x="13252" y="2543"/>
                    </a:lnTo>
                    <a:lnTo>
                      <a:pt x="13187" y="2526"/>
                    </a:lnTo>
                    <a:lnTo>
                      <a:pt x="13120" y="2509"/>
                    </a:lnTo>
                    <a:lnTo>
                      <a:pt x="12983" y="2473"/>
                    </a:lnTo>
                    <a:lnTo>
                      <a:pt x="12842" y="2434"/>
                    </a:lnTo>
                    <a:lnTo>
                      <a:pt x="12700" y="2390"/>
                    </a:lnTo>
                    <a:lnTo>
                      <a:pt x="12553" y="2344"/>
                    </a:lnTo>
                    <a:lnTo>
                      <a:pt x="12405" y="2297"/>
                    </a:lnTo>
                    <a:lnTo>
                      <a:pt x="12256" y="2246"/>
                    </a:lnTo>
                    <a:lnTo>
                      <a:pt x="12104" y="2195"/>
                    </a:lnTo>
                    <a:lnTo>
                      <a:pt x="11952" y="2142"/>
                    </a:lnTo>
                    <a:lnTo>
                      <a:pt x="11797" y="2087"/>
                    </a:lnTo>
                    <a:lnTo>
                      <a:pt x="11644" y="2031"/>
                    </a:lnTo>
                    <a:lnTo>
                      <a:pt x="11337" y="1919"/>
                    </a:lnTo>
                    <a:lnTo>
                      <a:pt x="11031" y="1807"/>
                    </a:lnTo>
                    <a:lnTo>
                      <a:pt x="10733" y="1697"/>
                    </a:lnTo>
                    <a:lnTo>
                      <a:pt x="10442" y="1592"/>
                    </a:lnTo>
                    <a:lnTo>
                      <a:pt x="10301" y="1542"/>
                    </a:lnTo>
                    <a:lnTo>
                      <a:pt x="10162" y="1494"/>
                    </a:lnTo>
                    <a:lnTo>
                      <a:pt x="10027" y="1450"/>
                    </a:lnTo>
                    <a:lnTo>
                      <a:pt x="9896" y="1407"/>
                    </a:lnTo>
                    <a:lnTo>
                      <a:pt x="9770" y="1367"/>
                    </a:lnTo>
                    <a:lnTo>
                      <a:pt x="9647" y="1332"/>
                    </a:lnTo>
                    <a:lnTo>
                      <a:pt x="9531" y="1299"/>
                    </a:lnTo>
                    <a:lnTo>
                      <a:pt x="9419" y="1270"/>
                    </a:lnTo>
                    <a:lnTo>
                      <a:pt x="9419" y="1270"/>
                    </a:lnTo>
                    <a:lnTo>
                      <a:pt x="9209" y="1219"/>
                    </a:lnTo>
                    <a:lnTo>
                      <a:pt x="9011" y="1169"/>
                    </a:lnTo>
                    <a:lnTo>
                      <a:pt x="8647" y="1079"/>
                    </a:lnTo>
                    <a:lnTo>
                      <a:pt x="8478" y="1038"/>
                    </a:lnTo>
                    <a:lnTo>
                      <a:pt x="8313" y="1000"/>
                    </a:lnTo>
                    <a:lnTo>
                      <a:pt x="8152" y="964"/>
                    </a:lnTo>
                    <a:lnTo>
                      <a:pt x="8071" y="948"/>
                    </a:lnTo>
                    <a:lnTo>
                      <a:pt x="7991" y="933"/>
                    </a:lnTo>
                    <a:lnTo>
                      <a:pt x="7911" y="918"/>
                    </a:lnTo>
                    <a:lnTo>
                      <a:pt x="7831" y="904"/>
                    </a:lnTo>
                    <a:lnTo>
                      <a:pt x="7750" y="892"/>
                    </a:lnTo>
                    <a:lnTo>
                      <a:pt x="7667" y="879"/>
                    </a:lnTo>
                    <a:lnTo>
                      <a:pt x="7585" y="868"/>
                    </a:lnTo>
                    <a:lnTo>
                      <a:pt x="7500" y="857"/>
                    </a:lnTo>
                    <a:lnTo>
                      <a:pt x="7413" y="848"/>
                    </a:lnTo>
                    <a:lnTo>
                      <a:pt x="7325" y="839"/>
                    </a:lnTo>
                    <a:lnTo>
                      <a:pt x="7236" y="831"/>
                    </a:lnTo>
                    <a:lnTo>
                      <a:pt x="7143" y="825"/>
                    </a:lnTo>
                    <a:lnTo>
                      <a:pt x="7049" y="819"/>
                    </a:lnTo>
                    <a:lnTo>
                      <a:pt x="6951" y="815"/>
                    </a:lnTo>
                    <a:lnTo>
                      <a:pt x="6850" y="811"/>
                    </a:lnTo>
                    <a:lnTo>
                      <a:pt x="6747" y="809"/>
                    </a:lnTo>
                    <a:lnTo>
                      <a:pt x="6639" y="807"/>
                    </a:lnTo>
                    <a:lnTo>
                      <a:pt x="6528" y="807"/>
                    </a:lnTo>
                    <a:lnTo>
                      <a:pt x="6528" y="807"/>
                    </a:lnTo>
                    <a:lnTo>
                      <a:pt x="0" y="807"/>
                    </a:lnTo>
                    <a:lnTo>
                      <a:pt x="0" y="3872"/>
                    </a:lnTo>
                    <a:lnTo>
                      <a:pt x="0" y="3872"/>
                    </a:lnTo>
                    <a:lnTo>
                      <a:pt x="8021" y="3872"/>
                    </a:lnTo>
                    <a:lnTo>
                      <a:pt x="8021" y="3872"/>
                    </a:lnTo>
                    <a:lnTo>
                      <a:pt x="8349" y="3872"/>
                    </a:lnTo>
                    <a:lnTo>
                      <a:pt x="8683" y="3874"/>
                    </a:lnTo>
                    <a:lnTo>
                      <a:pt x="9024" y="3875"/>
                    </a:lnTo>
                    <a:lnTo>
                      <a:pt x="9367" y="3876"/>
                    </a:lnTo>
                    <a:lnTo>
                      <a:pt x="9711" y="3875"/>
                    </a:lnTo>
                    <a:lnTo>
                      <a:pt x="10054" y="3873"/>
                    </a:lnTo>
                    <a:lnTo>
                      <a:pt x="10226" y="3871"/>
                    </a:lnTo>
                    <a:lnTo>
                      <a:pt x="10396" y="3868"/>
                    </a:lnTo>
                    <a:lnTo>
                      <a:pt x="10567" y="3864"/>
                    </a:lnTo>
                    <a:lnTo>
                      <a:pt x="10734" y="3860"/>
                    </a:lnTo>
                    <a:lnTo>
                      <a:pt x="10902" y="3853"/>
                    </a:lnTo>
                    <a:lnTo>
                      <a:pt x="11067" y="3846"/>
                    </a:lnTo>
                    <a:lnTo>
                      <a:pt x="11230" y="3839"/>
                    </a:lnTo>
                    <a:lnTo>
                      <a:pt x="11393" y="3830"/>
                    </a:lnTo>
                    <a:lnTo>
                      <a:pt x="11551" y="3819"/>
                    </a:lnTo>
                    <a:lnTo>
                      <a:pt x="11708" y="3807"/>
                    </a:lnTo>
                    <a:lnTo>
                      <a:pt x="11863" y="3794"/>
                    </a:lnTo>
                    <a:lnTo>
                      <a:pt x="12014" y="3778"/>
                    </a:lnTo>
                    <a:lnTo>
                      <a:pt x="12162" y="3762"/>
                    </a:lnTo>
                    <a:lnTo>
                      <a:pt x="12307" y="3743"/>
                    </a:lnTo>
                    <a:lnTo>
                      <a:pt x="12448" y="3723"/>
                    </a:lnTo>
                    <a:lnTo>
                      <a:pt x="12586" y="3700"/>
                    </a:lnTo>
                    <a:lnTo>
                      <a:pt x="12653" y="3688"/>
                    </a:lnTo>
                    <a:lnTo>
                      <a:pt x="12719" y="3676"/>
                    </a:lnTo>
                    <a:lnTo>
                      <a:pt x="12784" y="3663"/>
                    </a:lnTo>
                    <a:lnTo>
                      <a:pt x="12848" y="3649"/>
                    </a:lnTo>
                    <a:lnTo>
                      <a:pt x="12911" y="3635"/>
                    </a:lnTo>
                    <a:lnTo>
                      <a:pt x="12973" y="3620"/>
                    </a:lnTo>
                    <a:lnTo>
                      <a:pt x="13034" y="3606"/>
                    </a:lnTo>
                    <a:lnTo>
                      <a:pt x="13093" y="3590"/>
                    </a:lnTo>
                    <a:lnTo>
                      <a:pt x="13093" y="3590"/>
                    </a:lnTo>
                    <a:lnTo>
                      <a:pt x="13212" y="3557"/>
                    </a:lnTo>
                    <a:lnTo>
                      <a:pt x="13332" y="3521"/>
                    </a:lnTo>
                    <a:lnTo>
                      <a:pt x="13454" y="3482"/>
                    </a:lnTo>
                    <a:lnTo>
                      <a:pt x="13577" y="3442"/>
                    </a:lnTo>
                    <a:lnTo>
                      <a:pt x="13701" y="3401"/>
                    </a:lnTo>
                    <a:lnTo>
                      <a:pt x="13827" y="3356"/>
                    </a:lnTo>
                    <a:lnTo>
                      <a:pt x="13953" y="3310"/>
                    </a:lnTo>
                    <a:lnTo>
                      <a:pt x="14080" y="3264"/>
                    </a:lnTo>
                    <a:lnTo>
                      <a:pt x="14206" y="3215"/>
                    </a:lnTo>
                    <a:lnTo>
                      <a:pt x="14333" y="3165"/>
                    </a:lnTo>
                    <a:lnTo>
                      <a:pt x="14458" y="3113"/>
                    </a:lnTo>
                    <a:lnTo>
                      <a:pt x="14585" y="3060"/>
                    </a:lnTo>
                    <a:lnTo>
                      <a:pt x="14711" y="3006"/>
                    </a:lnTo>
                    <a:lnTo>
                      <a:pt x="14836" y="2952"/>
                    </a:lnTo>
                    <a:lnTo>
                      <a:pt x="14959" y="2897"/>
                    </a:lnTo>
                    <a:lnTo>
                      <a:pt x="15082" y="2841"/>
                    </a:lnTo>
                    <a:lnTo>
                      <a:pt x="15202" y="2785"/>
                    </a:lnTo>
                    <a:lnTo>
                      <a:pt x="15321" y="2728"/>
                    </a:lnTo>
                    <a:lnTo>
                      <a:pt x="15439" y="2670"/>
                    </a:lnTo>
                    <a:lnTo>
                      <a:pt x="15554" y="2613"/>
                    </a:lnTo>
                    <a:lnTo>
                      <a:pt x="15667" y="2555"/>
                    </a:lnTo>
                    <a:lnTo>
                      <a:pt x="15777" y="2498"/>
                    </a:lnTo>
                    <a:lnTo>
                      <a:pt x="15884" y="2441"/>
                    </a:lnTo>
                    <a:lnTo>
                      <a:pt x="15989" y="2385"/>
                    </a:lnTo>
                    <a:lnTo>
                      <a:pt x="16091" y="2328"/>
                    </a:lnTo>
                    <a:lnTo>
                      <a:pt x="16190" y="2272"/>
                    </a:lnTo>
                    <a:lnTo>
                      <a:pt x="16284" y="2217"/>
                    </a:lnTo>
                    <a:lnTo>
                      <a:pt x="16374" y="2163"/>
                    </a:lnTo>
                    <a:lnTo>
                      <a:pt x="16462" y="2109"/>
                    </a:lnTo>
                    <a:lnTo>
                      <a:pt x="16544" y="2057"/>
                    </a:lnTo>
                    <a:lnTo>
                      <a:pt x="16622" y="2006"/>
                    </a:lnTo>
                    <a:lnTo>
                      <a:pt x="16696" y="1956"/>
                    </a:lnTo>
                    <a:lnTo>
                      <a:pt x="16696" y="1956"/>
                    </a:lnTo>
                    <a:lnTo>
                      <a:pt x="16771" y="1903"/>
                    </a:lnTo>
                    <a:lnTo>
                      <a:pt x="16856" y="1842"/>
                    </a:lnTo>
                    <a:lnTo>
                      <a:pt x="16950" y="1772"/>
                    </a:lnTo>
                    <a:lnTo>
                      <a:pt x="17054" y="1695"/>
                    </a:lnTo>
                    <a:lnTo>
                      <a:pt x="17282" y="1522"/>
                    </a:lnTo>
                    <a:lnTo>
                      <a:pt x="17533" y="1328"/>
                    </a:lnTo>
                    <a:lnTo>
                      <a:pt x="17803" y="1118"/>
                    </a:lnTo>
                    <a:lnTo>
                      <a:pt x="18083" y="897"/>
                    </a:lnTo>
                    <a:lnTo>
                      <a:pt x="18369" y="672"/>
                    </a:lnTo>
                    <a:lnTo>
                      <a:pt x="18653" y="446"/>
                    </a:lnTo>
                    <a:lnTo>
                      <a:pt x="18653" y="446"/>
                    </a:lnTo>
                    <a:lnTo>
                      <a:pt x="18697" y="401"/>
                    </a:lnTo>
                    <a:lnTo>
                      <a:pt x="18743" y="356"/>
                    </a:lnTo>
                    <a:lnTo>
                      <a:pt x="18743" y="356"/>
                    </a:lnTo>
                    <a:lnTo>
                      <a:pt x="18840" y="265"/>
                    </a:lnTo>
                    <a:lnTo>
                      <a:pt x="18938" y="175"/>
                    </a:lnTo>
                    <a:lnTo>
                      <a:pt x="19038" y="87"/>
                    </a:lnTo>
                    <a:lnTo>
                      <a:pt x="19139" y="0"/>
                    </a:lnTo>
                    <a:lnTo>
                      <a:pt x="19139" y="0"/>
                    </a:lnTo>
                    <a:lnTo>
                      <a:pt x="18737" y="281"/>
                    </a:lnTo>
                    <a:lnTo>
                      <a:pt x="18286" y="594"/>
                    </a:lnTo>
                    <a:lnTo>
                      <a:pt x="17815" y="922"/>
                    </a:lnTo>
                    <a:lnTo>
                      <a:pt x="17345" y="1246"/>
                    </a:lnTo>
                    <a:lnTo>
                      <a:pt x="16903" y="1548"/>
                    </a:lnTo>
                    <a:lnTo>
                      <a:pt x="16702" y="1685"/>
                    </a:lnTo>
                    <a:lnTo>
                      <a:pt x="16517" y="1810"/>
                    </a:lnTo>
                    <a:lnTo>
                      <a:pt x="16352" y="1919"/>
                    </a:lnTo>
                    <a:lnTo>
                      <a:pt x="16209" y="2012"/>
                    </a:lnTo>
                    <a:lnTo>
                      <a:pt x="16094" y="2086"/>
                    </a:lnTo>
                    <a:lnTo>
                      <a:pt x="16047" y="2114"/>
                    </a:lnTo>
                    <a:lnTo>
                      <a:pt x="16009" y="2137"/>
                    </a:lnTo>
                    <a:lnTo>
                      <a:pt x="16009" y="2137"/>
                    </a:lnTo>
                    <a:close/>
                  </a:path>
                </a:pathLst>
              </a:custGeom>
              <a:grpFill/>
              <a:ln>
                <a:noFill/>
              </a:ln>
            </p:spPr>
            <p:txBody>
              <a:bodyPr vert="horz" wrap="square" lIns="68580" tIns="34290" rIns="68580" bIns="34290" numCol="1" anchor="t" anchorCtr="0" compatLnSpc="1">
                <a:prstTxWarp prst="textNoShape">
                  <a:avLst/>
                </a:prstTxWarp>
              </a:bodyPr>
              <a:lstStyle/>
              <a:p>
                <a:endParaRPr lang="en-US" sz="1350">
                  <a:latin typeface="Aptos" panose="020B0004020202020204" pitchFamily="34" charset="0"/>
                  <a:sym typeface="Aptos" panose="020B0004020202020204" pitchFamily="34" charset="0"/>
                </a:endParaRPr>
              </a:p>
            </p:txBody>
          </p:sp>
        </p:grpSp>
        <p:sp>
          <p:nvSpPr>
            <p:cNvPr id="351" name="Arc 350">
              <a:extLst>
                <a:ext uri="{FF2B5EF4-FFF2-40B4-BE49-F238E27FC236}">
                  <a16:creationId xmlns:a16="http://schemas.microsoft.com/office/drawing/2014/main" id="{095DABFA-0E0E-9C2B-E7F5-4F5A6DF98643}"/>
                </a:ext>
              </a:extLst>
            </p:cNvPr>
            <p:cNvSpPr/>
            <p:nvPr/>
          </p:nvSpPr>
          <p:spPr>
            <a:xfrm rot="201495" flipH="1" flipV="1">
              <a:off x="7131533" y="2258980"/>
              <a:ext cx="15571333" cy="3777477"/>
            </a:xfrm>
            <a:prstGeom prst="arc">
              <a:avLst>
                <a:gd name="adj1" fmla="val 20768171"/>
                <a:gd name="adj2" fmla="val 21407445"/>
              </a:avLst>
            </a:prstGeom>
            <a:ln w="155575">
              <a:gradFill>
                <a:gsLst>
                  <a:gs pos="26000">
                    <a:schemeClr val="bg1"/>
                  </a:gs>
                  <a:gs pos="100000">
                    <a:srgbClr val="6360D8"/>
                  </a:gs>
                </a:gsLst>
                <a:lin ang="5400000" scaled="1"/>
              </a:gradFill>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219170">
                <a:defRPr/>
              </a:pPr>
              <a:endParaRPr lang="en-US" sz="2400">
                <a:solidFill>
                  <a:prstClr val="black"/>
                </a:solidFill>
                <a:latin typeface="Aptos" panose="020B0004020202020204" pitchFamily="34" charset="0"/>
                <a:ea typeface="+mn-lt"/>
                <a:cs typeface="+mn-lt"/>
                <a:sym typeface="Aptos" panose="020B0004020202020204" pitchFamily="34" charset="0"/>
              </a:endParaRPr>
            </a:p>
          </p:txBody>
        </p:sp>
        <p:sp>
          <p:nvSpPr>
            <p:cNvPr id="352" name="Arc 351">
              <a:extLst>
                <a:ext uri="{FF2B5EF4-FFF2-40B4-BE49-F238E27FC236}">
                  <a16:creationId xmlns:a16="http://schemas.microsoft.com/office/drawing/2014/main" id="{DA384725-E882-C808-2243-90FE54B8D3C4}"/>
                </a:ext>
              </a:extLst>
            </p:cNvPr>
            <p:cNvSpPr/>
            <p:nvPr/>
          </p:nvSpPr>
          <p:spPr>
            <a:xfrm rot="21398505" flipH="1">
              <a:off x="7131533" y="1564502"/>
              <a:ext cx="15571333" cy="3777477"/>
            </a:xfrm>
            <a:prstGeom prst="arc">
              <a:avLst>
                <a:gd name="adj1" fmla="val 20768171"/>
                <a:gd name="adj2" fmla="val 21407445"/>
              </a:avLst>
            </a:prstGeom>
            <a:ln w="155575">
              <a:gradFill>
                <a:gsLst>
                  <a:gs pos="26000">
                    <a:schemeClr val="bg1"/>
                  </a:gs>
                  <a:gs pos="100000">
                    <a:srgbClr val="6360D8"/>
                  </a:gs>
                </a:gsLst>
                <a:lin ang="5400000" scaled="1"/>
              </a:gradFill>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219170">
                <a:defRPr/>
              </a:pPr>
              <a:endParaRPr lang="en-US" sz="2400">
                <a:solidFill>
                  <a:prstClr val="black"/>
                </a:solidFill>
                <a:latin typeface="Aptos" panose="020B0004020202020204" pitchFamily="34" charset="0"/>
                <a:ea typeface="+mn-lt"/>
                <a:cs typeface="+mn-lt"/>
                <a:sym typeface="Aptos" panose="020B0004020202020204" pitchFamily="34" charset="0"/>
              </a:endParaRPr>
            </a:p>
          </p:txBody>
        </p:sp>
        <p:grpSp>
          <p:nvGrpSpPr>
            <p:cNvPr id="55" name="Group 54">
              <a:extLst>
                <a:ext uri="{FF2B5EF4-FFF2-40B4-BE49-F238E27FC236}">
                  <a16:creationId xmlns:a16="http://schemas.microsoft.com/office/drawing/2014/main" id="{FA8E1130-D84D-90DB-E216-7B43EC8174F9}"/>
                </a:ext>
              </a:extLst>
            </p:cNvPr>
            <p:cNvGrpSpPr/>
            <p:nvPr/>
          </p:nvGrpSpPr>
          <p:grpSpPr>
            <a:xfrm>
              <a:off x="1" y="1540122"/>
              <a:ext cx="6878310" cy="4457605"/>
              <a:chOff x="0" y="1782678"/>
              <a:chExt cx="5697141" cy="3633326"/>
            </a:xfrm>
          </p:grpSpPr>
          <p:sp>
            <p:nvSpPr>
              <p:cNvPr id="48" name="Freeform: Shape 47">
                <a:extLst>
                  <a:ext uri="{FF2B5EF4-FFF2-40B4-BE49-F238E27FC236}">
                    <a16:creationId xmlns:a16="http://schemas.microsoft.com/office/drawing/2014/main" id="{20CD544C-50EE-236E-3A45-47EE04D0DD7A}"/>
                  </a:ext>
                </a:extLst>
              </p:cNvPr>
              <p:cNvSpPr>
                <a:spLocks/>
              </p:cNvSpPr>
              <p:nvPr/>
            </p:nvSpPr>
            <p:spPr bwMode="auto">
              <a:xfrm>
                <a:off x="0" y="1782678"/>
                <a:ext cx="4324350" cy="1462954"/>
              </a:xfrm>
              <a:custGeom>
                <a:avLst/>
                <a:gdLst>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5534819 w 5765800"/>
                  <a:gd name="connsiteY98" fmla="*/ 1915319 h 1917700"/>
                  <a:gd name="connsiteX99" fmla="*/ 5497513 w 5765800"/>
                  <a:gd name="connsiteY99" fmla="*/ 1912938 h 1917700"/>
                  <a:gd name="connsiteX100" fmla="*/ 5475685 w 5765800"/>
                  <a:gd name="connsiteY100" fmla="*/ 1911350 h 1917700"/>
                  <a:gd name="connsiteX101" fmla="*/ 5453856 w 5765800"/>
                  <a:gd name="connsiteY101" fmla="*/ 1908969 h 1917700"/>
                  <a:gd name="connsiteX102" fmla="*/ 5431631 w 5765800"/>
                  <a:gd name="connsiteY102" fmla="*/ 1905794 h 1917700"/>
                  <a:gd name="connsiteX103" fmla="*/ 5408216 w 5765800"/>
                  <a:gd name="connsiteY103" fmla="*/ 1902619 h 1917700"/>
                  <a:gd name="connsiteX104" fmla="*/ 5384800 w 5765800"/>
                  <a:gd name="connsiteY104" fmla="*/ 1898650 h 1917700"/>
                  <a:gd name="connsiteX105" fmla="*/ 5360194 w 5765800"/>
                  <a:gd name="connsiteY105" fmla="*/ 1894681 h 1917700"/>
                  <a:gd name="connsiteX106" fmla="*/ 5335985 w 5765800"/>
                  <a:gd name="connsiteY106" fmla="*/ 1889919 h 1917700"/>
                  <a:gd name="connsiteX107" fmla="*/ 5330582 w 5765800"/>
                  <a:gd name="connsiteY107" fmla="*/ 1888890 h 1917700"/>
                  <a:gd name="connsiteX108" fmla="*/ 5267960 w 5765800"/>
                  <a:gd name="connsiteY108" fmla="*/ 1891982 h 1917700"/>
                  <a:gd name="connsiteX109" fmla="*/ 4455160 w 5765800"/>
                  <a:gd name="connsiteY109" fmla="*/ 1800542 h 1917700"/>
                  <a:gd name="connsiteX110" fmla="*/ 4409440 w 5765800"/>
                  <a:gd name="connsiteY110" fmla="*/ 1790382 h 1917700"/>
                  <a:gd name="connsiteX111" fmla="*/ 4389120 w 5765800"/>
                  <a:gd name="connsiteY111" fmla="*/ 1785302 h 1917700"/>
                  <a:gd name="connsiteX112" fmla="*/ 4358640 w 5765800"/>
                  <a:gd name="connsiteY112" fmla="*/ 1785302 h 1917700"/>
                  <a:gd name="connsiteX113" fmla="*/ 3566160 w 5765800"/>
                  <a:gd name="connsiteY113" fmla="*/ 1668462 h 1917700"/>
                  <a:gd name="connsiteX114" fmla="*/ 3413760 w 5765800"/>
                  <a:gd name="connsiteY114" fmla="*/ 1648142 h 1917700"/>
                  <a:gd name="connsiteX115" fmla="*/ 2529840 w 5765800"/>
                  <a:gd name="connsiteY115" fmla="*/ 1485582 h 1917700"/>
                  <a:gd name="connsiteX116" fmla="*/ 1559560 w 5765800"/>
                  <a:gd name="connsiteY116" fmla="*/ 1424622 h 1917700"/>
                  <a:gd name="connsiteX117" fmla="*/ 1498600 w 5765800"/>
                  <a:gd name="connsiteY117" fmla="*/ 1419542 h 1917700"/>
                  <a:gd name="connsiteX118" fmla="*/ 858520 w 5765800"/>
                  <a:gd name="connsiteY118" fmla="*/ 1373822 h 1917700"/>
                  <a:gd name="connsiteX119" fmla="*/ 457200 w 5765800"/>
                  <a:gd name="connsiteY119" fmla="*/ 1353502 h 1917700"/>
                  <a:gd name="connsiteX120" fmla="*/ 167640 w 5765800"/>
                  <a:gd name="connsiteY120" fmla="*/ 1343342 h 1917700"/>
                  <a:gd name="connsiteX121" fmla="*/ 162758 w 5765800"/>
                  <a:gd name="connsiteY121" fmla="*/ 1184672 h 1917700"/>
                  <a:gd name="connsiteX122" fmla="*/ 0 w 5765800"/>
                  <a:gd name="connsiteY122" fmla="*/ 1184672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5534819 w 5765800"/>
                  <a:gd name="connsiteY98" fmla="*/ 1915319 h 1917700"/>
                  <a:gd name="connsiteX99" fmla="*/ 5497513 w 5765800"/>
                  <a:gd name="connsiteY99" fmla="*/ 1912938 h 1917700"/>
                  <a:gd name="connsiteX100" fmla="*/ 5475685 w 5765800"/>
                  <a:gd name="connsiteY100" fmla="*/ 1911350 h 1917700"/>
                  <a:gd name="connsiteX101" fmla="*/ 5453856 w 5765800"/>
                  <a:gd name="connsiteY101" fmla="*/ 1908969 h 1917700"/>
                  <a:gd name="connsiteX102" fmla="*/ 5431631 w 5765800"/>
                  <a:gd name="connsiteY102" fmla="*/ 1905794 h 1917700"/>
                  <a:gd name="connsiteX103" fmla="*/ 5408216 w 5765800"/>
                  <a:gd name="connsiteY103" fmla="*/ 1902619 h 1917700"/>
                  <a:gd name="connsiteX104" fmla="*/ 5384800 w 5765800"/>
                  <a:gd name="connsiteY104" fmla="*/ 1898650 h 1917700"/>
                  <a:gd name="connsiteX105" fmla="*/ 5360194 w 5765800"/>
                  <a:gd name="connsiteY105" fmla="*/ 1894681 h 1917700"/>
                  <a:gd name="connsiteX106" fmla="*/ 5335985 w 5765800"/>
                  <a:gd name="connsiteY106" fmla="*/ 1889919 h 1917700"/>
                  <a:gd name="connsiteX107" fmla="*/ 5330582 w 5765800"/>
                  <a:gd name="connsiteY107" fmla="*/ 1888890 h 1917700"/>
                  <a:gd name="connsiteX108" fmla="*/ 5267960 w 5765800"/>
                  <a:gd name="connsiteY108" fmla="*/ 1891982 h 1917700"/>
                  <a:gd name="connsiteX109" fmla="*/ 4455160 w 5765800"/>
                  <a:gd name="connsiteY109" fmla="*/ 1800542 h 1917700"/>
                  <a:gd name="connsiteX110" fmla="*/ 4409440 w 5765800"/>
                  <a:gd name="connsiteY110" fmla="*/ 1790382 h 1917700"/>
                  <a:gd name="connsiteX111" fmla="*/ 4389120 w 5765800"/>
                  <a:gd name="connsiteY111" fmla="*/ 1785302 h 1917700"/>
                  <a:gd name="connsiteX112" fmla="*/ 4358640 w 5765800"/>
                  <a:gd name="connsiteY112" fmla="*/ 1785302 h 1917700"/>
                  <a:gd name="connsiteX113" fmla="*/ 3566160 w 5765800"/>
                  <a:gd name="connsiteY113" fmla="*/ 1668462 h 1917700"/>
                  <a:gd name="connsiteX114" fmla="*/ 3413760 w 5765800"/>
                  <a:gd name="connsiteY114" fmla="*/ 1648142 h 1917700"/>
                  <a:gd name="connsiteX115" fmla="*/ 2529840 w 5765800"/>
                  <a:gd name="connsiteY115" fmla="*/ 1485582 h 1917700"/>
                  <a:gd name="connsiteX116" fmla="*/ 1559560 w 5765800"/>
                  <a:gd name="connsiteY116" fmla="*/ 1424622 h 1917700"/>
                  <a:gd name="connsiteX117" fmla="*/ 1498600 w 5765800"/>
                  <a:gd name="connsiteY117" fmla="*/ 1419542 h 1917700"/>
                  <a:gd name="connsiteX118" fmla="*/ 858520 w 5765800"/>
                  <a:gd name="connsiteY118" fmla="*/ 1373822 h 1917700"/>
                  <a:gd name="connsiteX119" fmla="*/ 457200 w 5765800"/>
                  <a:gd name="connsiteY119" fmla="*/ 1353502 h 1917700"/>
                  <a:gd name="connsiteX120" fmla="*/ 167640 w 5765800"/>
                  <a:gd name="connsiteY120" fmla="*/ 1343342 h 1917700"/>
                  <a:gd name="connsiteX121" fmla="*/ 0 w 5765800"/>
                  <a:gd name="connsiteY121" fmla="*/ 1184672 h 1917700"/>
                  <a:gd name="connsiteX122" fmla="*/ 0 w 5765800"/>
                  <a:gd name="connsiteY122"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5534819 w 5765800"/>
                  <a:gd name="connsiteY98" fmla="*/ 1915319 h 1917700"/>
                  <a:gd name="connsiteX99" fmla="*/ 5497513 w 5765800"/>
                  <a:gd name="connsiteY99" fmla="*/ 1912938 h 1917700"/>
                  <a:gd name="connsiteX100" fmla="*/ 5475685 w 5765800"/>
                  <a:gd name="connsiteY100" fmla="*/ 1911350 h 1917700"/>
                  <a:gd name="connsiteX101" fmla="*/ 5453856 w 5765800"/>
                  <a:gd name="connsiteY101" fmla="*/ 1908969 h 1917700"/>
                  <a:gd name="connsiteX102" fmla="*/ 5431631 w 5765800"/>
                  <a:gd name="connsiteY102" fmla="*/ 1905794 h 1917700"/>
                  <a:gd name="connsiteX103" fmla="*/ 5408216 w 5765800"/>
                  <a:gd name="connsiteY103" fmla="*/ 1902619 h 1917700"/>
                  <a:gd name="connsiteX104" fmla="*/ 5384800 w 5765800"/>
                  <a:gd name="connsiteY104" fmla="*/ 1898650 h 1917700"/>
                  <a:gd name="connsiteX105" fmla="*/ 5360194 w 5765800"/>
                  <a:gd name="connsiteY105" fmla="*/ 1894681 h 1917700"/>
                  <a:gd name="connsiteX106" fmla="*/ 5335985 w 5765800"/>
                  <a:gd name="connsiteY106" fmla="*/ 1889919 h 1917700"/>
                  <a:gd name="connsiteX107" fmla="*/ 5330582 w 5765800"/>
                  <a:gd name="connsiteY107" fmla="*/ 1888890 h 1917700"/>
                  <a:gd name="connsiteX108" fmla="*/ 4455160 w 5765800"/>
                  <a:gd name="connsiteY108" fmla="*/ 1800542 h 1917700"/>
                  <a:gd name="connsiteX109" fmla="*/ 4409440 w 5765800"/>
                  <a:gd name="connsiteY109" fmla="*/ 1790382 h 1917700"/>
                  <a:gd name="connsiteX110" fmla="*/ 4389120 w 5765800"/>
                  <a:gd name="connsiteY110" fmla="*/ 1785302 h 1917700"/>
                  <a:gd name="connsiteX111" fmla="*/ 4358640 w 5765800"/>
                  <a:gd name="connsiteY111" fmla="*/ 1785302 h 1917700"/>
                  <a:gd name="connsiteX112" fmla="*/ 3566160 w 5765800"/>
                  <a:gd name="connsiteY112" fmla="*/ 1668462 h 1917700"/>
                  <a:gd name="connsiteX113" fmla="*/ 3413760 w 5765800"/>
                  <a:gd name="connsiteY113" fmla="*/ 1648142 h 1917700"/>
                  <a:gd name="connsiteX114" fmla="*/ 2529840 w 5765800"/>
                  <a:gd name="connsiteY114" fmla="*/ 1485582 h 1917700"/>
                  <a:gd name="connsiteX115" fmla="*/ 1559560 w 5765800"/>
                  <a:gd name="connsiteY115" fmla="*/ 1424622 h 1917700"/>
                  <a:gd name="connsiteX116" fmla="*/ 1498600 w 5765800"/>
                  <a:gd name="connsiteY116" fmla="*/ 1419542 h 1917700"/>
                  <a:gd name="connsiteX117" fmla="*/ 858520 w 5765800"/>
                  <a:gd name="connsiteY117" fmla="*/ 1373822 h 1917700"/>
                  <a:gd name="connsiteX118" fmla="*/ 457200 w 5765800"/>
                  <a:gd name="connsiteY118" fmla="*/ 1353502 h 1917700"/>
                  <a:gd name="connsiteX119" fmla="*/ 167640 w 5765800"/>
                  <a:gd name="connsiteY119" fmla="*/ 1343342 h 1917700"/>
                  <a:gd name="connsiteX120" fmla="*/ 0 w 5765800"/>
                  <a:gd name="connsiteY120" fmla="*/ 1184672 h 1917700"/>
                  <a:gd name="connsiteX121" fmla="*/ 0 w 5765800"/>
                  <a:gd name="connsiteY121"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5534819 w 5765800"/>
                  <a:gd name="connsiteY98" fmla="*/ 1915319 h 1917700"/>
                  <a:gd name="connsiteX99" fmla="*/ 5497513 w 5765800"/>
                  <a:gd name="connsiteY99" fmla="*/ 1912938 h 1917700"/>
                  <a:gd name="connsiteX100" fmla="*/ 5475685 w 5765800"/>
                  <a:gd name="connsiteY100" fmla="*/ 1911350 h 1917700"/>
                  <a:gd name="connsiteX101" fmla="*/ 5453856 w 5765800"/>
                  <a:gd name="connsiteY101" fmla="*/ 1908969 h 1917700"/>
                  <a:gd name="connsiteX102" fmla="*/ 5431631 w 5765800"/>
                  <a:gd name="connsiteY102" fmla="*/ 1905794 h 1917700"/>
                  <a:gd name="connsiteX103" fmla="*/ 5408216 w 5765800"/>
                  <a:gd name="connsiteY103" fmla="*/ 1902619 h 1917700"/>
                  <a:gd name="connsiteX104" fmla="*/ 5384800 w 5765800"/>
                  <a:gd name="connsiteY104" fmla="*/ 1898650 h 1917700"/>
                  <a:gd name="connsiteX105" fmla="*/ 5360194 w 5765800"/>
                  <a:gd name="connsiteY105" fmla="*/ 1894681 h 1917700"/>
                  <a:gd name="connsiteX106" fmla="*/ 5335985 w 5765800"/>
                  <a:gd name="connsiteY106" fmla="*/ 1889919 h 1917700"/>
                  <a:gd name="connsiteX107" fmla="*/ 4455160 w 5765800"/>
                  <a:gd name="connsiteY107" fmla="*/ 1800542 h 1917700"/>
                  <a:gd name="connsiteX108" fmla="*/ 4409440 w 5765800"/>
                  <a:gd name="connsiteY108" fmla="*/ 1790382 h 1917700"/>
                  <a:gd name="connsiteX109" fmla="*/ 4389120 w 5765800"/>
                  <a:gd name="connsiteY109" fmla="*/ 1785302 h 1917700"/>
                  <a:gd name="connsiteX110" fmla="*/ 4358640 w 5765800"/>
                  <a:gd name="connsiteY110" fmla="*/ 1785302 h 1917700"/>
                  <a:gd name="connsiteX111" fmla="*/ 3566160 w 5765800"/>
                  <a:gd name="connsiteY111" fmla="*/ 1668462 h 1917700"/>
                  <a:gd name="connsiteX112" fmla="*/ 3413760 w 5765800"/>
                  <a:gd name="connsiteY112" fmla="*/ 1648142 h 1917700"/>
                  <a:gd name="connsiteX113" fmla="*/ 2529840 w 5765800"/>
                  <a:gd name="connsiteY113" fmla="*/ 1485582 h 1917700"/>
                  <a:gd name="connsiteX114" fmla="*/ 1559560 w 5765800"/>
                  <a:gd name="connsiteY114" fmla="*/ 1424622 h 1917700"/>
                  <a:gd name="connsiteX115" fmla="*/ 1498600 w 5765800"/>
                  <a:gd name="connsiteY115" fmla="*/ 1419542 h 1917700"/>
                  <a:gd name="connsiteX116" fmla="*/ 858520 w 5765800"/>
                  <a:gd name="connsiteY116" fmla="*/ 1373822 h 1917700"/>
                  <a:gd name="connsiteX117" fmla="*/ 457200 w 5765800"/>
                  <a:gd name="connsiteY117" fmla="*/ 1353502 h 1917700"/>
                  <a:gd name="connsiteX118" fmla="*/ 167640 w 5765800"/>
                  <a:gd name="connsiteY118" fmla="*/ 1343342 h 1917700"/>
                  <a:gd name="connsiteX119" fmla="*/ 0 w 5765800"/>
                  <a:gd name="connsiteY119" fmla="*/ 1184672 h 1917700"/>
                  <a:gd name="connsiteX120" fmla="*/ 0 w 5765800"/>
                  <a:gd name="connsiteY120"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5534819 w 5765800"/>
                  <a:gd name="connsiteY98" fmla="*/ 1915319 h 1917700"/>
                  <a:gd name="connsiteX99" fmla="*/ 5497513 w 5765800"/>
                  <a:gd name="connsiteY99" fmla="*/ 1912938 h 1917700"/>
                  <a:gd name="connsiteX100" fmla="*/ 5475685 w 5765800"/>
                  <a:gd name="connsiteY100" fmla="*/ 1911350 h 1917700"/>
                  <a:gd name="connsiteX101" fmla="*/ 5453856 w 5765800"/>
                  <a:gd name="connsiteY101" fmla="*/ 1908969 h 1917700"/>
                  <a:gd name="connsiteX102" fmla="*/ 5431631 w 5765800"/>
                  <a:gd name="connsiteY102" fmla="*/ 1905794 h 1917700"/>
                  <a:gd name="connsiteX103" fmla="*/ 5408216 w 5765800"/>
                  <a:gd name="connsiteY103" fmla="*/ 1902619 h 1917700"/>
                  <a:gd name="connsiteX104" fmla="*/ 5384800 w 5765800"/>
                  <a:gd name="connsiteY104" fmla="*/ 1898650 h 1917700"/>
                  <a:gd name="connsiteX105" fmla="*/ 5360194 w 5765800"/>
                  <a:gd name="connsiteY105" fmla="*/ 1894681 h 1917700"/>
                  <a:gd name="connsiteX106" fmla="*/ 4455160 w 5765800"/>
                  <a:gd name="connsiteY106" fmla="*/ 1800542 h 1917700"/>
                  <a:gd name="connsiteX107" fmla="*/ 4409440 w 5765800"/>
                  <a:gd name="connsiteY107" fmla="*/ 1790382 h 1917700"/>
                  <a:gd name="connsiteX108" fmla="*/ 4389120 w 5765800"/>
                  <a:gd name="connsiteY108" fmla="*/ 1785302 h 1917700"/>
                  <a:gd name="connsiteX109" fmla="*/ 4358640 w 5765800"/>
                  <a:gd name="connsiteY109" fmla="*/ 1785302 h 1917700"/>
                  <a:gd name="connsiteX110" fmla="*/ 3566160 w 5765800"/>
                  <a:gd name="connsiteY110" fmla="*/ 1668462 h 1917700"/>
                  <a:gd name="connsiteX111" fmla="*/ 3413760 w 5765800"/>
                  <a:gd name="connsiteY111" fmla="*/ 1648142 h 1917700"/>
                  <a:gd name="connsiteX112" fmla="*/ 2529840 w 5765800"/>
                  <a:gd name="connsiteY112" fmla="*/ 1485582 h 1917700"/>
                  <a:gd name="connsiteX113" fmla="*/ 1559560 w 5765800"/>
                  <a:gd name="connsiteY113" fmla="*/ 1424622 h 1917700"/>
                  <a:gd name="connsiteX114" fmla="*/ 1498600 w 5765800"/>
                  <a:gd name="connsiteY114" fmla="*/ 1419542 h 1917700"/>
                  <a:gd name="connsiteX115" fmla="*/ 858520 w 5765800"/>
                  <a:gd name="connsiteY115" fmla="*/ 1373822 h 1917700"/>
                  <a:gd name="connsiteX116" fmla="*/ 457200 w 5765800"/>
                  <a:gd name="connsiteY116" fmla="*/ 1353502 h 1917700"/>
                  <a:gd name="connsiteX117" fmla="*/ 167640 w 5765800"/>
                  <a:gd name="connsiteY117" fmla="*/ 1343342 h 1917700"/>
                  <a:gd name="connsiteX118" fmla="*/ 0 w 5765800"/>
                  <a:gd name="connsiteY118" fmla="*/ 1184672 h 1917700"/>
                  <a:gd name="connsiteX119" fmla="*/ 0 w 5765800"/>
                  <a:gd name="connsiteY119"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5534819 w 5765800"/>
                  <a:gd name="connsiteY98" fmla="*/ 1915319 h 1917700"/>
                  <a:gd name="connsiteX99" fmla="*/ 5497513 w 5765800"/>
                  <a:gd name="connsiteY99" fmla="*/ 1912938 h 1917700"/>
                  <a:gd name="connsiteX100" fmla="*/ 5475685 w 5765800"/>
                  <a:gd name="connsiteY100" fmla="*/ 1911350 h 1917700"/>
                  <a:gd name="connsiteX101" fmla="*/ 5453856 w 5765800"/>
                  <a:gd name="connsiteY101" fmla="*/ 1908969 h 1917700"/>
                  <a:gd name="connsiteX102" fmla="*/ 5431631 w 5765800"/>
                  <a:gd name="connsiteY102" fmla="*/ 1905794 h 1917700"/>
                  <a:gd name="connsiteX103" fmla="*/ 5408216 w 5765800"/>
                  <a:gd name="connsiteY103" fmla="*/ 1902619 h 1917700"/>
                  <a:gd name="connsiteX104" fmla="*/ 5384800 w 5765800"/>
                  <a:gd name="connsiteY104" fmla="*/ 1898650 h 1917700"/>
                  <a:gd name="connsiteX105" fmla="*/ 4455160 w 5765800"/>
                  <a:gd name="connsiteY105" fmla="*/ 1800542 h 1917700"/>
                  <a:gd name="connsiteX106" fmla="*/ 4409440 w 5765800"/>
                  <a:gd name="connsiteY106" fmla="*/ 1790382 h 1917700"/>
                  <a:gd name="connsiteX107" fmla="*/ 4389120 w 5765800"/>
                  <a:gd name="connsiteY107" fmla="*/ 1785302 h 1917700"/>
                  <a:gd name="connsiteX108" fmla="*/ 4358640 w 5765800"/>
                  <a:gd name="connsiteY108" fmla="*/ 1785302 h 1917700"/>
                  <a:gd name="connsiteX109" fmla="*/ 3566160 w 5765800"/>
                  <a:gd name="connsiteY109" fmla="*/ 1668462 h 1917700"/>
                  <a:gd name="connsiteX110" fmla="*/ 3413760 w 5765800"/>
                  <a:gd name="connsiteY110" fmla="*/ 1648142 h 1917700"/>
                  <a:gd name="connsiteX111" fmla="*/ 2529840 w 5765800"/>
                  <a:gd name="connsiteY111" fmla="*/ 1485582 h 1917700"/>
                  <a:gd name="connsiteX112" fmla="*/ 1559560 w 5765800"/>
                  <a:gd name="connsiteY112" fmla="*/ 1424622 h 1917700"/>
                  <a:gd name="connsiteX113" fmla="*/ 1498600 w 5765800"/>
                  <a:gd name="connsiteY113" fmla="*/ 1419542 h 1917700"/>
                  <a:gd name="connsiteX114" fmla="*/ 858520 w 5765800"/>
                  <a:gd name="connsiteY114" fmla="*/ 1373822 h 1917700"/>
                  <a:gd name="connsiteX115" fmla="*/ 457200 w 5765800"/>
                  <a:gd name="connsiteY115" fmla="*/ 1353502 h 1917700"/>
                  <a:gd name="connsiteX116" fmla="*/ 167640 w 5765800"/>
                  <a:gd name="connsiteY116" fmla="*/ 1343342 h 1917700"/>
                  <a:gd name="connsiteX117" fmla="*/ 0 w 5765800"/>
                  <a:gd name="connsiteY117" fmla="*/ 1184672 h 1917700"/>
                  <a:gd name="connsiteX118" fmla="*/ 0 w 5765800"/>
                  <a:gd name="connsiteY118"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5534819 w 5765800"/>
                  <a:gd name="connsiteY98" fmla="*/ 1915319 h 1917700"/>
                  <a:gd name="connsiteX99" fmla="*/ 5497513 w 5765800"/>
                  <a:gd name="connsiteY99" fmla="*/ 1912938 h 1917700"/>
                  <a:gd name="connsiteX100" fmla="*/ 5475685 w 5765800"/>
                  <a:gd name="connsiteY100" fmla="*/ 1911350 h 1917700"/>
                  <a:gd name="connsiteX101" fmla="*/ 5453856 w 5765800"/>
                  <a:gd name="connsiteY101" fmla="*/ 1908969 h 1917700"/>
                  <a:gd name="connsiteX102" fmla="*/ 5431631 w 5765800"/>
                  <a:gd name="connsiteY102" fmla="*/ 1905794 h 1917700"/>
                  <a:gd name="connsiteX103" fmla="*/ 5408216 w 5765800"/>
                  <a:gd name="connsiteY103" fmla="*/ 1902619 h 1917700"/>
                  <a:gd name="connsiteX104" fmla="*/ 4455160 w 5765800"/>
                  <a:gd name="connsiteY104" fmla="*/ 1800542 h 1917700"/>
                  <a:gd name="connsiteX105" fmla="*/ 4409440 w 5765800"/>
                  <a:gd name="connsiteY105" fmla="*/ 1790382 h 1917700"/>
                  <a:gd name="connsiteX106" fmla="*/ 4389120 w 5765800"/>
                  <a:gd name="connsiteY106" fmla="*/ 1785302 h 1917700"/>
                  <a:gd name="connsiteX107" fmla="*/ 4358640 w 5765800"/>
                  <a:gd name="connsiteY107" fmla="*/ 1785302 h 1917700"/>
                  <a:gd name="connsiteX108" fmla="*/ 3566160 w 5765800"/>
                  <a:gd name="connsiteY108" fmla="*/ 1668462 h 1917700"/>
                  <a:gd name="connsiteX109" fmla="*/ 3413760 w 5765800"/>
                  <a:gd name="connsiteY109" fmla="*/ 1648142 h 1917700"/>
                  <a:gd name="connsiteX110" fmla="*/ 2529840 w 5765800"/>
                  <a:gd name="connsiteY110" fmla="*/ 1485582 h 1917700"/>
                  <a:gd name="connsiteX111" fmla="*/ 1559560 w 5765800"/>
                  <a:gd name="connsiteY111" fmla="*/ 1424622 h 1917700"/>
                  <a:gd name="connsiteX112" fmla="*/ 1498600 w 5765800"/>
                  <a:gd name="connsiteY112" fmla="*/ 1419542 h 1917700"/>
                  <a:gd name="connsiteX113" fmla="*/ 858520 w 5765800"/>
                  <a:gd name="connsiteY113" fmla="*/ 1373822 h 1917700"/>
                  <a:gd name="connsiteX114" fmla="*/ 457200 w 5765800"/>
                  <a:gd name="connsiteY114" fmla="*/ 1353502 h 1917700"/>
                  <a:gd name="connsiteX115" fmla="*/ 167640 w 5765800"/>
                  <a:gd name="connsiteY115" fmla="*/ 1343342 h 1917700"/>
                  <a:gd name="connsiteX116" fmla="*/ 0 w 5765800"/>
                  <a:gd name="connsiteY116" fmla="*/ 1184672 h 1917700"/>
                  <a:gd name="connsiteX117" fmla="*/ 0 w 5765800"/>
                  <a:gd name="connsiteY117"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5534819 w 5765800"/>
                  <a:gd name="connsiteY98" fmla="*/ 1915319 h 1917700"/>
                  <a:gd name="connsiteX99" fmla="*/ 5497513 w 5765800"/>
                  <a:gd name="connsiteY99" fmla="*/ 1912938 h 1917700"/>
                  <a:gd name="connsiteX100" fmla="*/ 5475685 w 5765800"/>
                  <a:gd name="connsiteY100" fmla="*/ 1911350 h 1917700"/>
                  <a:gd name="connsiteX101" fmla="*/ 5453856 w 5765800"/>
                  <a:gd name="connsiteY101" fmla="*/ 1908969 h 1917700"/>
                  <a:gd name="connsiteX102" fmla="*/ 5431631 w 5765800"/>
                  <a:gd name="connsiteY102" fmla="*/ 1905794 h 1917700"/>
                  <a:gd name="connsiteX103" fmla="*/ 4455160 w 5765800"/>
                  <a:gd name="connsiteY103" fmla="*/ 1800542 h 1917700"/>
                  <a:gd name="connsiteX104" fmla="*/ 4409440 w 5765800"/>
                  <a:gd name="connsiteY104" fmla="*/ 1790382 h 1917700"/>
                  <a:gd name="connsiteX105" fmla="*/ 4389120 w 5765800"/>
                  <a:gd name="connsiteY105" fmla="*/ 1785302 h 1917700"/>
                  <a:gd name="connsiteX106" fmla="*/ 4358640 w 5765800"/>
                  <a:gd name="connsiteY106" fmla="*/ 1785302 h 1917700"/>
                  <a:gd name="connsiteX107" fmla="*/ 3566160 w 5765800"/>
                  <a:gd name="connsiteY107" fmla="*/ 1668462 h 1917700"/>
                  <a:gd name="connsiteX108" fmla="*/ 3413760 w 5765800"/>
                  <a:gd name="connsiteY108" fmla="*/ 1648142 h 1917700"/>
                  <a:gd name="connsiteX109" fmla="*/ 2529840 w 5765800"/>
                  <a:gd name="connsiteY109" fmla="*/ 1485582 h 1917700"/>
                  <a:gd name="connsiteX110" fmla="*/ 1559560 w 5765800"/>
                  <a:gd name="connsiteY110" fmla="*/ 1424622 h 1917700"/>
                  <a:gd name="connsiteX111" fmla="*/ 1498600 w 5765800"/>
                  <a:gd name="connsiteY111" fmla="*/ 1419542 h 1917700"/>
                  <a:gd name="connsiteX112" fmla="*/ 858520 w 5765800"/>
                  <a:gd name="connsiteY112" fmla="*/ 1373822 h 1917700"/>
                  <a:gd name="connsiteX113" fmla="*/ 457200 w 5765800"/>
                  <a:gd name="connsiteY113" fmla="*/ 1353502 h 1917700"/>
                  <a:gd name="connsiteX114" fmla="*/ 167640 w 5765800"/>
                  <a:gd name="connsiteY114" fmla="*/ 1343342 h 1917700"/>
                  <a:gd name="connsiteX115" fmla="*/ 0 w 5765800"/>
                  <a:gd name="connsiteY115" fmla="*/ 1184672 h 1917700"/>
                  <a:gd name="connsiteX116" fmla="*/ 0 w 5765800"/>
                  <a:gd name="connsiteY116"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5534819 w 5765800"/>
                  <a:gd name="connsiteY98" fmla="*/ 1915319 h 1917700"/>
                  <a:gd name="connsiteX99" fmla="*/ 5497513 w 5765800"/>
                  <a:gd name="connsiteY99" fmla="*/ 1912938 h 1917700"/>
                  <a:gd name="connsiteX100" fmla="*/ 5475685 w 5765800"/>
                  <a:gd name="connsiteY100" fmla="*/ 1911350 h 1917700"/>
                  <a:gd name="connsiteX101" fmla="*/ 5453856 w 5765800"/>
                  <a:gd name="connsiteY101" fmla="*/ 1908969 h 1917700"/>
                  <a:gd name="connsiteX102" fmla="*/ 4455160 w 5765800"/>
                  <a:gd name="connsiteY102" fmla="*/ 1800542 h 1917700"/>
                  <a:gd name="connsiteX103" fmla="*/ 4409440 w 5765800"/>
                  <a:gd name="connsiteY103" fmla="*/ 1790382 h 1917700"/>
                  <a:gd name="connsiteX104" fmla="*/ 4389120 w 5765800"/>
                  <a:gd name="connsiteY104" fmla="*/ 1785302 h 1917700"/>
                  <a:gd name="connsiteX105" fmla="*/ 4358640 w 5765800"/>
                  <a:gd name="connsiteY105" fmla="*/ 1785302 h 1917700"/>
                  <a:gd name="connsiteX106" fmla="*/ 3566160 w 5765800"/>
                  <a:gd name="connsiteY106" fmla="*/ 1668462 h 1917700"/>
                  <a:gd name="connsiteX107" fmla="*/ 3413760 w 5765800"/>
                  <a:gd name="connsiteY107" fmla="*/ 1648142 h 1917700"/>
                  <a:gd name="connsiteX108" fmla="*/ 2529840 w 5765800"/>
                  <a:gd name="connsiteY108" fmla="*/ 1485582 h 1917700"/>
                  <a:gd name="connsiteX109" fmla="*/ 1559560 w 5765800"/>
                  <a:gd name="connsiteY109" fmla="*/ 1424622 h 1917700"/>
                  <a:gd name="connsiteX110" fmla="*/ 1498600 w 5765800"/>
                  <a:gd name="connsiteY110" fmla="*/ 1419542 h 1917700"/>
                  <a:gd name="connsiteX111" fmla="*/ 858520 w 5765800"/>
                  <a:gd name="connsiteY111" fmla="*/ 1373822 h 1917700"/>
                  <a:gd name="connsiteX112" fmla="*/ 457200 w 5765800"/>
                  <a:gd name="connsiteY112" fmla="*/ 1353502 h 1917700"/>
                  <a:gd name="connsiteX113" fmla="*/ 167640 w 5765800"/>
                  <a:gd name="connsiteY113" fmla="*/ 1343342 h 1917700"/>
                  <a:gd name="connsiteX114" fmla="*/ 0 w 5765800"/>
                  <a:gd name="connsiteY114" fmla="*/ 1184672 h 1917700"/>
                  <a:gd name="connsiteX115" fmla="*/ 0 w 5765800"/>
                  <a:gd name="connsiteY115"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5534819 w 5765800"/>
                  <a:gd name="connsiteY98" fmla="*/ 1915319 h 1917700"/>
                  <a:gd name="connsiteX99" fmla="*/ 5497513 w 5765800"/>
                  <a:gd name="connsiteY99" fmla="*/ 1912938 h 1917700"/>
                  <a:gd name="connsiteX100" fmla="*/ 5475685 w 5765800"/>
                  <a:gd name="connsiteY100" fmla="*/ 1911350 h 1917700"/>
                  <a:gd name="connsiteX101" fmla="*/ 4455160 w 5765800"/>
                  <a:gd name="connsiteY101" fmla="*/ 1800542 h 1917700"/>
                  <a:gd name="connsiteX102" fmla="*/ 4409440 w 5765800"/>
                  <a:gd name="connsiteY102" fmla="*/ 1790382 h 1917700"/>
                  <a:gd name="connsiteX103" fmla="*/ 4389120 w 5765800"/>
                  <a:gd name="connsiteY103" fmla="*/ 1785302 h 1917700"/>
                  <a:gd name="connsiteX104" fmla="*/ 4358640 w 5765800"/>
                  <a:gd name="connsiteY104" fmla="*/ 1785302 h 1917700"/>
                  <a:gd name="connsiteX105" fmla="*/ 3566160 w 5765800"/>
                  <a:gd name="connsiteY105" fmla="*/ 1668462 h 1917700"/>
                  <a:gd name="connsiteX106" fmla="*/ 3413760 w 5765800"/>
                  <a:gd name="connsiteY106" fmla="*/ 1648142 h 1917700"/>
                  <a:gd name="connsiteX107" fmla="*/ 2529840 w 5765800"/>
                  <a:gd name="connsiteY107" fmla="*/ 1485582 h 1917700"/>
                  <a:gd name="connsiteX108" fmla="*/ 1559560 w 5765800"/>
                  <a:gd name="connsiteY108" fmla="*/ 1424622 h 1917700"/>
                  <a:gd name="connsiteX109" fmla="*/ 1498600 w 5765800"/>
                  <a:gd name="connsiteY109" fmla="*/ 1419542 h 1917700"/>
                  <a:gd name="connsiteX110" fmla="*/ 858520 w 5765800"/>
                  <a:gd name="connsiteY110" fmla="*/ 1373822 h 1917700"/>
                  <a:gd name="connsiteX111" fmla="*/ 457200 w 5765800"/>
                  <a:gd name="connsiteY111" fmla="*/ 1353502 h 1917700"/>
                  <a:gd name="connsiteX112" fmla="*/ 167640 w 5765800"/>
                  <a:gd name="connsiteY112" fmla="*/ 1343342 h 1917700"/>
                  <a:gd name="connsiteX113" fmla="*/ 0 w 5765800"/>
                  <a:gd name="connsiteY113" fmla="*/ 1184672 h 1917700"/>
                  <a:gd name="connsiteX114" fmla="*/ 0 w 5765800"/>
                  <a:gd name="connsiteY114"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5534819 w 5765800"/>
                  <a:gd name="connsiteY98" fmla="*/ 1915319 h 1917700"/>
                  <a:gd name="connsiteX99" fmla="*/ 5497513 w 5765800"/>
                  <a:gd name="connsiteY99" fmla="*/ 1912938 h 1917700"/>
                  <a:gd name="connsiteX100" fmla="*/ 4455160 w 5765800"/>
                  <a:gd name="connsiteY100" fmla="*/ 1800542 h 1917700"/>
                  <a:gd name="connsiteX101" fmla="*/ 4409440 w 5765800"/>
                  <a:gd name="connsiteY101" fmla="*/ 1790382 h 1917700"/>
                  <a:gd name="connsiteX102" fmla="*/ 4389120 w 5765800"/>
                  <a:gd name="connsiteY102" fmla="*/ 1785302 h 1917700"/>
                  <a:gd name="connsiteX103" fmla="*/ 4358640 w 5765800"/>
                  <a:gd name="connsiteY103" fmla="*/ 1785302 h 1917700"/>
                  <a:gd name="connsiteX104" fmla="*/ 3566160 w 5765800"/>
                  <a:gd name="connsiteY104" fmla="*/ 1668462 h 1917700"/>
                  <a:gd name="connsiteX105" fmla="*/ 3413760 w 5765800"/>
                  <a:gd name="connsiteY105" fmla="*/ 1648142 h 1917700"/>
                  <a:gd name="connsiteX106" fmla="*/ 2529840 w 5765800"/>
                  <a:gd name="connsiteY106" fmla="*/ 1485582 h 1917700"/>
                  <a:gd name="connsiteX107" fmla="*/ 1559560 w 5765800"/>
                  <a:gd name="connsiteY107" fmla="*/ 1424622 h 1917700"/>
                  <a:gd name="connsiteX108" fmla="*/ 1498600 w 5765800"/>
                  <a:gd name="connsiteY108" fmla="*/ 1419542 h 1917700"/>
                  <a:gd name="connsiteX109" fmla="*/ 858520 w 5765800"/>
                  <a:gd name="connsiteY109" fmla="*/ 1373822 h 1917700"/>
                  <a:gd name="connsiteX110" fmla="*/ 457200 w 5765800"/>
                  <a:gd name="connsiteY110" fmla="*/ 1353502 h 1917700"/>
                  <a:gd name="connsiteX111" fmla="*/ 167640 w 5765800"/>
                  <a:gd name="connsiteY111" fmla="*/ 1343342 h 1917700"/>
                  <a:gd name="connsiteX112" fmla="*/ 0 w 5765800"/>
                  <a:gd name="connsiteY112" fmla="*/ 1184672 h 1917700"/>
                  <a:gd name="connsiteX113" fmla="*/ 0 w 5765800"/>
                  <a:gd name="connsiteY113"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5534819 w 5765800"/>
                  <a:gd name="connsiteY98" fmla="*/ 1915319 h 1917700"/>
                  <a:gd name="connsiteX99" fmla="*/ 4455160 w 5765800"/>
                  <a:gd name="connsiteY99" fmla="*/ 1800542 h 1917700"/>
                  <a:gd name="connsiteX100" fmla="*/ 4409440 w 5765800"/>
                  <a:gd name="connsiteY100" fmla="*/ 1790382 h 1917700"/>
                  <a:gd name="connsiteX101" fmla="*/ 4389120 w 5765800"/>
                  <a:gd name="connsiteY101" fmla="*/ 1785302 h 1917700"/>
                  <a:gd name="connsiteX102" fmla="*/ 4358640 w 5765800"/>
                  <a:gd name="connsiteY102" fmla="*/ 1785302 h 1917700"/>
                  <a:gd name="connsiteX103" fmla="*/ 3566160 w 5765800"/>
                  <a:gd name="connsiteY103" fmla="*/ 1668462 h 1917700"/>
                  <a:gd name="connsiteX104" fmla="*/ 3413760 w 5765800"/>
                  <a:gd name="connsiteY104" fmla="*/ 1648142 h 1917700"/>
                  <a:gd name="connsiteX105" fmla="*/ 2529840 w 5765800"/>
                  <a:gd name="connsiteY105" fmla="*/ 1485582 h 1917700"/>
                  <a:gd name="connsiteX106" fmla="*/ 1559560 w 5765800"/>
                  <a:gd name="connsiteY106" fmla="*/ 1424622 h 1917700"/>
                  <a:gd name="connsiteX107" fmla="*/ 1498600 w 5765800"/>
                  <a:gd name="connsiteY107" fmla="*/ 1419542 h 1917700"/>
                  <a:gd name="connsiteX108" fmla="*/ 858520 w 5765800"/>
                  <a:gd name="connsiteY108" fmla="*/ 1373822 h 1917700"/>
                  <a:gd name="connsiteX109" fmla="*/ 457200 w 5765800"/>
                  <a:gd name="connsiteY109" fmla="*/ 1353502 h 1917700"/>
                  <a:gd name="connsiteX110" fmla="*/ 167640 w 5765800"/>
                  <a:gd name="connsiteY110" fmla="*/ 1343342 h 1917700"/>
                  <a:gd name="connsiteX111" fmla="*/ 0 w 5765800"/>
                  <a:gd name="connsiteY111" fmla="*/ 1184672 h 1917700"/>
                  <a:gd name="connsiteX112" fmla="*/ 0 w 5765800"/>
                  <a:gd name="connsiteY112"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5571331 w 5765800"/>
                  <a:gd name="connsiteY97" fmla="*/ 1916906 h 1917700"/>
                  <a:gd name="connsiteX98" fmla="*/ 4455160 w 5765800"/>
                  <a:gd name="connsiteY98" fmla="*/ 1800542 h 1917700"/>
                  <a:gd name="connsiteX99" fmla="*/ 4409440 w 5765800"/>
                  <a:gd name="connsiteY99" fmla="*/ 1790382 h 1917700"/>
                  <a:gd name="connsiteX100" fmla="*/ 4389120 w 5765800"/>
                  <a:gd name="connsiteY100" fmla="*/ 1785302 h 1917700"/>
                  <a:gd name="connsiteX101" fmla="*/ 4358640 w 5765800"/>
                  <a:gd name="connsiteY101" fmla="*/ 1785302 h 1917700"/>
                  <a:gd name="connsiteX102" fmla="*/ 3566160 w 5765800"/>
                  <a:gd name="connsiteY102" fmla="*/ 1668462 h 1917700"/>
                  <a:gd name="connsiteX103" fmla="*/ 3413760 w 5765800"/>
                  <a:gd name="connsiteY103" fmla="*/ 1648142 h 1917700"/>
                  <a:gd name="connsiteX104" fmla="*/ 2529840 w 5765800"/>
                  <a:gd name="connsiteY104" fmla="*/ 1485582 h 1917700"/>
                  <a:gd name="connsiteX105" fmla="*/ 1559560 w 5765800"/>
                  <a:gd name="connsiteY105" fmla="*/ 1424622 h 1917700"/>
                  <a:gd name="connsiteX106" fmla="*/ 1498600 w 5765800"/>
                  <a:gd name="connsiteY106" fmla="*/ 1419542 h 1917700"/>
                  <a:gd name="connsiteX107" fmla="*/ 858520 w 5765800"/>
                  <a:gd name="connsiteY107" fmla="*/ 1373822 h 1917700"/>
                  <a:gd name="connsiteX108" fmla="*/ 457200 w 5765800"/>
                  <a:gd name="connsiteY108" fmla="*/ 1353502 h 1917700"/>
                  <a:gd name="connsiteX109" fmla="*/ 167640 w 5765800"/>
                  <a:gd name="connsiteY109" fmla="*/ 1343342 h 1917700"/>
                  <a:gd name="connsiteX110" fmla="*/ 0 w 5765800"/>
                  <a:gd name="connsiteY110" fmla="*/ 1184672 h 1917700"/>
                  <a:gd name="connsiteX111" fmla="*/ 0 w 5765800"/>
                  <a:gd name="connsiteY111"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5606256 w 5765800"/>
                  <a:gd name="connsiteY96" fmla="*/ 1917700 h 1917700"/>
                  <a:gd name="connsiteX97" fmla="*/ 4455160 w 5765800"/>
                  <a:gd name="connsiteY97" fmla="*/ 1800542 h 1917700"/>
                  <a:gd name="connsiteX98" fmla="*/ 4409440 w 5765800"/>
                  <a:gd name="connsiteY98" fmla="*/ 1790382 h 1917700"/>
                  <a:gd name="connsiteX99" fmla="*/ 4389120 w 5765800"/>
                  <a:gd name="connsiteY99" fmla="*/ 1785302 h 1917700"/>
                  <a:gd name="connsiteX100" fmla="*/ 4358640 w 5765800"/>
                  <a:gd name="connsiteY100" fmla="*/ 1785302 h 1917700"/>
                  <a:gd name="connsiteX101" fmla="*/ 3566160 w 5765800"/>
                  <a:gd name="connsiteY101" fmla="*/ 1668462 h 1917700"/>
                  <a:gd name="connsiteX102" fmla="*/ 3413760 w 5765800"/>
                  <a:gd name="connsiteY102" fmla="*/ 1648142 h 1917700"/>
                  <a:gd name="connsiteX103" fmla="*/ 2529840 w 5765800"/>
                  <a:gd name="connsiteY103" fmla="*/ 1485582 h 1917700"/>
                  <a:gd name="connsiteX104" fmla="*/ 1559560 w 5765800"/>
                  <a:gd name="connsiteY104" fmla="*/ 1424622 h 1917700"/>
                  <a:gd name="connsiteX105" fmla="*/ 1498600 w 5765800"/>
                  <a:gd name="connsiteY105" fmla="*/ 1419542 h 1917700"/>
                  <a:gd name="connsiteX106" fmla="*/ 858520 w 5765800"/>
                  <a:gd name="connsiteY106" fmla="*/ 1373822 h 1917700"/>
                  <a:gd name="connsiteX107" fmla="*/ 457200 w 5765800"/>
                  <a:gd name="connsiteY107" fmla="*/ 1353502 h 1917700"/>
                  <a:gd name="connsiteX108" fmla="*/ 167640 w 5765800"/>
                  <a:gd name="connsiteY108" fmla="*/ 1343342 h 1917700"/>
                  <a:gd name="connsiteX109" fmla="*/ 0 w 5765800"/>
                  <a:gd name="connsiteY109" fmla="*/ 1184672 h 1917700"/>
                  <a:gd name="connsiteX110" fmla="*/ 0 w 5765800"/>
                  <a:gd name="connsiteY110" fmla="*/ 0 h 1917700"/>
                  <a:gd name="connsiteX0" fmla="*/ 0 w 5765800"/>
                  <a:gd name="connsiteY0" fmla="*/ 0 h 1917700"/>
                  <a:gd name="connsiteX1" fmla="*/ 2595960 w 5765800"/>
                  <a:gd name="connsiteY1" fmla="*/ 0 h 1917700"/>
                  <a:gd name="connsiteX2" fmla="*/ 2597547 w 5765800"/>
                  <a:gd name="connsiteY2" fmla="*/ 0 h 1917700"/>
                  <a:gd name="connsiteX3" fmla="*/ 2626519 w 5765800"/>
                  <a:gd name="connsiteY3" fmla="*/ 0 h 1917700"/>
                  <a:gd name="connsiteX4" fmla="*/ 2656285 w 5765800"/>
                  <a:gd name="connsiteY4" fmla="*/ 397 h 1917700"/>
                  <a:gd name="connsiteX5" fmla="*/ 2685256 w 5765800"/>
                  <a:gd name="connsiteY5" fmla="*/ 1191 h 1917700"/>
                  <a:gd name="connsiteX6" fmla="*/ 2715022 w 5765800"/>
                  <a:gd name="connsiteY6" fmla="*/ 2381 h 1917700"/>
                  <a:gd name="connsiteX7" fmla="*/ 2743994 w 5765800"/>
                  <a:gd name="connsiteY7" fmla="*/ 3572 h 1917700"/>
                  <a:gd name="connsiteX8" fmla="*/ 2773760 w 5765800"/>
                  <a:gd name="connsiteY8" fmla="*/ 5159 h 1917700"/>
                  <a:gd name="connsiteX9" fmla="*/ 2802731 w 5765800"/>
                  <a:gd name="connsiteY9" fmla="*/ 7541 h 1917700"/>
                  <a:gd name="connsiteX10" fmla="*/ 2832100 w 5765800"/>
                  <a:gd name="connsiteY10" fmla="*/ 9922 h 1917700"/>
                  <a:gd name="connsiteX11" fmla="*/ 2861072 w 5765800"/>
                  <a:gd name="connsiteY11" fmla="*/ 11906 h 1917700"/>
                  <a:gd name="connsiteX12" fmla="*/ 2890044 w 5765800"/>
                  <a:gd name="connsiteY12" fmla="*/ 15081 h 1917700"/>
                  <a:gd name="connsiteX13" fmla="*/ 2919413 w 5765800"/>
                  <a:gd name="connsiteY13" fmla="*/ 18256 h 1917700"/>
                  <a:gd name="connsiteX14" fmla="*/ 2948385 w 5765800"/>
                  <a:gd name="connsiteY14" fmla="*/ 21828 h 1917700"/>
                  <a:gd name="connsiteX15" fmla="*/ 2977356 w 5765800"/>
                  <a:gd name="connsiteY15" fmla="*/ 25400 h 1917700"/>
                  <a:gd name="connsiteX16" fmla="*/ 3005931 w 5765800"/>
                  <a:gd name="connsiteY16" fmla="*/ 29369 h 1917700"/>
                  <a:gd name="connsiteX17" fmla="*/ 3035300 w 5765800"/>
                  <a:gd name="connsiteY17" fmla="*/ 33734 h 1917700"/>
                  <a:gd name="connsiteX18" fmla="*/ 3063875 w 5765800"/>
                  <a:gd name="connsiteY18" fmla="*/ 38100 h 1917700"/>
                  <a:gd name="connsiteX19" fmla="*/ 3092450 w 5765800"/>
                  <a:gd name="connsiteY19" fmla="*/ 42863 h 1917700"/>
                  <a:gd name="connsiteX20" fmla="*/ 3121025 w 5765800"/>
                  <a:gd name="connsiteY20" fmla="*/ 48419 h 1917700"/>
                  <a:gd name="connsiteX21" fmla="*/ 3149600 w 5765800"/>
                  <a:gd name="connsiteY21" fmla="*/ 53578 h 1917700"/>
                  <a:gd name="connsiteX22" fmla="*/ 3178175 w 5765800"/>
                  <a:gd name="connsiteY22" fmla="*/ 59134 h 1917700"/>
                  <a:gd name="connsiteX23" fmla="*/ 3206750 w 5765800"/>
                  <a:gd name="connsiteY23" fmla="*/ 65088 h 1917700"/>
                  <a:gd name="connsiteX24" fmla="*/ 3234531 w 5765800"/>
                  <a:gd name="connsiteY24" fmla="*/ 71834 h 1917700"/>
                  <a:gd name="connsiteX25" fmla="*/ 3262710 w 5765800"/>
                  <a:gd name="connsiteY25" fmla="*/ 77788 h 1917700"/>
                  <a:gd name="connsiteX26" fmla="*/ 3290888 w 5765800"/>
                  <a:gd name="connsiteY26" fmla="*/ 84931 h 1917700"/>
                  <a:gd name="connsiteX27" fmla="*/ 3319066 w 5765800"/>
                  <a:gd name="connsiteY27" fmla="*/ 92075 h 1917700"/>
                  <a:gd name="connsiteX28" fmla="*/ 3346847 w 5765800"/>
                  <a:gd name="connsiteY28" fmla="*/ 99219 h 1917700"/>
                  <a:gd name="connsiteX29" fmla="*/ 3374628 w 5765800"/>
                  <a:gd name="connsiteY29" fmla="*/ 107156 h 1917700"/>
                  <a:gd name="connsiteX30" fmla="*/ 3402013 w 5765800"/>
                  <a:gd name="connsiteY30" fmla="*/ 115094 h 1917700"/>
                  <a:gd name="connsiteX31" fmla="*/ 3429794 w 5765800"/>
                  <a:gd name="connsiteY31" fmla="*/ 123031 h 1917700"/>
                  <a:gd name="connsiteX32" fmla="*/ 3457178 w 5765800"/>
                  <a:gd name="connsiteY32" fmla="*/ 131366 h 1917700"/>
                  <a:gd name="connsiteX33" fmla="*/ 3484563 w 5765800"/>
                  <a:gd name="connsiteY33" fmla="*/ 140097 h 1917700"/>
                  <a:gd name="connsiteX34" fmla="*/ 3511550 w 5765800"/>
                  <a:gd name="connsiteY34" fmla="*/ 149225 h 1917700"/>
                  <a:gd name="connsiteX35" fmla="*/ 3538935 w 5765800"/>
                  <a:gd name="connsiteY35" fmla="*/ 158353 h 1917700"/>
                  <a:gd name="connsiteX36" fmla="*/ 3565922 w 5765800"/>
                  <a:gd name="connsiteY36" fmla="*/ 167481 h 1917700"/>
                  <a:gd name="connsiteX37" fmla="*/ 3592116 w 5765800"/>
                  <a:gd name="connsiteY37" fmla="*/ 177800 h 1917700"/>
                  <a:gd name="connsiteX38" fmla="*/ 3618706 w 5765800"/>
                  <a:gd name="connsiteY38" fmla="*/ 187722 h 1917700"/>
                  <a:gd name="connsiteX39" fmla="*/ 3645297 w 5765800"/>
                  <a:gd name="connsiteY39" fmla="*/ 198041 h 1917700"/>
                  <a:gd name="connsiteX40" fmla="*/ 3671888 w 5765800"/>
                  <a:gd name="connsiteY40" fmla="*/ 208359 h 1917700"/>
                  <a:gd name="connsiteX41" fmla="*/ 3697685 w 5765800"/>
                  <a:gd name="connsiteY41" fmla="*/ 219472 h 1917700"/>
                  <a:gd name="connsiteX42" fmla="*/ 3724275 w 5765800"/>
                  <a:gd name="connsiteY42" fmla="*/ 230584 h 1917700"/>
                  <a:gd name="connsiteX43" fmla="*/ 3749675 w 5765800"/>
                  <a:gd name="connsiteY43" fmla="*/ 241300 h 1917700"/>
                  <a:gd name="connsiteX44" fmla="*/ 3775869 w 5765800"/>
                  <a:gd name="connsiteY44" fmla="*/ 253603 h 1917700"/>
                  <a:gd name="connsiteX45" fmla="*/ 3801269 w 5765800"/>
                  <a:gd name="connsiteY45" fmla="*/ 264716 h 1917700"/>
                  <a:gd name="connsiteX46" fmla="*/ 3826669 w 5765800"/>
                  <a:gd name="connsiteY46" fmla="*/ 277416 h 1917700"/>
                  <a:gd name="connsiteX47" fmla="*/ 3851672 w 5765800"/>
                  <a:gd name="connsiteY47" fmla="*/ 289719 h 1917700"/>
                  <a:gd name="connsiteX48" fmla="*/ 3876675 w 5765800"/>
                  <a:gd name="connsiteY48" fmla="*/ 302022 h 1917700"/>
                  <a:gd name="connsiteX49" fmla="*/ 3901678 w 5765800"/>
                  <a:gd name="connsiteY49" fmla="*/ 314722 h 1917700"/>
                  <a:gd name="connsiteX50" fmla="*/ 3926285 w 5765800"/>
                  <a:gd name="connsiteY50" fmla="*/ 328216 h 1917700"/>
                  <a:gd name="connsiteX51" fmla="*/ 3950891 w 5765800"/>
                  <a:gd name="connsiteY51" fmla="*/ 341313 h 1917700"/>
                  <a:gd name="connsiteX52" fmla="*/ 3974703 w 5765800"/>
                  <a:gd name="connsiteY52" fmla="*/ 354806 h 1917700"/>
                  <a:gd name="connsiteX53" fmla="*/ 3999310 w 5765800"/>
                  <a:gd name="connsiteY53" fmla="*/ 368697 h 1917700"/>
                  <a:gd name="connsiteX54" fmla="*/ 4023122 w 5765800"/>
                  <a:gd name="connsiteY54" fmla="*/ 382588 h 1917700"/>
                  <a:gd name="connsiteX55" fmla="*/ 4046538 w 5765800"/>
                  <a:gd name="connsiteY55" fmla="*/ 397272 h 1917700"/>
                  <a:gd name="connsiteX56" fmla="*/ 4069953 w 5765800"/>
                  <a:gd name="connsiteY56" fmla="*/ 411559 h 1917700"/>
                  <a:gd name="connsiteX57" fmla="*/ 4093369 w 5765800"/>
                  <a:gd name="connsiteY57" fmla="*/ 426244 h 1917700"/>
                  <a:gd name="connsiteX58" fmla="*/ 4115991 w 5765800"/>
                  <a:gd name="connsiteY58" fmla="*/ 441325 h 1917700"/>
                  <a:gd name="connsiteX59" fmla="*/ 4139010 w 5765800"/>
                  <a:gd name="connsiteY59" fmla="*/ 456406 h 1917700"/>
                  <a:gd name="connsiteX60" fmla="*/ 4162028 w 5765800"/>
                  <a:gd name="connsiteY60" fmla="*/ 471884 h 1917700"/>
                  <a:gd name="connsiteX61" fmla="*/ 4184253 w 5765800"/>
                  <a:gd name="connsiteY61" fmla="*/ 487759 h 1917700"/>
                  <a:gd name="connsiteX62" fmla="*/ 4206478 w 5765800"/>
                  <a:gd name="connsiteY62" fmla="*/ 503634 h 1917700"/>
                  <a:gd name="connsiteX63" fmla="*/ 4228306 w 5765800"/>
                  <a:gd name="connsiteY63" fmla="*/ 519509 h 1917700"/>
                  <a:gd name="connsiteX64" fmla="*/ 4250135 w 5765800"/>
                  <a:gd name="connsiteY64" fmla="*/ 536575 h 1917700"/>
                  <a:gd name="connsiteX65" fmla="*/ 4271566 w 5765800"/>
                  <a:gd name="connsiteY65" fmla="*/ 552847 h 1917700"/>
                  <a:gd name="connsiteX66" fmla="*/ 4292997 w 5765800"/>
                  <a:gd name="connsiteY66" fmla="*/ 569516 h 1917700"/>
                  <a:gd name="connsiteX67" fmla="*/ 4519613 w 5765800"/>
                  <a:gd name="connsiteY67" fmla="*/ 752475 h 1917700"/>
                  <a:gd name="connsiteX68" fmla="*/ 4624388 w 5765800"/>
                  <a:gd name="connsiteY68" fmla="*/ 837406 h 1917700"/>
                  <a:gd name="connsiteX69" fmla="*/ 4724400 w 5765800"/>
                  <a:gd name="connsiteY69" fmla="*/ 919956 h 1917700"/>
                  <a:gd name="connsiteX70" fmla="*/ 4820444 w 5765800"/>
                  <a:gd name="connsiteY70" fmla="*/ 999331 h 1917700"/>
                  <a:gd name="connsiteX71" fmla="*/ 4912916 w 5765800"/>
                  <a:gd name="connsiteY71" fmla="*/ 1077119 h 1917700"/>
                  <a:gd name="connsiteX72" fmla="*/ 4957366 w 5765800"/>
                  <a:gd name="connsiteY72" fmla="*/ 1115616 h 1917700"/>
                  <a:gd name="connsiteX73" fmla="*/ 5001816 w 5765800"/>
                  <a:gd name="connsiteY73" fmla="*/ 1153716 h 1917700"/>
                  <a:gd name="connsiteX74" fmla="*/ 5045472 w 5765800"/>
                  <a:gd name="connsiteY74" fmla="*/ 1192213 h 1917700"/>
                  <a:gd name="connsiteX75" fmla="*/ 5088335 w 5765800"/>
                  <a:gd name="connsiteY75" fmla="*/ 1230313 h 1917700"/>
                  <a:gd name="connsiteX76" fmla="*/ 5131197 w 5765800"/>
                  <a:gd name="connsiteY76" fmla="*/ 1268810 h 1917700"/>
                  <a:gd name="connsiteX77" fmla="*/ 5173663 w 5765800"/>
                  <a:gd name="connsiteY77" fmla="*/ 1307306 h 1917700"/>
                  <a:gd name="connsiteX78" fmla="*/ 5215731 w 5765800"/>
                  <a:gd name="connsiteY78" fmla="*/ 1345803 h 1917700"/>
                  <a:gd name="connsiteX79" fmla="*/ 5257403 w 5765800"/>
                  <a:gd name="connsiteY79" fmla="*/ 1385094 h 1917700"/>
                  <a:gd name="connsiteX80" fmla="*/ 5299075 w 5765800"/>
                  <a:gd name="connsiteY80" fmla="*/ 1424385 h 1917700"/>
                  <a:gd name="connsiteX81" fmla="*/ 5340747 w 5765800"/>
                  <a:gd name="connsiteY81" fmla="*/ 1464072 h 1917700"/>
                  <a:gd name="connsiteX82" fmla="*/ 5381625 w 5765800"/>
                  <a:gd name="connsiteY82" fmla="*/ 1504950 h 1917700"/>
                  <a:gd name="connsiteX83" fmla="*/ 5423297 w 5765800"/>
                  <a:gd name="connsiteY83" fmla="*/ 1546225 h 1917700"/>
                  <a:gd name="connsiteX84" fmla="*/ 5464969 w 5765800"/>
                  <a:gd name="connsiteY84" fmla="*/ 1588294 h 1917700"/>
                  <a:gd name="connsiteX85" fmla="*/ 5507038 w 5765800"/>
                  <a:gd name="connsiteY85" fmla="*/ 1631156 h 1917700"/>
                  <a:gd name="connsiteX86" fmla="*/ 5549106 w 5765800"/>
                  <a:gd name="connsiteY86" fmla="*/ 1675606 h 1917700"/>
                  <a:gd name="connsiteX87" fmla="*/ 5591175 w 5765800"/>
                  <a:gd name="connsiteY87" fmla="*/ 1720453 h 1917700"/>
                  <a:gd name="connsiteX88" fmla="*/ 5634038 w 5765800"/>
                  <a:gd name="connsiteY88" fmla="*/ 1766491 h 1917700"/>
                  <a:gd name="connsiteX89" fmla="*/ 5677297 w 5765800"/>
                  <a:gd name="connsiteY89" fmla="*/ 1813719 h 1917700"/>
                  <a:gd name="connsiteX90" fmla="*/ 5721350 w 5765800"/>
                  <a:gd name="connsiteY90" fmla="*/ 1862931 h 1917700"/>
                  <a:gd name="connsiteX91" fmla="*/ 5765800 w 5765800"/>
                  <a:gd name="connsiteY91" fmla="*/ 1912938 h 1917700"/>
                  <a:gd name="connsiteX92" fmla="*/ 5735638 w 5765800"/>
                  <a:gd name="connsiteY92" fmla="*/ 1914525 h 1917700"/>
                  <a:gd name="connsiteX93" fmla="*/ 5705078 w 5765800"/>
                  <a:gd name="connsiteY93" fmla="*/ 1916510 h 1917700"/>
                  <a:gd name="connsiteX94" fmla="*/ 5673328 w 5765800"/>
                  <a:gd name="connsiteY94" fmla="*/ 1917303 h 1917700"/>
                  <a:gd name="connsiteX95" fmla="*/ 5640388 w 5765800"/>
                  <a:gd name="connsiteY95" fmla="*/ 1917700 h 1917700"/>
                  <a:gd name="connsiteX96" fmla="*/ 4455160 w 5765800"/>
                  <a:gd name="connsiteY96" fmla="*/ 1800542 h 1917700"/>
                  <a:gd name="connsiteX97" fmla="*/ 4409440 w 5765800"/>
                  <a:gd name="connsiteY97" fmla="*/ 1790382 h 1917700"/>
                  <a:gd name="connsiteX98" fmla="*/ 4389120 w 5765800"/>
                  <a:gd name="connsiteY98" fmla="*/ 1785302 h 1917700"/>
                  <a:gd name="connsiteX99" fmla="*/ 4358640 w 5765800"/>
                  <a:gd name="connsiteY99" fmla="*/ 1785302 h 1917700"/>
                  <a:gd name="connsiteX100" fmla="*/ 3566160 w 5765800"/>
                  <a:gd name="connsiteY100" fmla="*/ 1668462 h 1917700"/>
                  <a:gd name="connsiteX101" fmla="*/ 3413760 w 5765800"/>
                  <a:gd name="connsiteY101" fmla="*/ 1648142 h 1917700"/>
                  <a:gd name="connsiteX102" fmla="*/ 2529840 w 5765800"/>
                  <a:gd name="connsiteY102" fmla="*/ 1485582 h 1917700"/>
                  <a:gd name="connsiteX103" fmla="*/ 1559560 w 5765800"/>
                  <a:gd name="connsiteY103" fmla="*/ 1424622 h 1917700"/>
                  <a:gd name="connsiteX104" fmla="*/ 1498600 w 5765800"/>
                  <a:gd name="connsiteY104" fmla="*/ 1419542 h 1917700"/>
                  <a:gd name="connsiteX105" fmla="*/ 858520 w 5765800"/>
                  <a:gd name="connsiteY105" fmla="*/ 1373822 h 1917700"/>
                  <a:gd name="connsiteX106" fmla="*/ 457200 w 5765800"/>
                  <a:gd name="connsiteY106" fmla="*/ 1353502 h 1917700"/>
                  <a:gd name="connsiteX107" fmla="*/ 167640 w 5765800"/>
                  <a:gd name="connsiteY107" fmla="*/ 1343342 h 1917700"/>
                  <a:gd name="connsiteX108" fmla="*/ 0 w 5765800"/>
                  <a:gd name="connsiteY108" fmla="*/ 1184672 h 1917700"/>
                  <a:gd name="connsiteX109" fmla="*/ 0 w 5765800"/>
                  <a:gd name="connsiteY109" fmla="*/ 0 h 1917700"/>
                  <a:gd name="connsiteX0" fmla="*/ 0 w 5765800"/>
                  <a:gd name="connsiteY0" fmla="*/ 0 h 1943100"/>
                  <a:gd name="connsiteX1" fmla="*/ 2595960 w 5765800"/>
                  <a:gd name="connsiteY1" fmla="*/ 0 h 1943100"/>
                  <a:gd name="connsiteX2" fmla="*/ 2597547 w 5765800"/>
                  <a:gd name="connsiteY2" fmla="*/ 0 h 1943100"/>
                  <a:gd name="connsiteX3" fmla="*/ 2626519 w 5765800"/>
                  <a:gd name="connsiteY3" fmla="*/ 0 h 1943100"/>
                  <a:gd name="connsiteX4" fmla="*/ 2656285 w 5765800"/>
                  <a:gd name="connsiteY4" fmla="*/ 397 h 1943100"/>
                  <a:gd name="connsiteX5" fmla="*/ 2685256 w 5765800"/>
                  <a:gd name="connsiteY5" fmla="*/ 1191 h 1943100"/>
                  <a:gd name="connsiteX6" fmla="*/ 2715022 w 5765800"/>
                  <a:gd name="connsiteY6" fmla="*/ 2381 h 1943100"/>
                  <a:gd name="connsiteX7" fmla="*/ 2743994 w 5765800"/>
                  <a:gd name="connsiteY7" fmla="*/ 3572 h 1943100"/>
                  <a:gd name="connsiteX8" fmla="*/ 2773760 w 5765800"/>
                  <a:gd name="connsiteY8" fmla="*/ 5159 h 1943100"/>
                  <a:gd name="connsiteX9" fmla="*/ 2802731 w 5765800"/>
                  <a:gd name="connsiteY9" fmla="*/ 7541 h 1943100"/>
                  <a:gd name="connsiteX10" fmla="*/ 2832100 w 5765800"/>
                  <a:gd name="connsiteY10" fmla="*/ 9922 h 1943100"/>
                  <a:gd name="connsiteX11" fmla="*/ 2861072 w 5765800"/>
                  <a:gd name="connsiteY11" fmla="*/ 11906 h 1943100"/>
                  <a:gd name="connsiteX12" fmla="*/ 2890044 w 5765800"/>
                  <a:gd name="connsiteY12" fmla="*/ 15081 h 1943100"/>
                  <a:gd name="connsiteX13" fmla="*/ 2919413 w 5765800"/>
                  <a:gd name="connsiteY13" fmla="*/ 18256 h 1943100"/>
                  <a:gd name="connsiteX14" fmla="*/ 2948385 w 5765800"/>
                  <a:gd name="connsiteY14" fmla="*/ 21828 h 1943100"/>
                  <a:gd name="connsiteX15" fmla="*/ 2977356 w 5765800"/>
                  <a:gd name="connsiteY15" fmla="*/ 25400 h 1943100"/>
                  <a:gd name="connsiteX16" fmla="*/ 3005931 w 5765800"/>
                  <a:gd name="connsiteY16" fmla="*/ 29369 h 1943100"/>
                  <a:gd name="connsiteX17" fmla="*/ 3035300 w 5765800"/>
                  <a:gd name="connsiteY17" fmla="*/ 33734 h 1943100"/>
                  <a:gd name="connsiteX18" fmla="*/ 3063875 w 5765800"/>
                  <a:gd name="connsiteY18" fmla="*/ 38100 h 1943100"/>
                  <a:gd name="connsiteX19" fmla="*/ 3092450 w 5765800"/>
                  <a:gd name="connsiteY19" fmla="*/ 42863 h 1943100"/>
                  <a:gd name="connsiteX20" fmla="*/ 3121025 w 5765800"/>
                  <a:gd name="connsiteY20" fmla="*/ 48419 h 1943100"/>
                  <a:gd name="connsiteX21" fmla="*/ 3149600 w 5765800"/>
                  <a:gd name="connsiteY21" fmla="*/ 53578 h 1943100"/>
                  <a:gd name="connsiteX22" fmla="*/ 3178175 w 5765800"/>
                  <a:gd name="connsiteY22" fmla="*/ 59134 h 1943100"/>
                  <a:gd name="connsiteX23" fmla="*/ 3206750 w 5765800"/>
                  <a:gd name="connsiteY23" fmla="*/ 65088 h 1943100"/>
                  <a:gd name="connsiteX24" fmla="*/ 3234531 w 5765800"/>
                  <a:gd name="connsiteY24" fmla="*/ 71834 h 1943100"/>
                  <a:gd name="connsiteX25" fmla="*/ 3262710 w 5765800"/>
                  <a:gd name="connsiteY25" fmla="*/ 77788 h 1943100"/>
                  <a:gd name="connsiteX26" fmla="*/ 3290888 w 5765800"/>
                  <a:gd name="connsiteY26" fmla="*/ 84931 h 1943100"/>
                  <a:gd name="connsiteX27" fmla="*/ 3319066 w 5765800"/>
                  <a:gd name="connsiteY27" fmla="*/ 92075 h 1943100"/>
                  <a:gd name="connsiteX28" fmla="*/ 3346847 w 5765800"/>
                  <a:gd name="connsiteY28" fmla="*/ 99219 h 1943100"/>
                  <a:gd name="connsiteX29" fmla="*/ 3374628 w 5765800"/>
                  <a:gd name="connsiteY29" fmla="*/ 107156 h 1943100"/>
                  <a:gd name="connsiteX30" fmla="*/ 3402013 w 5765800"/>
                  <a:gd name="connsiteY30" fmla="*/ 115094 h 1943100"/>
                  <a:gd name="connsiteX31" fmla="*/ 3429794 w 5765800"/>
                  <a:gd name="connsiteY31" fmla="*/ 123031 h 1943100"/>
                  <a:gd name="connsiteX32" fmla="*/ 3457178 w 5765800"/>
                  <a:gd name="connsiteY32" fmla="*/ 131366 h 1943100"/>
                  <a:gd name="connsiteX33" fmla="*/ 3484563 w 5765800"/>
                  <a:gd name="connsiteY33" fmla="*/ 140097 h 1943100"/>
                  <a:gd name="connsiteX34" fmla="*/ 3511550 w 5765800"/>
                  <a:gd name="connsiteY34" fmla="*/ 149225 h 1943100"/>
                  <a:gd name="connsiteX35" fmla="*/ 3538935 w 5765800"/>
                  <a:gd name="connsiteY35" fmla="*/ 158353 h 1943100"/>
                  <a:gd name="connsiteX36" fmla="*/ 3565922 w 5765800"/>
                  <a:gd name="connsiteY36" fmla="*/ 167481 h 1943100"/>
                  <a:gd name="connsiteX37" fmla="*/ 3592116 w 5765800"/>
                  <a:gd name="connsiteY37" fmla="*/ 177800 h 1943100"/>
                  <a:gd name="connsiteX38" fmla="*/ 3618706 w 5765800"/>
                  <a:gd name="connsiteY38" fmla="*/ 187722 h 1943100"/>
                  <a:gd name="connsiteX39" fmla="*/ 3645297 w 5765800"/>
                  <a:gd name="connsiteY39" fmla="*/ 198041 h 1943100"/>
                  <a:gd name="connsiteX40" fmla="*/ 3671888 w 5765800"/>
                  <a:gd name="connsiteY40" fmla="*/ 208359 h 1943100"/>
                  <a:gd name="connsiteX41" fmla="*/ 3697685 w 5765800"/>
                  <a:gd name="connsiteY41" fmla="*/ 219472 h 1943100"/>
                  <a:gd name="connsiteX42" fmla="*/ 3724275 w 5765800"/>
                  <a:gd name="connsiteY42" fmla="*/ 230584 h 1943100"/>
                  <a:gd name="connsiteX43" fmla="*/ 3749675 w 5765800"/>
                  <a:gd name="connsiteY43" fmla="*/ 241300 h 1943100"/>
                  <a:gd name="connsiteX44" fmla="*/ 3775869 w 5765800"/>
                  <a:gd name="connsiteY44" fmla="*/ 253603 h 1943100"/>
                  <a:gd name="connsiteX45" fmla="*/ 3801269 w 5765800"/>
                  <a:gd name="connsiteY45" fmla="*/ 264716 h 1943100"/>
                  <a:gd name="connsiteX46" fmla="*/ 3826669 w 5765800"/>
                  <a:gd name="connsiteY46" fmla="*/ 277416 h 1943100"/>
                  <a:gd name="connsiteX47" fmla="*/ 3851672 w 5765800"/>
                  <a:gd name="connsiteY47" fmla="*/ 289719 h 1943100"/>
                  <a:gd name="connsiteX48" fmla="*/ 3876675 w 5765800"/>
                  <a:gd name="connsiteY48" fmla="*/ 302022 h 1943100"/>
                  <a:gd name="connsiteX49" fmla="*/ 3901678 w 5765800"/>
                  <a:gd name="connsiteY49" fmla="*/ 314722 h 1943100"/>
                  <a:gd name="connsiteX50" fmla="*/ 3926285 w 5765800"/>
                  <a:gd name="connsiteY50" fmla="*/ 328216 h 1943100"/>
                  <a:gd name="connsiteX51" fmla="*/ 3950891 w 5765800"/>
                  <a:gd name="connsiteY51" fmla="*/ 341313 h 1943100"/>
                  <a:gd name="connsiteX52" fmla="*/ 3974703 w 5765800"/>
                  <a:gd name="connsiteY52" fmla="*/ 354806 h 1943100"/>
                  <a:gd name="connsiteX53" fmla="*/ 3999310 w 5765800"/>
                  <a:gd name="connsiteY53" fmla="*/ 368697 h 1943100"/>
                  <a:gd name="connsiteX54" fmla="*/ 4023122 w 5765800"/>
                  <a:gd name="connsiteY54" fmla="*/ 382588 h 1943100"/>
                  <a:gd name="connsiteX55" fmla="*/ 4046538 w 5765800"/>
                  <a:gd name="connsiteY55" fmla="*/ 397272 h 1943100"/>
                  <a:gd name="connsiteX56" fmla="*/ 4069953 w 5765800"/>
                  <a:gd name="connsiteY56" fmla="*/ 411559 h 1943100"/>
                  <a:gd name="connsiteX57" fmla="*/ 4093369 w 5765800"/>
                  <a:gd name="connsiteY57" fmla="*/ 426244 h 1943100"/>
                  <a:gd name="connsiteX58" fmla="*/ 4115991 w 5765800"/>
                  <a:gd name="connsiteY58" fmla="*/ 441325 h 1943100"/>
                  <a:gd name="connsiteX59" fmla="*/ 4139010 w 5765800"/>
                  <a:gd name="connsiteY59" fmla="*/ 456406 h 1943100"/>
                  <a:gd name="connsiteX60" fmla="*/ 4162028 w 5765800"/>
                  <a:gd name="connsiteY60" fmla="*/ 471884 h 1943100"/>
                  <a:gd name="connsiteX61" fmla="*/ 4184253 w 5765800"/>
                  <a:gd name="connsiteY61" fmla="*/ 487759 h 1943100"/>
                  <a:gd name="connsiteX62" fmla="*/ 4206478 w 5765800"/>
                  <a:gd name="connsiteY62" fmla="*/ 503634 h 1943100"/>
                  <a:gd name="connsiteX63" fmla="*/ 4228306 w 5765800"/>
                  <a:gd name="connsiteY63" fmla="*/ 519509 h 1943100"/>
                  <a:gd name="connsiteX64" fmla="*/ 4250135 w 5765800"/>
                  <a:gd name="connsiteY64" fmla="*/ 536575 h 1943100"/>
                  <a:gd name="connsiteX65" fmla="*/ 4271566 w 5765800"/>
                  <a:gd name="connsiteY65" fmla="*/ 552847 h 1943100"/>
                  <a:gd name="connsiteX66" fmla="*/ 4292997 w 5765800"/>
                  <a:gd name="connsiteY66" fmla="*/ 569516 h 1943100"/>
                  <a:gd name="connsiteX67" fmla="*/ 4519613 w 5765800"/>
                  <a:gd name="connsiteY67" fmla="*/ 752475 h 1943100"/>
                  <a:gd name="connsiteX68" fmla="*/ 4624388 w 5765800"/>
                  <a:gd name="connsiteY68" fmla="*/ 837406 h 1943100"/>
                  <a:gd name="connsiteX69" fmla="*/ 4724400 w 5765800"/>
                  <a:gd name="connsiteY69" fmla="*/ 919956 h 1943100"/>
                  <a:gd name="connsiteX70" fmla="*/ 4820444 w 5765800"/>
                  <a:gd name="connsiteY70" fmla="*/ 999331 h 1943100"/>
                  <a:gd name="connsiteX71" fmla="*/ 4912916 w 5765800"/>
                  <a:gd name="connsiteY71" fmla="*/ 1077119 h 1943100"/>
                  <a:gd name="connsiteX72" fmla="*/ 4957366 w 5765800"/>
                  <a:gd name="connsiteY72" fmla="*/ 1115616 h 1943100"/>
                  <a:gd name="connsiteX73" fmla="*/ 5001816 w 5765800"/>
                  <a:gd name="connsiteY73" fmla="*/ 1153716 h 1943100"/>
                  <a:gd name="connsiteX74" fmla="*/ 5045472 w 5765800"/>
                  <a:gd name="connsiteY74" fmla="*/ 1192213 h 1943100"/>
                  <a:gd name="connsiteX75" fmla="*/ 5088335 w 5765800"/>
                  <a:gd name="connsiteY75" fmla="*/ 1230313 h 1943100"/>
                  <a:gd name="connsiteX76" fmla="*/ 5131197 w 5765800"/>
                  <a:gd name="connsiteY76" fmla="*/ 1268810 h 1943100"/>
                  <a:gd name="connsiteX77" fmla="*/ 5173663 w 5765800"/>
                  <a:gd name="connsiteY77" fmla="*/ 1307306 h 1943100"/>
                  <a:gd name="connsiteX78" fmla="*/ 5215731 w 5765800"/>
                  <a:gd name="connsiteY78" fmla="*/ 1345803 h 1943100"/>
                  <a:gd name="connsiteX79" fmla="*/ 5257403 w 5765800"/>
                  <a:gd name="connsiteY79" fmla="*/ 1385094 h 1943100"/>
                  <a:gd name="connsiteX80" fmla="*/ 5299075 w 5765800"/>
                  <a:gd name="connsiteY80" fmla="*/ 1424385 h 1943100"/>
                  <a:gd name="connsiteX81" fmla="*/ 5340747 w 5765800"/>
                  <a:gd name="connsiteY81" fmla="*/ 1464072 h 1943100"/>
                  <a:gd name="connsiteX82" fmla="*/ 5381625 w 5765800"/>
                  <a:gd name="connsiteY82" fmla="*/ 1504950 h 1943100"/>
                  <a:gd name="connsiteX83" fmla="*/ 5423297 w 5765800"/>
                  <a:gd name="connsiteY83" fmla="*/ 1546225 h 1943100"/>
                  <a:gd name="connsiteX84" fmla="*/ 5464969 w 5765800"/>
                  <a:gd name="connsiteY84" fmla="*/ 1588294 h 1943100"/>
                  <a:gd name="connsiteX85" fmla="*/ 5507038 w 5765800"/>
                  <a:gd name="connsiteY85" fmla="*/ 1631156 h 1943100"/>
                  <a:gd name="connsiteX86" fmla="*/ 5549106 w 5765800"/>
                  <a:gd name="connsiteY86" fmla="*/ 1675606 h 1943100"/>
                  <a:gd name="connsiteX87" fmla="*/ 5591175 w 5765800"/>
                  <a:gd name="connsiteY87" fmla="*/ 1720453 h 1943100"/>
                  <a:gd name="connsiteX88" fmla="*/ 5634038 w 5765800"/>
                  <a:gd name="connsiteY88" fmla="*/ 1766491 h 1943100"/>
                  <a:gd name="connsiteX89" fmla="*/ 5677297 w 5765800"/>
                  <a:gd name="connsiteY89" fmla="*/ 1813719 h 1943100"/>
                  <a:gd name="connsiteX90" fmla="*/ 5721350 w 5765800"/>
                  <a:gd name="connsiteY90" fmla="*/ 1862931 h 1943100"/>
                  <a:gd name="connsiteX91" fmla="*/ 5765800 w 5765800"/>
                  <a:gd name="connsiteY91" fmla="*/ 1912938 h 1943100"/>
                  <a:gd name="connsiteX92" fmla="*/ 5735638 w 5765800"/>
                  <a:gd name="connsiteY92" fmla="*/ 1914525 h 1943100"/>
                  <a:gd name="connsiteX93" fmla="*/ 5705078 w 5765800"/>
                  <a:gd name="connsiteY93" fmla="*/ 1916510 h 1943100"/>
                  <a:gd name="connsiteX94" fmla="*/ 5673328 w 5765800"/>
                  <a:gd name="connsiteY94" fmla="*/ 1917303 h 1943100"/>
                  <a:gd name="connsiteX95" fmla="*/ 5640388 w 5765800"/>
                  <a:gd name="connsiteY95" fmla="*/ 1943100 h 1943100"/>
                  <a:gd name="connsiteX96" fmla="*/ 4455160 w 5765800"/>
                  <a:gd name="connsiteY96" fmla="*/ 1800542 h 1943100"/>
                  <a:gd name="connsiteX97" fmla="*/ 4409440 w 5765800"/>
                  <a:gd name="connsiteY97" fmla="*/ 1790382 h 1943100"/>
                  <a:gd name="connsiteX98" fmla="*/ 4389120 w 5765800"/>
                  <a:gd name="connsiteY98" fmla="*/ 1785302 h 1943100"/>
                  <a:gd name="connsiteX99" fmla="*/ 4358640 w 5765800"/>
                  <a:gd name="connsiteY99" fmla="*/ 1785302 h 1943100"/>
                  <a:gd name="connsiteX100" fmla="*/ 3566160 w 5765800"/>
                  <a:gd name="connsiteY100" fmla="*/ 1668462 h 1943100"/>
                  <a:gd name="connsiteX101" fmla="*/ 3413760 w 5765800"/>
                  <a:gd name="connsiteY101" fmla="*/ 1648142 h 1943100"/>
                  <a:gd name="connsiteX102" fmla="*/ 2529840 w 5765800"/>
                  <a:gd name="connsiteY102" fmla="*/ 1485582 h 1943100"/>
                  <a:gd name="connsiteX103" fmla="*/ 1559560 w 5765800"/>
                  <a:gd name="connsiteY103" fmla="*/ 1424622 h 1943100"/>
                  <a:gd name="connsiteX104" fmla="*/ 1498600 w 5765800"/>
                  <a:gd name="connsiteY104" fmla="*/ 1419542 h 1943100"/>
                  <a:gd name="connsiteX105" fmla="*/ 858520 w 5765800"/>
                  <a:gd name="connsiteY105" fmla="*/ 1373822 h 1943100"/>
                  <a:gd name="connsiteX106" fmla="*/ 457200 w 5765800"/>
                  <a:gd name="connsiteY106" fmla="*/ 1353502 h 1943100"/>
                  <a:gd name="connsiteX107" fmla="*/ 167640 w 5765800"/>
                  <a:gd name="connsiteY107" fmla="*/ 1343342 h 1943100"/>
                  <a:gd name="connsiteX108" fmla="*/ 0 w 5765800"/>
                  <a:gd name="connsiteY108" fmla="*/ 1184672 h 1943100"/>
                  <a:gd name="connsiteX109" fmla="*/ 0 w 5765800"/>
                  <a:gd name="connsiteY109" fmla="*/ 0 h 1943100"/>
                  <a:gd name="connsiteX0" fmla="*/ 0 w 5765800"/>
                  <a:gd name="connsiteY0" fmla="*/ 0 h 1917303"/>
                  <a:gd name="connsiteX1" fmla="*/ 2595960 w 5765800"/>
                  <a:gd name="connsiteY1" fmla="*/ 0 h 1917303"/>
                  <a:gd name="connsiteX2" fmla="*/ 2597547 w 5765800"/>
                  <a:gd name="connsiteY2" fmla="*/ 0 h 1917303"/>
                  <a:gd name="connsiteX3" fmla="*/ 2626519 w 5765800"/>
                  <a:gd name="connsiteY3" fmla="*/ 0 h 1917303"/>
                  <a:gd name="connsiteX4" fmla="*/ 2656285 w 5765800"/>
                  <a:gd name="connsiteY4" fmla="*/ 397 h 1917303"/>
                  <a:gd name="connsiteX5" fmla="*/ 2685256 w 5765800"/>
                  <a:gd name="connsiteY5" fmla="*/ 1191 h 1917303"/>
                  <a:gd name="connsiteX6" fmla="*/ 2715022 w 5765800"/>
                  <a:gd name="connsiteY6" fmla="*/ 2381 h 1917303"/>
                  <a:gd name="connsiteX7" fmla="*/ 2743994 w 5765800"/>
                  <a:gd name="connsiteY7" fmla="*/ 3572 h 1917303"/>
                  <a:gd name="connsiteX8" fmla="*/ 2773760 w 5765800"/>
                  <a:gd name="connsiteY8" fmla="*/ 5159 h 1917303"/>
                  <a:gd name="connsiteX9" fmla="*/ 2802731 w 5765800"/>
                  <a:gd name="connsiteY9" fmla="*/ 7541 h 1917303"/>
                  <a:gd name="connsiteX10" fmla="*/ 2832100 w 5765800"/>
                  <a:gd name="connsiteY10" fmla="*/ 9922 h 1917303"/>
                  <a:gd name="connsiteX11" fmla="*/ 2861072 w 5765800"/>
                  <a:gd name="connsiteY11" fmla="*/ 11906 h 1917303"/>
                  <a:gd name="connsiteX12" fmla="*/ 2890044 w 5765800"/>
                  <a:gd name="connsiteY12" fmla="*/ 15081 h 1917303"/>
                  <a:gd name="connsiteX13" fmla="*/ 2919413 w 5765800"/>
                  <a:gd name="connsiteY13" fmla="*/ 18256 h 1917303"/>
                  <a:gd name="connsiteX14" fmla="*/ 2948385 w 5765800"/>
                  <a:gd name="connsiteY14" fmla="*/ 21828 h 1917303"/>
                  <a:gd name="connsiteX15" fmla="*/ 2977356 w 5765800"/>
                  <a:gd name="connsiteY15" fmla="*/ 25400 h 1917303"/>
                  <a:gd name="connsiteX16" fmla="*/ 3005931 w 5765800"/>
                  <a:gd name="connsiteY16" fmla="*/ 29369 h 1917303"/>
                  <a:gd name="connsiteX17" fmla="*/ 3035300 w 5765800"/>
                  <a:gd name="connsiteY17" fmla="*/ 33734 h 1917303"/>
                  <a:gd name="connsiteX18" fmla="*/ 3063875 w 5765800"/>
                  <a:gd name="connsiteY18" fmla="*/ 38100 h 1917303"/>
                  <a:gd name="connsiteX19" fmla="*/ 3092450 w 5765800"/>
                  <a:gd name="connsiteY19" fmla="*/ 42863 h 1917303"/>
                  <a:gd name="connsiteX20" fmla="*/ 3121025 w 5765800"/>
                  <a:gd name="connsiteY20" fmla="*/ 48419 h 1917303"/>
                  <a:gd name="connsiteX21" fmla="*/ 3149600 w 5765800"/>
                  <a:gd name="connsiteY21" fmla="*/ 53578 h 1917303"/>
                  <a:gd name="connsiteX22" fmla="*/ 3178175 w 5765800"/>
                  <a:gd name="connsiteY22" fmla="*/ 59134 h 1917303"/>
                  <a:gd name="connsiteX23" fmla="*/ 3206750 w 5765800"/>
                  <a:gd name="connsiteY23" fmla="*/ 65088 h 1917303"/>
                  <a:gd name="connsiteX24" fmla="*/ 3234531 w 5765800"/>
                  <a:gd name="connsiteY24" fmla="*/ 71834 h 1917303"/>
                  <a:gd name="connsiteX25" fmla="*/ 3262710 w 5765800"/>
                  <a:gd name="connsiteY25" fmla="*/ 77788 h 1917303"/>
                  <a:gd name="connsiteX26" fmla="*/ 3290888 w 5765800"/>
                  <a:gd name="connsiteY26" fmla="*/ 84931 h 1917303"/>
                  <a:gd name="connsiteX27" fmla="*/ 3319066 w 5765800"/>
                  <a:gd name="connsiteY27" fmla="*/ 92075 h 1917303"/>
                  <a:gd name="connsiteX28" fmla="*/ 3346847 w 5765800"/>
                  <a:gd name="connsiteY28" fmla="*/ 99219 h 1917303"/>
                  <a:gd name="connsiteX29" fmla="*/ 3374628 w 5765800"/>
                  <a:gd name="connsiteY29" fmla="*/ 107156 h 1917303"/>
                  <a:gd name="connsiteX30" fmla="*/ 3402013 w 5765800"/>
                  <a:gd name="connsiteY30" fmla="*/ 115094 h 1917303"/>
                  <a:gd name="connsiteX31" fmla="*/ 3429794 w 5765800"/>
                  <a:gd name="connsiteY31" fmla="*/ 123031 h 1917303"/>
                  <a:gd name="connsiteX32" fmla="*/ 3457178 w 5765800"/>
                  <a:gd name="connsiteY32" fmla="*/ 131366 h 1917303"/>
                  <a:gd name="connsiteX33" fmla="*/ 3484563 w 5765800"/>
                  <a:gd name="connsiteY33" fmla="*/ 140097 h 1917303"/>
                  <a:gd name="connsiteX34" fmla="*/ 3511550 w 5765800"/>
                  <a:gd name="connsiteY34" fmla="*/ 149225 h 1917303"/>
                  <a:gd name="connsiteX35" fmla="*/ 3538935 w 5765800"/>
                  <a:gd name="connsiteY35" fmla="*/ 158353 h 1917303"/>
                  <a:gd name="connsiteX36" fmla="*/ 3565922 w 5765800"/>
                  <a:gd name="connsiteY36" fmla="*/ 167481 h 1917303"/>
                  <a:gd name="connsiteX37" fmla="*/ 3592116 w 5765800"/>
                  <a:gd name="connsiteY37" fmla="*/ 177800 h 1917303"/>
                  <a:gd name="connsiteX38" fmla="*/ 3618706 w 5765800"/>
                  <a:gd name="connsiteY38" fmla="*/ 187722 h 1917303"/>
                  <a:gd name="connsiteX39" fmla="*/ 3645297 w 5765800"/>
                  <a:gd name="connsiteY39" fmla="*/ 198041 h 1917303"/>
                  <a:gd name="connsiteX40" fmla="*/ 3671888 w 5765800"/>
                  <a:gd name="connsiteY40" fmla="*/ 208359 h 1917303"/>
                  <a:gd name="connsiteX41" fmla="*/ 3697685 w 5765800"/>
                  <a:gd name="connsiteY41" fmla="*/ 219472 h 1917303"/>
                  <a:gd name="connsiteX42" fmla="*/ 3724275 w 5765800"/>
                  <a:gd name="connsiteY42" fmla="*/ 230584 h 1917303"/>
                  <a:gd name="connsiteX43" fmla="*/ 3749675 w 5765800"/>
                  <a:gd name="connsiteY43" fmla="*/ 241300 h 1917303"/>
                  <a:gd name="connsiteX44" fmla="*/ 3775869 w 5765800"/>
                  <a:gd name="connsiteY44" fmla="*/ 253603 h 1917303"/>
                  <a:gd name="connsiteX45" fmla="*/ 3801269 w 5765800"/>
                  <a:gd name="connsiteY45" fmla="*/ 264716 h 1917303"/>
                  <a:gd name="connsiteX46" fmla="*/ 3826669 w 5765800"/>
                  <a:gd name="connsiteY46" fmla="*/ 277416 h 1917303"/>
                  <a:gd name="connsiteX47" fmla="*/ 3851672 w 5765800"/>
                  <a:gd name="connsiteY47" fmla="*/ 289719 h 1917303"/>
                  <a:gd name="connsiteX48" fmla="*/ 3876675 w 5765800"/>
                  <a:gd name="connsiteY48" fmla="*/ 302022 h 1917303"/>
                  <a:gd name="connsiteX49" fmla="*/ 3901678 w 5765800"/>
                  <a:gd name="connsiteY49" fmla="*/ 314722 h 1917303"/>
                  <a:gd name="connsiteX50" fmla="*/ 3926285 w 5765800"/>
                  <a:gd name="connsiteY50" fmla="*/ 328216 h 1917303"/>
                  <a:gd name="connsiteX51" fmla="*/ 3950891 w 5765800"/>
                  <a:gd name="connsiteY51" fmla="*/ 341313 h 1917303"/>
                  <a:gd name="connsiteX52" fmla="*/ 3974703 w 5765800"/>
                  <a:gd name="connsiteY52" fmla="*/ 354806 h 1917303"/>
                  <a:gd name="connsiteX53" fmla="*/ 3999310 w 5765800"/>
                  <a:gd name="connsiteY53" fmla="*/ 368697 h 1917303"/>
                  <a:gd name="connsiteX54" fmla="*/ 4023122 w 5765800"/>
                  <a:gd name="connsiteY54" fmla="*/ 382588 h 1917303"/>
                  <a:gd name="connsiteX55" fmla="*/ 4046538 w 5765800"/>
                  <a:gd name="connsiteY55" fmla="*/ 397272 h 1917303"/>
                  <a:gd name="connsiteX56" fmla="*/ 4069953 w 5765800"/>
                  <a:gd name="connsiteY56" fmla="*/ 411559 h 1917303"/>
                  <a:gd name="connsiteX57" fmla="*/ 4093369 w 5765800"/>
                  <a:gd name="connsiteY57" fmla="*/ 426244 h 1917303"/>
                  <a:gd name="connsiteX58" fmla="*/ 4115991 w 5765800"/>
                  <a:gd name="connsiteY58" fmla="*/ 441325 h 1917303"/>
                  <a:gd name="connsiteX59" fmla="*/ 4139010 w 5765800"/>
                  <a:gd name="connsiteY59" fmla="*/ 456406 h 1917303"/>
                  <a:gd name="connsiteX60" fmla="*/ 4162028 w 5765800"/>
                  <a:gd name="connsiteY60" fmla="*/ 471884 h 1917303"/>
                  <a:gd name="connsiteX61" fmla="*/ 4184253 w 5765800"/>
                  <a:gd name="connsiteY61" fmla="*/ 487759 h 1917303"/>
                  <a:gd name="connsiteX62" fmla="*/ 4206478 w 5765800"/>
                  <a:gd name="connsiteY62" fmla="*/ 503634 h 1917303"/>
                  <a:gd name="connsiteX63" fmla="*/ 4228306 w 5765800"/>
                  <a:gd name="connsiteY63" fmla="*/ 519509 h 1917303"/>
                  <a:gd name="connsiteX64" fmla="*/ 4250135 w 5765800"/>
                  <a:gd name="connsiteY64" fmla="*/ 536575 h 1917303"/>
                  <a:gd name="connsiteX65" fmla="*/ 4271566 w 5765800"/>
                  <a:gd name="connsiteY65" fmla="*/ 552847 h 1917303"/>
                  <a:gd name="connsiteX66" fmla="*/ 4292997 w 5765800"/>
                  <a:gd name="connsiteY66" fmla="*/ 569516 h 1917303"/>
                  <a:gd name="connsiteX67" fmla="*/ 4519613 w 5765800"/>
                  <a:gd name="connsiteY67" fmla="*/ 752475 h 1917303"/>
                  <a:gd name="connsiteX68" fmla="*/ 4624388 w 5765800"/>
                  <a:gd name="connsiteY68" fmla="*/ 837406 h 1917303"/>
                  <a:gd name="connsiteX69" fmla="*/ 4724400 w 5765800"/>
                  <a:gd name="connsiteY69" fmla="*/ 919956 h 1917303"/>
                  <a:gd name="connsiteX70" fmla="*/ 4820444 w 5765800"/>
                  <a:gd name="connsiteY70" fmla="*/ 999331 h 1917303"/>
                  <a:gd name="connsiteX71" fmla="*/ 4912916 w 5765800"/>
                  <a:gd name="connsiteY71" fmla="*/ 1077119 h 1917303"/>
                  <a:gd name="connsiteX72" fmla="*/ 4957366 w 5765800"/>
                  <a:gd name="connsiteY72" fmla="*/ 1115616 h 1917303"/>
                  <a:gd name="connsiteX73" fmla="*/ 5001816 w 5765800"/>
                  <a:gd name="connsiteY73" fmla="*/ 1153716 h 1917303"/>
                  <a:gd name="connsiteX74" fmla="*/ 5045472 w 5765800"/>
                  <a:gd name="connsiteY74" fmla="*/ 1192213 h 1917303"/>
                  <a:gd name="connsiteX75" fmla="*/ 5088335 w 5765800"/>
                  <a:gd name="connsiteY75" fmla="*/ 1230313 h 1917303"/>
                  <a:gd name="connsiteX76" fmla="*/ 5131197 w 5765800"/>
                  <a:gd name="connsiteY76" fmla="*/ 1268810 h 1917303"/>
                  <a:gd name="connsiteX77" fmla="*/ 5173663 w 5765800"/>
                  <a:gd name="connsiteY77" fmla="*/ 1307306 h 1917303"/>
                  <a:gd name="connsiteX78" fmla="*/ 5215731 w 5765800"/>
                  <a:gd name="connsiteY78" fmla="*/ 1345803 h 1917303"/>
                  <a:gd name="connsiteX79" fmla="*/ 5257403 w 5765800"/>
                  <a:gd name="connsiteY79" fmla="*/ 1385094 h 1917303"/>
                  <a:gd name="connsiteX80" fmla="*/ 5299075 w 5765800"/>
                  <a:gd name="connsiteY80" fmla="*/ 1424385 h 1917303"/>
                  <a:gd name="connsiteX81" fmla="*/ 5340747 w 5765800"/>
                  <a:gd name="connsiteY81" fmla="*/ 1464072 h 1917303"/>
                  <a:gd name="connsiteX82" fmla="*/ 5381625 w 5765800"/>
                  <a:gd name="connsiteY82" fmla="*/ 1504950 h 1917303"/>
                  <a:gd name="connsiteX83" fmla="*/ 5423297 w 5765800"/>
                  <a:gd name="connsiteY83" fmla="*/ 1546225 h 1917303"/>
                  <a:gd name="connsiteX84" fmla="*/ 5464969 w 5765800"/>
                  <a:gd name="connsiteY84" fmla="*/ 1588294 h 1917303"/>
                  <a:gd name="connsiteX85" fmla="*/ 5507038 w 5765800"/>
                  <a:gd name="connsiteY85" fmla="*/ 1631156 h 1917303"/>
                  <a:gd name="connsiteX86" fmla="*/ 5549106 w 5765800"/>
                  <a:gd name="connsiteY86" fmla="*/ 1675606 h 1917303"/>
                  <a:gd name="connsiteX87" fmla="*/ 5591175 w 5765800"/>
                  <a:gd name="connsiteY87" fmla="*/ 1720453 h 1917303"/>
                  <a:gd name="connsiteX88" fmla="*/ 5634038 w 5765800"/>
                  <a:gd name="connsiteY88" fmla="*/ 1766491 h 1917303"/>
                  <a:gd name="connsiteX89" fmla="*/ 5677297 w 5765800"/>
                  <a:gd name="connsiteY89" fmla="*/ 1813719 h 1917303"/>
                  <a:gd name="connsiteX90" fmla="*/ 5721350 w 5765800"/>
                  <a:gd name="connsiteY90" fmla="*/ 1862931 h 1917303"/>
                  <a:gd name="connsiteX91" fmla="*/ 5765800 w 5765800"/>
                  <a:gd name="connsiteY91" fmla="*/ 1912938 h 1917303"/>
                  <a:gd name="connsiteX92" fmla="*/ 5735638 w 5765800"/>
                  <a:gd name="connsiteY92" fmla="*/ 1914525 h 1917303"/>
                  <a:gd name="connsiteX93" fmla="*/ 5705078 w 5765800"/>
                  <a:gd name="connsiteY93" fmla="*/ 1916510 h 1917303"/>
                  <a:gd name="connsiteX94" fmla="*/ 5673328 w 5765800"/>
                  <a:gd name="connsiteY94" fmla="*/ 1917303 h 1917303"/>
                  <a:gd name="connsiteX95" fmla="*/ 4455160 w 5765800"/>
                  <a:gd name="connsiteY95" fmla="*/ 1800542 h 1917303"/>
                  <a:gd name="connsiteX96" fmla="*/ 4409440 w 5765800"/>
                  <a:gd name="connsiteY96" fmla="*/ 1790382 h 1917303"/>
                  <a:gd name="connsiteX97" fmla="*/ 4389120 w 5765800"/>
                  <a:gd name="connsiteY97" fmla="*/ 1785302 h 1917303"/>
                  <a:gd name="connsiteX98" fmla="*/ 4358640 w 5765800"/>
                  <a:gd name="connsiteY98" fmla="*/ 1785302 h 1917303"/>
                  <a:gd name="connsiteX99" fmla="*/ 3566160 w 5765800"/>
                  <a:gd name="connsiteY99" fmla="*/ 1668462 h 1917303"/>
                  <a:gd name="connsiteX100" fmla="*/ 3413760 w 5765800"/>
                  <a:gd name="connsiteY100" fmla="*/ 1648142 h 1917303"/>
                  <a:gd name="connsiteX101" fmla="*/ 2529840 w 5765800"/>
                  <a:gd name="connsiteY101" fmla="*/ 1485582 h 1917303"/>
                  <a:gd name="connsiteX102" fmla="*/ 1559560 w 5765800"/>
                  <a:gd name="connsiteY102" fmla="*/ 1424622 h 1917303"/>
                  <a:gd name="connsiteX103" fmla="*/ 1498600 w 5765800"/>
                  <a:gd name="connsiteY103" fmla="*/ 1419542 h 1917303"/>
                  <a:gd name="connsiteX104" fmla="*/ 858520 w 5765800"/>
                  <a:gd name="connsiteY104" fmla="*/ 1373822 h 1917303"/>
                  <a:gd name="connsiteX105" fmla="*/ 457200 w 5765800"/>
                  <a:gd name="connsiteY105" fmla="*/ 1353502 h 1917303"/>
                  <a:gd name="connsiteX106" fmla="*/ 167640 w 5765800"/>
                  <a:gd name="connsiteY106" fmla="*/ 1343342 h 1917303"/>
                  <a:gd name="connsiteX107" fmla="*/ 0 w 5765800"/>
                  <a:gd name="connsiteY107" fmla="*/ 1184672 h 1917303"/>
                  <a:gd name="connsiteX108" fmla="*/ 0 w 5765800"/>
                  <a:gd name="connsiteY108" fmla="*/ 0 h 1917303"/>
                  <a:gd name="connsiteX0" fmla="*/ 0 w 5765800"/>
                  <a:gd name="connsiteY0" fmla="*/ 0 h 1916510"/>
                  <a:gd name="connsiteX1" fmla="*/ 2595960 w 5765800"/>
                  <a:gd name="connsiteY1" fmla="*/ 0 h 1916510"/>
                  <a:gd name="connsiteX2" fmla="*/ 2597547 w 5765800"/>
                  <a:gd name="connsiteY2" fmla="*/ 0 h 1916510"/>
                  <a:gd name="connsiteX3" fmla="*/ 2626519 w 5765800"/>
                  <a:gd name="connsiteY3" fmla="*/ 0 h 1916510"/>
                  <a:gd name="connsiteX4" fmla="*/ 2656285 w 5765800"/>
                  <a:gd name="connsiteY4" fmla="*/ 397 h 1916510"/>
                  <a:gd name="connsiteX5" fmla="*/ 2685256 w 5765800"/>
                  <a:gd name="connsiteY5" fmla="*/ 1191 h 1916510"/>
                  <a:gd name="connsiteX6" fmla="*/ 2715022 w 5765800"/>
                  <a:gd name="connsiteY6" fmla="*/ 2381 h 1916510"/>
                  <a:gd name="connsiteX7" fmla="*/ 2743994 w 5765800"/>
                  <a:gd name="connsiteY7" fmla="*/ 3572 h 1916510"/>
                  <a:gd name="connsiteX8" fmla="*/ 2773760 w 5765800"/>
                  <a:gd name="connsiteY8" fmla="*/ 5159 h 1916510"/>
                  <a:gd name="connsiteX9" fmla="*/ 2802731 w 5765800"/>
                  <a:gd name="connsiteY9" fmla="*/ 7541 h 1916510"/>
                  <a:gd name="connsiteX10" fmla="*/ 2832100 w 5765800"/>
                  <a:gd name="connsiteY10" fmla="*/ 9922 h 1916510"/>
                  <a:gd name="connsiteX11" fmla="*/ 2861072 w 5765800"/>
                  <a:gd name="connsiteY11" fmla="*/ 11906 h 1916510"/>
                  <a:gd name="connsiteX12" fmla="*/ 2890044 w 5765800"/>
                  <a:gd name="connsiteY12" fmla="*/ 15081 h 1916510"/>
                  <a:gd name="connsiteX13" fmla="*/ 2919413 w 5765800"/>
                  <a:gd name="connsiteY13" fmla="*/ 18256 h 1916510"/>
                  <a:gd name="connsiteX14" fmla="*/ 2948385 w 5765800"/>
                  <a:gd name="connsiteY14" fmla="*/ 21828 h 1916510"/>
                  <a:gd name="connsiteX15" fmla="*/ 2977356 w 5765800"/>
                  <a:gd name="connsiteY15" fmla="*/ 25400 h 1916510"/>
                  <a:gd name="connsiteX16" fmla="*/ 3005931 w 5765800"/>
                  <a:gd name="connsiteY16" fmla="*/ 29369 h 1916510"/>
                  <a:gd name="connsiteX17" fmla="*/ 3035300 w 5765800"/>
                  <a:gd name="connsiteY17" fmla="*/ 33734 h 1916510"/>
                  <a:gd name="connsiteX18" fmla="*/ 3063875 w 5765800"/>
                  <a:gd name="connsiteY18" fmla="*/ 38100 h 1916510"/>
                  <a:gd name="connsiteX19" fmla="*/ 3092450 w 5765800"/>
                  <a:gd name="connsiteY19" fmla="*/ 42863 h 1916510"/>
                  <a:gd name="connsiteX20" fmla="*/ 3121025 w 5765800"/>
                  <a:gd name="connsiteY20" fmla="*/ 48419 h 1916510"/>
                  <a:gd name="connsiteX21" fmla="*/ 3149600 w 5765800"/>
                  <a:gd name="connsiteY21" fmla="*/ 53578 h 1916510"/>
                  <a:gd name="connsiteX22" fmla="*/ 3178175 w 5765800"/>
                  <a:gd name="connsiteY22" fmla="*/ 59134 h 1916510"/>
                  <a:gd name="connsiteX23" fmla="*/ 3206750 w 5765800"/>
                  <a:gd name="connsiteY23" fmla="*/ 65088 h 1916510"/>
                  <a:gd name="connsiteX24" fmla="*/ 3234531 w 5765800"/>
                  <a:gd name="connsiteY24" fmla="*/ 71834 h 1916510"/>
                  <a:gd name="connsiteX25" fmla="*/ 3262710 w 5765800"/>
                  <a:gd name="connsiteY25" fmla="*/ 77788 h 1916510"/>
                  <a:gd name="connsiteX26" fmla="*/ 3290888 w 5765800"/>
                  <a:gd name="connsiteY26" fmla="*/ 84931 h 1916510"/>
                  <a:gd name="connsiteX27" fmla="*/ 3319066 w 5765800"/>
                  <a:gd name="connsiteY27" fmla="*/ 92075 h 1916510"/>
                  <a:gd name="connsiteX28" fmla="*/ 3346847 w 5765800"/>
                  <a:gd name="connsiteY28" fmla="*/ 99219 h 1916510"/>
                  <a:gd name="connsiteX29" fmla="*/ 3374628 w 5765800"/>
                  <a:gd name="connsiteY29" fmla="*/ 107156 h 1916510"/>
                  <a:gd name="connsiteX30" fmla="*/ 3402013 w 5765800"/>
                  <a:gd name="connsiteY30" fmla="*/ 115094 h 1916510"/>
                  <a:gd name="connsiteX31" fmla="*/ 3429794 w 5765800"/>
                  <a:gd name="connsiteY31" fmla="*/ 123031 h 1916510"/>
                  <a:gd name="connsiteX32" fmla="*/ 3457178 w 5765800"/>
                  <a:gd name="connsiteY32" fmla="*/ 131366 h 1916510"/>
                  <a:gd name="connsiteX33" fmla="*/ 3484563 w 5765800"/>
                  <a:gd name="connsiteY33" fmla="*/ 140097 h 1916510"/>
                  <a:gd name="connsiteX34" fmla="*/ 3511550 w 5765800"/>
                  <a:gd name="connsiteY34" fmla="*/ 149225 h 1916510"/>
                  <a:gd name="connsiteX35" fmla="*/ 3538935 w 5765800"/>
                  <a:gd name="connsiteY35" fmla="*/ 158353 h 1916510"/>
                  <a:gd name="connsiteX36" fmla="*/ 3565922 w 5765800"/>
                  <a:gd name="connsiteY36" fmla="*/ 167481 h 1916510"/>
                  <a:gd name="connsiteX37" fmla="*/ 3592116 w 5765800"/>
                  <a:gd name="connsiteY37" fmla="*/ 177800 h 1916510"/>
                  <a:gd name="connsiteX38" fmla="*/ 3618706 w 5765800"/>
                  <a:gd name="connsiteY38" fmla="*/ 187722 h 1916510"/>
                  <a:gd name="connsiteX39" fmla="*/ 3645297 w 5765800"/>
                  <a:gd name="connsiteY39" fmla="*/ 198041 h 1916510"/>
                  <a:gd name="connsiteX40" fmla="*/ 3671888 w 5765800"/>
                  <a:gd name="connsiteY40" fmla="*/ 208359 h 1916510"/>
                  <a:gd name="connsiteX41" fmla="*/ 3697685 w 5765800"/>
                  <a:gd name="connsiteY41" fmla="*/ 219472 h 1916510"/>
                  <a:gd name="connsiteX42" fmla="*/ 3724275 w 5765800"/>
                  <a:gd name="connsiteY42" fmla="*/ 230584 h 1916510"/>
                  <a:gd name="connsiteX43" fmla="*/ 3749675 w 5765800"/>
                  <a:gd name="connsiteY43" fmla="*/ 241300 h 1916510"/>
                  <a:gd name="connsiteX44" fmla="*/ 3775869 w 5765800"/>
                  <a:gd name="connsiteY44" fmla="*/ 253603 h 1916510"/>
                  <a:gd name="connsiteX45" fmla="*/ 3801269 w 5765800"/>
                  <a:gd name="connsiteY45" fmla="*/ 264716 h 1916510"/>
                  <a:gd name="connsiteX46" fmla="*/ 3826669 w 5765800"/>
                  <a:gd name="connsiteY46" fmla="*/ 277416 h 1916510"/>
                  <a:gd name="connsiteX47" fmla="*/ 3851672 w 5765800"/>
                  <a:gd name="connsiteY47" fmla="*/ 289719 h 1916510"/>
                  <a:gd name="connsiteX48" fmla="*/ 3876675 w 5765800"/>
                  <a:gd name="connsiteY48" fmla="*/ 302022 h 1916510"/>
                  <a:gd name="connsiteX49" fmla="*/ 3901678 w 5765800"/>
                  <a:gd name="connsiteY49" fmla="*/ 314722 h 1916510"/>
                  <a:gd name="connsiteX50" fmla="*/ 3926285 w 5765800"/>
                  <a:gd name="connsiteY50" fmla="*/ 328216 h 1916510"/>
                  <a:gd name="connsiteX51" fmla="*/ 3950891 w 5765800"/>
                  <a:gd name="connsiteY51" fmla="*/ 341313 h 1916510"/>
                  <a:gd name="connsiteX52" fmla="*/ 3974703 w 5765800"/>
                  <a:gd name="connsiteY52" fmla="*/ 354806 h 1916510"/>
                  <a:gd name="connsiteX53" fmla="*/ 3999310 w 5765800"/>
                  <a:gd name="connsiteY53" fmla="*/ 368697 h 1916510"/>
                  <a:gd name="connsiteX54" fmla="*/ 4023122 w 5765800"/>
                  <a:gd name="connsiteY54" fmla="*/ 382588 h 1916510"/>
                  <a:gd name="connsiteX55" fmla="*/ 4046538 w 5765800"/>
                  <a:gd name="connsiteY55" fmla="*/ 397272 h 1916510"/>
                  <a:gd name="connsiteX56" fmla="*/ 4069953 w 5765800"/>
                  <a:gd name="connsiteY56" fmla="*/ 411559 h 1916510"/>
                  <a:gd name="connsiteX57" fmla="*/ 4093369 w 5765800"/>
                  <a:gd name="connsiteY57" fmla="*/ 426244 h 1916510"/>
                  <a:gd name="connsiteX58" fmla="*/ 4115991 w 5765800"/>
                  <a:gd name="connsiteY58" fmla="*/ 441325 h 1916510"/>
                  <a:gd name="connsiteX59" fmla="*/ 4139010 w 5765800"/>
                  <a:gd name="connsiteY59" fmla="*/ 456406 h 1916510"/>
                  <a:gd name="connsiteX60" fmla="*/ 4162028 w 5765800"/>
                  <a:gd name="connsiteY60" fmla="*/ 471884 h 1916510"/>
                  <a:gd name="connsiteX61" fmla="*/ 4184253 w 5765800"/>
                  <a:gd name="connsiteY61" fmla="*/ 487759 h 1916510"/>
                  <a:gd name="connsiteX62" fmla="*/ 4206478 w 5765800"/>
                  <a:gd name="connsiteY62" fmla="*/ 503634 h 1916510"/>
                  <a:gd name="connsiteX63" fmla="*/ 4228306 w 5765800"/>
                  <a:gd name="connsiteY63" fmla="*/ 519509 h 1916510"/>
                  <a:gd name="connsiteX64" fmla="*/ 4250135 w 5765800"/>
                  <a:gd name="connsiteY64" fmla="*/ 536575 h 1916510"/>
                  <a:gd name="connsiteX65" fmla="*/ 4271566 w 5765800"/>
                  <a:gd name="connsiteY65" fmla="*/ 552847 h 1916510"/>
                  <a:gd name="connsiteX66" fmla="*/ 4292997 w 5765800"/>
                  <a:gd name="connsiteY66" fmla="*/ 569516 h 1916510"/>
                  <a:gd name="connsiteX67" fmla="*/ 4519613 w 5765800"/>
                  <a:gd name="connsiteY67" fmla="*/ 752475 h 1916510"/>
                  <a:gd name="connsiteX68" fmla="*/ 4624388 w 5765800"/>
                  <a:gd name="connsiteY68" fmla="*/ 837406 h 1916510"/>
                  <a:gd name="connsiteX69" fmla="*/ 4724400 w 5765800"/>
                  <a:gd name="connsiteY69" fmla="*/ 919956 h 1916510"/>
                  <a:gd name="connsiteX70" fmla="*/ 4820444 w 5765800"/>
                  <a:gd name="connsiteY70" fmla="*/ 999331 h 1916510"/>
                  <a:gd name="connsiteX71" fmla="*/ 4912916 w 5765800"/>
                  <a:gd name="connsiteY71" fmla="*/ 1077119 h 1916510"/>
                  <a:gd name="connsiteX72" fmla="*/ 4957366 w 5765800"/>
                  <a:gd name="connsiteY72" fmla="*/ 1115616 h 1916510"/>
                  <a:gd name="connsiteX73" fmla="*/ 5001816 w 5765800"/>
                  <a:gd name="connsiteY73" fmla="*/ 1153716 h 1916510"/>
                  <a:gd name="connsiteX74" fmla="*/ 5045472 w 5765800"/>
                  <a:gd name="connsiteY74" fmla="*/ 1192213 h 1916510"/>
                  <a:gd name="connsiteX75" fmla="*/ 5088335 w 5765800"/>
                  <a:gd name="connsiteY75" fmla="*/ 1230313 h 1916510"/>
                  <a:gd name="connsiteX76" fmla="*/ 5131197 w 5765800"/>
                  <a:gd name="connsiteY76" fmla="*/ 1268810 h 1916510"/>
                  <a:gd name="connsiteX77" fmla="*/ 5173663 w 5765800"/>
                  <a:gd name="connsiteY77" fmla="*/ 1307306 h 1916510"/>
                  <a:gd name="connsiteX78" fmla="*/ 5215731 w 5765800"/>
                  <a:gd name="connsiteY78" fmla="*/ 1345803 h 1916510"/>
                  <a:gd name="connsiteX79" fmla="*/ 5257403 w 5765800"/>
                  <a:gd name="connsiteY79" fmla="*/ 1385094 h 1916510"/>
                  <a:gd name="connsiteX80" fmla="*/ 5299075 w 5765800"/>
                  <a:gd name="connsiteY80" fmla="*/ 1424385 h 1916510"/>
                  <a:gd name="connsiteX81" fmla="*/ 5340747 w 5765800"/>
                  <a:gd name="connsiteY81" fmla="*/ 1464072 h 1916510"/>
                  <a:gd name="connsiteX82" fmla="*/ 5381625 w 5765800"/>
                  <a:gd name="connsiteY82" fmla="*/ 1504950 h 1916510"/>
                  <a:gd name="connsiteX83" fmla="*/ 5423297 w 5765800"/>
                  <a:gd name="connsiteY83" fmla="*/ 1546225 h 1916510"/>
                  <a:gd name="connsiteX84" fmla="*/ 5464969 w 5765800"/>
                  <a:gd name="connsiteY84" fmla="*/ 1588294 h 1916510"/>
                  <a:gd name="connsiteX85" fmla="*/ 5507038 w 5765800"/>
                  <a:gd name="connsiteY85" fmla="*/ 1631156 h 1916510"/>
                  <a:gd name="connsiteX86" fmla="*/ 5549106 w 5765800"/>
                  <a:gd name="connsiteY86" fmla="*/ 1675606 h 1916510"/>
                  <a:gd name="connsiteX87" fmla="*/ 5591175 w 5765800"/>
                  <a:gd name="connsiteY87" fmla="*/ 1720453 h 1916510"/>
                  <a:gd name="connsiteX88" fmla="*/ 5634038 w 5765800"/>
                  <a:gd name="connsiteY88" fmla="*/ 1766491 h 1916510"/>
                  <a:gd name="connsiteX89" fmla="*/ 5677297 w 5765800"/>
                  <a:gd name="connsiteY89" fmla="*/ 1813719 h 1916510"/>
                  <a:gd name="connsiteX90" fmla="*/ 5721350 w 5765800"/>
                  <a:gd name="connsiteY90" fmla="*/ 1862931 h 1916510"/>
                  <a:gd name="connsiteX91" fmla="*/ 5765800 w 5765800"/>
                  <a:gd name="connsiteY91" fmla="*/ 1912938 h 1916510"/>
                  <a:gd name="connsiteX92" fmla="*/ 5735638 w 5765800"/>
                  <a:gd name="connsiteY92" fmla="*/ 1914525 h 1916510"/>
                  <a:gd name="connsiteX93" fmla="*/ 5705078 w 5765800"/>
                  <a:gd name="connsiteY93" fmla="*/ 1916510 h 1916510"/>
                  <a:gd name="connsiteX94" fmla="*/ 4455160 w 5765800"/>
                  <a:gd name="connsiteY94" fmla="*/ 1800542 h 1916510"/>
                  <a:gd name="connsiteX95" fmla="*/ 4409440 w 5765800"/>
                  <a:gd name="connsiteY95" fmla="*/ 1790382 h 1916510"/>
                  <a:gd name="connsiteX96" fmla="*/ 4389120 w 5765800"/>
                  <a:gd name="connsiteY96" fmla="*/ 1785302 h 1916510"/>
                  <a:gd name="connsiteX97" fmla="*/ 4358640 w 5765800"/>
                  <a:gd name="connsiteY97" fmla="*/ 1785302 h 1916510"/>
                  <a:gd name="connsiteX98" fmla="*/ 3566160 w 5765800"/>
                  <a:gd name="connsiteY98" fmla="*/ 1668462 h 1916510"/>
                  <a:gd name="connsiteX99" fmla="*/ 3413760 w 5765800"/>
                  <a:gd name="connsiteY99" fmla="*/ 1648142 h 1916510"/>
                  <a:gd name="connsiteX100" fmla="*/ 2529840 w 5765800"/>
                  <a:gd name="connsiteY100" fmla="*/ 1485582 h 1916510"/>
                  <a:gd name="connsiteX101" fmla="*/ 1559560 w 5765800"/>
                  <a:gd name="connsiteY101" fmla="*/ 1424622 h 1916510"/>
                  <a:gd name="connsiteX102" fmla="*/ 1498600 w 5765800"/>
                  <a:gd name="connsiteY102" fmla="*/ 1419542 h 1916510"/>
                  <a:gd name="connsiteX103" fmla="*/ 858520 w 5765800"/>
                  <a:gd name="connsiteY103" fmla="*/ 1373822 h 1916510"/>
                  <a:gd name="connsiteX104" fmla="*/ 457200 w 5765800"/>
                  <a:gd name="connsiteY104" fmla="*/ 1353502 h 1916510"/>
                  <a:gd name="connsiteX105" fmla="*/ 167640 w 5765800"/>
                  <a:gd name="connsiteY105" fmla="*/ 1343342 h 1916510"/>
                  <a:gd name="connsiteX106" fmla="*/ 0 w 5765800"/>
                  <a:gd name="connsiteY106" fmla="*/ 1184672 h 1916510"/>
                  <a:gd name="connsiteX107" fmla="*/ 0 w 5765800"/>
                  <a:gd name="connsiteY107" fmla="*/ 0 h 1916510"/>
                  <a:gd name="connsiteX0" fmla="*/ 0 w 5765800"/>
                  <a:gd name="connsiteY0" fmla="*/ 0 h 1914525"/>
                  <a:gd name="connsiteX1" fmla="*/ 2595960 w 5765800"/>
                  <a:gd name="connsiteY1" fmla="*/ 0 h 1914525"/>
                  <a:gd name="connsiteX2" fmla="*/ 2597547 w 5765800"/>
                  <a:gd name="connsiteY2" fmla="*/ 0 h 1914525"/>
                  <a:gd name="connsiteX3" fmla="*/ 2626519 w 5765800"/>
                  <a:gd name="connsiteY3" fmla="*/ 0 h 1914525"/>
                  <a:gd name="connsiteX4" fmla="*/ 2656285 w 5765800"/>
                  <a:gd name="connsiteY4" fmla="*/ 397 h 1914525"/>
                  <a:gd name="connsiteX5" fmla="*/ 2685256 w 5765800"/>
                  <a:gd name="connsiteY5" fmla="*/ 1191 h 1914525"/>
                  <a:gd name="connsiteX6" fmla="*/ 2715022 w 5765800"/>
                  <a:gd name="connsiteY6" fmla="*/ 2381 h 1914525"/>
                  <a:gd name="connsiteX7" fmla="*/ 2743994 w 5765800"/>
                  <a:gd name="connsiteY7" fmla="*/ 3572 h 1914525"/>
                  <a:gd name="connsiteX8" fmla="*/ 2773760 w 5765800"/>
                  <a:gd name="connsiteY8" fmla="*/ 5159 h 1914525"/>
                  <a:gd name="connsiteX9" fmla="*/ 2802731 w 5765800"/>
                  <a:gd name="connsiteY9" fmla="*/ 7541 h 1914525"/>
                  <a:gd name="connsiteX10" fmla="*/ 2832100 w 5765800"/>
                  <a:gd name="connsiteY10" fmla="*/ 9922 h 1914525"/>
                  <a:gd name="connsiteX11" fmla="*/ 2861072 w 5765800"/>
                  <a:gd name="connsiteY11" fmla="*/ 11906 h 1914525"/>
                  <a:gd name="connsiteX12" fmla="*/ 2890044 w 5765800"/>
                  <a:gd name="connsiteY12" fmla="*/ 15081 h 1914525"/>
                  <a:gd name="connsiteX13" fmla="*/ 2919413 w 5765800"/>
                  <a:gd name="connsiteY13" fmla="*/ 18256 h 1914525"/>
                  <a:gd name="connsiteX14" fmla="*/ 2948385 w 5765800"/>
                  <a:gd name="connsiteY14" fmla="*/ 21828 h 1914525"/>
                  <a:gd name="connsiteX15" fmla="*/ 2977356 w 5765800"/>
                  <a:gd name="connsiteY15" fmla="*/ 25400 h 1914525"/>
                  <a:gd name="connsiteX16" fmla="*/ 3005931 w 5765800"/>
                  <a:gd name="connsiteY16" fmla="*/ 29369 h 1914525"/>
                  <a:gd name="connsiteX17" fmla="*/ 3035300 w 5765800"/>
                  <a:gd name="connsiteY17" fmla="*/ 33734 h 1914525"/>
                  <a:gd name="connsiteX18" fmla="*/ 3063875 w 5765800"/>
                  <a:gd name="connsiteY18" fmla="*/ 38100 h 1914525"/>
                  <a:gd name="connsiteX19" fmla="*/ 3092450 w 5765800"/>
                  <a:gd name="connsiteY19" fmla="*/ 42863 h 1914525"/>
                  <a:gd name="connsiteX20" fmla="*/ 3121025 w 5765800"/>
                  <a:gd name="connsiteY20" fmla="*/ 48419 h 1914525"/>
                  <a:gd name="connsiteX21" fmla="*/ 3149600 w 5765800"/>
                  <a:gd name="connsiteY21" fmla="*/ 53578 h 1914525"/>
                  <a:gd name="connsiteX22" fmla="*/ 3178175 w 5765800"/>
                  <a:gd name="connsiteY22" fmla="*/ 59134 h 1914525"/>
                  <a:gd name="connsiteX23" fmla="*/ 3206750 w 5765800"/>
                  <a:gd name="connsiteY23" fmla="*/ 65088 h 1914525"/>
                  <a:gd name="connsiteX24" fmla="*/ 3234531 w 5765800"/>
                  <a:gd name="connsiteY24" fmla="*/ 71834 h 1914525"/>
                  <a:gd name="connsiteX25" fmla="*/ 3262710 w 5765800"/>
                  <a:gd name="connsiteY25" fmla="*/ 77788 h 1914525"/>
                  <a:gd name="connsiteX26" fmla="*/ 3290888 w 5765800"/>
                  <a:gd name="connsiteY26" fmla="*/ 84931 h 1914525"/>
                  <a:gd name="connsiteX27" fmla="*/ 3319066 w 5765800"/>
                  <a:gd name="connsiteY27" fmla="*/ 92075 h 1914525"/>
                  <a:gd name="connsiteX28" fmla="*/ 3346847 w 5765800"/>
                  <a:gd name="connsiteY28" fmla="*/ 99219 h 1914525"/>
                  <a:gd name="connsiteX29" fmla="*/ 3374628 w 5765800"/>
                  <a:gd name="connsiteY29" fmla="*/ 107156 h 1914525"/>
                  <a:gd name="connsiteX30" fmla="*/ 3402013 w 5765800"/>
                  <a:gd name="connsiteY30" fmla="*/ 115094 h 1914525"/>
                  <a:gd name="connsiteX31" fmla="*/ 3429794 w 5765800"/>
                  <a:gd name="connsiteY31" fmla="*/ 123031 h 1914525"/>
                  <a:gd name="connsiteX32" fmla="*/ 3457178 w 5765800"/>
                  <a:gd name="connsiteY32" fmla="*/ 131366 h 1914525"/>
                  <a:gd name="connsiteX33" fmla="*/ 3484563 w 5765800"/>
                  <a:gd name="connsiteY33" fmla="*/ 140097 h 1914525"/>
                  <a:gd name="connsiteX34" fmla="*/ 3511550 w 5765800"/>
                  <a:gd name="connsiteY34" fmla="*/ 149225 h 1914525"/>
                  <a:gd name="connsiteX35" fmla="*/ 3538935 w 5765800"/>
                  <a:gd name="connsiteY35" fmla="*/ 158353 h 1914525"/>
                  <a:gd name="connsiteX36" fmla="*/ 3565922 w 5765800"/>
                  <a:gd name="connsiteY36" fmla="*/ 167481 h 1914525"/>
                  <a:gd name="connsiteX37" fmla="*/ 3592116 w 5765800"/>
                  <a:gd name="connsiteY37" fmla="*/ 177800 h 1914525"/>
                  <a:gd name="connsiteX38" fmla="*/ 3618706 w 5765800"/>
                  <a:gd name="connsiteY38" fmla="*/ 187722 h 1914525"/>
                  <a:gd name="connsiteX39" fmla="*/ 3645297 w 5765800"/>
                  <a:gd name="connsiteY39" fmla="*/ 198041 h 1914525"/>
                  <a:gd name="connsiteX40" fmla="*/ 3671888 w 5765800"/>
                  <a:gd name="connsiteY40" fmla="*/ 208359 h 1914525"/>
                  <a:gd name="connsiteX41" fmla="*/ 3697685 w 5765800"/>
                  <a:gd name="connsiteY41" fmla="*/ 219472 h 1914525"/>
                  <a:gd name="connsiteX42" fmla="*/ 3724275 w 5765800"/>
                  <a:gd name="connsiteY42" fmla="*/ 230584 h 1914525"/>
                  <a:gd name="connsiteX43" fmla="*/ 3749675 w 5765800"/>
                  <a:gd name="connsiteY43" fmla="*/ 241300 h 1914525"/>
                  <a:gd name="connsiteX44" fmla="*/ 3775869 w 5765800"/>
                  <a:gd name="connsiteY44" fmla="*/ 253603 h 1914525"/>
                  <a:gd name="connsiteX45" fmla="*/ 3801269 w 5765800"/>
                  <a:gd name="connsiteY45" fmla="*/ 264716 h 1914525"/>
                  <a:gd name="connsiteX46" fmla="*/ 3826669 w 5765800"/>
                  <a:gd name="connsiteY46" fmla="*/ 277416 h 1914525"/>
                  <a:gd name="connsiteX47" fmla="*/ 3851672 w 5765800"/>
                  <a:gd name="connsiteY47" fmla="*/ 289719 h 1914525"/>
                  <a:gd name="connsiteX48" fmla="*/ 3876675 w 5765800"/>
                  <a:gd name="connsiteY48" fmla="*/ 302022 h 1914525"/>
                  <a:gd name="connsiteX49" fmla="*/ 3901678 w 5765800"/>
                  <a:gd name="connsiteY49" fmla="*/ 314722 h 1914525"/>
                  <a:gd name="connsiteX50" fmla="*/ 3926285 w 5765800"/>
                  <a:gd name="connsiteY50" fmla="*/ 328216 h 1914525"/>
                  <a:gd name="connsiteX51" fmla="*/ 3950891 w 5765800"/>
                  <a:gd name="connsiteY51" fmla="*/ 341313 h 1914525"/>
                  <a:gd name="connsiteX52" fmla="*/ 3974703 w 5765800"/>
                  <a:gd name="connsiteY52" fmla="*/ 354806 h 1914525"/>
                  <a:gd name="connsiteX53" fmla="*/ 3999310 w 5765800"/>
                  <a:gd name="connsiteY53" fmla="*/ 368697 h 1914525"/>
                  <a:gd name="connsiteX54" fmla="*/ 4023122 w 5765800"/>
                  <a:gd name="connsiteY54" fmla="*/ 382588 h 1914525"/>
                  <a:gd name="connsiteX55" fmla="*/ 4046538 w 5765800"/>
                  <a:gd name="connsiteY55" fmla="*/ 397272 h 1914525"/>
                  <a:gd name="connsiteX56" fmla="*/ 4069953 w 5765800"/>
                  <a:gd name="connsiteY56" fmla="*/ 411559 h 1914525"/>
                  <a:gd name="connsiteX57" fmla="*/ 4093369 w 5765800"/>
                  <a:gd name="connsiteY57" fmla="*/ 426244 h 1914525"/>
                  <a:gd name="connsiteX58" fmla="*/ 4115991 w 5765800"/>
                  <a:gd name="connsiteY58" fmla="*/ 441325 h 1914525"/>
                  <a:gd name="connsiteX59" fmla="*/ 4139010 w 5765800"/>
                  <a:gd name="connsiteY59" fmla="*/ 456406 h 1914525"/>
                  <a:gd name="connsiteX60" fmla="*/ 4162028 w 5765800"/>
                  <a:gd name="connsiteY60" fmla="*/ 471884 h 1914525"/>
                  <a:gd name="connsiteX61" fmla="*/ 4184253 w 5765800"/>
                  <a:gd name="connsiteY61" fmla="*/ 487759 h 1914525"/>
                  <a:gd name="connsiteX62" fmla="*/ 4206478 w 5765800"/>
                  <a:gd name="connsiteY62" fmla="*/ 503634 h 1914525"/>
                  <a:gd name="connsiteX63" fmla="*/ 4228306 w 5765800"/>
                  <a:gd name="connsiteY63" fmla="*/ 519509 h 1914525"/>
                  <a:gd name="connsiteX64" fmla="*/ 4250135 w 5765800"/>
                  <a:gd name="connsiteY64" fmla="*/ 536575 h 1914525"/>
                  <a:gd name="connsiteX65" fmla="*/ 4271566 w 5765800"/>
                  <a:gd name="connsiteY65" fmla="*/ 552847 h 1914525"/>
                  <a:gd name="connsiteX66" fmla="*/ 4292997 w 5765800"/>
                  <a:gd name="connsiteY66" fmla="*/ 569516 h 1914525"/>
                  <a:gd name="connsiteX67" fmla="*/ 4519613 w 5765800"/>
                  <a:gd name="connsiteY67" fmla="*/ 752475 h 1914525"/>
                  <a:gd name="connsiteX68" fmla="*/ 4624388 w 5765800"/>
                  <a:gd name="connsiteY68" fmla="*/ 837406 h 1914525"/>
                  <a:gd name="connsiteX69" fmla="*/ 4724400 w 5765800"/>
                  <a:gd name="connsiteY69" fmla="*/ 919956 h 1914525"/>
                  <a:gd name="connsiteX70" fmla="*/ 4820444 w 5765800"/>
                  <a:gd name="connsiteY70" fmla="*/ 999331 h 1914525"/>
                  <a:gd name="connsiteX71" fmla="*/ 4912916 w 5765800"/>
                  <a:gd name="connsiteY71" fmla="*/ 1077119 h 1914525"/>
                  <a:gd name="connsiteX72" fmla="*/ 4957366 w 5765800"/>
                  <a:gd name="connsiteY72" fmla="*/ 1115616 h 1914525"/>
                  <a:gd name="connsiteX73" fmla="*/ 5001816 w 5765800"/>
                  <a:gd name="connsiteY73" fmla="*/ 1153716 h 1914525"/>
                  <a:gd name="connsiteX74" fmla="*/ 5045472 w 5765800"/>
                  <a:gd name="connsiteY74" fmla="*/ 1192213 h 1914525"/>
                  <a:gd name="connsiteX75" fmla="*/ 5088335 w 5765800"/>
                  <a:gd name="connsiteY75" fmla="*/ 1230313 h 1914525"/>
                  <a:gd name="connsiteX76" fmla="*/ 5131197 w 5765800"/>
                  <a:gd name="connsiteY76" fmla="*/ 1268810 h 1914525"/>
                  <a:gd name="connsiteX77" fmla="*/ 5173663 w 5765800"/>
                  <a:gd name="connsiteY77" fmla="*/ 1307306 h 1914525"/>
                  <a:gd name="connsiteX78" fmla="*/ 5215731 w 5765800"/>
                  <a:gd name="connsiteY78" fmla="*/ 1345803 h 1914525"/>
                  <a:gd name="connsiteX79" fmla="*/ 5257403 w 5765800"/>
                  <a:gd name="connsiteY79" fmla="*/ 1385094 h 1914525"/>
                  <a:gd name="connsiteX80" fmla="*/ 5299075 w 5765800"/>
                  <a:gd name="connsiteY80" fmla="*/ 1424385 h 1914525"/>
                  <a:gd name="connsiteX81" fmla="*/ 5340747 w 5765800"/>
                  <a:gd name="connsiteY81" fmla="*/ 1464072 h 1914525"/>
                  <a:gd name="connsiteX82" fmla="*/ 5381625 w 5765800"/>
                  <a:gd name="connsiteY82" fmla="*/ 1504950 h 1914525"/>
                  <a:gd name="connsiteX83" fmla="*/ 5423297 w 5765800"/>
                  <a:gd name="connsiteY83" fmla="*/ 1546225 h 1914525"/>
                  <a:gd name="connsiteX84" fmla="*/ 5464969 w 5765800"/>
                  <a:gd name="connsiteY84" fmla="*/ 1588294 h 1914525"/>
                  <a:gd name="connsiteX85" fmla="*/ 5507038 w 5765800"/>
                  <a:gd name="connsiteY85" fmla="*/ 1631156 h 1914525"/>
                  <a:gd name="connsiteX86" fmla="*/ 5549106 w 5765800"/>
                  <a:gd name="connsiteY86" fmla="*/ 1675606 h 1914525"/>
                  <a:gd name="connsiteX87" fmla="*/ 5591175 w 5765800"/>
                  <a:gd name="connsiteY87" fmla="*/ 1720453 h 1914525"/>
                  <a:gd name="connsiteX88" fmla="*/ 5634038 w 5765800"/>
                  <a:gd name="connsiteY88" fmla="*/ 1766491 h 1914525"/>
                  <a:gd name="connsiteX89" fmla="*/ 5677297 w 5765800"/>
                  <a:gd name="connsiteY89" fmla="*/ 1813719 h 1914525"/>
                  <a:gd name="connsiteX90" fmla="*/ 5721350 w 5765800"/>
                  <a:gd name="connsiteY90" fmla="*/ 1862931 h 1914525"/>
                  <a:gd name="connsiteX91" fmla="*/ 5765800 w 5765800"/>
                  <a:gd name="connsiteY91" fmla="*/ 1912938 h 1914525"/>
                  <a:gd name="connsiteX92" fmla="*/ 5735638 w 5765800"/>
                  <a:gd name="connsiteY92" fmla="*/ 1914525 h 1914525"/>
                  <a:gd name="connsiteX93" fmla="*/ 4455160 w 5765800"/>
                  <a:gd name="connsiteY93" fmla="*/ 1800542 h 1914525"/>
                  <a:gd name="connsiteX94" fmla="*/ 4409440 w 5765800"/>
                  <a:gd name="connsiteY94" fmla="*/ 1790382 h 1914525"/>
                  <a:gd name="connsiteX95" fmla="*/ 4389120 w 5765800"/>
                  <a:gd name="connsiteY95" fmla="*/ 1785302 h 1914525"/>
                  <a:gd name="connsiteX96" fmla="*/ 4358640 w 5765800"/>
                  <a:gd name="connsiteY96" fmla="*/ 1785302 h 1914525"/>
                  <a:gd name="connsiteX97" fmla="*/ 3566160 w 5765800"/>
                  <a:gd name="connsiteY97" fmla="*/ 1668462 h 1914525"/>
                  <a:gd name="connsiteX98" fmla="*/ 3413760 w 5765800"/>
                  <a:gd name="connsiteY98" fmla="*/ 1648142 h 1914525"/>
                  <a:gd name="connsiteX99" fmla="*/ 2529840 w 5765800"/>
                  <a:gd name="connsiteY99" fmla="*/ 1485582 h 1914525"/>
                  <a:gd name="connsiteX100" fmla="*/ 1559560 w 5765800"/>
                  <a:gd name="connsiteY100" fmla="*/ 1424622 h 1914525"/>
                  <a:gd name="connsiteX101" fmla="*/ 1498600 w 5765800"/>
                  <a:gd name="connsiteY101" fmla="*/ 1419542 h 1914525"/>
                  <a:gd name="connsiteX102" fmla="*/ 858520 w 5765800"/>
                  <a:gd name="connsiteY102" fmla="*/ 1373822 h 1914525"/>
                  <a:gd name="connsiteX103" fmla="*/ 457200 w 5765800"/>
                  <a:gd name="connsiteY103" fmla="*/ 1353502 h 1914525"/>
                  <a:gd name="connsiteX104" fmla="*/ 167640 w 5765800"/>
                  <a:gd name="connsiteY104" fmla="*/ 1343342 h 1914525"/>
                  <a:gd name="connsiteX105" fmla="*/ 0 w 5765800"/>
                  <a:gd name="connsiteY105" fmla="*/ 1184672 h 1914525"/>
                  <a:gd name="connsiteX106" fmla="*/ 0 w 5765800"/>
                  <a:gd name="connsiteY106" fmla="*/ 0 h 1914525"/>
                  <a:gd name="connsiteX0" fmla="*/ 0 w 5765800"/>
                  <a:gd name="connsiteY0" fmla="*/ 0 h 1912938"/>
                  <a:gd name="connsiteX1" fmla="*/ 2595960 w 5765800"/>
                  <a:gd name="connsiteY1" fmla="*/ 0 h 1912938"/>
                  <a:gd name="connsiteX2" fmla="*/ 2597547 w 5765800"/>
                  <a:gd name="connsiteY2" fmla="*/ 0 h 1912938"/>
                  <a:gd name="connsiteX3" fmla="*/ 2626519 w 5765800"/>
                  <a:gd name="connsiteY3" fmla="*/ 0 h 1912938"/>
                  <a:gd name="connsiteX4" fmla="*/ 2656285 w 5765800"/>
                  <a:gd name="connsiteY4" fmla="*/ 397 h 1912938"/>
                  <a:gd name="connsiteX5" fmla="*/ 2685256 w 5765800"/>
                  <a:gd name="connsiteY5" fmla="*/ 1191 h 1912938"/>
                  <a:gd name="connsiteX6" fmla="*/ 2715022 w 5765800"/>
                  <a:gd name="connsiteY6" fmla="*/ 2381 h 1912938"/>
                  <a:gd name="connsiteX7" fmla="*/ 2743994 w 5765800"/>
                  <a:gd name="connsiteY7" fmla="*/ 3572 h 1912938"/>
                  <a:gd name="connsiteX8" fmla="*/ 2773760 w 5765800"/>
                  <a:gd name="connsiteY8" fmla="*/ 5159 h 1912938"/>
                  <a:gd name="connsiteX9" fmla="*/ 2802731 w 5765800"/>
                  <a:gd name="connsiteY9" fmla="*/ 7541 h 1912938"/>
                  <a:gd name="connsiteX10" fmla="*/ 2832100 w 5765800"/>
                  <a:gd name="connsiteY10" fmla="*/ 9922 h 1912938"/>
                  <a:gd name="connsiteX11" fmla="*/ 2861072 w 5765800"/>
                  <a:gd name="connsiteY11" fmla="*/ 11906 h 1912938"/>
                  <a:gd name="connsiteX12" fmla="*/ 2890044 w 5765800"/>
                  <a:gd name="connsiteY12" fmla="*/ 15081 h 1912938"/>
                  <a:gd name="connsiteX13" fmla="*/ 2919413 w 5765800"/>
                  <a:gd name="connsiteY13" fmla="*/ 18256 h 1912938"/>
                  <a:gd name="connsiteX14" fmla="*/ 2948385 w 5765800"/>
                  <a:gd name="connsiteY14" fmla="*/ 21828 h 1912938"/>
                  <a:gd name="connsiteX15" fmla="*/ 2977356 w 5765800"/>
                  <a:gd name="connsiteY15" fmla="*/ 25400 h 1912938"/>
                  <a:gd name="connsiteX16" fmla="*/ 3005931 w 5765800"/>
                  <a:gd name="connsiteY16" fmla="*/ 29369 h 1912938"/>
                  <a:gd name="connsiteX17" fmla="*/ 3035300 w 5765800"/>
                  <a:gd name="connsiteY17" fmla="*/ 33734 h 1912938"/>
                  <a:gd name="connsiteX18" fmla="*/ 3063875 w 5765800"/>
                  <a:gd name="connsiteY18" fmla="*/ 38100 h 1912938"/>
                  <a:gd name="connsiteX19" fmla="*/ 3092450 w 5765800"/>
                  <a:gd name="connsiteY19" fmla="*/ 42863 h 1912938"/>
                  <a:gd name="connsiteX20" fmla="*/ 3121025 w 5765800"/>
                  <a:gd name="connsiteY20" fmla="*/ 48419 h 1912938"/>
                  <a:gd name="connsiteX21" fmla="*/ 3149600 w 5765800"/>
                  <a:gd name="connsiteY21" fmla="*/ 53578 h 1912938"/>
                  <a:gd name="connsiteX22" fmla="*/ 3178175 w 5765800"/>
                  <a:gd name="connsiteY22" fmla="*/ 59134 h 1912938"/>
                  <a:gd name="connsiteX23" fmla="*/ 3206750 w 5765800"/>
                  <a:gd name="connsiteY23" fmla="*/ 65088 h 1912938"/>
                  <a:gd name="connsiteX24" fmla="*/ 3234531 w 5765800"/>
                  <a:gd name="connsiteY24" fmla="*/ 71834 h 1912938"/>
                  <a:gd name="connsiteX25" fmla="*/ 3262710 w 5765800"/>
                  <a:gd name="connsiteY25" fmla="*/ 77788 h 1912938"/>
                  <a:gd name="connsiteX26" fmla="*/ 3290888 w 5765800"/>
                  <a:gd name="connsiteY26" fmla="*/ 84931 h 1912938"/>
                  <a:gd name="connsiteX27" fmla="*/ 3319066 w 5765800"/>
                  <a:gd name="connsiteY27" fmla="*/ 92075 h 1912938"/>
                  <a:gd name="connsiteX28" fmla="*/ 3346847 w 5765800"/>
                  <a:gd name="connsiteY28" fmla="*/ 99219 h 1912938"/>
                  <a:gd name="connsiteX29" fmla="*/ 3374628 w 5765800"/>
                  <a:gd name="connsiteY29" fmla="*/ 107156 h 1912938"/>
                  <a:gd name="connsiteX30" fmla="*/ 3402013 w 5765800"/>
                  <a:gd name="connsiteY30" fmla="*/ 115094 h 1912938"/>
                  <a:gd name="connsiteX31" fmla="*/ 3429794 w 5765800"/>
                  <a:gd name="connsiteY31" fmla="*/ 123031 h 1912938"/>
                  <a:gd name="connsiteX32" fmla="*/ 3457178 w 5765800"/>
                  <a:gd name="connsiteY32" fmla="*/ 131366 h 1912938"/>
                  <a:gd name="connsiteX33" fmla="*/ 3484563 w 5765800"/>
                  <a:gd name="connsiteY33" fmla="*/ 140097 h 1912938"/>
                  <a:gd name="connsiteX34" fmla="*/ 3511550 w 5765800"/>
                  <a:gd name="connsiteY34" fmla="*/ 149225 h 1912938"/>
                  <a:gd name="connsiteX35" fmla="*/ 3538935 w 5765800"/>
                  <a:gd name="connsiteY35" fmla="*/ 158353 h 1912938"/>
                  <a:gd name="connsiteX36" fmla="*/ 3565922 w 5765800"/>
                  <a:gd name="connsiteY36" fmla="*/ 167481 h 1912938"/>
                  <a:gd name="connsiteX37" fmla="*/ 3592116 w 5765800"/>
                  <a:gd name="connsiteY37" fmla="*/ 177800 h 1912938"/>
                  <a:gd name="connsiteX38" fmla="*/ 3618706 w 5765800"/>
                  <a:gd name="connsiteY38" fmla="*/ 187722 h 1912938"/>
                  <a:gd name="connsiteX39" fmla="*/ 3645297 w 5765800"/>
                  <a:gd name="connsiteY39" fmla="*/ 198041 h 1912938"/>
                  <a:gd name="connsiteX40" fmla="*/ 3671888 w 5765800"/>
                  <a:gd name="connsiteY40" fmla="*/ 208359 h 1912938"/>
                  <a:gd name="connsiteX41" fmla="*/ 3697685 w 5765800"/>
                  <a:gd name="connsiteY41" fmla="*/ 219472 h 1912938"/>
                  <a:gd name="connsiteX42" fmla="*/ 3724275 w 5765800"/>
                  <a:gd name="connsiteY42" fmla="*/ 230584 h 1912938"/>
                  <a:gd name="connsiteX43" fmla="*/ 3749675 w 5765800"/>
                  <a:gd name="connsiteY43" fmla="*/ 241300 h 1912938"/>
                  <a:gd name="connsiteX44" fmla="*/ 3775869 w 5765800"/>
                  <a:gd name="connsiteY44" fmla="*/ 253603 h 1912938"/>
                  <a:gd name="connsiteX45" fmla="*/ 3801269 w 5765800"/>
                  <a:gd name="connsiteY45" fmla="*/ 264716 h 1912938"/>
                  <a:gd name="connsiteX46" fmla="*/ 3826669 w 5765800"/>
                  <a:gd name="connsiteY46" fmla="*/ 277416 h 1912938"/>
                  <a:gd name="connsiteX47" fmla="*/ 3851672 w 5765800"/>
                  <a:gd name="connsiteY47" fmla="*/ 289719 h 1912938"/>
                  <a:gd name="connsiteX48" fmla="*/ 3876675 w 5765800"/>
                  <a:gd name="connsiteY48" fmla="*/ 302022 h 1912938"/>
                  <a:gd name="connsiteX49" fmla="*/ 3901678 w 5765800"/>
                  <a:gd name="connsiteY49" fmla="*/ 314722 h 1912938"/>
                  <a:gd name="connsiteX50" fmla="*/ 3926285 w 5765800"/>
                  <a:gd name="connsiteY50" fmla="*/ 328216 h 1912938"/>
                  <a:gd name="connsiteX51" fmla="*/ 3950891 w 5765800"/>
                  <a:gd name="connsiteY51" fmla="*/ 341313 h 1912938"/>
                  <a:gd name="connsiteX52" fmla="*/ 3974703 w 5765800"/>
                  <a:gd name="connsiteY52" fmla="*/ 354806 h 1912938"/>
                  <a:gd name="connsiteX53" fmla="*/ 3999310 w 5765800"/>
                  <a:gd name="connsiteY53" fmla="*/ 368697 h 1912938"/>
                  <a:gd name="connsiteX54" fmla="*/ 4023122 w 5765800"/>
                  <a:gd name="connsiteY54" fmla="*/ 382588 h 1912938"/>
                  <a:gd name="connsiteX55" fmla="*/ 4046538 w 5765800"/>
                  <a:gd name="connsiteY55" fmla="*/ 397272 h 1912938"/>
                  <a:gd name="connsiteX56" fmla="*/ 4069953 w 5765800"/>
                  <a:gd name="connsiteY56" fmla="*/ 411559 h 1912938"/>
                  <a:gd name="connsiteX57" fmla="*/ 4093369 w 5765800"/>
                  <a:gd name="connsiteY57" fmla="*/ 426244 h 1912938"/>
                  <a:gd name="connsiteX58" fmla="*/ 4115991 w 5765800"/>
                  <a:gd name="connsiteY58" fmla="*/ 441325 h 1912938"/>
                  <a:gd name="connsiteX59" fmla="*/ 4139010 w 5765800"/>
                  <a:gd name="connsiteY59" fmla="*/ 456406 h 1912938"/>
                  <a:gd name="connsiteX60" fmla="*/ 4162028 w 5765800"/>
                  <a:gd name="connsiteY60" fmla="*/ 471884 h 1912938"/>
                  <a:gd name="connsiteX61" fmla="*/ 4184253 w 5765800"/>
                  <a:gd name="connsiteY61" fmla="*/ 487759 h 1912938"/>
                  <a:gd name="connsiteX62" fmla="*/ 4206478 w 5765800"/>
                  <a:gd name="connsiteY62" fmla="*/ 503634 h 1912938"/>
                  <a:gd name="connsiteX63" fmla="*/ 4228306 w 5765800"/>
                  <a:gd name="connsiteY63" fmla="*/ 519509 h 1912938"/>
                  <a:gd name="connsiteX64" fmla="*/ 4250135 w 5765800"/>
                  <a:gd name="connsiteY64" fmla="*/ 536575 h 1912938"/>
                  <a:gd name="connsiteX65" fmla="*/ 4271566 w 5765800"/>
                  <a:gd name="connsiteY65" fmla="*/ 552847 h 1912938"/>
                  <a:gd name="connsiteX66" fmla="*/ 4292997 w 5765800"/>
                  <a:gd name="connsiteY66" fmla="*/ 569516 h 1912938"/>
                  <a:gd name="connsiteX67" fmla="*/ 4519613 w 5765800"/>
                  <a:gd name="connsiteY67" fmla="*/ 752475 h 1912938"/>
                  <a:gd name="connsiteX68" fmla="*/ 4624388 w 5765800"/>
                  <a:gd name="connsiteY68" fmla="*/ 837406 h 1912938"/>
                  <a:gd name="connsiteX69" fmla="*/ 4724400 w 5765800"/>
                  <a:gd name="connsiteY69" fmla="*/ 919956 h 1912938"/>
                  <a:gd name="connsiteX70" fmla="*/ 4820444 w 5765800"/>
                  <a:gd name="connsiteY70" fmla="*/ 999331 h 1912938"/>
                  <a:gd name="connsiteX71" fmla="*/ 4912916 w 5765800"/>
                  <a:gd name="connsiteY71" fmla="*/ 1077119 h 1912938"/>
                  <a:gd name="connsiteX72" fmla="*/ 4957366 w 5765800"/>
                  <a:gd name="connsiteY72" fmla="*/ 1115616 h 1912938"/>
                  <a:gd name="connsiteX73" fmla="*/ 5001816 w 5765800"/>
                  <a:gd name="connsiteY73" fmla="*/ 1153716 h 1912938"/>
                  <a:gd name="connsiteX74" fmla="*/ 5045472 w 5765800"/>
                  <a:gd name="connsiteY74" fmla="*/ 1192213 h 1912938"/>
                  <a:gd name="connsiteX75" fmla="*/ 5088335 w 5765800"/>
                  <a:gd name="connsiteY75" fmla="*/ 1230313 h 1912938"/>
                  <a:gd name="connsiteX76" fmla="*/ 5131197 w 5765800"/>
                  <a:gd name="connsiteY76" fmla="*/ 1268810 h 1912938"/>
                  <a:gd name="connsiteX77" fmla="*/ 5173663 w 5765800"/>
                  <a:gd name="connsiteY77" fmla="*/ 1307306 h 1912938"/>
                  <a:gd name="connsiteX78" fmla="*/ 5215731 w 5765800"/>
                  <a:gd name="connsiteY78" fmla="*/ 1345803 h 1912938"/>
                  <a:gd name="connsiteX79" fmla="*/ 5257403 w 5765800"/>
                  <a:gd name="connsiteY79" fmla="*/ 1385094 h 1912938"/>
                  <a:gd name="connsiteX80" fmla="*/ 5299075 w 5765800"/>
                  <a:gd name="connsiteY80" fmla="*/ 1424385 h 1912938"/>
                  <a:gd name="connsiteX81" fmla="*/ 5340747 w 5765800"/>
                  <a:gd name="connsiteY81" fmla="*/ 1464072 h 1912938"/>
                  <a:gd name="connsiteX82" fmla="*/ 5381625 w 5765800"/>
                  <a:gd name="connsiteY82" fmla="*/ 1504950 h 1912938"/>
                  <a:gd name="connsiteX83" fmla="*/ 5423297 w 5765800"/>
                  <a:gd name="connsiteY83" fmla="*/ 1546225 h 1912938"/>
                  <a:gd name="connsiteX84" fmla="*/ 5464969 w 5765800"/>
                  <a:gd name="connsiteY84" fmla="*/ 1588294 h 1912938"/>
                  <a:gd name="connsiteX85" fmla="*/ 5507038 w 5765800"/>
                  <a:gd name="connsiteY85" fmla="*/ 1631156 h 1912938"/>
                  <a:gd name="connsiteX86" fmla="*/ 5549106 w 5765800"/>
                  <a:gd name="connsiteY86" fmla="*/ 1675606 h 1912938"/>
                  <a:gd name="connsiteX87" fmla="*/ 5591175 w 5765800"/>
                  <a:gd name="connsiteY87" fmla="*/ 1720453 h 1912938"/>
                  <a:gd name="connsiteX88" fmla="*/ 5634038 w 5765800"/>
                  <a:gd name="connsiteY88" fmla="*/ 1766491 h 1912938"/>
                  <a:gd name="connsiteX89" fmla="*/ 5677297 w 5765800"/>
                  <a:gd name="connsiteY89" fmla="*/ 1813719 h 1912938"/>
                  <a:gd name="connsiteX90" fmla="*/ 5721350 w 5765800"/>
                  <a:gd name="connsiteY90" fmla="*/ 1862931 h 1912938"/>
                  <a:gd name="connsiteX91" fmla="*/ 5765800 w 5765800"/>
                  <a:gd name="connsiteY91" fmla="*/ 1912938 h 1912938"/>
                  <a:gd name="connsiteX92" fmla="*/ 4455160 w 5765800"/>
                  <a:gd name="connsiteY92" fmla="*/ 1800542 h 1912938"/>
                  <a:gd name="connsiteX93" fmla="*/ 4409440 w 5765800"/>
                  <a:gd name="connsiteY93" fmla="*/ 1790382 h 1912938"/>
                  <a:gd name="connsiteX94" fmla="*/ 4389120 w 5765800"/>
                  <a:gd name="connsiteY94" fmla="*/ 1785302 h 1912938"/>
                  <a:gd name="connsiteX95" fmla="*/ 4358640 w 5765800"/>
                  <a:gd name="connsiteY95" fmla="*/ 1785302 h 1912938"/>
                  <a:gd name="connsiteX96" fmla="*/ 3566160 w 5765800"/>
                  <a:gd name="connsiteY96" fmla="*/ 1668462 h 1912938"/>
                  <a:gd name="connsiteX97" fmla="*/ 3413760 w 5765800"/>
                  <a:gd name="connsiteY97" fmla="*/ 1648142 h 1912938"/>
                  <a:gd name="connsiteX98" fmla="*/ 2529840 w 5765800"/>
                  <a:gd name="connsiteY98" fmla="*/ 1485582 h 1912938"/>
                  <a:gd name="connsiteX99" fmla="*/ 1559560 w 5765800"/>
                  <a:gd name="connsiteY99" fmla="*/ 1424622 h 1912938"/>
                  <a:gd name="connsiteX100" fmla="*/ 1498600 w 5765800"/>
                  <a:gd name="connsiteY100" fmla="*/ 1419542 h 1912938"/>
                  <a:gd name="connsiteX101" fmla="*/ 858520 w 5765800"/>
                  <a:gd name="connsiteY101" fmla="*/ 1373822 h 1912938"/>
                  <a:gd name="connsiteX102" fmla="*/ 457200 w 5765800"/>
                  <a:gd name="connsiteY102" fmla="*/ 1353502 h 1912938"/>
                  <a:gd name="connsiteX103" fmla="*/ 167640 w 5765800"/>
                  <a:gd name="connsiteY103" fmla="*/ 1343342 h 1912938"/>
                  <a:gd name="connsiteX104" fmla="*/ 0 w 5765800"/>
                  <a:gd name="connsiteY104" fmla="*/ 1184672 h 1912938"/>
                  <a:gd name="connsiteX105" fmla="*/ 0 w 5765800"/>
                  <a:gd name="connsiteY105" fmla="*/ 0 h 1912938"/>
                  <a:gd name="connsiteX0" fmla="*/ 0 w 5765800"/>
                  <a:gd name="connsiteY0" fmla="*/ 0 h 1912938"/>
                  <a:gd name="connsiteX1" fmla="*/ 2595960 w 5765800"/>
                  <a:gd name="connsiteY1" fmla="*/ 0 h 1912938"/>
                  <a:gd name="connsiteX2" fmla="*/ 2597547 w 5765800"/>
                  <a:gd name="connsiteY2" fmla="*/ 0 h 1912938"/>
                  <a:gd name="connsiteX3" fmla="*/ 2626519 w 5765800"/>
                  <a:gd name="connsiteY3" fmla="*/ 0 h 1912938"/>
                  <a:gd name="connsiteX4" fmla="*/ 2656285 w 5765800"/>
                  <a:gd name="connsiteY4" fmla="*/ 397 h 1912938"/>
                  <a:gd name="connsiteX5" fmla="*/ 2685256 w 5765800"/>
                  <a:gd name="connsiteY5" fmla="*/ 1191 h 1912938"/>
                  <a:gd name="connsiteX6" fmla="*/ 2715022 w 5765800"/>
                  <a:gd name="connsiteY6" fmla="*/ 2381 h 1912938"/>
                  <a:gd name="connsiteX7" fmla="*/ 2743994 w 5765800"/>
                  <a:gd name="connsiteY7" fmla="*/ 3572 h 1912938"/>
                  <a:gd name="connsiteX8" fmla="*/ 2773760 w 5765800"/>
                  <a:gd name="connsiteY8" fmla="*/ 5159 h 1912938"/>
                  <a:gd name="connsiteX9" fmla="*/ 2802731 w 5765800"/>
                  <a:gd name="connsiteY9" fmla="*/ 7541 h 1912938"/>
                  <a:gd name="connsiteX10" fmla="*/ 2832100 w 5765800"/>
                  <a:gd name="connsiteY10" fmla="*/ 9922 h 1912938"/>
                  <a:gd name="connsiteX11" fmla="*/ 2861072 w 5765800"/>
                  <a:gd name="connsiteY11" fmla="*/ 11906 h 1912938"/>
                  <a:gd name="connsiteX12" fmla="*/ 2890044 w 5765800"/>
                  <a:gd name="connsiteY12" fmla="*/ 15081 h 1912938"/>
                  <a:gd name="connsiteX13" fmla="*/ 2919413 w 5765800"/>
                  <a:gd name="connsiteY13" fmla="*/ 18256 h 1912938"/>
                  <a:gd name="connsiteX14" fmla="*/ 2948385 w 5765800"/>
                  <a:gd name="connsiteY14" fmla="*/ 21828 h 1912938"/>
                  <a:gd name="connsiteX15" fmla="*/ 2977356 w 5765800"/>
                  <a:gd name="connsiteY15" fmla="*/ 25400 h 1912938"/>
                  <a:gd name="connsiteX16" fmla="*/ 3005931 w 5765800"/>
                  <a:gd name="connsiteY16" fmla="*/ 29369 h 1912938"/>
                  <a:gd name="connsiteX17" fmla="*/ 3035300 w 5765800"/>
                  <a:gd name="connsiteY17" fmla="*/ 33734 h 1912938"/>
                  <a:gd name="connsiteX18" fmla="*/ 3063875 w 5765800"/>
                  <a:gd name="connsiteY18" fmla="*/ 38100 h 1912938"/>
                  <a:gd name="connsiteX19" fmla="*/ 3092450 w 5765800"/>
                  <a:gd name="connsiteY19" fmla="*/ 42863 h 1912938"/>
                  <a:gd name="connsiteX20" fmla="*/ 3121025 w 5765800"/>
                  <a:gd name="connsiteY20" fmla="*/ 48419 h 1912938"/>
                  <a:gd name="connsiteX21" fmla="*/ 3149600 w 5765800"/>
                  <a:gd name="connsiteY21" fmla="*/ 53578 h 1912938"/>
                  <a:gd name="connsiteX22" fmla="*/ 3178175 w 5765800"/>
                  <a:gd name="connsiteY22" fmla="*/ 59134 h 1912938"/>
                  <a:gd name="connsiteX23" fmla="*/ 3206750 w 5765800"/>
                  <a:gd name="connsiteY23" fmla="*/ 65088 h 1912938"/>
                  <a:gd name="connsiteX24" fmla="*/ 3234531 w 5765800"/>
                  <a:gd name="connsiteY24" fmla="*/ 71834 h 1912938"/>
                  <a:gd name="connsiteX25" fmla="*/ 3262710 w 5765800"/>
                  <a:gd name="connsiteY25" fmla="*/ 77788 h 1912938"/>
                  <a:gd name="connsiteX26" fmla="*/ 3290888 w 5765800"/>
                  <a:gd name="connsiteY26" fmla="*/ 84931 h 1912938"/>
                  <a:gd name="connsiteX27" fmla="*/ 3319066 w 5765800"/>
                  <a:gd name="connsiteY27" fmla="*/ 92075 h 1912938"/>
                  <a:gd name="connsiteX28" fmla="*/ 3346847 w 5765800"/>
                  <a:gd name="connsiteY28" fmla="*/ 99219 h 1912938"/>
                  <a:gd name="connsiteX29" fmla="*/ 3374628 w 5765800"/>
                  <a:gd name="connsiteY29" fmla="*/ 107156 h 1912938"/>
                  <a:gd name="connsiteX30" fmla="*/ 3402013 w 5765800"/>
                  <a:gd name="connsiteY30" fmla="*/ 115094 h 1912938"/>
                  <a:gd name="connsiteX31" fmla="*/ 3429794 w 5765800"/>
                  <a:gd name="connsiteY31" fmla="*/ 123031 h 1912938"/>
                  <a:gd name="connsiteX32" fmla="*/ 3457178 w 5765800"/>
                  <a:gd name="connsiteY32" fmla="*/ 131366 h 1912938"/>
                  <a:gd name="connsiteX33" fmla="*/ 3484563 w 5765800"/>
                  <a:gd name="connsiteY33" fmla="*/ 140097 h 1912938"/>
                  <a:gd name="connsiteX34" fmla="*/ 3511550 w 5765800"/>
                  <a:gd name="connsiteY34" fmla="*/ 149225 h 1912938"/>
                  <a:gd name="connsiteX35" fmla="*/ 3538935 w 5765800"/>
                  <a:gd name="connsiteY35" fmla="*/ 158353 h 1912938"/>
                  <a:gd name="connsiteX36" fmla="*/ 3565922 w 5765800"/>
                  <a:gd name="connsiteY36" fmla="*/ 167481 h 1912938"/>
                  <a:gd name="connsiteX37" fmla="*/ 3592116 w 5765800"/>
                  <a:gd name="connsiteY37" fmla="*/ 177800 h 1912938"/>
                  <a:gd name="connsiteX38" fmla="*/ 3618706 w 5765800"/>
                  <a:gd name="connsiteY38" fmla="*/ 187722 h 1912938"/>
                  <a:gd name="connsiteX39" fmla="*/ 3645297 w 5765800"/>
                  <a:gd name="connsiteY39" fmla="*/ 198041 h 1912938"/>
                  <a:gd name="connsiteX40" fmla="*/ 3671888 w 5765800"/>
                  <a:gd name="connsiteY40" fmla="*/ 208359 h 1912938"/>
                  <a:gd name="connsiteX41" fmla="*/ 3697685 w 5765800"/>
                  <a:gd name="connsiteY41" fmla="*/ 219472 h 1912938"/>
                  <a:gd name="connsiteX42" fmla="*/ 3724275 w 5765800"/>
                  <a:gd name="connsiteY42" fmla="*/ 230584 h 1912938"/>
                  <a:gd name="connsiteX43" fmla="*/ 3749675 w 5765800"/>
                  <a:gd name="connsiteY43" fmla="*/ 241300 h 1912938"/>
                  <a:gd name="connsiteX44" fmla="*/ 3775869 w 5765800"/>
                  <a:gd name="connsiteY44" fmla="*/ 253603 h 1912938"/>
                  <a:gd name="connsiteX45" fmla="*/ 3801269 w 5765800"/>
                  <a:gd name="connsiteY45" fmla="*/ 264716 h 1912938"/>
                  <a:gd name="connsiteX46" fmla="*/ 3826669 w 5765800"/>
                  <a:gd name="connsiteY46" fmla="*/ 277416 h 1912938"/>
                  <a:gd name="connsiteX47" fmla="*/ 3851672 w 5765800"/>
                  <a:gd name="connsiteY47" fmla="*/ 289719 h 1912938"/>
                  <a:gd name="connsiteX48" fmla="*/ 3876675 w 5765800"/>
                  <a:gd name="connsiteY48" fmla="*/ 302022 h 1912938"/>
                  <a:gd name="connsiteX49" fmla="*/ 3901678 w 5765800"/>
                  <a:gd name="connsiteY49" fmla="*/ 314722 h 1912938"/>
                  <a:gd name="connsiteX50" fmla="*/ 3926285 w 5765800"/>
                  <a:gd name="connsiteY50" fmla="*/ 328216 h 1912938"/>
                  <a:gd name="connsiteX51" fmla="*/ 3950891 w 5765800"/>
                  <a:gd name="connsiteY51" fmla="*/ 341313 h 1912938"/>
                  <a:gd name="connsiteX52" fmla="*/ 3974703 w 5765800"/>
                  <a:gd name="connsiteY52" fmla="*/ 354806 h 1912938"/>
                  <a:gd name="connsiteX53" fmla="*/ 3999310 w 5765800"/>
                  <a:gd name="connsiteY53" fmla="*/ 368697 h 1912938"/>
                  <a:gd name="connsiteX54" fmla="*/ 4023122 w 5765800"/>
                  <a:gd name="connsiteY54" fmla="*/ 382588 h 1912938"/>
                  <a:gd name="connsiteX55" fmla="*/ 4046538 w 5765800"/>
                  <a:gd name="connsiteY55" fmla="*/ 397272 h 1912938"/>
                  <a:gd name="connsiteX56" fmla="*/ 4069953 w 5765800"/>
                  <a:gd name="connsiteY56" fmla="*/ 411559 h 1912938"/>
                  <a:gd name="connsiteX57" fmla="*/ 4093369 w 5765800"/>
                  <a:gd name="connsiteY57" fmla="*/ 426244 h 1912938"/>
                  <a:gd name="connsiteX58" fmla="*/ 4115991 w 5765800"/>
                  <a:gd name="connsiteY58" fmla="*/ 441325 h 1912938"/>
                  <a:gd name="connsiteX59" fmla="*/ 4139010 w 5765800"/>
                  <a:gd name="connsiteY59" fmla="*/ 456406 h 1912938"/>
                  <a:gd name="connsiteX60" fmla="*/ 4162028 w 5765800"/>
                  <a:gd name="connsiteY60" fmla="*/ 471884 h 1912938"/>
                  <a:gd name="connsiteX61" fmla="*/ 4184253 w 5765800"/>
                  <a:gd name="connsiteY61" fmla="*/ 487759 h 1912938"/>
                  <a:gd name="connsiteX62" fmla="*/ 4206478 w 5765800"/>
                  <a:gd name="connsiteY62" fmla="*/ 503634 h 1912938"/>
                  <a:gd name="connsiteX63" fmla="*/ 4228306 w 5765800"/>
                  <a:gd name="connsiteY63" fmla="*/ 519509 h 1912938"/>
                  <a:gd name="connsiteX64" fmla="*/ 4250135 w 5765800"/>
                  <a:gd name="connsiteY64" fmla="*/ 536575 h 1912938"/>
                  <a:gd name="connsiteX65" fmla="*/ 4271566 w 5765800"/>
                  <a:gd name="connsiteY65" fmla="*/ 552847 h 1912938"/>
                  <a:gd name="connsiteX66" fmla="*/ 4292997 w 5765800"/>
                  <a:gd name="connsiteY66" fmla="*/ 569516 h 1912938"/>
                  <a:gd name="connsiteX67" fmla="*/ 4519613 w 5765800"/>
                  <a:gd name="connsiteY67" fmla="*/ 752475 h 1912938"/>
                  <a:gd name="connsiteX68" fmla="*/ 4624388 w 5765800"/>
                  <a:gd name="connsiteY68" fmla="*/ 837406 h 1912938"/>
                  <a:gd name="connsiteX69" fmla="*/ 4724400 w 5765800"/>
                  <a:gd name="connsiteY69" fmla="*/ 919956 h 1912938"/>
                  <a:gd name="connsiteX70" fmla="*/ 4820444 w 5765800"/>
                  <a:gd name="connsiteY70" fmla="*/ 999331 h 1912938"/>
                  <a:gd name="connsiteX71" fmla="*/ 4912916 w 5765800"/>
                  <a:gd name="connsiteY71" fmla="*/ 1077119 h 1912938"/>
                  <a:gd name="connsiteX72" fmla="*/ 4957366 w 5765800"/>
                  <a:gd name="connsiteY72" fmla="*/ 1115616 h 1912938"/>
                  <a:gd name="connsiteX73" fmla="*/ 5001816 w 5765800"/>
                  <a:gd name="connsiteY73" fmla="*/ 1153716 h 1912938"/>
                  <a:gd name="connsiteX74" fmla="*/ 5045472 w 5765800"/>
                  <a:gd name="connsiteY74" fmla="*/ 1192213 h 1912938"/>
                  <a:gd name="connsiteX75" fmla="*/ 5088335 w 5765800"/>
                  <a:gd name="connsiteY75" fmla="*/ 1230313 h 1912938"/>
                  <a:gd name="connsiteX76" fmla="*/ 5131197 w 5765800"/>
                  <a:gd name="connsiteY76" fmla="*/ 1268810 h 1912938"/>
                  <a:gd name="connsiteX77" fmla="*/ 5173663 w 5765800"/>
                  <a:gd name="connsiteY77" fmla="*/ 1307306 h 1912938"/>
                  <a:gd name="connsiteX78" fmla="*/ 5215731 w 5765800"/>
                  <a:gd name="connsiteY78" fmla="*/ 1345803 h 1912938"/>
                  <a:gd name="connsiteX79" fmla="*/ 5257403 w 5765800"/>
                  <a:gd name="connsiteY79" fmla="*/ 1385094 h 1912938"/>
                  <a:gd name="connsiteX80" fmla="*/ 5299075 w 5765800"/>
                  <a:gd name="connsiteY80" fmla="*/ 1424385 h 1912938"/>
                  <a:gd name="connsiteX81" fmla="*/ 5340747 w 5765800"/>
                  <a:gd name="connsiteY81" fmla="*/ 1464072 h 1912938"/>
                  <a:gd name="connsiteX82" fmla="*/ 5381625 w 5765800"/>
                  <a:gd name="connsiteY82" fmla="*/ 1504950 h 1912938"/>
                  <a:gd name="connsiteX83" fmla="*/ 5423297 w 5765800"/>
                  <a:gd name="connsiteY83" fmla="*/ 1546225 h 1912938"/>
                  <a:gd name="connsiteX84" fmla="*/ 5464969 w 5765800"/>
                  <a:gd name="connsiteY84" fmla="*/ 1588294 h 1912938"/>
                  <a:gd name="connsiteX85" fmla="*/ 5507038 w 5765800"/>
                  <a:gd name="connsiteY85" fmla="*/ 1631156 h 1912938"/>
                  <a:gd name="connsiteX86" fmla="*/ 5549106 w 5765800"/>
                  <a:gd name="connsiteY86" fmla="*/ 1675606 h 1912938"/>
                  <a:gd name="connsiteX87" fmla="*/ 5591175 w 5765800"/>
                  <a:gd name="connsiteY87" fmla="*/ 1720453 h 1912938"/>
                  <a:gd name="connsiteX88" fmla="*/ 5634038 w 5765800"/>
                  <a:gd name="connsiteY88" fmla="*/ 1766491 h 1912938"/>
                  <a:gd name="connsiteX89" fmla="*/ 5677297 w 5765800"/>
                  <a:gd name="connsiteY89" fmla="*/ 1813719 h 1912938"/>
                  <a:gd name="connsiteX90" fmla="*/ 5721350 w 5765800"/>
                  <a:gd name="connsiteY90" fmla="*/ 1862931 h 1912938"/>
                  <a:gd name="connsiteX91" fmla="*/ 5765800 w 5765800"/>
                  <a:gd name="connsiteY91" fmla="*/ 1912938 h 1912938"/>
                  <a:gd name="connsiteX92" fmla="*/ 4455160 w 5765800"/>
                  <a:gd name="connsiteY92" fmla="*/ 1800542 h 1912938"/>
                  <a:gd name="connsiteX93" fmla="*/ 4409440 w 5765800"/>
                  <a:gd name="connsiteY93" fmla="*/ 1790382 h 1912938"/>
                  <a:gd name="connsiteX94" fmla="*/ 4389120 w 5765800"/>
                  <a:gd name="connsiteY94" fmla="*/ 1785302 h 1912938"/>
                  <a:gd name="connsiteX95" fmla="*/ 4358640 w 5765800"/>
                  <a:gd name="connsiteY95" fmla="*/ 1785302 h 1912938"/>
                  <a:gd name="connsiteX96" fmla="*/ 3566160 w 5765800"/>
                  <a:gd name="connsiteY96" fmla="*/ 1668462 h 1912938"/>
                  <a:gd name="connsiteX97" fmla="*/ 3413760 w 5765800"/>
                  <a:gd name="connsiteY97" fmla="*/ 1648142 h 1912938"/>
                  <a:gd name="connsiteX98" fmla="*/ 2529840 w 5765800"/>
                  <a:gd name="connsiteY98" fmla="*/ 1485582 h 1912938"/>
                  <a:gd name="connsiteX99" fmla="*/ 1559560 w 5765800"/>
                  <a:gd name="connsiteY99" fmla="*/ 1424622 h 1912938"/>
                  <a:gd name="connsiteX100" fmla="*/ 1498600 w 5765800"/>
                  <a:gd name="connsiteY100" fmla="*/ 1419542 h 1912938"/>
                  <a:gd name="connsiteX101" fmla="*/ 858520 w 5765800"/>
                  <a:gd name="connsiteY101" fmla="*/ 1373822 h 1912938"/>
                  <a:gd name="connsiteX102" fmla="*/ 457200 w 5765800"/>
                  <a:gd name="connsiteY102" fmla="*/ 1353502 h 1912938"/>
                  <a:gd name="connsiteX103" fmla="*/ 167640 w 5765800"/>
                  <a:gd name="connsiteY103" fmla="*/ 1343342 h 1912938"/>
                  <a:gd name="connsiteX104" fmla="*/ 0 w 5765800"/>
                  <a:gd name="connsiteY104" fmla="*/ 1184672 h 1912938"/>
                  <a:gd name="connsiteX105" fmla="*/ 0 w 5765800"/>
                  <a:gd name="connsiteY105" fmla="*/ 0 h 1912938"/>
                  <a:gd name="connsiteX0" fmla="*/ 0 w 5765800"/>
                  <a:gd name="connsiteY0" fmla="*/ 0 h 1917814"/>
                  <a:gd name="connsiteX1" fmla="*/ 2595960 w 5765800"/>
                  <a:gd name="connsiteY1" fmla="*/ 0 h 1917814"/>
                  <a:gd name="connsiteX2" fmla="*/ 2597547 w 5765800"/>
                  <a:gd name="connsiteY2" fmla="*/ 0 h 1917814"/>
                  <a:gd name="connsiteX3" fmla="*/ 2626519 w 5765800"/>
                  <a:gd name="connsiteY3" fmla="*/ 0 h 1917814"/>
                  <a:gd name="connsiteX4" fmla="*/ 2656285 w 5765800"/>
                  <a:gd name="connsiteY4" fmla="*/ 397 h 1917814"/>
                  <a:gd name="connsiteX5" fmla="*/ 2685256 w 5765800"/>
                  <a:gd name="connsiteY5" fmla="*/ 1191 h 1917814"/>
                  <a:gd name="connsiteX6" fmla="*/ 2715022 w 5765800"/>
                  <a:gd name="connsiteY6" fmla="*/ 2381 h 1917814"/>
                  <a:gd name="connsiteX7" fmla="*/ 2743994 w 5765800"/>
                  <a:gd name="connsiteY7" fmla="*/ 3572 h 1917814"/>
                  <a:gd name="connsiteX8" fmla="*/ 2773760 w 5765800"/>
                  <a:gd name="connsiteY8" fmla="*/ 5159 h 1917814"/>
                  <a:gd name="connsiteX9" fmla="*/ 2802731 w 5765800"/>
                  <a:gd name="connsiteY9" fmla="*/ 7541 h 1917814"/>
                  <a:gd name="connsiteX10" fmla="*/ 2832100 w 5765800"/>
                  <a:gd name="connsiteY10" fmla="*/ 9922 h 1917814"/>
                  <a:gd name="connsiteX11" fmla="*/ 2861072 w 5765800"/>
                  <a:gd name="connsiteY11" fmla="*/ 11906 h 1917814"/>
                  <a:gd name="connsiteX12" fmla="*/ 2890044 w 5765800"/>
                  <a:gd name="connsiteY12" fmla="*/ 15081 h 1917814"/>
                  <a:gd name="connsiteX13" fmla="*/ 2919413 w 5765800"/>
                  <a:gd name="connsiteY13" fmla="*/ 18256 h 1917814"/>
                  <a:gd name="connsiteX14" fmla="*/ 2948385 w 5765800"/>
                  <a:gd name="connsiteY14" fmla="*/ 21828 h 1917814"/>
                  <a:gd name="connsiteX15" fmla="*/ 2977356 w 5765800"/>
                  <a:gd name="connsiteY15" fmla="*/ 25400 h 1917814"/>
                  <a:gd name="connsiteX16" fmla="*/ 3005931 w 5765800"/>
                  <a:gd name="connsiteY16" fmla="*/ 29369 h 1917814"/>
                  <a:gd name="connsiteX17" fmla="*/ 3035300 w 5765800"/>
                  <a:gd name="connsiteY17" fmla="*/ 33734 h 1917814"/>
                  <a:gd name="connsiteX18" fmla="*/ 3063875 w 5765800"/>
                  <a:gd name="connsiteY18" fmla="*/ 38100 h 1917814"/>
                  <a:gd name="connsiteX19" fmla="*/ 3092450 w 5765800"/>
                  <a:gd name="connsiteY19" fmla="*/ 42863 h 1917814"/>
                  <a:gd name="connsiteX20" fmla="*/ 3121025 w 5765800"/>
                  <a:gd name="connsiteY20" fmla="*/ 48419 h 1917814"/>
                  <a:gd name="connsiteX21" fmla="*/ 3149600 w 5765800"/>
                  <a:gd name="connsiteY21" fmla="*/ 53578 h 1917814"/>
                  <a:gd name="connsiteX22" fmla="*/ 3178175 w 5765800"/>
                  <a:gd name="connsiteY22" fmla="*/ 59134 h 1917814"/>
                  <a:gd name="connsiteX23" fmla="*/ 3206750 w 5765800"/>
                  <a:gd name="connsiteY23" fmla="*/ 65088 h 1917814"/>
                  <a:gd name="connsiteX24" fmla="*/ 3234531 w 5765800"/>
                  <a:gd name="connsiteY24" fmla="*/ 71834 h 1917814"/>
                  <a:gd name="connsiteX25" fmla="*/ 3262710 w 5765800"/>
                  <a:gd name="connsiteY25" fmla="*/ 77788 h 1917814"/>
                  <a:gd name="connsiteX26" fmla="*/ 3290888 w 5765800"/>
                  <a:gd name="connsiteY26" fmla="*/ 84931 h 1917814"/>
                  <a:gd name="connsiteX27" fmla="*/ 3319066 w 5765800"/>
                  <a:gd name="connsiteY27" fmla="*/ 92075 h 1917814"/>
                  <a:gd name="connsiteX28" fmla="*/ 3346847 w 5765800"/>
                  <a:gd name="connsiteY28" fmla="*/ 99219 h 1917814"/>
                  <a:gd name="connsiteX29" fmla="*/ 3374628 w 5765800"/>
                  <a:gd name="connsiteY29" fmla="*/ 107156 h 1917814"/>
                  <a:gd name="connsiteX30" fmla="*/ 3402013 w 5765800"/>
                  <a:gd name="connsiteY30" fmla="*/ 115094 h 1917814"/>
                  <a:gd name="connsiteX31" fmla="*/ 3429794 w 5765800"/>
                  <a:gd name="connsiteY31" fmla="*/ 123031 h 1917814"/>
                  <a:gd name="connsiteX32" fmla="*/ 3457178 w 5765800"/>
                  <a:gd name="connsiteY32" fmla="*/ 131366 h 1917814"/>
                  <a:gd name="connsiteX33" fmla="*/ 3484563 w 5765800"/>
                  <a:gd name="connsiteY33" fmla="*/ 140097 h 1917814"/>
                  <a:gd name="connsiteX34" fmla="*/ 3511550 w 5765800"/>
                  <a:gd name="connsiteY34" fmla="*/ 149225 h 1917814"/>
                  <a:gd name="connsiteX35" fmla="*/ 3538935 w 5765800"/>
                  <a:gd name="connsiteY35" fmla="*/ 158353 h 1917814"/>
                  <a:gd name="connsiteX36" fmla="*/ 3565922 w 5765800"/>
                  <a:gd name="connsiteY36" fmla="*/ 167481 h 1917814"/>
                  <a:gd name="connsiteX37" fmla="*/ 3592116 w 5765800"/>
                  <a:gd name="connsiteY37" fmla="*/ 177800 h 1917814"/>
                  <a:gd name="connsiteX38" fmla="*/ 3618706 w 5765800"/>
                  <a:gd name="connsiteY38" fmla="*/ 187722 h 1917814"/>
                  <a:gd name="connsiteX39" fmla="*/ 3645297 w 5765800"/>
                  <a:gd name="connsiteY39" fmla="*/ 198041 h 1917814"/>
                  <a:gd name="connsiteX40" fmla="*/ 3671888 w 5765800"/>
                  <a:gd name="connsiteY40" fmla="*/ 208359 h 1917814"/>
                  <a:gd name="connsiteX41" fmla="*/ 3697685 w 5765800"/>
                  <a:gd name="connsiteY41" fmla="*/ 219472 h 1917814"/>
                  <a:gd name="connsiteX42" fmla="*/ 3724275 w 5765800"/>
                  <a:gd name="connsiteY42" fmla="*/ 230584 h 1917814"/>
                  <a:gd name="connsiteX43" fmla="*/ 3749675 w 5765800"/>
                  <a:gd name="connsiteY43" fmla="*/ 241300 h 1917814"/>
                  <a:gd name="connsiteX44" fmla="*/ 3775869 w 5765800"/>
                  <a:gd name="connsiteY44" fmla="*/ 253603 h 1917814"/>
                  <a:gd name="connsiteX45" fmla="*/ 3801269 w 5765800"/>
                  <a:gd name="connsiteY45" fmla="*/ 264716 h 1917814"/>
                  <a:gd name="connsiteX46" fmla="*/ 3826669 w 5765800"/>
                  <a:gd name="connsiteY46" fmla="*/ 277416 h 1917814"/>
                  <a:gd name="connsiteX47" fmla="*/ 3851672 w 5765800"/>
                  <a:gd name="connsiteY47" fmla="*/ 289719 h 1917814"/>
                  <a:gd name="connsiteX48" fmla="*/ 3876675 w 5765800"/>
                  <a:gd name="connsiteY48" fmla="*/ 302022 h 1917814"/>
                  <a:gd name="connsiteX49" fmla="*/ 3901678 w 5765800"/>
                  <a:gd name="connsiteY49" fmla="*/ 314722 h 1917814"/>
                  <a:gd name="connsiteX50" fmla="*/ 3926285 w 5765800"/>
                  <a:gd name="connsiteY50" fmla="*/ 328216 h 1917814"/>
                  <a:gd name="connsiteX51" fmla="*/ 3950891 w 5765800"/>
                  <a:gd name="connsiteY51" fmla="*/ 341313 h 1917814"/>
                  <a:gd name="connsiteX52" fmla="*/ 3974703 w 5765800"/>
                  <a:gd name="connsiteY52" fmla="*/ 354806 h 1917814"/>
                  <a:gd name="connsiteX53" fmla="*/ 3999310 w 5765800"/>
                  <a:gd name="connsiteY53" fmla="*/ 368697 h 1917814"/>
                  <a:gd name="connsiteX54" fmla="*/ 4023122 w 5765800"/>
                  <a:gd name="connsiteY54" fmla="*/ 382588 h 1917814"/>
                  <a:gd name="connsiteX55" fmla="*/ 4046538 w 5765800"/>
                  <a:gd name="connsiteY55" fmla="*/ 397272 h 1917814"/>
                  <a:gd name="connsiteX56" fmla="*/ 4069953 w 5765800"/>
                  <a:gd name="connsiteY56" fmla="*/ 411559 h 1917814"/>
                  <a:gd name="connsiteX57" fmla="*/ 4093369 w 5765800"/>
                  <a:gd name="connsiteY57" fmla="*/ 426244 h 1917814"/>
                  <a:gd name="connsiteX58" fmla="*/ 4115991 w 5765800"/>
                  <a:gd name="connsiteY58" fmla="*/ 441325 h 1917814"/>
                  <a:gd name="connsiteX59" fmla="*/ 4139010 w 5765800"/>
                  <a:gd name="connsiteY59" fmla="*/ 456406 h 1917814"/>
                  <a:gd name="connsiteX60" fmla="*/ 4162028 w 5765800"/>
                  <a:gd name="connsiteY60" fmla="*/ 471884 h 1917814"/>
                  <a:gd name="connsiteX61" fmla="*/ 4184253 w 5765800"/>
                  <a:gd name="connsiteY61" fmla="*/ 487759 h 1917814"/>
                  <a:gd name="connsiteX62" fmla="*/ 4206478 w 5765800"/>
                  <a:gd name="connsiteY62" fmla="*/ 503634 h 1917814"/>
                  <a:gd name="connsiteX63" fmla="*/ 4228306 w 5765800"/>
                  <a:gd name="connsiteY63" fmla="*/ 519509 h 1917814"/>
                  <a:gd name="connsiteX64" fmla="*/ 4250135 w 5765800"/>
                  <a:gd name="connsiteY64" fmla="*/ 536575 h 1917814"/>
                  <a:gd name="connsiteX65" fmla="*/ 4271566 w 5765800"/>
                  <a:gd name="connsiteY65" fmla="*/ 552847 h 1917814"/>
                  <a:gd name="connsiteX66" fmla="*/ 4292997 w 5765800"/>
                  <a:gd name="connsiteY66" fmla="*/ 569516 h 1917814"/>
                  <a:gd name="connsiteX67" fmla="*/ 4519613 w 5765800"/>
                  <a:gd name="connsiteY67" fmla="*/ 752475 h 1917814"/>
                  <a:gd name="connsiteX68" fmla="*/ 4624388 w 5765800"/>
                  <a:gd name="connsiteY68" fmla="*/ 837406 h 1917814"/>
                  <a:gd name="connsiteX69" fmla="*/ 4724400 w 5765800"/>
                  <a:gd name="connsiteY69" fmla="*/ 919956 h 1917814"/>
                  <a:gd name="connsiteX70" fmla="*/ 4820444 w 5765800"/>
                  <a:gd name="connsiteY70" fmla="*/ 999331 h 1917814"/>
                  <a:gd name="connsiteX71" fmla="*/ 4912916 w 5765800"/>
                  <a:gd name="connsiteY71" fmla="*/ 1077119 h 1917814"/>
                  <a:gd name="connsiteX72" fmla="*/ 4957366 w 5765800"/>
                  <a:gd name="connsiteY72" fmla="*/ 1115616 h 1917814"/>
                  <a:gd name="connsiteX73" fmla="*/ 5001816 w 5765800"/>
                  <a:gd name="connsiteY73" fmla="*/ 1153716 h 1917814"/>
                  <a:gd name="connsiteX74" fmla="*/ 5045472 w 5765800"/>
                  <a:gd name="connsiteY74" fmla="*/ 1192213 h 1917814"/>
                  <a:gd name="connsiteX75" fmla="*/ 5088335 w 5765800"/>
                  <a:gd name="connsiteY75" fmla="*/ 1230313 h 1917814"/>
                  <a:gd name="connsiteX76" fmla="*/ 5131197 w 5765800"/>
                  <a:gd name="connsiteY76" fmla="*/ 1268810 h 1917814"/>
                  <a:gd name="connsiteX77" fmla="*/ 5173663 w 5765800"/>
                  <a:gd name="connsiteY77" fmla="*/ 1307306 h 1917814"/>
                  <a:gd name="connsiteX78" fmla="*/ 5215731 w 5765800"/>
                  <a:gd name="connsiteY78" fmla="*/ 1345803 h 1917814"/>
                  <a:gd name="connsiteX79" fmla="*/ 5257403 w 5765800"/>
                  <a:gd name="connsiteY79" fmla="*/ 1385094 h 1917814"/>
                  <a:gd name="connsiteX80" fmla="*/ 5299075 w 5765800"/>
                  <a:gd name="connsiteY80" fmla="*/ 1424385 h 1917814"/>
                  <a:gd name="connsiteX81" fmla="*/ 5340747 w 5765800"/>
                  <a:gd name="connsiteY81" fmla="*/ 1464072 h 1917814"/>
                  <a:gd name="connsiteX82" fmla="*/ 5381625 w 5765800"/>
                  <a:gd name="connsiteY82" fmla="*/ 1504950 h 1917814"/>
                  <a:gd name="connsiteX83" fmla="*/ 5423297 w 5765800"/>
                  <a:gd name="connsiteY83" fmla="*/ 1546225 h 1917814"/>
                  <a:gd name="connsiteX84" fmla="*/ 5464969 w 5765800"/>
                  <a:gd name="connsiteY84" fmla="*/ 1588294 h 1917814"/>
                  <a:gd name="connsiteX85" fmla="*/ 5507038 w 5765800"/>
                  <a:gd name="connsiteY85" fmla="*/ 1631156 h 1917814"/>
                  <a:gd name="connsiteX86" fmla="*/ 5549106 w 5765800"/>
                  <a:gd name="connsiteY86" fmla="*/ 1675606 h 1917814"/>
                  <a:gd name="connsiteX87" fmla="*/ 5591175 w 5765800"/>
                  <a:gd name="connsiteY87" fmla="*/ 1720453 h 1917814"/>
                  <a:gd name="connsiteX88" fmla="*/ 5634038 w 5765800"/>
                  <a:gd name="connsiteY88" fmla="*/ 1766491 h 1917814"/>
                  <a:gd name="connsiteX89" fmla="*/ 5677297 w 5765800"/>
                  <a:gd name="connsiteY89" fmla="*/ 1813719 h 1917814"/>
                  <a:gd name="connsiteX90" fmla="*/ 5721350 w 5765800"/>
                  <a:gd name="connsiteY90" fmla="*/ 1862931 h 1917814"/>
                  <a:gd name="connsiteX91" fmla="*/ 5765800 w 5765800"/>
                  <a:gd name="connsiteY91" fmla="*/ 1912938 h 1917814"/>
                  <a:gd name="connsiteX92" fmla="*/ 4455160 w 5765800"/>
                  <a:gd name="connsiteY92" fmla="*/ 1800542 h 1917814"/>
                  <a:gd name="connsiteX93" fmla="*/ 4409440 w 5765800"/>
                  <a:gd name="connsiteY93" fmla="*/ 1790382 h 1917814"/>
                  <a:gd name="connsiteX94" fmla="*/ 4389120 w 5765800"/>
                  <a:gd name="connsiteY94" fmla="*/ 1785302 h 1917814"/>
                  <a:gd name="connsiteX95" fmla="*/ 4358640 w 5765800"/>
                  <a:gd name="connsiteY95" fmla="*/ 1785302 h 1917814"/>
                  <a:gd name="connsiteX96" fmla="*/ 3566160 w 5765800"/>
                  <a:gd name="connsiteY96" fmla="*/ 1668462 h 1917814"/>
                  <a:gd name="connsiteX97" fmla="*/ 3413760 w 5765800"/>
                  <a:gd name="connsiteY97" fmla="*/ 1648142 h 1917814"/>
                  <a:gd name="connsiteX98" fmla="*/ 2529840 w 5765800"/>
                  <a:gd name="connsiteY98" fmla="*/ 1485582 h 1917814"/>
                  <a:gd name="connsiteX99" fmla="*/ 1559560 w 5765800"/>
                  <a:gd name="connsiteY99" fmla="*/ 1424622 h 1917814"/>
                  <a:gd name="connsiteX100" fmla="*/ 1498600 w 5765800"/>
                  <a:gd name="connsiteY100" fmla="*/ 1419542 h 1917814"/>
                  <a:gd name="connsiteX101" fmla="*/ 858520 w 5765800"/>
                  <a:gd name="connsiteY101" fmla="*/ 1373822 h 1917814"/>
                  <a:gd name="connsiteX102" fmla="*/ 457200 w 5765800"/>
                  <a:gd name="connsiteY102" fmla="*/ 1353502 h 1917814"/>
                  <a:gd name="connsiteX103" fmla="*/ 167640 w 5765800"/>
                  <a:gd name="connsiteY103" fmla="*/ 1343342 h 1917814"/>
                  <a:gd name="connsiteX104" fmla="*/ 0 w 5765800"/>
                  <a:gd name="connsiteY104" fmla="*/ 1184672 h 1917814"/>
                  <a:gd name="connsiteX105" fmla="*/ 0 w 5765800"/>
                  <a:gd name="connsiteY105" fmla="*/ 0 h 1917814"/>
                  <a:gd name="connsiteX0" fmla="*/ 0 w 5765800"/>
                  <a:gd name="connsiteY0" fmla="*/ 0 h 1950605"/>
                  <a:gd name="connsiteX1" fmla="*/ 2595960 w 5765800"/>
                  <a:gd name="connsiteY1" fmla="*/ 0 h 1950605"/>
                  <a:gd name="connsiteX2" fmla="*/ 2597547 w 5765800"/>
                  <a:gd name="connsiteY2" fmla="*/ 0 h 1950605"/>
                  <a:gd name="connsiteX3" fmla="*/ 2626519 w 5765800"/>
                  <a:gd name="connsiteY3" fmla="*/ 0 h 1950605"/>
                  <a:gd name="connsiteX4" fmla="*/ 2656285 w 5765800"/>
                  <a:gd name="connsiteY4" fmla="*/ 397 h 1950605"/>
                  <a:gd name="connsiteX5" fmla="*/ 2685256 w 5765800"/>
                  <a:gd name="connsiteY5" fmla="*/ 1191 h 1950605"/>
                  <a:gd name="connsiteX6" fmla="*/ 2715022 w 5765800"/>
                  <a:gd name="connsiteY6" fmla="*/ 2381 h 1950605"/>
                  <a:gd name="connsiteX7" fmla="*/ 2743994 w 5765800"/>
                  <a:gd name="connsiteY7" fmla="*/ 3572 h 1950605"/>
                  <a:gd name="connsiteX8" fmla="*/ 2773760 w 5765800"/>
                  <a:gd name="connsiteY8" fmla="*/ 5159 h 1950605"/>
                  <a:gd name="connsiteX9" fmla="*/ 2802731 w 5765800"/>
                  <a:gd name="connsiteY9" fmla="*/ 7541 h 1950605"/>
                  <a:gd name="connsiteX10" fmla="*/ 2832100 w 5765800"/>
                  <a:gd name="connsiteY10" fmla="*/ 9922 h 1950605"/>
                  <a:gd name="connsiteX11" fmla="*/ 2861072 w 5765800"/>
                  <a:gd name="connsiteY11" fmla="*/ 11906 h 1950605"/>
                  <a:gd name="connsiteX12" fmla="*/ 2890044 w 5765800"/>
                  <a:gd name="connsiteY12" fmla="*/ 15081 h 1950605"/>
                  <a:gd name="connsiteX13" fmla="*/ 2919413 w 5765800"/>
                  <a:gd name="connsiteY13" fmla="*/ 18256 h 1950605"/>
                  <a:gd name="connsiteX14" fmla="*/ 2948385 w 5765800"/>
                  <a:gd name="connsiteY14" fmla="*/ 21828 h 1950605"/>
                  <a:gd name="connsiteX15" fmla="*/ 2977356 w 5765800"/>
                  <a:gd name="connsiteY15" fmla="*/ 25400 h 1950605"/>
                  <a:gd name="connsiteX16" fmla="*/ 3005931 w 5765800"/>
                  <a:gd name="connsiteY16" fmla="*/ 29369 h 1950605"/>
                  <a:gd name="connsiteX17" fmla="*/ 3035300 w 5765800"/>
                  <a:gd name="connsiteY17" fmla="*/ 33734 h 1950605"/>
                  <a:gd name="connsiteX18" fmla="*/ 3063875 w 5765800"/>
                  <a:gd name="connsiteY18" fmla="*/ 38100 h 1950605"/>
                  <a:gd name="connsiteX19" fmla="*/ 3092450 w 5765800"/>
                  <a:gd name="connsiteY19" fmla="*/ 42863 h 1950605"/>
                  <a:gd name="connsiteX20" fmla="*/ 3121025 w 5765800"/>
                  <a:gd name="connsiteY20" fmla="*/ 48419 h 1950605"/>
                  <a:gd name="connsiteX21" fmla="*/ 3149600 w 5765800"/>
                  <a:gd name="connsiteY21" fmla="*/ 53578 h 1950605"/>
                  <a:gd name="connsiteX22" fmla="*/ 3178175 w 5765800"/>
                  <a:gd name="connsiteY22" fmla="*/ 59134 h 1950605"/>
                  <a:gd name="connsiteX23" fmla="*/ 3206750 w 5765800"/>
                  <a:gd name="connsiteY23" fmla="*/ 65088 h 1950605"/>
                  <a:gd name="connsiteX24" fmla="*/ 3234531 w 5765800"/>
                  <a:gd name="connsiteY24" fmla="*/ 71834 h 1950605"/>
                  <a:gd name="connsiteX25" fmla="*/ 3262710 w 5765800"/>
                  <a:gd name="connsiteY25" fmla="*/ 77788 h 1950605"/>
                  <a:gd name="connsiteX26" fmla="*/ 3290888 w 5765800"/>
                  <a:gd name="connsiteY26" fmla="*/ 84931 h 1950605"/>
                  <a:gd name="connsiteX27" fmla="*/ 3319066 w 5765800"/>
                  <a:gd name="connsiteY27" fmla="*/ 92075 h 1950605"/>
                  <a:gd name="connsiteX28" fmla="*/ 3346847 w 5765800"/>
                  <a:gd name="connsiteY28" fmla="*/ 99219 h 1950605"/>
                  <a:gd name="connsiteX29" fmla="*/ 3374628 w 5765800"/>
                  <a:gd name="connsiteY29" fmla="*/ 107156 h 1950605"/>
                  <a:gd name="connsiteX30" fmla="*/ 3402013 w 5765800"/>
                  <a:gd name="connsiteY30" fmla="*/ 115094 h 1950605"/>
                  <a:gd name="connsiteX31" fmla="*/ 3429794 w 5765800"/>
                  <a:gd name="connsiteY31" fmla="*/ 123031 h 1950605"/>
                  <a:gd name="connsiteX32" fmla="*/ 3457178 w 5765800"/>
                  <a:gd name="connsiteY32" fmla="*/ 131366 h 1950605"/>
                  <a:gd name="connsiteX33" fmla="*/ 3484563 w 5765800"/>
                  <a:gd name="connsiteY33" fmla="*/ 140097 h 1950605"/>
                  <a:gd name="connsiteX34" fmla="*/ 3511550 w 5765800"/>
                  <a:gd name="connsiteY34" fmla="*/ 149225 h 1950605"/>
                  <a:gd name="connsiteX35" fmla="*/ 3538935 w 5765800"/>
                  <a:gd name="connsiteY35" fmla="*/ 158353 h 1950605"/>
                  <a:gd name="connsiteX36" fmla="*/ 3565922 w 5765800"/>
                  <a:gd name="connsiteY36" fmla="*/ 167481 h 1950605"/>
                  <a:gd name="connsiteX37" fmla="*/ 3592116 w 5765800"/>
                  <a:gd name="connsiteY37" fmla="*/ 177800 h 1950605"/>
                  <a:gd name="connsiteX38" fmla="*/ 3618706 w 5765800"/>
                  <a:gd name="connsiteY38" fmla="*/ 187722 h 1950605"/>
                  <a:gd name="connsiteX39" fmla="*/ 3645297 w 5765800"/>
                  <a:gd name="connsiteY39" fmla="*/ 198041 h 1950605"/>
                  <a:gd name="connsiteX40" fmla="*/ 3671888 w 5765800"/>
                  <a:gd name="connsiteY40" fmla="*/ 208359 h 1950605"/>
                  <a:gd name="connsiteX41" fmla="*/ 3697685 w 5765800"/>
                  <a:gd name="connsiteY41" fmla="*/ 219472 h 1950605"/>
                  <a:gd name="connsiteX42" fmla="*/ 3724275 w 5765800"/>
                  <a:gd name="connsiteY42" fmla="*/ 230584 h 1950605"/>
                  <a:gd name="connsiteX43" fmla="*/ 3749675 w 5765800"/>
                  <a:gd name="connsiteY43" fmla="*/ 241300 h 1950605"/>
                  <a:gd name="connsiteX44" fmla="*/ 3775869 w 5765800"/>
                  <a:gd name="connsiteY44" fmla="*/ 253603 h 1950605"/>
                  <a:gd name="connsiteX45" fmla="*/ 3801269 w 5765800"/>
                  <a:gd name="connsiteY45" fmla="*/ 264716 h 1950605"/>
                  <a:gd name="connsiteX46" fmla="*/ 3826669 w 5765800"/>
                  <a:gd name="connsiteY46" fmla="*/ 277416 h 1950605"/>
                  <a:gd name="connsiteX47" fmla="*/ 3851672 w 5765800"/>
                  <a:gd name="connsiteY47" fmla="*/ 289719 h 1950605"/>
                  <a:gd name="connsiteX48" fmla="*/ 3876675 w 5765800"/>
                  <a:gd name="connsiteY48" fmla="*/ 302022 h 1950605"/>
                  <a:gd name="connsiteX49" fmla="*/ 3901678 w 5765800"/>
                  <a:gd name="connsiteY49" fmla="*/ 314722 h 1950605"/>
                  <a:gd name="connsiteX50" fmla="*/ 3926285 w 5765800"/>
                  <a:gd name="connsiteY50" fmla="*/ 328216 h 1950605"/>
                  <a:gd name="connsiteX51" fmla="*/ 3950891 w 5765800"/>
                  <a:gd name="connsiteY51" fmla="*/ 341313 h 1950605"/>
                  <a:gd name="connsiteX52" fmla="*/ 3974703 w 5765800"/>
                  <a:gd name="connsiteY52" fmla="*/ 354806 h 1950605"/>
                  <a:gd name="connsiteX53" fmla="*/ 3999310 w 5765800"/>
                  <a:gd name="connsiteY53" fmla="*/ 368697 h 1950605"/>
                  <a:gd name="connsiteX54" fmla="*/ 4023122 w 5765800"/>
                  <a:gd name="connsiteY54" fmla="*/ 382588 h 1950605"/>
                  <a:gd name="connsiteX55" fmla="*/ 4046538 w 5765800"/>
                  <a:gd name="connsiteY55" fmla="*/ 397272 h 1950605"/>
                  <a:gd name="connsiteX56" fmla="*/ 4069953 w 5765800"/>
                  <a:gd name="connsiteY56" fmla="*/ 411559 h 1950605"/>
                  <a:gd name="connsiteX57" fmla="*/ 4093369 w 5765800"/>
                  <a:gd name="connsiteY57" fmla="*/ 426244 h 1950605"/>
                  <a:gd name="connsiteX58" fmla="*/ 4115991 w 5765800"/>
                  <a:gd name="connsiteY58" fmla="*/ 441325 h 1950605"/>
                  <a:gd name="connsiteX59" fmla="*/ 4139010 w 5765800"/>
                  <a:gd name="connsiteY59" fmla="*/ 456406 h 1950605"/>
                  <a:gd name="connsiteX60" fmla="*/ 4162028 w 5765800"/>
                  <a:gd name="connsiteY60" fmla="*/ 471884 h 1950605"/>
                  <a:gd name="connsiteX61" fmla="*/ 4184253 w 5765800"/>
                  <a:gd name="connsiteY61" fmla="*/ 487759 h 1950605"/>
                  <a:gd name="connsiteX62" fmla="*/ 4206478 w 5765800"/>
                  <a:gd name="connsiteY62" fmla="*/ 503634 h 1950605"/>
                  <a:gd name="connsiteX63" fmla="*/ 4228306 w 5765800"/>
                  <a:gd name="connsiteY63" fmla="*/ 519509 h 1950605"/>
                  <a:gd name="connsiteX64" fmla="*/ 4250135 w 5765800"/>
                  <a:gd name="connsiteY64" fmla="*/ 536575 h 1950605"/>
                  <a:gd name="connsiteX65" fmla="*/ 4271566 w 5765800"/>
                  <a:gd name="connsiteY65" fmla="*/ 552847 h 1950605"/>
                  <a:gd name="connsiteX66" fmla="*/ 4292997 w 5765800"/>
                  <a:gd name="connsiteY66" fmla="*/ 569516 h 1950605"/>
                  <a:gd name="connsiteX67" fmla="*/ 4519613 w 5765800"/>
                  <a:gd name="connsiteY67" fmla="*/ 752475 h 1950605"/>
                  <a:gd name="connsiteX68" fmla="*/ 4624388 w 5765800"/>
                  <a:gd name="connsiteY68" fmla="*/ 837406 h 1950605"/>
                  <a:gd name="connsiteX69" fmla="*/ 4724400 w 5765800"/>
                  <a:gd name="connsiteY69" fmla="*/ 919956 h 1950605"/>
                  <a:gd name="connsiteX70" fmla="*/ 4820444 w 5765800"/>
                  <a:gd name="connsiteY70" fmla="*/ 999331 h 1950605"/>
                  <a:gd name="connsiteX71" fmla="*/ 4912916 w 5765800"/>
                  <a:gd name="connsiteY71" fmla="*/ 1077119 h 1950605"/>
                  <a:gd name="connsiteX72" fmla="*/ 4957366 w 5765800"/>
                  <a:gd name="connsiteY72" fmla="*/ 1115616 h 1950605"/>
                  <a:gd name="connsiteX73" fmla="*/ 5001816 w 5765800"/>
                  <a:gd name="connsiteY73" fmla="*/ 1153716 h 1950605"/>
                  <a:gd name="connsiteX74" fmla="*/ 5045472 w 5765800"/>
                  <a:gd name="connsiteY74" fmla="*/ 1192213 h 1950605"/>
                  <a:gd name="connsiteX75" fmla="*/ 5088335 w 5765800"/>
                  <a:gd name="connsiteY75" fmla="*/ 1230313 h 1950605"/>
                  <a:gd name="connsiteX76" fmla="*/ 5131197 w 5765800"/>
                  <a:gd name="connsiteY76" fmla="*/ 1268810 h 1950605"/>
                  <a:gd name="connsiteX77" fmla="*/ 5173663 w 5765800"/>
                  <a:gd name="connsiteY77" fmla="*/ 1307306 h 1950605"/>
                  <a:gd name="connsiteX78" fmla="*/ 5215731 w 5765800"/>
                  <a:gd name="connsiteY78" fmla="*/ 1345803 h 1950605"/>
                  <a:gd name="connsiteX79" fmla="*/ 5257403 w 5765800"/>
                  <a:gd name="connsiteY79" fmla="*/ 1385094 h 1950605"/>
                  <a:gd name="connsiteX80" fmla="*/ 5299075 w 5765800"/>
                  <a:gd name="connsiteY80" fmla="*/ 1424385 h 1950605"/>
                  <a:gd name="connsiteX81" fmla="*/ 5340747 w 5765800"/>
                  <a:gd name="connsiteY81" fmla="*/ 1464072 h 1950605"/>
                  <a:gd name="connsiteX82" fmla="*/ 5381625 w 5765800"/>
                  <a:gd name="connsiteY82" fmla="*/ 1504950 h 1950605"/>
                  <a:gd name="connsiteX83" fmla="*/ 5423297 w 5765800"/>
                  <a:gd name="connsiteY83" fmla="*/ 1546225 h 1950605"/>
                  <a:gd name="connsiteX84" fmla="*/ 5464969 w 5765800"/>
                  <a:gd name="connsiteY84" fmla="*/ 1588294 h 1950605"/>
                  <a:gd name="connsiteX85" fmla="*/ 5507038 w 5765800"/>
                  <a:gd name="connsiteY85" fmla="*/ 1631156 h 1950605"/>
                  <a:gd name="connsiteX86" fmla="*/ 5549106 w 5765800"/>
                  <a:gd name="connsiteY86" fmla="*/ 1675606 h 1950605"/>
                  <a:gd name="connsiteX87" fmla="*/ 5591175 w 5765800"/>
                  <a:gd name="connsiteY87" fmla="*/ 1720453 h 1950605"/>
                  <a:gd name="connsiteX88" fmla="*/ 5634038 w 5765800"/>
                  <a:gd name="connsiteY88" fmla="*/ 1766491 h 1950605"/>
                  <a:gd name="connsiteX89" fmla="*/ 5677297 w 5765800"/>
                  <a:gd name="connsiteY89" fmla="*/ 1813719 h 1950605"/>
                  <a:gd name="connsiteX90" fmla="*/ 5721350 w 5765800"/>
                  <a:gd name="connsiteY90" fmla="*/ 1862931 h 1950605"/>
                  <a:gd name="connsiteX91" fmla="*/ 5765800 w 5765800"/>
                  <a:gd name="connsiteY91" fmla="*/ 1912938 h 1950605"/>
                  <a:gd name="connsiteX92" fmla="*/ 4455160 w 5765800"/>
                  <a:gd name="connsiteY92" fmla="*/ 1800542 h 1950605"/>
                  <a:gd name="connsiteX93" fmla="*/ 4409440 w 5765800"/>
                  <a:gd name="connsiteY93" fmla="*/ 1790382 h 1950605"/>
                  <a:gd name="connsiteX94" fmla="*/ 4389120 w 5765800"/>
                  <a:gd name="connsiteY94" fmla="*/ 1785302 h 1950605"/>
                  <a:gd name="connsiteX95" fmla="*/ 4358640 w 5765800"/>
                  <a:gd name="connsiteY95" fmla="*/ 1785302 h 1950605"/>
                  <a:gd name="connsiteX96" fmla="*/ 3566160 w 5765800"/>
                  <a:gd name="connsiteY96" fmla="*/ 1668462 h 1950605"/>
                  <a:gd name="connsiteX97" fmla="*/ 3413760 w 5765800"/>
                  <a:gd name="connsiteY97" fmla="*/ 1648142 h 1950605"/>
                  <a:gd name="connsiteX98" fmla="*/ 2529840 w 5765800"/>
                  <a:gd name="connsiteY98" fmla="*/ 1485582 h 1950605"/>
                  <a:gd name="connsiteX99" fmla="*/ 1559560 w 5765800"/>
                  <a:gd name="connsiteY99" fmla="*/ 1424622 h 1950605"/>
                  <a:gd name="connsiteX100" fmla="*/ 1498600 w 5765800"/>
                  <a:gd name="connsiteY100" fmla="*/ 1419542 h 1950605"/>
                  <a:gd name="connsiteX101" fmla="*/ 858520 w 5765800"/>
                  <a:gd name="connsiteY101" fmla="*/ 1373822 h 1950605"/>
                  <a:gd name="connsiteX102" fmla="*/ 457200 w 5765800"/>
                  <a:gd name="connsiteY102" fmla="*/ 1353502 h 1950605"/>
                  <a:gd name="connsiteX103" fmla="*/ 167640 w 5765800"/>
                  <a:gd name="connsiteY103" fmla="*/ 1343342 h 1950605"/>
                  <a:gd name="connsiteX104" fmla="*/ 0 w 5765800"/>
                  <a:gd name="connsiteY104" fmla="*/ 1184672 h 1950605"/>
                  <a:gd name="connsiteX105" fmla="*/ 0 w 5765800"/>
                  <a:gd name="connsiteY105" fmla="*/ 0 h 1950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5765800" h="1950605">
                    <a:moveTo>
                      <a:pt x="0" y="0"/>
                    </a:moveTo>
                    <a:lnTo>
                      <a:pt x="2595960" y="0"/>
                    </a:lnTo>
                    <a:lnTo>
                      <a:pt x="2597547" y="0"/>
                    </a:lnTo>
                    <a:lnTo>
                      <a:pt x="2626519" y="0"/>
                    </a:lnTo>
                    <a:lnTo>
                      <a:pt x="2656285" y="397"/>
                    </a:lnTo>
                    <a:lnTo>
                      <a:pt x="2685256" y="1191"/>
                    </a:lnTo>
                    <a:lnTo>
                      <a:pt x="2715022" y="2381"/>
                    </a:lnTo>
                    <a:lnTo>
                      <a:pt x="2743994" y="3572"/>
                    </a:lnTo>
                    <a:lnTo>
                      <a:pt x="2773760" y="5159"/>
                    </a:lnTo>
                    <a:lnTo>
                      <a:pt x="2802731" y="7541"/>
                    </a:lnTo>
                    <a:lnTo>
                      <a:pt x="2832100" y="9922"/>
                    </a:lnTo>
                    <a:lnTo>
                      <a:pt x="2861072" y="11906"/>
                    </a:lnTo>
                    <a:lnTo>
                      <a:pt x="2890044" y="15081"/>
                    </a:lnTo>
                    <a:lnTo>
                      <a:pt x="2919413" y="18256"/>
                    </a:lnTo>
                    <a:lnTo>
                      <a:pt x="2948385" y="21828"/>
                    </a:lnTo>
                    <a:lnTo>
                      <a:pt x="2977356" y="25400"/>
                    </a:lnTo>
                    <a:lnTo>
                      <a:pt x="3005931" y="29369"/>
                    </a:lnTo>
                    <a:lnTo>
                      <a:pt x="3035300" y="33734"/>
                    </a:lnTo>
                    <a:lnTo>
                      <a:pt x="3063875" y="38100"/>
                    </a:lnTo>
                    <a:lnTo>
                      <a:pt x="3092450" y="42863"/>
                    </a:lnTo>
                    <a:lnTo>
                      <a:pt x="3121025" y="48419"/>
                    </a:lnTo>
                    <a:lnTo>
                      <a:pt x="3149600" y="53578"/>
                    </a:lnTo>
                    <a:lnTo>
                      <a:pt x="3178175" y="59134"/>
                    </a:lnTo>
                    <a:lnTo>
                      <a:pt x="3206750" y="65088"/>
                    </a:lnTo>
                    <a:lnTo>
                      <a:pt x="3234531" y="71834"/>
                    </a:lnTo>
                    <a:lnTo>
                      <a:pt x="3262710" y="77788"/>
                    </a:lnTo>
                    <a:lnTo>
                      <a:pt x="3290888" y="84931"/>
                    </a:lnTo>
                    <a:lnTo>
                      <a:pt x="3319066" y="92075"/>
                    </a:lnTo>
                    <a:lnTo>
                      <a:pt x="3346847" y="99219"/>
                    </a:lnTo>
                    <a:lnTo>
                      <a:pt x="3374628" y="107156"/>
                    </a:lnTo>
                    <a:lnTo>
                      <a:pt x="3402013" y="115094"/>
                    </a:lnTo>
                    <a:lnTo>
                      <a:pt x="3429794" y="123031"/>
                    </a:lnTo>
                    <a:lnTo>
                      <a:pt x="3457178" y="131366"/>
                    </a:lnTo>
                    <a:lnTo>
                      <a:pt x="3484563" y="140097"/>
                    </a:lnTo>
                    <a:lnTo>
                      <a:pt x="3511550" y="149225"/>
                    </a:lnTo>
                    <a:lnTo>
                      <a:pt x="3538935" y="158353"/>
                    </a:lnTo>
                    <a:lnTo>
                      <a:pt x="3565922" y="167481"/>
                    </a:lnTo>
                    <a:lnTo>
                      <a:pt x="3592116" y="177800"/>
                    </a:lnTo>
                    <a:lnTo>
                      <a:pt x="3618706" y="187722"/>
                    </a:lnTo>
                    <a:lnTo>
                      <a:pt x="3645297" y="198041"/>
                    </a:lnTo>
                    <a:lnTo>
                      <a:pt x="3671888" y="208359"/>
                    </a:lnTo>
                    <a:lnTo>
                      <a:pt x="3697685" y="219472"/>
                    </a:lnTo>
                    <a:lnTo>
                      <a:pt x="3724275" y="230584"/>
                    </a:lnTo>
                    <a:lnTo>
                      <a:pt x="3749675" y="241300"/>
                    </a:lnTo>
                    <a:lnTo>
                      <a:pt x="3775869" y="253603"/>
                    </a:lnTo>
                    <a:lnTo>
                      <a:pt x="3801269" y="264716"/>
                    </a:lnTo>
                    <a:lnTo>
                      <a:pt x="3826669" y="277416"/>
                    </a:lnTo>
                    <a:lnTo>
                      <a:pt x="3851672" y="289719"/>
                    </a:lnTo>
                    <a:lnTo>
                      <a:pt x="3876675" y="302022"/>
                    </a:lnTo>
                    <a:lnTo>
                      <a:pt x="3901678" y="314722"/>
                    </a:lnTo>
                    <a:lnTo>
                      <a:pt x="3926285" y="328216"/>
                    </a:lnTo>
                    <a:lnTo>
                      <a:pt x="3950891" y="341313"/>
                    </a:lnTo>
                    <a:lnTo>
                      <a:pt x="3974703" y="354806"/>
                    </a:lnTo>
                    <a:lnTo>
                      <a:pt x="3999310" y="368697"/>
                    </a:lnTo>
                    <a:lnTo>
                      <a:pt x="4023122" y="382588"/>
                    </a:lnTo>
                    <a:lnTo>
                      <a:pt x="4046538" y="397272"/>
                    </a:lnTo>
                    <a:lnTo>
                      <a:pt x="4069953" y="411559"/>
                    </a:lnTo>
                    <a:lnTo>
                      <a:pt x="4093369" y="426244"/>
                    </a:lnTo>
                    <a:lnTo>
                      <a:pt x="4115991" y="441325"/>
                    </a:lnTo>
                    <a:lnTo>
                      <a:pt x="4139010" y="456406"/>
                    </a:lnTo>
                    <a:lnTo>
                      <a:pt x="4162028" y="471884"/>
                    </a:lnTo>
                    <a:lnTo>
                      <a:pt x="4184253" y="487759"/>
                    </a:lnTo>
                    <a:lnTo>
                      <a:pt x="4206478" y="503634"/>
                    </a:lnTo>
                    <a:lnTo>
                      <a:pt x="4228306" y="519509"/>
                    </a:lnTo>
                    <a:lnTo>
                      <a:pt x="4250135" y="536575"/>
                    </a:lnTo>
                    <a:lnTo>
                      <a:pt x="4271566" y="552847"/>
                    </a:lnTo>
                    <a:lnTo>
                      <a:pt x="4292997" y="569516"/>
                    </a:lnTo>
                    <a:lnTo>
                      <a:pt x="4519613" y="752475"/>
                    </a:lnTo>
                    <a:lnTo>
                      <a:pt x="4624388" y="837406"/>
                    </a:lnTo>
                    <a:lnTo>
                      <a:pt x="4724400" y="919956"/>
                    </a:lnTo>
                    <a:lnTo>
                      <a:pt x="4820444" y="999331"/>
                    </a:lnTo>
                    <a:lnTo>
                      <a:pt x="4912916" y="1077119"/>
                    </a:lnTo>
                    <a:lnTo>
                      <a:pt x="4957366" y="1115616"/>
                    </a:lnTo>
                    <a:lnTo>
                      <a:pt x="5001816" y="1153716"/>
                    </a:lnTo>
                    <a:lnTo>
                      <a:pt x="5045472" y="1192213"/>
                    </a:lnTo>
                    <a:lnTo>
                      <a:pt x="5088335" y="1230313"/>
                    </a:lnTo>
                    <a:lnTo>
                      <a:pt x="5131197" y="1268810"/>
                    </a:lnTo>
                    <a:lnTo>
                      <a:pt x="5173663" y="1307306"/>
                    </a:lnTo>
                    <a:lnTo>
                      <a:pt x="5215731" y="1345803"/>
                    </a:lnTo>
                    <a:lnTo>
                      <a:pt x="5257403" y="1385094"/>
                    </a:lnTo>
                    <a:lnTo>
                      <a:pt x="5299075" y="1424385"/>
                    </a:lnTo>
                    <a:lnTo>
                      <a:pt x="5340747" y="1464072"/>
                    </a:lnTo>
                    <a:lnTo>
                      <a:pt x="5381625" y="1504950"/>
                    </a:lnTo>
                    <a:lnTo>
                      <a:pt x="5423297" y="1546225"/>
                    </a:lnTo>
                    <a:lnTo>
                      <a:pt x="5464969" y="1588294"/>
                    </a:lnTo>
                    <a:lnTo>
                      <a:pt x="5507038" y="1631156"/>
                    </a:lnTo>
                    <a:lnTo>
                      <a:pt x="5549106" y="1675606"/>
                    </a:lnTo>
                    <a:lnTo>
                      <a:pt x="5591175" y="1720453"/>
                    </a:lnTo>
                    <a:lnTo>
                      <a:pt x="5634038" y="1766491"/>
                    </a:lnTo>
                    <a:lnTo>
                      <a:pt x="5677297" y="1813719"/>
                    </a:lnTo>
                    <a:lnTo>
                      <a:pt x="5721350" y="1862931"/>
                    </a:lnTo>
                    <a:lnTo>
                      <a:pt x="5765800" y="1912938"/>
                    </a:lnTo>
                    <a:cubicBezTo>
                      <a:pt x="5440680" y="2002473"/>
                      <a:pt x="5374640" y="1919287"/>
                      <a:pt x="4455160" y="1800542"/>
                    </a:cubicBezTo>
                    <a:lnTo>
                      <a:pt x="4409440" y="1790382"/>
                    </a:lnTo>
                    <a:cubicBezTo>
                      <a:pt x="4402637" y="1788812"/>
                      <a:pt x="4396067" y="1785997"/>
                      <a:pt x="4389120" y="1785302"/>
                    </a:cubicBezTo>
                    <a:cubicBezTo>
                      <a:pt x="4379010" y="1784291"/>
                      <a:pt x="4368800" y="1785302"/>
                      <a:pt x="4358640" y="1785302"/>
                    </a:cubicBezTo>
                    <a:lnTo>
                      <a:pt x="3566160" y="1668462"/>
                    </a:lnTo>
                    <a:cubicBezTo>
                      <a:pt x="3454246" y="1656027"/>
                      <a:pt x="3504970" y="1663344"/>
                      <a:pt x="3413760" y="1648142"/>
                    </a:cubicBezTo>
                    <a:lnTo>
                      <a:pt x="2529840" y="1485582"/>
                    </a:lnTo>
                    <a:lnTo>
                      <a:pt x="1559560" y="1424622"/>
                    </a:lnTo>
                    <a:cubicBezTo>
                      <a:pt x="1508791" y="1418981"/>
                      <a:pt x="1529174" y="1419542"/>
                      <a:pt x="1498600" y="1419542"/>
                    </a:cubicBezTo>
                    <a:lnTo>
                      <a:pt x="858520" y="1373822"/>
                    </a:lnTo>
                    <a:lnTo>
                      <a:pt x="457200" y="1353502"/>
                    </a:lnTo>
                    <a:lnTo>
                      <a:pt x="167640" y="1343342"/>
                    </a:lnTo>
                    <a:lnTo>
                      <a:pt x="0" y="1184672"/>
                    </a:lnTo>
                    <a:lnTo>
                      <a:pt x="0" y="0"/>
                    </a:lnTo>
                    <a:close/>
                  </a:path>
                </a:pathLst>
              </a:custGeom>
              <a:solidFill>
                <a:schemeClr val="bg1"/>
              </a:solidFill>
              <a:ln>
                <a:noFill/>
              </a:ln>
            </p:spPr>
            <p:txBody>
              <a:bodyPr vert="horz" wrap="square" lIns="68580" tIns="34290" rIns="68580" bIns="34290" numCol="1" anchor="t" anchorCtr="0" compatLnSpc="1">
                <a:prstTxWarp prst="textNoShape">
                  <a:avLst/>
                </a:prstTxWarp>
                <a:noAutofit/>
              </a:bodyPr>
              <a:lstStyle/>
              <a:p>
                <a:endParaRPr lang="en-US" sz="1350">
                  <a:latin typeface="Aptos" panose="020B0004020202020204" pitchFamily="34" charset="0"/>
                  <a:sym typeface="Aptos" panose="020B0004020202020204" pitchFamily="34" charset="0"/>
                </a:endParaRPr>
              </a:p>
            </p:txBody>
          </p:sp>
          <p:sp>
            <p:nvSpPr>
              <p:cNvPr id="49" name="Freeform: Shape 48">
                <a:extLst>
                  <a:ext uri="{FF2B5EF4-FFF2-40B4-BE49-F238E27FC236}">
                    <a16:creationId xmlns:a16="http://schemas.microsoft.com/office/drawing/2014/main" id="{951635D3-B512-F03A-3AB2-CE801DE674DA}"/>
                  </a:ext>
                </a:extLst>
              </p:cNvPr>
              <p:cNvSpPr>
                <a:spLocks/>
              </p:cNvSpPr>
              <p:nvPr/>
            </p:nvSpPr>
            <p:spPr bwMode="auto">
              <a:xfrm>
                <a:off x="0" y="2540644"/>
                <a:ext cx="5551885" cy="2001917"/>
              </a:xfrm>
              <a:custGeom>
                <a:avLst/>
                <a:gdLst>
                  <a:gd name="connsiteX0" fmla="*/ 7402513 w 7402513"/>
                  <a:gd name="connsiteY0" fmla="*/ 0 h 2669222"/>
                  <a:gd name="connsiteX1" fmla="*/ 7377115 w 7402513"/>
                  <a:gd name="connsiteY1" fmla="*/ 24221 h 2669222"/>
                  <a:gd name="connsiteX2" fmla="*/ 7352113 w 7402513"/>
                  <a:gd name="connsiteY2" fmla="*/ 49235 h 2669222"/>
                  <a:gd name="connsiteX3" fmla="*/ 7302109 w 7402513"/>
                  <a:gd name="connsiteY3" fmla="*/ 98471 h 2669222"/>
                  <a:gd name="connsiteX4" fmla="*/ 6867158 w 7402513"/>
                  <a:gd name="connsiteY4" fmla="*/ 461780 h 2669222"/>
                  <a:gd name="connsiteX5" fmla="*/ 6772831 w 7402513"/>
                  <a:gd name="connsiteY5" fmla="*/ 540796 h 2669222"/>
                  <a:gd name="connsiteX6" fmla="*/ 6268720 w 7402513"/>
                  <a:gd name="connsiteY6" fmla="*/ 1023302 h 2669222"/>
                  <a:gd name="connsiteX7" fmla="*/ 5674360 w 7402513"/>
                  <a:gd name="connsiteY7" fmla="*/ 1571942 h 2669222"/>
                  <a:gd name="connsiteX8" fmla="*/ 5217160 w 7402513"/>
                  <a:gd name="connsiteY8" fmla="*/ 2013902 h 2669222"/>
                  <a:gd name="connsiteX9" fmla="*/ 4495800 w 7402513"/>
                  <a:gd name="connsiteY9" fmla="*/ 2399982 h 2669222"/>
                  <a:gd name="connsiteX10" fmla="*/ 3576320 w 7402513"/>
                  <a:gd name="connsiteY10" fmla="*/ 2618422 h 2669222"/>
                  <a:gd name="connsiteX11" fmla="*/ 431800 w 7402513"/>
                  <a:gd name="connsiteY11" fmla="*/ 2669222 h 2669222"/>
                  <a:gd name="connsiteX12" fmla="*/ 81280 w 7402513"/>
                  <a:gd name="connsiteY12" fmla="*/ 2628582 h 2669222"/>
                  <a:gd name="connsiteX13" fmla="*/ 84638 w 7402513"/>
                  <a:gd name="connsiteY13" fmla="*/ 2561429 h 2669222"/>
                  <a:gd name="connsiteX14" fmla="*/ 0 w 7402513"/>
                  <a:gd name="connsiteY14" fmla="*/ 2561429 h 2669222"/>
                  <a:gd name="connsiteX15" fmla="*/ 0 w 7402513"/>
                  <a:gd name="connsiteY15" fmla="*/ 1360325 h 2669222"/>
                  <a:gd name="connsiteX16" fmla="*/ 96520 w 7402513"/>
                  <a:gd name="connsiteY16" fmla="*/ 1317942 h 2669222"/>
                  <a:gd name="connsiteX17" fmla="*/ 472440 w 7402513"/>
                  <a:gd name="connsiteY17" fmla="*/ 1317942 h 2669222"/>
                  <a:gd name="connsiteX18" fmla="*/ 2473960 w 7402513"/>
                  <a:gd name="connsiteY18" fmla="*/ 1323022 h 2669222"/>
                  <a:gd name="connsiteX19" fmla="*/ 4582160 w 7402513"/>
                  <a:gd name="connsiteY19" fmla="*/ 1292542 h 2669222"/>
                  <a:gd name="connsiteX20" fmla="*/ 5709920 w 7402513"/>
                  <a:gd name="connsiteY20" fmla="*/ 1028382 h 2669222"/>
                  <a:gd name="connsiteX21" fmla="*/ 6441440 w 7402513"/>
                  <a:gd name="connsiteY21" fmla="*/ 667702 h 2669222"/>
                  <a:gd name="connsiteX22" fmla="*/ 6701260 w 7402513"/>
                  <a:gd name="connsiteY22" fmla="*/ 545434 h 2669222"/>
                  <a:gd name="connsiteX23" fmla="*/ 7176307 w 7402513"/>
                  <a:gd name="connsiteY23" fmla="*/ 179074 h 2669222"/>
                  <a:gd name="connsiteX24" fmla="*/ 7289807 w 7402513"/>
                  <a:gd name="connsiteY24" fmla="*/ 89736 h 2669222"/>
                  <a:gd name="connsiteX0" fmla="*/ 7402513 w 7402513"/>
                  <a:gd name="connsiteY0" fmla="*/ 0 h 2669222"/>
                  <a:gd name="connsiteX1" fmla="*/ 7377115 w 7402513"/>
                  <a:gd name="connsiteY1" fmla="*/ 24221 h 2669222"/>
                  <a:gd name="connsiteX2" fmla="*/ 7352113 w 7402513"/>
                  <a:gd name="connsiteY2" fmla="*/ 49235 h 2669222"/>
                  <a:gd name="connsiteX3" fmla="*/ 7302109 w 7402513"/>
                  <a:gd name="connsiteY3" fmla="*/ 98471 h 2669222"/>
                  <a:gd name="connsiteX4" fmla="*/ 6867158 w 7402513"/>
                  <a:gd name="connsiteY4" fmla="*/ 461780 h 2669222"/>
                  <a:gd name="connsiteX5" fmla="*/ 6772831 w 7402513"/>
                  <a:gd name="connsiteY5" fmla="*/ 540796 h 2669222"/>
                  <a:gd name="connsiteX6" fmla="*/ 6268720 w 7402513"/>
                  <a:gd name="connsiteY6" fmla="*/ 1023302 h 2669222"/>
                  <a:gd name="connsiteX7" fmla="*/ 5674360 w 7402513"/>
                  <a:gd name="connsiteY7" fmla="*/ 1571942 h 2669222"/>
                  <a:gd name="connsiteX8" fmla="*/ 5217160 w 7402513"/>
                  <a:gd name="connsiteY8" fmla="*/ 2013902 h 2669222"/>
                  <a:gd name="connsiteX9" fmla="*/ 4495800 w 7402513"/>
                  <a:gd name="connsiteY9" fmla="*/ 2399982 h 2669222"/>
                  <a:gd name="connsiteX10" fmla="*/ 3576320 w 7402513"/>
                  <a:gd name="connsiteY10" fmla="*/ 2618422 h 2669222"/>
                  <a:gd name="connsiteX11" fmla="*/ 431800 w 7402513"/>
                  <a:gd name="connsiteY11" fmla="*/ 2669222 h 2669222"/>
                  <a:gd name="connsiteX12" fmla="*/ 81280 w 7402513"/>
                  <a:gd name="connsiteY12" fmla="*/ 2628582 h 2669222"/>
                  <a:gd name="connsiteX13" fmla="*/ 0 w 7402513"/>
                  <a:gd name="connsiteY13" fmla="*/ 2561429 h 2669222"/>
                  <a:gd name="connsiteX14" fmla="*/ 0 w 7402513"/>
                  <a:gd name="connsiteY14" fmla="*/ 1360325 h 2669222"/>
                  <a:gd name="connsiteX15" fmla="*/ 96520 w 7402513"/>
                  <a:gd name="connsiteY15" fmla="*/ 1317942 h 2669222"/>
                  <a:gd name="connsiteX16" fmla="*/ 472440 w 7402513"/>
                  <a:gd name="connsiteY16" fmla="*/ 1317942 h 2669222"/>
                  <a:gd name="connsiteX17" fmla="*/ 2473960 w 7402513"/>
                  <a:gd name="connsiteY17" fmla="*/ 1323022 h 2669222"/>
                  <a:gd name="connsiteX18" fmla="*/ 4582160 w 7402513"/>
                  <a:gd name="connsiteY18" fmla="*/ 1292542 h 2669222"/>
                  <a:gd name="connsiteX19" fmla="*/ 5709920 w 7402513"/>
                  <a:gd name="connsiteY19" fmla="*/ 1028382 h 2669222"/>
                  <a:gd name="connsiteX20" fmla="*/ 6441440 w 7402513"/>
                  <a:gd name="connsiteY20" fmla="*/ 667702 h 2669222"/>
                  <a:gd name="connsiteX21" fmla="*/ 6701260 w 7402513"/>
                  <a:gd name="connsiteY21" fmla="*/ 545434 h 2669222"/>
                  <a:gd name="connsiteX22" fmla="*/ 7176307 w 7402513"/>
                  <a:gd name="connsiteY22" fmla="*/ 179074 h 2669222"/>
                  <a:gd name="connsiteX23" fmla="*/ 7289807 w 7402513"/>
                  <a:gd name="connsiteY23" fmla="*/ 89736 h 2669222"/>
                  <a:gd name="connsiteX24" fmla="*/ 7402513 w 7402513"/>
                  <a:gd name="connsiteY24" fmla="*/ 0 h 2669222"/>
                  <a:gd name="connsiteX0" fmla="*/ 7402513 w 7402513"/>
                  <a:gd name="connsiteY0" fmla="*/ 0 h 2669222"/>
                  <a:gd name="connsiteX1" fmla="*/ 7377115 w 7402513"/>
                  <a:gd name="connsiteY1" fmla="*/ 24221 h 2669222"/>
                  <a:gd name="connsiteX2" fmla="*/ 7352113 w 7402513"/>
                  <a:gd name="connsiteY2" fmla="*/ 49235 h 2669222"/>
                  <a:gd name="connsiteX3" fmla="*/ 7302109 w 7402513"/>
                  <a:gd name="connsiteY3" fmla="*/ 98471 h 2669222"/>
                  <a:gd name="connsiteX4" fmla="*/ 6867158 w 7402513"/>
                  <a:gd name="connsiteY4" fmla="*/ 461780 h 2669222"/>
                  <a:gd name="connsiteX5" fmla="*/ 6788071 w 7402513"/>
                  <a:gd name="connsiteY5" fmla="*/ 550956 h 2669222"/>
                  <a:gd name="connsiteX6" fmla="*/ 6268720 w 7402513"/>
                  <a:gd name="connsiteY6" fmla="*/ 1023302 h 2669222"/>
                  <a:gd name="connsiteX7" fmla="*/ 5674360 w 7402513"/>
                  <a:gd name="connsiteY7" fmla="*/ 1571942 h 2669222"/>
                  <a:gd name="connsiteX8" fmla="*/ 5217160 w 7402513"/>
                  <a:gd name="connsiteY8" fmla="*/ 2013902 h 2669222"/>
                  <a:gd name="connsiteX9" fmla="*/ 4495800 w 7402513"/>
                  <a:gd name="connsiteY9" fmla="*/ 2399982 h 2669222"/>
                  <a:gd name="connsiteX10" fmla="*/ 3576320 w 7402513"/>
                  <a:gd name="connsiteY10" fmla="*/ 2618422 h 2669222"/>
                  <a:gd name="connsiteX11" fmla="*/ 431800 w 7402513"/>
                  <a:gd name="connsiteY11" fmla="*/ 2669222 h 2669222"/>
                  <a:gd name="connsiteX12" fmla="*/ 81280 w 7402513"/>
                  <a:gd name="connsiteY12" fmla="*/ 2628582 h 2669222"/>
                  <a:gd name="connsiteX13" fmla="*/ 0 w 7402513"/>
                  <a:gd name="connsiteY13" fmla="*/ 2561429 h 2669222"/>
                  <a:gd name="connsiteX14" fmla="*/ 0 w 7402513"/>
                  <a:gd name="connsiteY14" fmla="*/ 1360325 h 2669222"/>
                  <a:gd name="connsiteX15" fmla="*/ 96520 w 7402513"/>
                  <a:gd name="connsiteY15" fmla="*/ 1317942 h 2669222"/>
                  <a:gd name="connsiteX16" fmla="*/ 472440 w 7402513"/>
                  <a:gd name="connsiteY16" fmla="*/ 1317942 h 2669222"/>
                  <a:gd name="connsiteX17" fmla="*/ 2473960 w 7402513"/>
                  <a:gd name="connsiteY17" fmla="*/ 1323022 h 2669222"/>
                  <a:gd name="connsiteX18" fmla="*/ 4582160 w 7402513"/>
                  <a:gd name="connsiteY18" fmla="*/ 1292542 h 2669222"/>
                  <a:gd name="connsiteX19" fmla="*/ 5709920 w 7402513"/>
                  <a:gd name="connsiteY19" fmla="*/ 1028382 h 2669222"/>
                  <a:gd name="connsiteX20" fmla="*/ 6441440 w 7402513"/>
                  <a:gd name="connsiteY20" fmla="*/ 667702 h 2669222"/>
                  <a:gd name="connsiteX21" fmla="*/ 6701260 w 7402513"/>
                  <a:gd name="connsiteY21" fmla="*/ 545434 h 2669222"/>
                  <a:gd name="connsiteX22" fmla="*/ 7176307 w 7402513"/>
                  <a:gd name="connsiteY22" fmla="*/ 179074 h 2669222"/>
                  <a:gd name="connsiteX23" fmla="*/ 7289807 w 7402513"/>
                  <a:gd name="connsiteY23" fmla="*/ 89736 h 2669222"/>
                  <a:gd name="connsiteX24" fmla="*/ 7402513 w 7402513"/>
                  <a:gd name="connsiteY24" fmla="*/ 0 h 2669222"/>
                  <a:gd name="connsiteX0" fmla="*/ 7402513 w 7402513"/>
                  <a:gd name="connsiteY0" fmla="*/ 0 h 2669222"/>
                  <a:gd name="connsiteX1" fmla="*/ 7377115 w 7402513"/>
                  <a:gd name="connsiteY1" fmla="*/ 24221 h 2669222"/>
                  <a:gd name="connsiteX2" fmla="*/ 7352113 w 7402513"/>
                  <a:gd name="connsiteY2" fmla="*/ 49235 h 2669222"/>
                  <a:gd name="connsiteX3" fmla="*/ 7302109 w 7402513"/>
                  <a:gd name="connsiteY3" fmla="*/ 98471 h 2669222"/>
                  <a:gd name="connsiteX4" fmla="*/ 6887478 w 7402513"/>
                  <a:gd name="connsiteY4" fmla="*/ 477020 h 2669222"/>
                  <a:gd name="connsiteX5" fmla="*/ 6788071 w 7402513"/>
                  <a:gd name="connsiteY5" fmla="*/ 550956 h 2669222"/>
                  <a:gd name="connsiteX6" fmla="*/ 6268720 w 7402513"/>
                  <a:gd name="connsiteY6" fmla="*/ 1023302 h 2669222"/>
                  <a:gd name="connsiteX7" fmla="*/ 5674360 w 7402513"/>
                  <a:gd name="connsiteY7" fmla="*/ 1571942 h 2669222"/>
                  <a:gd name="connsiteX8" fmla="*/ 5217160 w 7402513"/>
                  <a:gd name="connsiteY8" fmla="*/ 2013902 h 2669222"/>
                  <a:gd name="connsiteX9" fmla="*/ 4495800 w 7402513"/>
                  <a:gd name="connsiteY9" fmla="*/ 2399982 h 2669222"/>
                  <a:gd name="connsiteX10" fmla="*/ 3576320 w 7402513"/>
                  <a:gd name="connsiteY10" fmla="*/ 2618422 h 2669222"/>
                  <a:gd name="connsiteX11" fmla="*/ 431800 w 7402513"/>
                  <a:gd name="connsiteY11" fmla="*/ 2669222 h 2669222"/>
                  <a:gd name="connsiteX12" fmla="*/ 81280 w 7402513"/>
                  <a:gd name="connsiteY12" fmla="*/ 2628582 h 2669222"/>
                  <a:gd name="connsiteX13" fmla="*/ 0 w 7402513"/>
                  <a:gd name="connsiteY13" fmla="*/ 2561429 h 2669222"/>
                  <a:gd name="connsiteX14" fmla="*/ 0 w 7402513"/>
                  <a:gd name="connsiteY14" fmla="*/ 1360325 h 2669222"/>
                  <a:gd name="connsiteX15" fmla="*/ 96520 w 7402513"/>
                  <a:gd name="connsiteY15" fmla="*/ 1317942 h 2669222"/>
                  <a:gd name="connsiteX16" fmla="*/ 472440 w 7402513"/>
                  <a:gd name="connsiteY16" fmla="*/ 1317942 h 2669222"/>
                  <a:gd name="connsiteX17" fmla="*/ 2473960 w 7402513"/>
                  <a:gd name="connsiteY17" fmla="*/ 1323022 h 2669222"/>
                  <a:gd name="connsiteX18" fmla="*/ 4582160 w 7402513"/>
                  <a:gd name="connsiteY18" fmla="*/ 1292542 h 2669222"/>
                  <a:gd name="connsiteX19" fmla="*/ 5709920 w 7402513"/>
                  <a:gd name="connsiteY19" fmla="*/ 1028382 h 2669222"/>
                  <a:gd name="connsiteX20" fmla="*/ 6441440 w 7402513"/>
                  <a:gd name="connsiteY20" fmla="*/ 667702 h 2669222"/>
                  <a:gd name="connsiteX21" fmla="*/ 6701260 w 7402513"/>
                  <a:gd name="connsiteY21" fmla="*/ 545434 h 2669222"/>
                  <a:gd name="connsiteX22" fmla="*/ 7176307 w 7402513"/>
                  <a:gd name="connsiteY22" fmla="*/ 179074 h 2669222"/>
                  <a:gd name="connsiteX23" fmla="*/ 7289807 w 7402513"/>
                  <a:gd name="connsiteY23" fmla="*/ 89736 h 2669222"/>
                  <a:gd name="connsiteX24" fmla="*/ 7402513 w 7402513"/>
                  <a:gd name="connsiteY24" fmla="*/ 0 h 2669222"/>
                  <a:gd name="connsiteX0" fmla="*/ 7402513 w 7402513"/>
                  <a:gd name="connsiteY0" fmla="*/ 0 h 2669222"/>
                  <a:gd name="connsiteX1" fmla="*/ 7377115 w 7402513"/>
                  <a:gd name="connsiteY1" fmla="*/ 24221 h 2669222"/>
                  <a:gd name="connsiteX2" fmla="*/ 7352113 w 7402513"/>
                  <a:gd name="connsiteY2" fmla="*/ 49235 h 2669222"/>
                  <a:gd name="connsiteX3" fmla="*/ 7302109 w 7402513"/>
                  <a:gd name="connsiteY3" fmla="*/ 98471 h 2669222"/>
                  <a:gd name="connsiteX4" fmla="*/ 6887478 w 7402513"/>
                  <a:gd name="connsiteY4" fmla="*/ 477020 h 2669222"/>
                  <a:gd name="connsiteX5" fmla="*/ 6788071 w 7402513"/>
                  <a:gd name="connsiteY5" fmla="*/ 550956 h 2669222"/>
                  <a:gd name="connsiteX6" fmla="*/ 6268720 w 7402513"/>
                  <a:gd name="connsiteY6" fmla="*/ 1023302 h 2669222"/>
                  <a:gd name="connsiteX7" fmla="*/ 5674360 w 7402513"/>
                  <a:gd name="connsiteY7" fmla="*/ 1571942 h 2669222"/>
                  <a:gd name="connsiteX8" fmla="*/ 5217160 w 7402513"/>
                  <a:gd name="connsiteY8" fmla="*/ 2013902 h 2669222"/>
                  <a:gd name="connsiteX9" fmla="*/ 4495800 w 7402513"/>
                  <a:gd name="connsiteY9" fmla="*/ 2399982 h 2669222"/>
                  <a:gd name="connsiteX10" fmla="*/ 3576320 w 7402513"/>
                  <a:gd name="connsiteY10" fmla="*/ 2618422 h 2669222"/>
                  <a:gd name="connsiteX11" fmla="*/ 431800 w 7402513"/>
                  <a:gd name="connsiteY11" fmla="*/ 2669222 h 2669222"/>
                  <a:gd name="connsiteX12" fmla="*/ 81280 w 7402513"/>
                  <a:gd name="connsiteY12" fmla="*/ 2628582 h 2669222"/>
                  <a:gd name="connsiteX13" fmla="*/ 0 w 7402513"/>
                  <a:gd name="connsiteY13" fmla="*/ 2561429 h 2669222"/>
                  <a:gd name="connsiteX14" fmla="*/ 0 w 7402513"/>
                  <a:gd name="connsiteY14" fmla="*/ 1360325 h 2669222"/>
                  <a:gd name="connsiteX15" fmla="*/ 96520 w 7402513"/>
                  <a:gd name="connsiteY15" fmla="*/ 1317942 h 2669222"/>
                  <a:gd name="connsiteX16" fmla="*/ 472440 w 7402513"/>
                  <a:gd name="connsiteY16" fmla="*/ 1317942 h 2669222"/>
                  <a:gd name="connsiteX17" fmla="*/ 2473960 w 7402513"/>
                  <a:gd name="connsiteY17" fmla="*/ 1323022 h 2669222"/>
                  <a:gd name="connsiteX18" fmla="*/ 4582160 w 7402513"/>
                  <a:gd name="connsiteY18" fmla="*/ 1292542 h 2669222"/>
                  <a:gd name="connsiteX19" fmla="*/ 5709920 w 7402513"/>
                  <a:gd name="connsiteY19" fmla="*/ 1028382 h 2669222"/>
                  <a:gd name="connsiteX20" fmla="*/ 6456680 w 7402513"/>
                  <a:gd name="connsiteY20" fmla="*/ 688657 h 2669222"/>
                  <a:gd name="connsiteX21" fmla="*/ 6701260 w 7402513"/>
                  <a:gd name="connsiteY21" fmla="*/ 545434 h 2669222"/>
                  <a:gd name="connsiteX22" fmla="*/ 7176307 w 7402513"/>
                  <a:gd name="connsiteY22" fmla="*/ 179074 h 2669222"/>
                  <a:gd name="connsiteX23" fmla="*/ 7289807 w 7402513"/>
                  <a:gd name="connsiteY23" fmla="*/ 89736 h 2669222"/>
                  <a:gd name="connsiteX24" fmla="*/ 7402513 w 7402513"/>
                  <a:gd name="connsiteY24" fmla="*/ 0 h 2669222"/>
                  <a:gd name="connsiteX0" fmla="*/ 7402513 w 7402513"/>
                  <a:gd name="connsiteY0" fmla="*/ 0 h 2669222"/>
                  <a:gd name="connsiteX1" fmla="*/ 7377115 w 7402513"/>
                  <a:gd name="connsiteY1" fmla="*/ 24221 h 2669222"/>
                  <a:gd name="connsiteX2" fmla="*/ 7352113 w 7402513"/>
                  <a:gd name="connsiteY2" fmla="*/ 49235 h 2669222"/>
                  <a:gd name="connsiteX3" fmla="*/ 7302109 w 7402513"/>
                  <a:gd name="connsiteY3" fmla="*/ 98471 h 2669222"/>
                  <a:gd name="connsiteX4" fmla="*/ 6887478 w 7402513"/>
                  <a:gd name="connsiteY4" fmla="*/ 477020 h 2669222"/>
                  <a:gd name="connsiteX5" fmla="*/ 6788071 w 7402513"/>
                  <a:gd name="connsiteY5" fmla="*/ 550956 h 2669222"/>
                  <a:gd name="connsiteX6" fmla="*/ 6268720 w 7402513"/>
                  <a:gd name="connsiteY6" fmla="*/ 1023302 h 2669222"/>
                  <a:gd name="connsiteX7" fmla="*/ 5674360 w 7402513"/>
                  <a:gd name="connsiteY7" fmla="*/ 1571942 h 2669222"/>
                  <a:gd name="connsiteX8" fmla="*/ 5217160 w 7402513"/>
                  <a:gd name="connsiteY8" fmla="*/ 2013902 h 2669222"/>
                  <a:gd name="connsiteX9" fmla="*/ 4495800 w 7402513"/>
                  <a:gd name="connsiteY9" fmla="*/ 2399982 h 2669222"/>
                  <a:gd name="connsiteX10" fmla="*/ 3576320 w 7402513"/>
                  <a:gd name="connsiteY10" fmla="*/ 2618422 h 2669222"/>
                  <a:gd name="connsiteX11" fmla="*/ 431800 w 7402513"/>
                  <a:gd name="connsiteY11" fmla="*/ 2669222 h 2669222"/>
                  <a:gd name="connsiteX12" fmla="*/ 81280 w 7402513"/>
                  <a:gd name="connsiteY12" fmla="*/ 2628582 h 2669222"/>
                  <a:gd name="connsiteX13" fmla="*/ 0 w 7402513"/>
                  <a:gd name="connsiteY13" fmla="*/ 2561429 h 2669222"/>
                  <a:gd name="connsiteX14" fmla="*/ 0 w 7402513"/>
                  <a:gd name="connsiteY14" fmla="*/ 1360325 h 2669222"/>
                  <a:gd name="connsiteX15" fmla="*/ 96520 w 7402513"/>
                  <a:gd name="connsiteY15" fmla="*/ 1317942 h 2669222"/>
                  <a:gd name="connsiteX16" fmla="*/ 472440 w 7402513"/>
                  <a:gd name="connsiteY16" fmla="*/ 1317942 h 2669222"/>
                  <a:gd name="connsiteX17" fmla="*/ 2473960 w 7402513"/>
                  <a:gd name="connsiteY17" fmla="*/ 1323022 h 2669222"/>
                  <a:gd name="connsiteX18" fmla="*/ 4582160 w 7402513"/>
                  <a:gd name="connsiteY18" fmla="*/ 1292542 h 2669222"/>
                  <a:gd name="connsiteX19" fmla="*/ 5709920 w 7402513"/>
                  <a:gd name="connsiteY19" fmla="*/ 1028382 h 2669222"/>
                  <a:gd name="connsiteX20" fmla="*/ 6456680 w 7402513"/>
                  <a:gd name="connsiteY20" fmla="*/ 688657 h 2669222"/>
                  <a:gd name="connsiteX21" fmla="*/ 6697450 w 7402513"/>
                  <a:gd name="connsiteY21" fmla="*/ 534004 h 2669222"/>
                  <a:gd name="connsiteX22" fmla="*/ 7176307 w 7402513"/>
                  <a:gd name="connsiteY22" fmla="*/ 179074 h 2669222"/>
                  <a:gd name="connsiteX23" fmla="*/ 7289807 w 7402513"/>
                  <a:gd name="connsiteY23" fmla="*/ 89736 h 2669222"/>
                  <a:gd name="connsiteX24" fmla="*/ 7402513 w 7402513"/>
                  <a:gd name="connsiteY24" fmla="*/ 0 h 2669222"/>
                  <a:gd name="connsiteX0" fmla="*/ 7402513 w 7402513"/>
                  <a:gd name="connsiteY0" fmla="*/ 0 h 2669222"/>
                  <a:gd name="connsiteX1" fmla="*/ 7377115 w 7402513"/>
                  <a:gd name="connsiteY1" fmla="*/ 24221 h 2669222"/>
                  <a:gd name="connsiteX2" fmla="*/ 7352113 w 7402513"/>
                  <a:gd name="connsiteY2" fmla="*/ 49235 h 2669222"/>
                  <a:gd name="connsiteX3" fmla="*/ 7302109 w 7402513"/>
                  <a:gd name="connsiteY3" fmla="*/ 98471 h 2669222"/>
                  <a:gd name="connsiteX4" fmla="*/ 6887478 w 7402513"/>
                  <a:gd name="connsiteY4" fmla="*/ 477020 h 2669222"/>
                  <a:gd name="connsiteX5" fmla="*/ 6788071 w 7402513"/>
                  <a:gd name="connsiteY5" fmla="*/ 550956 h 2669222"/>
                  <a:gd name="connsiteX6" fmla="*/ 6268720 w 7402513"/>
                  <a:gd name="connsiteY6" fmla="*/ 1023302 h 2669222"/>
                  <a:gd name="connsiteX7" fmla="*/ 5674360 w 7402513"/>
                  <a:gd name="connsiteY7" fmla="*/ 1571942 h 2669222"/>
                  <a:gd name="connsiteX8" fmla="*/ 5217160 w 7402513"/>
                  <a:gd name="connsiteY8" fmla="*/ 2013902 h 2669222"/>
                  <a:gd name="connsiteX9" fmla="*/ 4495800 w 7402513"/>
                  <a:gd name="connsiteY9" fmla="*/ 2399982 h 2669222"/>
                  <a:gd name="connsiteX10" fmla="*/ 3576320 w 7402513"/>
                  <a:gd name="connsiteY10" fmla="*/ 2618422 h 2669222"/>
                  <a:gd name="connsiteX11" fmla="*/ 431800 w 7402513"/>
                  <a:gd name="connsiteY11" fmla="*/ 2669222 h 2669222"/>
                  <a:gd name="connsiteX12" fmla="*/ 81280 w 7402513"/>
                  <a:gd name="connsiteY12" fmla="*/ 2628582 h 2669222"/>
                  <a:gd name="connsiteX13" fmla="*/ 0 w 7402513"/>
                  <a:gd name="connsiteY13" fmla="*/ 2561429 h 2669222"/>
                  <a:gd name="connsiteX14" fmla="*/ 0 w 7402513"/>
                  <a:gd name="connsiteY14" fmla="*/ 1360325 h 2669222"/>
                  <a:gd name="connsiteX15" fmla="*/ 96520 w 7402513"/>
                  <a:gd name="connsiteY15" fmla="*/ 1317942 h 2669222"/>
                  <a:gd name="connsiteX16" fmla="*/ 472440 w 7402513"/>
                  <a:gd name="connsiteY16" fmla="*/ 1317942 h 2669222"/>
                  <a:gd name="connsiteX17" fmla="*/ 2473960 w 7402513"/>
                  <a:gd name="connsiteY17" fmla="*/ 1323022 h 2669222"/>
                  <a:gd name="connsiteX18" fmla="*/ 4582160 w 7402513"/>
                  <a:gd name="connsiteY18" fmla="*/ 1292542 h 2669222"/>
                  <a:gd name="connsiteX19" fmla="*/ 5709920 w 7402513"/>
                  <a:gd name="connsiteY19" fmla="*/ 1028382 h 2669222"/>
                  <a:gd name="connsiteX20" fmla="*/ 6456680 w 7402513"/>
                  <a:gd name="connsiteY20" fmla="*/ 688657 h 2669222"/>
                  <a:gd name="connsiteX21" fmla="*/ 6697450 w 7402513"/>
                  <a:gd name="connsiteY21" fmla="*/ 534004 h 2669222"/>
                  <a:gd name="connsiteX22" fmla="*/ 7172497 w 7402513"/>
                  <a:gd name="connsiteY22" fmla="*/ 160024 h 2669222"/>
                  <a:gd name="connsiteX23" fmla="*/ 7289807 w 7402513"/>
                  <a:gd name="connsiteY23" fmla="*/ 89736 h 2669222"/>
                  <a:gd name="connsiteX24" fmla="*/ 7402513 w 7402513"/>
                  <a:gd name="connsiteY24" fmla="*/ 0 h 2669222"/>
                  <a:gd name="connsiteX0" fmla="*/ 7402513 w 7402513"/>
                  <a:gd name="connsiteY0" fmla="*/ 0 h 2669222"/>
                  <a:gd name="connsiteX1" fmla="*/ 7377115 w 7402513"/>
                  <a:gd name="connsiteY1" fmla="*/ 24221 h 2669222"/>
                  <a:gd name="connsiteX2" fmla="*/ 7352113 w 7402513"/>
                  <a:gd name="connsiteY2" fmla="*/ 49235 h 2669222"/>
                  <a:gd name="connsiteX3" fmla="*/ 7302109 w 7402513"/>
                  <a:gd name="connsiteY3" fmla="*/ 98471 h 2669222"/>
                  <a:gd name="connsiteX4" fmla="*/ 6887478 w 7402513"/>
                  <a:gd name="connsiteY4" fmla="*/ 477020 h 2669222"/>
                  <a:gd name="connsiteX5" fmla="*/ 6788071 w 7402513"/>
                  <a:gd name="connsiteY5" fmla="*/ 550956 h 2669222"/>
                  <a:gd name="connsiteX6" fmla="*/ 6268720 w 7402513"/>
                  <a:gd name="connsiteY6" fmla="*/ 1023302 h 2669222"/>
                  <a:gd name="connsiteX7" fmla="*/ 5674360 w 7402513"/>
                  <a:gd name="connsiteY7" fmla="*/ 1571942 h 2669222"/>
                  <a:gd name="connsiteX8" fmla="*/ 5217160 w 7402513"/>
                  <a:gd name="connsiteY8" fmla="*/ 2013902 h 2669222"/>
                  <a:gd name="connsiteX9" fmla="*/ 4495800 w 7402513"/>
                  <a:gd name="connsiteY9" fmla="*/ 2399982 h 2669222"/>
                  <a:gd name="connsiteX10" fmla="*/ 3576320 w 7402513"/>
                  <a:gd name="connsiteY10" fmla="*/ 2618422 h 2669222"/>
                  <a:gd name="connsiteX11" fmla="*/ 431800 w 7402513"/>
                  <a:gd name="connsiteY11" fmla="*/ 2669222 h 2669222"/>
                  <a:gd name="connsiteX12" fmla="*/ 81280 w 7402513"/>
                  <a:gd name="connsiteY12" fmla="*/ 2628582 h 2669222"/>
                  <a:gd name="connsiteX13" fmla="*/ 0 w 7402513"/>
                  <a:gd name="connsiteY13" fmla="*/ 2561429 h 2669222"/>
                  <a:gd name="connsiteX14" fmla="*/ 0 w 7402513"/>
                  <a:gd name="connsiteY14" fmla="*/ 1360325 h 2669222"/>
                  <a:gd name="connsiteX15" fmla="*/ 96520 w 7402513"/>
                  <a:gd name="connsiteY15" fmla="*/ 1317942 h 2669222"/>
                  <a:gd name="connsiteX16" fmla="*/ 472440 w 7402513"/>
                  <a:gd name="connsiteY16" fmla="*/ 1317942 h 2669222"/>
                  <a:gd name="connsiteX17" fmla="*/ 2473960 w 7402513"/>
                  <a:gd name="connsiteY17" fmla="*/ 1323022 h 2669222"/>
                  <a:gd name="connsiteX18" fmla="*/ 4582160 w 7402513"/>
                  <a:gd name="connsiteY18" fmla="*/ 1292542 h 2669222"/>
                  <a:gd name="connsiteX19" fmla="*/ 5709920 w 7402513"/>
                  <a:gd name="connsiteY19" fmla="*/ 1028382 h 2669222"/>
                  <a:gd name="connsiteX20" fmla="*/ 6456680 w 7402513"/>
                  <a:gd name="connsiteY20" fmla="*/ 688657 h 2669222"/>
                  <a:gd name="connsiteX21" fmla="*/ 6697450 w 7402513"/>
                  <a:gd name="connsiteY21" fmla="*/ 534004 h 2669222"/>
                  <a:gd name="connsiteX22" fmla="*/ 7172497 w 7402513"/>
                  <a:gd name="connsiteY22" fmla="*/ 160024 h 2669222"/>
                  <a:gd name="connsiteX23" fmla="*/ 7282187 w 7402513"/>
                  <a:gd name="connsiteY23" fmla="*/ 78306 h 2669222"/>
                  <a:gd name="connsiteX24" fmla="*/ 7402513 w 7402513"/>
                  <a:gd name="connsiteY24" fmla="*/ 0 h 2669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02513" h="2669222">
                    <a:moveTo>
                      <a:pt x="7402513" y="0"/>
                    </a:moveTo>
                    <a:lnTo>
                      <a:pt x="7377115" y="24221"/>
                    </a:lnTo>
                    <a:lnTo>
                      <a:pt x="7352113" y="49235"/>
                    </a:lnTo>
                    <a:lnTo>
                      <a:pt x="7302109" y="98471"/>
                    </a:lnTo>
                    <a:lnTo>
                      <a:pt x="6887478" y="477020"/>
                    </a:lnTo>
                    <a:lnTo>
                      <a:pt x="6788071" y="550956"/>
                    </a:lnTo>
                    <a:lnTo>
                      <a:pt x="6268720" y="1023302"/>
                    </a:lnTo>
                    <a:lnTo>
                      <a:pt x="5674360" y="1571942"/>
                    </a:lnTo>
                    <a:lnTo>
                      <a:pt x="5217160" y="2013902"/>
                    </a:lnTo>
                    <a:lnTo>
                      <a:pt x="4495800" y="2399982"/>
                    </a:lnTo>
                    <a:lnTo>
                      <a:pt x="3576320" y="2618422"/>
                    </a:lnTo>
                    <a:lnTo>
                      <a:pt x="431800" y="2669222"/>
                    </a:lnTo>
                    <a:lnTo>
                      <a:pt x="81280" y="2628582"/>
                    </a:lnTo>
                    <a:lnTo>
                      <a:pt x="0" y="2561429"/>
                    </a:lnTo>
                    <a:lnTo>
                      <a:pt x="0" y="1360325"/>
                    </a:lnTo>
                    <a:lnTo>
                      <a:pt x="96520" y="1317942"/>
                    </a:lnTo>
                    <a:lnTo>
                      <a:pt x="472440" y="1317942"/>
                    </a:lnTo>
                    <a:lnTo>
                      <a:pt x="2473960" y="1323022"/>
                    </a:lnTo>
                    <a:lnTo>
                      <a:pt x="4582160" y="1292542"/>
                    </a:lnTo>
                    <a:lnTo>
                      <a:pt x="5709920" y="1028382"/>
                    </a:lnTo>
                    <a:lnTo>
                      <a:pt x="6456680" y="688657"/>
                    </a:lnTo>
                    <a:lnTo>
                      <a:pt x="6697450" y="534004"/>
                    </a:lnTo>
                    <a:lnTo>
                      <a:pt x="7172497" y="160024"/>
                    </a:lnTo>
                    <a:lnTo>
                      <a:pt x="7282187" y="78306"/>
                    </a:lnTo>
                    <a:lnTo>
                      <a:pt x="7402513" y="0"/>
                    </a:lnTo>
                    <a:close/>
                  </a:path>
                </a:pathLst>
              </a:custGeom>
              <a:solidFill>
                <a:schemeClr val="bg1"/>
              </a:solidFill>
              <a:ln>
                <a:noFill/>
              </a:ln>
            </p:spPr>
            <p:txBody>
              <a:bodyPr vert="horz" wrap="square" lIns="68580" tIns="34290" rIns="68580" bIns="34290" numCol="1" anchor="t" anchorCtr="0" compatLnSpc="1">
                <a:prstTxWarp prst="textNoShape">
                  <a:avLst/>
                </a:prstTxWarp>
                <a:noAutofit/>
              </a:bodyPr>
              <a:lstStyle/>
              <a:p>
                <a:endParaRPr lang="en-US" sz="1350">
                  <a:latin typeface="Aptos" panose="020B0004020202020204" pitchFamily="34" charset="0"/>
                  <a:sym typeface="Aptos" panose="020B0004020202020204" pitchFamily="34" charset="0"/>
                </a:endParaRPr>
              </a:p>
            </p:txBody>
          </p:sp>
          <p:sp>
            <p:nvSpPr>
              <p:cNvPr id="50" name="Freeform 7">
                <a:extLst>
                  <a:ext uri="{FF2B5EF4-FFF2-40B4-BE49-F238E27FC236}">
                    <a16:creationId xmlns:a16="http://schemas.microsoft.com/office/drawing/2014/main" id="{4D4CE43C-070E-8B92-6BB9-094196889D00}"/>
                  </a:ext>
                </a:extLst>
              </p:cNvPr>
              <p:cNvSpPr>
                <a:spLocks/>
              </p:cNvSpPr>
              <p:nvPr/>
            </p:nvSpPr>
            <p:spPr bwMode="auto">
              <a:xfrm>
                <a:off x="0" y="2614463"/>
                <a:ext cx="5476875" cy="2801541"/>
              </a:xfrm>
              <a:custGeom>
                <a:avLst/>
                <a:gdLst>
                  <a:gd name="T0" fmla="*/ 10686 w 18400"/>
                  <a:gd name="T1" fmla="*/ 8151 h 9410"/>
                  <a:gd name="T2" fmla="*/ 10923 w 18400"/>
                  <a:gd name="T3" fmla="*/ 7949 h 9410"/>
                  <a:gd name="T4" fmla="*/ 11151 w 18400"/>
                  <a:gd name="T5" fmla="*/ 7736 h 9410"/>
                  <a:gd name="T6" fmla="*/ 11371 w 18400"/>
                  <a:gd name="T7" fmla="*/ 7515 h 9410"/>
                  <a:gd name="T8" fmla="*/ 11795 w 18400"/>
                  <a:gd name="T9" fmla="*/ 7069 h 9410"/>
                  <a:gd name="T10" fmla="*/ 12029 w 18400"/>
                  <a:gd name="T11" fmla="*/ 6819 h 9410"/>
                  <a:gd name="T12" fmla="*/ 12531 w 18400"/>
                  <a:gd name="T13" fmla="*/ 6287 h 9410"/>
                  <a:gd name="T14" fmla="*/ 13522 w 18400"/>
                  <a:gd name="T15" fmla="*/ 5212 h 9410"/>
                  <a:gd name="T16" fmla="*/ 14217 w 18400"/>
                  <a:gd name="T17" fmla="*/ 4453 h 9410"/>
                  <a:gd name="T18" fmla="*/ 15031 w 18400"/>
                  <a:gd name="T19" fmla="*/ 3559 h 9410"/>
                  <a:gd name="T20" fmla="*/ 16052 w 18400"/>
                  <a:gd name="T21" fmla="*/ 2439 h 9410"/>
                  <a:gd name="T22" fmla="*/ 16677 w 18400"/>
                  <a:gd name="T23" fmla="*/ 1766 h 9410"/>
                  <a:gd name="T24" fmla="*/ 17313 w 18400"/>
                  <a:gd name="T25" fmla="*/ 1097 h 9410"/>
                  <a:gd name="T26" fmla="*/ 17961 w 18400"/>
                  <a:gd name="T27" fmla="*/ 435 h 9410"/>
                  <a:gd name="T28" fmla="*/ 18400 w 18400"/>
                  <a:gd name="T29" fmla="*/ 0 h 9410"/>
                  <a:gd name="T30" fmla="*/ 16224 w 18400"/>
                  <a:gd name="T31" fmla="*/ 1820 h 9410"/>
                  <a:gd name="T32" fmla="*/ 15159 w 18400"/>
                  <a:gd name="T33" fmla="*/ 2722 h 9410"/>
                  <a:gd name="T34" fmla="*/ 14800 w 18400"/>
                  <a:gd name="T35" fmla="*/ 3037 h 9410"/>
                  <a:gd name="T36" fmla="*/ 14667 w 18400"/>
                  <a:gd name="T37" fmla="*/ 3162 h 9410"/>
                  <a:gd name="T38" fmla="*/ 14352 w 18400"/>
                  <a:gd name="T39" fmla="*/ 3479 h 9410"/>
                  <a:gd name="T40" fmla="*/ 13970 w 18400"/>
                  <a:gd name="T41" fmla="*/ 3859 h 9410"/>
                  <a:gd name="T42" fmla="*/ 13636 w 18400"/>
                  <a:gd name="T43" fmla="*/ 4169 h 9410"/>
                  <a:gd name="T44" fmla="*/ 13327 w 18400"/>
                  <a:gd name="T45" fmla="*/ 4434 h 9410"/>
                  <a:gd name="T46" fmla="*/ 13127 w 18400"/>
                  <a:gd name="T47" fmla="*/ 4593 h 9410"/>
                  <a:gd name="T48" fmla="*/ 12917 w 18400"/>
                  <a:gd name="T49" fmla="*/ 4751 h 9410"/>
                  <a:gd name="T50" fmla="*/ 12694 w 18400"/>
                  <a:gd name="T51" fmla="*/ 4906 h 9410"/>
                  <a:gd name="T52" fmla="*/ 12463 w 18400"/>
                  <a:gd name="T53" fmla="*/ 5057 h 9410"/>
                  <a:gd name="T54" fmla="*/ 12218 w 18400"/>
                  <a:gd name="T55" fmla="*/ 5200 h 9410"/>
                  <a:gd name="T56" fmla="*/ 11962 w 18400"/>
                  <a:gd name="T57" fmla="*/ 5337 h 9410"/>
                  <a:gd name="T58" fmla="*/ 11697 w 18400"/>
                  <a:gd name="T59" fmla="*/ 5465 h 9410"/>
                  <a:gd name="T60" fmla="*/ 11418 w 18400"/>
                  <a:gd name="T61" fmla="*/ 5582 h 9410"/>
                  <a:gd name="T62" fmla="*/ 11127 w 18400"/>
                  <a:gd name="T63" fmla="*/ 5689 h 9410"/>
                  <a:gd name="T64" fmla="*/ 10824 w 18400"/>
                  <a:gd name="T65" fmla="*/ 5782 h 9410"/>
                  <a:gd name="T66" fmla="*/ 10509 w 18400"/>
                  <a:gd name="T67" fmla="*/ 5860 h 9410"/>
                  <a:gd name="T68" fmla="*/ 10312 w 18400"/>
                  <a:gd name="T69" fmla="*/ 5902 h 9410"/>
                  <a:gd name="T70" fmla="*/ 9926 w 18400"/>
                  <a:gd name="T71" fmla="*/ 5976 h 9410"/>
                  <a:gd name="T72" fmla="*/ 9363 w 18400"/>
                  <a:gd name="T73" fmla="*/ 6064 h 9410"/>
                  <a:gd name="T74" fmla="*/ 8826 w 18400"/>
                  <a:gd name="T75" fmla="*/ 6128 h 9410"/>
                  <a:gd name="T76" fmla="*/ 8318 w 18400"/>
                  <a:gd name="T77" fmla="*/ 6173 h 9410"/>
                  <a:gd name="T78" fmla="*/ 7843 w 18400"/>
                  <a:gd name="T79" fmla="*/ 6200 h 9410"/>
                  <a:gd name="T80" fmla="*/ 7404 w 18400"/>
                  <a:gd name="T81" fmla="*/ 6213 h 9410"/>
                  <a:gd name="T82" fmla="*/ 7006 w 18400"/>
                  <a:gd name="T83" fmla="*/ 6217 h 9410"/>
                  <a:gd name="T84" fmla="*/ 6444 w 18400"/>
                  <a:gd name="T85" fmla="*/ 6211 h 9410"/>
                  <a:gd name="T86" fmla="*/ 5958 w 18400"/>
                  <a:gd name="T87" fmla="*/ 6203 h 9410"/>
                  <a:gd name="T88" fmla="*/ 0 w 18400"/>
                  <a:gd name="T89" fmla="*/ 9410 h 9410"/>
                  <a:gd name="T90" fmla="*/ 6756 w 18400"/>
                  <a:gd name="T91" fmla="*/ 9410 h 9410"/>
                  <a:gd name="T92" fmla="*/ 7095 w 18400"/>
                  <a:gd name="T93" fmla="*/ 9403 h 9410"/>
                  <a:gd name="T94" fmla="*/ 7442 w 18400"/>
                  <a:gd name="T95" fmla="*/ 9386 h 9410"/>
                  <a:gd name="T96" fmla="*/ 7798 w 18400"/>
                  <a:gd name="T97" fmla="*/ 9355 h 9410"/>
                  <a:gd name="T98" fmla="*/ 8161 w 18400"/>
                  <a:gd name="T99" fmla="*/ 9303 h 9410"/>
                  <a:gd name="T100" fmla="*/ 8408 w 18400"/>
                  <a:gd name="T101" fmla="*/ 9255 h 9410"/>
                  <a:gd name="T102" fmla="*/ 8596 w 18400"/>
                  <a:gd name="T103" fmla="*/ 9210 h 9410"/>
                  <a:gd name="T104" fmla="*/ 8784 w 18400"/>
                  <a:gd name="T105" fmla="*/ 9159 h 9410"/>
                  <a:gd name="T106" fmla="*/ 8974 w 18400"/>
                  <a:gd name="T107" fmla="*/ 9099 h 9410"/>
                  <a:gd name="T108" fmla="*/ 9165 w 18400"/>
                  <a:gd name="T109" fmla="*/ 9031 h 9410"/>
                  <a:gd name="T110" fmla="*/ 9358 w 18400"/>
                  <a:gd name="T111" fmla="*/ 8954 h 9410"/>
                  <a:gd name="T112" fmla="*/ 9552 w 18400"/>
                  <a:gd name="T113" fmla="*/ 8867 h 9410"/>
                  <a:gd name="T114" fmla="*/ 9747 w 18400"/>
                  <a:gd name="T115" fmla="*/ 8770 h 9410"/>
                  <a:gd name="T116" fmla="*/ 9943 w 18400"/>
                  <a:gd name="T117" fmla="*/ 8662 h 9410"/>
                  <a:gd name="T118" fmla="*/ 10141 w 18400"/>
                  <a:gd name="T119" fmla="*/ 8542 h 9410"/>
                  <a:gd name="T120" fmla="*/ 10339 w 18400"/>
                  <a:gd name="T121" fmla="*/ 8410 h 9410"/>
                  <a:gd name="T122" fmla="*/ 10538 w 18400"/>
                  <a:gd name="T123" fmla="*/ 8266 h 9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400" h="9410">
                    <a:moveTo>
                      <a:pt x="10603" y="8215"/>
                    </a:moveTo>
                    <a:lnTo>
                      <a:pt x="10603" y="8215"/>
                    </a:lnTo>
                    <a:lnTo>
                      <a:pt x="10686" y="8151"/>
                    </a:lnTo>
                    <a:lnTo>
                      <a:pt x="10766" y="8085"/>
                    </a:lnTo>
                    <a:lnTo>
                      <a:pt x="10844" y="8017"/>
                    </a:lnTo>
                    <a:lnTo>
                      <a:pt x="10923" y="7949"/>
                    </a:lnTo>
                    <a:lnTo>
                      <a:pt x="11000" y="7879"/>
                    </a:lnTo>
                    <a:lnTo>
                      <a:pt x="11076" y="7807"/>
                    </a:lnTo>
                    <a:lnTo>
                      <a:pt x="11151" y="7736"/>
                    </a:lnTo>
                    <a:lnTo>
                      <a:pt x="11225" y="7663"/>
                    </a:lnTo>
                    <a:lnTo>
                      <a:pt x="11299" y="7590"/>
                    </a:lnTo>
                    <a:lnTo>
                      <a:pt x="11371" y="7515"/>
                    </a:lnTo>
                    <a:lnTo>
                      <a:pt x="11515" y="7367"/>
                    </a:lnTo>
                    <a:lnTo>
                      <a:pt x="11656" y="7218"/>
                    </a:lnTo>
                    <a:lnTo>
                      <a:pt x="11795" y="7069"/>
                    </a:lnTo>
                    <a:lnTo>
                      <a:pt x="11795" y="7069"/>
                    </a:lnTo>
                    <a:lnTo>
                      <a:pt x="11913" y="6944"/>
                    </a:lnTo>
                    <a:lnTo>
                      <a:pt x="12029" y="6819"/>
                    </a:lnTo>
                    <a:lnTo>
                      <a:pt x="12029" y="6819"/>
                    </a:lnTo>
                    <a:lnTo>
                      <a:pt x="12281" y="6553"/>
                    </a:lnTo>
                    <a:lnTo>
                      <a:pt x="12531" y="6287"/>
                    </a:lnTo>
                    <a:lnTo>
                      <a:pt x="12781" y="6018"/>
                    </a:lnTo>
                    <a:lnTo>
                      <a:pt x="13030" y="5748"/>
                    </a:lnTo>
                    <a:lnTo>
                      <a:pt x="13522" y="5212"/>
                    </a:lnTo>
                    <a:lnTo>
                      <a:pt x="14009" y="4680"/>
                    </a:lnTo>
                    <a:lnTo>
                      <a:pt x="14217" y="4453"/>
                    </a:lnTo>
                    <a:lnTo>
                      <a:pt x="14217" y="4453"/>
                    </a:lnTo>
                    <a:lnTo>
                      <a:pt x="14625" y="4006"/>
                    </a:lnTo>
                    <a:lnTo>
                      <a:pt x="15031" y="3559"/>
                    </a:lnTo>
                    <a:lnTo>
                      <a:pt x="15031" y="3559"/>
                    </a:lnTo>
                    <a:lnTo>
                      <a:pt x="15437" y="3112"/>
                    </a:lnTo>
                    <a:lnTo>
                      <a:pt x="15845" y="2664"/>
                    </a:lnTo>
                    <a:lnTo>
                      <a:pt x="16052" y="2439"/>
                    </a:lnTo>
                    <a:lnTo>
                      <a:pt x="16259" y="2215"/>
                    </a:lnTo>
                    <a:lnTo>
                      <a:pt x="16467" y="1990"/>
                    </a:lnTo>
                    <a:lnTo>
                      <a:pt x="16677" y="1766"/>
                    </a:lnTo>
                    <a:lnTo>
                      <a:pt x="16888" y="1542"/>
                    </a:lnTo>
                    <a:lnTo>
                      <a:pt x="17100" y="1320"/>
                    </a:lnTo>
                    <a:lnTo>
                      <a:pt x="17313" y="1097"/>
                    </a:lnTo>
                    <a:lnTo>
                      <a:pt x="17528" y="875"/>
                    </a:lnTo>
                    <a:lnTo>
                      <a:pt x="17744" y="654"/>
                    </a:lnTo>
                    <a:lnTo>
                      <a:pt x="17961" y="435"/>
                    </a:lnTo>
                    <a:lnTo>
                      <a:pt x="18180" y="218"/>
                    </a:lnTo>
                    <a:lnTo>
                      <a:pt x="18400" y="0"/>
                    </a:lnTo>
                    <a:lnTo>
                      <a:pt x="18400" y="0"/>
                    </a:lnTo>
                    <a:lnTo>
                      <a:pt x="17304" y="915"/>
                    </a:lnTo>
                    <a:lnTo>
                      <a:pt x="16751" y="1378"/>
                    </a:lnTo>
                    <a:lnTo>
                      <a:pt x="16224" y="1820"/>
                    </a:lnTo>
                    <a:lnTo>
                      <a:pt x="15744" y="2224"/>
                    </a:lnTo>
                    <a:lnTo>
                      <a:pt x="15333" y="2574"/>
                    </a:lnTo>
                    <a:lnTo>
                      <a:pt x="15159" y="2722"/>
                    </a:lnTo>
                    <a:lnTo>
                      <a:pt x="15011" y="2850"/>
                    </a:lnTo>
                    <a:lnTo>
                      <a:pt x="14891" y="2956"/>
                    </a:lnTo>
                    <a:lnTo>
                      <a:pt x="14800" y="3037"/>
                    </a:lnTo>
                    <a:lnTo>
                      <a:pt x="14800" y="3037"/>
                    </a:lnTo>
                    <a:lnTo>
                      <a:pt x="14736" y="3097"/>
                    </a:lnTo>
                    <a:lnTo>
                      <a:pt x="14667" y="3162"/>
                    </a:lnTo>
                    <a:lnTo>
                      <a:pt x="14595" y="3235"/>
                    </a:lnTo>
                    <a:lnTo>
                      <a:pt x="14519" y="3312"/>
                    </a:lnTo>
                    <a:lnTo>
                      <a:pt x="14352" y="3479"/>
                    </a:lnTo>
                    <a:lnTo>
                      <a:pt x="14170" y="3663"/>
                    </a:lnTo>
                    <a:lnTo>
                      <a:pt x="14072" y="3760"/>
                    </a:lnTo>
                    <a:lnTo>
                      <a:pt x="13970" y="3859"/>
                    </a:lnTo>
                    <a:lnTo>
                      <a:pt x="13864" y="3960"/>
                    </a:lnTo>
                    <a:lnTo>
                      <a:pt x="13753" y="4064"/>
                    </a:lnTo>
                    <a:lnTo>
                      <a:pt x="13636" y="4169"/>
                    </a:lnTo>
                    <a:lnTo>
                      <a:pt x="13517" y="4274"/>
                    </a:lnTo>
                    <a:lnTo>
                      <a:pt x="13391" y="4380"/>
                    </a:lnTo>
                    <a:lnTo>
                      <a:pt x="13327" y="4434"/>
                    </a:lnTo>
                    <a:lnTo>
                      <a:pt x="13261" y="4487"/>
                    </a:lnTo>
                    <a:lnTo>
                      <a:pt x="13195" y="4541"/>
                    </a:lnTo>
                    <a:lnTo>
                      <a:pt x="13127" y="4593"/>
                    </a:lnTo>
                    <a:lnTo>
                      <a:pt x="13059" y="4646"/>
                    </a:lnTo>
                    <a:lnTo>
                      <a:pt x="12988" y="4699"/>
                    </a:lnTo>
                    <a:lnTo>
                      <a:pt x="12917" y="4751"/>
                    </a:lnTo>
                    <a:lnTo>
                      <a:pt x="12844" y="4804"/>
                    </a:lnTo>
                    <a:lnTo>
                      <a:pt x="12770" y="4855"/>
                    </a:lnTo>
                    <a:lnTo>
                      <a:pt x="12694" y="4906"/>
                    </a:lnTo>
                    <a:lnTo>
                      <a:pt x="12619" y="4956"/>
                    </a:lnTo>
                    <a:lnTo>
                      <a:pt x="12541" y="5006"/>
                    </a:lnTo>
                    <a:lnTo>
                      <a:pt x="12463" y="5057"/>
                    </a:lnTo>
                    <a:lnTo>
                      <a:pt x="12383" y="5104"/>
                    </a:lnTo>
                    <a:lnTo>
                      <a:pt x="12300" y="5152"/>
                    </a:lnTo>
                    <a:lnTo>
                      <a:pt x="12218" y="5200"/>
                    </a:lnTo>
                    <a:lnTo>
                      <a:pt x="12134" y="5247"/>
                    </a:lnTo>
                    <a:lnTo>
                      <a:pt x="12049" y="5293"/>
                    </a:lnTo>
                    <a:lnTo>
                      <a:pt x="11962" y="5337"/>
                    </a:lnTo>
                    <a:lnTo>
                      <a:pt x="11875" y="5381"/>
                    </a:lnTo>
                    <a:lnTo>
                      <a:pt x="11787" y="5423"/>
                    </a:lnTo>
                    <a:lnTo>
                      <a:pt x="11697" y="5465"/>
                    </a:lnTo>
                    <a:lnTo>
                      <a:pt x="11605" y="5506"/>
                    </a:lnTo>
                    <a:lnTo>
                      <a:pt x="11512" y="5545"/>
                    </a:lnTo>
                    <a:lnTo>
                      <a:pt x="11418" y="5582"/>
                    </a:lnTo>
                    <a:lnTo>
                      <a:pt x="11322" y="5619"/>
                    </a:lnTo>
                    <a:lnTo>
                      <a:pt x="11225" y="5655"/>
                    </a:lnTo>
                    <a:lnTo>
                      <a:pt x="11127" y="5689"/>
                    </a:lnTo>
                    <a:lnTo>
                      <a:pt x="11027" y="5722"/>
                    </a:lnTo>
                    <a:lnTo>
                      <a:pt x="10927" y="5753"/>
                    </a:lnTo>
                    <a:lnTo>
                      <a:pt x="10824" y="5782"/>
                    </a:lnTo>
                    <a:lnTo>
                      <a:pt x="10721" y="5810"/>
                    </a:lnTo>
                    <a:lnTo>
                      <a:pt x="10616" y="5835"/>
                    </a:lnTo>
                    <a:lnTo>
                      <a:pt x="10509" y="5860"/>
                    </a:lnTo>
                    <a:lnTo>
                      <a:pt x="10509" y="5860"/>
                    </a:lnTo>
                    <a:lnTo>
                      <a:pt x="10411" y="5881"/>
                    </a:lnTo>
                    <a:lnTo>
                      <a:pt x="10312" y="5902"/>
                    </a:lnTo>
                    <a:lnTo>
                      <a:pt x="10216" y="5921"/>
                    </a:lnTo>
                    <a:lnTo>
                      <a:pt x="10119" y="5940"/>
                    </a:lnTo>
                    <a:lnTo>
                      <a:pt x="9926" y="5976"/>
                    </a:lnTo>
                    <a:lnTo>
                      <a:pt x="9735" y="6008"/>
                    </a:lnTo>
                    <a:lnTo>
                      <a:pt x="9548" y="6037"/>
                    </a:lnTo>
                    <a:lnTo>
                      <a:pt x="9363" y="6064"/>
                    </a:lnTo>
                    <a:lnTo>
                      <a:pt x="9181" y="6088"/>
                    </a:lnTo>
                    <a:lnTo>
                      <a:pt x="9002" y="6109"/>
                    </a:lnTo>
                    <a:lnTo>
                      <a:pt x="8826" y="6128"/>
                    </a:lnTo>
                    <a:lnTo>
                      <a:pt x="8653" y="6145"/>
                    </a:lnTo>
                    <a:lnTo>
                      <a:pt x="8483" y="6160"/>
                    </a:lnTo>
                    <a:lnTo>
                      <a:pt x="8318" y="6173"/>
                    </a:lnTo>
                    <a:lnTo>
                      <a:pt x="8156" y="6183"/>
                    </a:lnTo>
                    <a:lnTo>
                      <a:pt x="7997" y="6192"/>
                    </a:lnTo>
                    <a:lnTo>
                      <a:pt x="7843" y="6200"/>
                    </a:lnTo>
                    <a:lnTo>
                      <a:pt x="7692" y="6205"/>
                    </a:lnTo>
                    <a:lnTo>
                      <a:pt x="7545" y="6210"/>
                    </a:lnTo>
                    <a:lnTo>
                      <a:pt x="7404" y="6213"/>
                    </a:lnTo>
                    <a:lnTo>
                      <a:pt x="7267" y="6215"/>
                    </a:lnTo>
                    <a:lnTo>
                      <a:pt x="7134" y="6216"/>
                    </a:lnTo>
                    <a:lnTo>
                      <a:pt x="7006" y="6217"/>
                    </a:lnTo>
                    <a:lnTo>
                      <a:pt x="6883" y="6216"/>
                    </a:lnTo>
                    <a:lnTo>
                      <a:pt x="6654" y="6214"/>
                    </a:lnTo>
                    <a:lnTo>
                      <a:pt x="6444" y="6211"/>
                    </a:lnTo>
                    <a:lnTo>
                      <a:pt x="6258" y="6207"/>
                    </a:lnTo>
                    <a:lnTo>
                      <a:pt x="6096" y="6204"/>
                    </a:lnTo>
                    <a:lnTo>
                      <a:pt x="5958" y="6203"/>
                    </a:lnTo>
                    <a:lnTo>
                      <a:pt x="5958" y="6203"/>
                    </a:lnTo>
                    <a:lnTo>
                      <a:pt x="0" y="6203"/>
                    </a:lnTo>
                    <a:lnTo>
                      <a:pt x="0" y="9410"/>
                    </a:lnTo>
                    <a:lnTo>
                      <a:pt x="6646" y="9410"/>
                    </a:lnTo>
                    <a:lnTo>
                      <a:pt x="6646" y="9410"/>
                    </a:lnTo>
                    <a:lnTo>
                      <a:pt x="6756" y="9410"/>
                    </a:lnTo>
                    <a:lnTo>
                      <a:pt x="6868" y="9408"/>
                    </a:lnTo>
                    <a:lnTo>
                      <a:pt x="6981" y="9406"/>
                    </a:lnTo>
                    <a:lnTo>
                      <a:pt x="7095" y="9403"/>
                    </a:lnTo>
                    <a:lnTo>
                      <a:pt x="7209" y="9400"/>
                    </a:lnTo>
                    <a:lnTo>
                      <a:pt x="7325" y="9394"/>
                    </a:lnTo>
                    <a:lnTo>
                      <a:pt x="7442" y="9386"/>
                    </a:lnTo>
                    <a:lnTo>
                      <a:pt x="7560" y="9378"/>
                    </a:lnTo>
                    <a:lnTo>
                      <a:pt x="7678" y="9367"/>
                    </a:lnTo>
                    <a:lnTo>
                      <a:pt x="7798" y="9355"/>
                    </a:lnTo>
                    <a:lnTo>
                      <a:pt x="7919" y="9339"/>
                    </a:lnTo>
                    <a:lnTo>
                      <a:pt x="8039" y="9323"/>
                    </a:lnTo>
                    <a:lnTo>
                      <a:pt x="8161" y="9303"/>
                    </a:lnTo>
                    <a:lnTo>
                      <a:pt x="8284" y="9279"/>
                    </a:lnTo>
                    <a:lnTo>
                      <a:pt x="8347" y="9267"/>
                    </a:lnTo>
                    <a:lnTo>
                      <a:pt x="8408" y="9255"/>
                    </a:lnTo>
                    <a:lnTo>
                      <a:pt x="8470" y="9240"/>
                    </a:lnTo>
                    <a:lnTo>
                      <a:pt x="8533" y="9226"/>
                    </a:lnTo>
                    <a:lnTo>
                      <a:pt x="8596" y="9210"/>
                    </a:lnTo>
                    <a:lnTo>
                      <a:pt x="8659" y="9193"/>
                    </a:lnTo>
                    <a:lnTo>
                      <a:pt x="8721" y="9177"/>
                    </a:lnTo>
                    <a:lnTo>
                      <a:pt x="8784" y="9159"/>
                    </a:lnTo>
                    <a:lnTo>
                      <a:pt x="8847" y="9140"/>
                    </a:lnTo>
                    <a:lnTo>
                      <a:pt x="8910" y="9120"/>
                    </a:lnTo>
                    <a:lnTo>
                      <a:pt x="8974" y="9099"/>
                    </a:lnTo>
                    <a:lnTo>
                      <a:pt x="9037" y="9078"/>
                    </a:lnTo>
                    <a:lnTo>
                      <a:pt x="9101" y="9055"/>
                    </a:lnTo>
                    <a:lnTo>
                      <a:pt x="9165" y="9031"/>
                    </a:lnTo>
                    <a:lnTo>
                      <a:pt x="9229" y="9006"/>
                    </a:lnTo>
                    <a:lnTo>
                      <a:pt x="9294" y="8981"/>
                    </a:lnTo>
                    <a:lnTo>
                      <a:pt x="9358" y="8954"/>
                    </a:lnTo>
                    <a:lnTo>
                      <a:pt x="9423" y="8926"/>
                    </a:lnTo>
                    <a:lnTo>
                      <a:pt x="9487" y="8897"/>
                    </a:lnTo>
                    <a:lnTo>
                      <a:pt x="9552" y="8867"/>
                    </a:lnTo>
                    <a:lnTo>
                      <a:pt x="9617" y="8836"/>
                    </a:lnTo>
                    <a:lnTo>
                      <a:pt x="9683" y="8803"/>
                    </a:lnTo>
                    <a:lnTo>
                      <a:pt x="9747" y="8770"/>
                    </a:lnTo>
                    <a:lnTo>
                      <a:pt x="9812" y="8734"/>
                    </a:lnTo>
                    <a:lnTo>
                      <a:pt x="9878" y="8699"/>
                    </a:lnTo>
                    <a:lnTo>
                      <a:pt x="9943" y="8662"/>
                    </a:lnTo>
                    <a:lnTo>
                      <a:pt x="10009" y="8623"/>
                    </a:lnTo>
                    <a:lnTo>
                      <a:pt x="10075" y="8583"/>
                    </a:lnTo>
                    <a:lnTo>
                      <a:pt x="10141" y="8542"/>
                    </a:lnTo>
                    <a:lnTo>
                      <a:pt x="10206" y="8499"/>
                    </a:lnTo>
                    <a:lnTo>
                      <a:pt x="10272" y="8456"/>
                    </a:lnTo>
                    <a:lnTo>
                      <a:pt x="10339" y="8410"/>
                    </a:lnTo>
                    <a:lnTo>
                      <a:pt x="10404" y="8363"/>
                    </a:lnTo>
                    <a:lnTo>
                      <a:pt x="10471" y="8315"/>
                    </a:lnTo>
                    <a:lnTo>
                      <a:pt x="10538" y="8266"/>
                    </a:lnTo>
                    <a:lnTo>
                      <a:pt x="10603" y="8215"/>
                    </a:lnTo>
                    <a:lnTo>
                      <a:pt x="10603" y="8215"/>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350">
                  <a:latin typeface="Aptos" panose="020B0004020202020204" pitchFamily="34" charset="0"/>
                  <a:sym typeface="Aptos" panose="020B0004020202020204" pitchFamily="34" charset="0"/>
                </a:endParaRPr>
              </a:p>
            </p:txBody>
          </p:sp>
          <p:sp>
            <p:nvSpPr>
              <p:cNvPr id="54" name="Freeform 14">
                <a:extLst>
                  <a:ext uri="{FF2B5EF4-FFF2-40B4-BE49-F238E27FC236}">
                    <a16:creationId xmlns:a16="http://schemas.microsoft.com/office/drawing/2014/main" id="{DABB427D-4ECA-AACC-FBE4-02DAE74B3C09}"/>
                  </a:ext>
                </a:extLst>
              </p:cNvPr>
              <p:cNvSpPr>
                <a:spLocks/>
              </p:cNvSpPr>
              <p:nvPr/>
            </p:nvSpPr>
            <p:spPr bwMode="auto">
              <a:xfrm>
                <a:off x="0" y="2408485"/>
                <a:ext cx="5697141" cy="1153716"/>
              </a:xfrm>
              <a:custGeom>
                <a:avLst/>
                <a:gdLst>
                  <a:gd name="T0" fmla="*/ 15799 w 19139"/>
                  <a:gd name="T1" fmla="*/ 2256 h 3876"/>
                  <a:gd name="T2" fmla="*/ 15509 w 19139"/>
                  <a:gd name="T3" fmla="*/ 2402 h 3876"/>
                  <a:gd name="T4" fmla="*/ 15268 w 19139"/>
                  <a:gd name="T5" fmla="*/ 2497 h 3876"/>
                  <a:gd name="T6" fmla="*/ 15092 w 19139"/>
                  <a:gd name="T7" fmla="*/ 2551 h 3876"/>
                  <a:gd name="T8" fmla="*/ 14902 w 19139"/>
                  <a:gd name="T9" fmla="*/ 2594 h 3876"/>
                  <a:gd name="T10" fmla="*/ 14693 w 19139"/>
                  <a:gd name="T11" fmla="*/ 2626 h 3876"/>
                  <a:gd name="T12" fmla="*/ 14608 w 19139"/>
                  <a:gd name="T13" fmla="*/ 2638 h 3876"/>
                  <a:gd name="T14" fmla="*/ 14528 w 19139"/>
                  <a:gd name="T15" fmla="*/ 2642 h 3876"/>
                  <a:gd name="T16" fmla="*/ 14212 w 19139"/>
                  <a:gd name="T17" fmla="*/ 2654 h 3876"/>
                  <a:gd name="T18" fmla="*/ 13852 w 19139"/>
                  <a:gd name="T19" fmla="*/ 2642 h 3876"/>
                  <a:gd name="T20" fmla="*/ 13686 w 19139"/>
                  <a:gd name="T21" fmla="*/ 2624 h 3876"/>
                  <a:gd name="T22" fmla="*/ 13445 w 19139"/>
                  <a:gd name="T23" fmla="*/ 2584 h 3876"/>
                  <a:gd name="T24" fmla="*/ 13187 w 19139"/>
                  <a:gd name="T25" fmla="*/ 2526 h 3876"/>
                  <a:gd name="T26" fmla="*/ 12700 w 19139"/>
                  <a:gd name="T27" fmla="*/ 2390 h 3876"/>
                  <a:gd name="T28" fmla="*/ 12104 w 19139"/>
                  <a:gd name="T29" fmla="*/ 2195 h 3876"/>
                  <a:gd name="T30" fmla="*/ 11337 w 19139"/>
                  <a:gd name="T31" fmla="*/ 1919 h 3876"/>
                  <a:gd name="T32" fmla="*/ 10301 w 19139"/>
                  <a:gd name="T33" fmla="*/ 1542 h 3876"/>
                  <a:gd name="T34" fmla="*/ 9770 w 19139"/>
                  <a:gd name="T35" fmla="*/ 1367 h 3876"/>
                  <a:gd name="T36" fmla="*/ 9419 w 19139"/>
                  <a:gd name="T37" fmla="*/ 1270 h 3876"/>
                  <a:gd name="T38" fmla="*/ 8478 w 19139"/>
                  <a:gd name="T39" fmla="*/ 1038 h 3876"/>
                  <a:gd name="T40" fmla="*/ 7991 w 19139"/>
                  <a:gd name="T41" fmla="*/ 933 h 3876"/>
                  <a:gd name="T42" fmla="*/ 7667 w 19139"/>
                  <a:gd name="T43" fmla="*/ 879 h 3876"/>
                  <a:gd name="T44" fmla="*/ 7325 w 19139"/>
                  <a:gd name="T45" fmla="*/ 839 h 3876"/>
                  <a:gd name="T46" fmla="*/ 6951 w 19139"/>
                  <a:gd name="T47" fmla="*/ 815 h 3876"/>
                  <a:gd name="T48" fmla="*/ 6528 w 19139"/>
                  <a:gd name="T49" fmla="*/ 807 h 3876"/>
                  <a:gd name="T50" fmla="*/ 0 w 19139"/>
                  <a:gd name="T51" fmla="*/ 3872 h 3876"/>
                  <a:gd name="T52" fmla="*/ 8683 w 19139"/>
                  <a:gd name="T53" fmla="*/ 3874 h 3876"/>
                  <a:gd name="T54" fmla="*/ 10054 w 19139"/>
                  <a:gd name="T55" fmla="*/ 3873 h 3876"/>
                  <a:gd name="T56" fmla="*/ 10734 w 19139"/>
                  <a:gd name="T57" fmla="*/ 3860 h 3876"/>
                  <a:gd name="T58" fmla="*/ 11393 w 19139"/>
                  <a:gd name="T59" fmla="*/ 3830 h 3876"/>
                  <a:gd name="T60" fmla="*/ 12014 w 19139"/>
                  <a:gd name="T61" fmla="*/ 3778 h 3876"/>
                  <a:gd name="T62" fmla="*/ 12586 w 19139"/>
                  <a:gd name="T63" fmla="*/ 3700 h 3876"/>
                  <a:gd name="T64" fmla="*/ 12848 w 19139"/>
                  <a:gd name="T65" fmla="*/ 3649 h 3876"/>
                  <a:gd name="T66" fmla="*/ 13093 w 19139"/>
                  <a:gd name="T67" fmla="*/ 3590 h 3876"/>
                  <a:gd name="T68" fmla="*/ 13454 w 19139"/>
                  <a:gd name="T69" fmla="*/ 3482 h 3876"/>
                  <a:gd name="T70" fmla="*/ 13953 w 19139"/>
                  <a:gd name="T71" fmla="*/ 3310 h 3876"/>
                  <a:gd name="T72" fmla="*/ 14458 w 19139"/>
                  <a:gd name="T73" fmla="*/ 3113 h 3876"/>
                  <a:gd name="T74" fmla="*/ 14959 w 19139"/>
                  <a:gd name="T75" fmla="*/ 2897 h 3876"/>
                  <a:gd name="T76" fmla="*/ 15439 w 19139"/>
                  <a:gd name="T77" fmla="*/ 2670 h 3876"/>
                  <a:gd name="T78" fmla="*/ 15884 w 19139"/>
                  <a:gd name="T79" fmla="*/ 2441 h 3876"/>
                  <a:gd name="T80" fmla="*/ 16284 w 19139"/>
                  <a:gd name="T81" fmla="*/ 2217 h 3876"/>
                  <a:gd name="T82" fmla="*/ 16622 w 19139"/>
                  <a:gd name="T83" fmla="*/ 2006 h 3876"/>
                  <a:gd name="T84" fmla="*/ 16856 w 19139"/>
                  <a:gd name="T85" fmla="*/ 1842 h 3876"/>
                  <a:gd name="T86" fmla="*/ 17533 w 19139"/>
                  <a:gd name="T87" fmla="*/ 1328 h 3876"/>
                  <a:gd name="T88" fmla="*/ 18653 w 19139"/>
                  <a:gd name="T89" fmla="*/ 446 h 3876"/>
                  <a:gd name="T90" fmla="*/ 18743 w 19139"/>
                  <a:gd name="T91" fmla="*/ 356 h 3876"/>
                  <a:gd name="T92" fmla="*/ 19139 w 19139"/>
                  <a:gd name="T93" fmla="*/ 0 h 3876"/>
                  <a:gd name="T94" fmla="*/ 17815 w 19139"/>
                  <a:gd name="T95" fmla="*/ 922 h 3876"/>
                  <a:gd name="T96" fmla="*/ 16517 w 19139"/>
                  <a:gd name="T97" fmla="*/ 1810 h 3876"/>
                  <a:gd name="T98" fmla="*/ 16047 w 19139"/>
                  <a:gd name="T99" fmla="*/ 2114 h 3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9139" h="3876">
                    <a:moveTo>
                      <a:pt x="16009" y="2137"/>
                    </a:moveTo>
                    <a:lnTo>
                      <a:pt x="16009" y="2137"/>
                    </a:lnTo>
                    <a:lnTo>
                      <a:pt x="15870" y="2217"/>
                    </a:lnTo>
                    <a:lnTo>
                      <a:pt x="15799" y="2256"/>
                    </a:lnTo>
                    <a:lnTo>
                      <a:pt x="15729" y="2294"/>
                    </a:lnTo>
                    <a:lnTo>
                      <a:pt x="15657" y="2332"/>
                    </a:lnTo>
                    <a:lnTo>
                      <a:pt x="15583" y="2368"/>
                    </a:lnTo>
                    <a:lnTo>
                      <a:pt x="15509" y="2402"/>
                    </a:lnTo>
                    <a:lnTo>
                      <a:pt x="15431" y="2436"/>
                    </a:lnTo>
                    <a:lnTo>
                      <a:pt x="15351" y="2467"/>
                    </a:lnTo>
                    <a:lnTo>
                      <a:pt x="15310" y="2483"/>
                    </a:lnTo>
                    <a:lnTo>
                      <a:pt x="15268" y="2497"/>
                    </a:lnTo>
                    <a:lnTo>
                      <a:pt x="15226" y="2512"/>
                    </a:lnTo>
                    <a:lnTo>
                      <a:pt x="15183" y="2525"/>
                    </a:lnTo>
                    <a:lnTo>
                      <a:pt x="15138" y="2537"/>
                    </a:lnTo>
                    <a:lnTo>
                      <a:pt x="15092" y="2551"/>
                    </a:lnTo>
                    <a:lnTo>
                      <a:pt x="15046" y="2562"/>
                    </a:lnTo>
                    <a:lnTo>
                      <a:pt x="14999" y="2573"/>
                    </a:lnTo>
                    <a:lnTo>
                      <a:pt x="14951" y="2584"/>
                    </a:lnTo>
                    <a:lnTo>
                      <a:pt x="14902" y="2594"/>
                    </a:lnTo>
                    <a:lnTo>
                      <a:pt x="14851" y="2603"/>
                    </a:lnTo>
                    <a:lnTo>
                      <a:pt x="14800" y="2612"/>
                    </a:lnTo>
                    <a:lnTo>
                      <a:pt x="14746" y="2620"/>
                    </a:lnTo>
                    <a:lnTo>
                      <a:pt x="14693" y="2626"/>
                    </a:lnTo>
                    <a:lnTo>
                      <a:pt x="14693" y="2626"/>
                    </a:lnTo>
                    <a:lnTo>
                      <a:pt x="14651" y="2632"/>
                    </a:lnTo>
                    <a:lnTo>
                      <a:pt x="14608" y="2638"/>
                    </a:lnTo>
                    <a:lnTo>
                      <a:pt x="14608" y="2638"/>
                    </a:lnTo>
                    <a:lnTo>
                      <a:pt x="14588" y="2639"/>
                    </a:lnTo>
                    <a:lnTo>
                      <a:pt x="14568" y="2640"/>
                    </a:lnTo>
                    <a:lnTo>
                      <a:pt x="14528" y="2642"/>
                    </a:lnTo>
                    <a:lnTo>
                      <a:pt x="14528" y="2642"/>
                    </a:lnTo>
                    <a:lnTo>
                      <a:pt x="14452" y="2646"/>
                    </a:lnTo>
                    <a:lnTo>
                      <a:pt x="14375" y="2651"/>
                    </a:lnTo>
                    <a:lnTo>
                      <a:pt x="14295" y="2653"/>
                    </a:lnTo>
                    <a:lnTo>
                      <a:pt x="14212" y="2654"/>
                    </a:lnTo>
                    <a:lnTo>
                      <a:pt x="14126" y="2654"/>
                    </a:lnTo>
                    <a:lnTo>
                      <a:pt x="14038" y="2652"/>
                    </a:lnTo>
                    <a:lnTo>
                      <a:pt x="13946" y="2648"/>
                    </a:lnTo>
                    <a:lnTo>
                      <a:pt x="13852" y="2642"/>
                    </a:lnTo>
                    <a:lnTo>
                      <a:pt x="13852" y="2642"/>
                    </a:lnTo>
                    <a:lnTo>
                      <a:pt x="13797" y="2638"/>
                    </a:lnTo>
                    <a:lnTo>
                      <a:pt x="13742" y="2632"/>
                    </a:lnTo>
                    <a:lnTo>
                      <a:pt x="13686" y="2624"/>
                    </a:lnTo>
                    <a:lnTo>
                      <a:pt x="13627" y="2616"/>
                    </a:lnTo>
                    <a:lnTo>
                      <a:pt x="13568" y="2606"/>
                    </a:lnTo>
                    <a:lnTo>
                      <a:pt x="13506" y="2596"/>
                    </a:lnTo>
                    <a:lnTo>
                      <a:pt x="13445" y="2584"/>
                    </a:lnTo>
                    <a:lnTo>
                      <a:pt x="13382" y="2572"/>
                    </a:lnTo>
                    <a:lnTo>
                      <a:pt x="13318" y="2557"/>
                    </a:lnTo>
                    <a:lnTo>
                      <a:pt x="13252" y="2543"/>
                    </a:lnTo>
                    <a:lnTo>
                      <a:pt x="13187" y="2526"/>
                    </a:lnTo>
                    <a:lnTo>
                      <a:pt x="13120" y="2509"/>
                    </a:lnTo>
                    <a:lnTo>
                      <a:pt x="12983" y="2473"/>
                    </a:lnTo>
                    <a:lnTo>
                      <a:pt x="12842" y="2434"/>
                    </a:lnTo>
                    <a:lnTo>
                      <a:pt x="12700" y="2390"/>
                    </a:lnTo>
                    <a:lnTo>
                      <a:pt x="12553" y="2344"/>
                    </a:lnTo>
                    <a:lnTo>
                      <a:pt x="12405" y="2297"/>
                    </a:lnTo>
                    <a:lnTo>
                      <a:pt x="12256" y="2246"/>
                    </a:lnTo>
                    <a:lnTo>
                      <a:pt x="12104" y="2195"/>
                    </a:lnTo>
                    <a:lnTo>
                      <a:pt x="11952" y="2142"/>
                    </a:lnTo>
                    <a:lnTo>
                      <a:pt x="11797" y="2087"/>
                    </a:lnTo>
                    <a:lnTo>
                      <a:pt x="11644" y="2031"/>
                    </a:lnTo>
                    <a:lnTo>
                      <a:pt x="11337" y="1919"/>
                    </a:lnTo>
                    <a:lnTo>
                      <a:pt x="11031" y="1807"/>
                    </a:lnTo>
                    <a:lnTo>
                      <a:pt x="10733" y="1697"/>
                    </a:lnTo>
                    <a:lnTo>
                      <a:pt x="10442" y="1592"/>
                    </a:lnTo>
                    <a:lnTo>
                      <a:pt x="10301" y="1542"/>
                    </a:lnTo>
                    <a:lnTo>
                      <a:pt x="10162" y="1494"/>
                    </a:lnTo>
                    <a:lnTo>
                      <a:pt x="10027" y="1450"/>
                    </a:lnTo>
                    <a:lnTo>
                      <a:pt x="9896" y="1407"/>
                    </a:lnTo>
                    <a:lnTo>
                      <a:pt x="9770" y="1367"/>
                    </a:lnTo>
                    <a:lnTo>
                      <a:pt x="9647" y="1332"/>
                    </a:lnTo>
                    <a:lnTo>
                      <a:pt x="9531" y="1299"/>
                    </a:lnTo>
                    <a:lnTo>
                      <a:pt x="9419" y="1270"/>
                    </a:lnTo>
                    <a:lnTo>
                      <a:pt x="9419" y="1270"/>
                    </a:lnTo>
                    <a:lnTo>
                      <a:pt x="9209" y="1219"/>
                    </a:lnTo>
                    <a:lnTo>
                      <a:pt x="9011" y="1169"/>
                    </a:lnTo>
                    <a:lnTo>
                      <a:pt x="8647" y="1079"/>
                    </a:lnTo>
                    <a:lnTo>
                      <a:pt x="8478" y="1038"/>
                    </a:lnTo>
                    <a:lnTo>
                      <a:pt x="8313" y="1000"/>
                    </a:lnTo>
                    <a:lnTo>
                      <a:pt x="8152" y="964"/>
                    </a:lnTo>
                    <a:lnTo>
                      <a:pt x="8071" y="948"/>
                    </a:lnTo>
                    <a:lnTo>
                      <a:pt x="7991" y="933"/>
                    </a:lnTo>
                    <a:lnTo>
                      <a:pt x="7911" y="918"/>
                    </a:lnTo>
                    <a:lnTo>
                      <a:pt x="7831" y="904"/>
                    </a:lnTo>
                    <a:lnTo>
                      <a:pt x="7750" y="892"/>
                    </a:lnTo>
                    <a:lnTo>
                      <a:pt x="7667" y="879"/>
                    </a:lnTo>
                    <a:lnTo>
                      <a:pt x="7585" y="868"/>
                    </a:lnTo>
                    <a:lnTo>
                      <a:pt x="7500" y="857"/>
                    </a:lnTo>
                    <a:lnTo>
                      <a:pt x="7413" y="848"/>
                    </a:lnTo>
                    <a:lnTo>
                      <a:pt x="7325" y="839"/>
                    </a:lnTo>
                    <a:lnTo>
                      <a:pt x="7236" y="831"/>
                    </a:lnTo>
                    <a:lnTo>
                      <a:pt x="7143" y="825"/>
                    </a:lnTo>
                    <a:lnTo>
                      <a:pt x="7049" y="819"/>
                    </a:lnTo>
                    <a:lnTo>
                      <a:pt x="6951" y="815"/>
                    </a:lnTo>
                    <a:lnTo>
                      <a:pt x="6850" y="811"/>
                    </a:lnTo>
                    <a:lnTo>
                      <a:pt x="6747" y="809"/>
                    </a:lnTo>
                    <a:lnTo>
                      <a:pt x="6639" y="807"/>
                    </a:lnTo>
                    <a:lnTo>
                      <a:pt x="6528" y="807"/>
                    </a:lnTo>
                    <a:lnTo>
                      <a:pt x="6528" y="807"/>
                    </a:lnTo>
                    <a:lnTo>
                      <a:pt x="0" y="807"/>
                    </a:lnTo>
                    <a:lnTo>
                      <a:pt x="0" y="3872"/>
                    </a:lnTo>
                    <a:lnTo>
                      <a:pt x="0" y="3872"/>
                    </a:lnTo>
                    <a:lnTo>
                      <a:pt x="8021" y="3872"/>
                    </a:lnTo>
                    <a:lnTo>
                      <a:pt x="8021" y="3872"/>
                    </a:lnTo>
                    <a:lnTo>
                      <a:pt x="8349" y="3872"/>
                    </a:lnTo>
                    <a:lnTo>
                      <a:pt x="8683" y="3874"/>
                    </a:lnTo>
                    <a:lnTo>
                      <a:pt x="9024" y="3875"/>
                    </a:lnTo>
                    <a:lnTo>
                      <a:pt x="9367" y="3876"/>
                    </a:lnTo>
                    <a:lnTo>
                      <a:pt x="9711" y="3875"/>
                    </a:lnTo>
                    <a:lnTo>
                      <a:pt x="10054" y="3873"/>
                    </a:lnTo>
                    <a:lnTo>
                      <a:pt x="10226" y="3871"/>
                    </a:lnTo>
                    <a:lnTo>
                      <a:pt x="10396" y="3868"/>
                    </a:lnTo>
                    <a:lnTo>
                      <a:pt x="10567" y="3864"/>
                    </a:lnTo>
                    <a:lnTo>
                      <a:pt x="10734" y="3860"/>
                    </a:lnTo>
                    <a:lnTo>
                      <a:pt x="10902" y="3853"/>
                    </a:lnTo>
                    <a:lnTo>
                      <a:pt x="11067" y="3846"/>
                    </a:lnTo>
                    <a:lnTo>
                      <a:pt x="11230" y="3839"/>
                    </a:lnTo>
                    <a:lnTo>
                      <a:pt x="11393" y="3830"/>
                    </a:lnTo>
                    <a:lnTo>
                      <a:pt x="11551" y="3819"/>
                    </a:lnTo>
                    <a:lnTo>
                      <a:pt x="11708" y="3807"/>
                    </a:lnTo>
                    <a:lnTo>
                      <a:pt x="11863" y="3794"/>
                    </a:lnTo>
                    <a:lnTo>
                      <a:pt x="12014" y="3778"/>
                    </a:lnTo>
                    <a:lnTo>
                      <a:pt x="12162" y="3762"/>
                    </a:lnTo>
                    <a:lnTo>
                      <a:pt x="12307" y="3743"/>
                    </a:lnTo>
                    <a:lnTo>
                      <a:pt x="12448" y="3723"/>
                    </a:lnTo>
                    <a:lnTo>
                      <a:pt x="12586" y="3700"/>
                    </a:lnTo>
                    <a:lnTo>
                      <a:pt x="12653" y="3688"/>
                    </a:lnTo>
                    <a:lnTo>
                      <a:pt x="12719" y="3676"/>
                    </a:lnTo>
                    <a:lnTo>
                      <a:pt x="12784" y="3663"/>
                    </a:lnTo>
                    <a:lnTo>
                      <a:pt x="12848" y="3649"/>
                    </a:lnTo>
                    <a:lnTo>
                      <a:pt x="12911" y="3635"/>
                    </a:lnTo>
                    <a:lnTo>
                      <a:pt x="12973" y="3620"/>
                    </a:lnTo>
                    <a:lnTo>
                      <a:pt x="13034" y="3606"/>
                    </a:lnTo>
                    <a:lnTo>
                      <a:pt x="13093" y="3590"/>
                    </a:lnTo>
                    <a:lnTo>
                      <a:pt x="13093" y="3590"/>
                    </a:lnTo>
                    <a:lnTo>
                      <a:pt x="13212" y="3557"/>
                    </a:lnTo>
                    <a:lnTo>
                      <a:pt x="13332" y="3521"/>
                    </a:lnTo>
                    <a:lnTo>
                      <a:pt x="13454" y="3482"/>
                    </a:lnTo>
                    <a:lnTo>
                      <a:pt x="13577" y="3442"/>
                    </a:lnTo>
                    <a:lnTo>
                      <a:pt x="13701" y="3401"/>
                    </a:lnTo>
                    <a:lnTo>
                      <a:pt x="13827" y="3356"/>
                    </a:lnTo>
                    <a:lnTo>
                      <a:pt x="13953" y="3310"/>
                    </a:lnTo>
                    <a:lnTo>
                      <a:pt x="14080" y="3264"/>
                    </a:lnTo>
                    <a:lnTo>
                      <a:pt x="14206" y="3215"/>
                    </a:lnTo>
                    <a:lnTo>
                      <a:pt x="14333" y="3165"/>
                    </a:lnTo>
                    <a:lnTo>
                      <a:pt x="14458" y="3113"/>
                    </a:lnTo>
                    <a:lnTo>
                      <a:pt x="14585" y="3060"/>
                    </a:lnTo>
                    <a:lnTo>
                      <a:pt x="14711" y="3006"/>
                    </a:lnTo>
                    <a:lnTo>
                      <a:pt x="14836" y="2952"/>
                    </a:lnTo>
                    <a:lnTo>
                      <a:pt x="14959" y="2897"/>
                    </a:lnTo>
                    <a:lnTo>
                      <a:pt x="15082" y="2841"/>
                    </a:lnTo>
                    <a:lnTo>
                      <a:pt x="15202" y="2785"/>
                    </a:lnTo>
                    <a:lnTo>
                      <a:pt x="15321" y="2728"/>
                    </a:lnTo>
                    <a:lnTo>
                      <a:pt x="15439" y="2670"/>
                    </a:lnTo>
                    <a:lnTo>
                      <a:pt x="15554" y="2613"/>
                    </a:lnTo>
                    <a:lnTo>
                      <a:pt x="15667" y="2555"/>
                    </a:lnTo>
                    <a:lnTo>
                      <a:pt x="15777" y="2498"/>
                    </a:lnTo>
                    <a:lnTo>
                      <a:pt x="15884" y="2441"/>
                    </a:lnTo>
                    <a:lnTo>
                      <a:pt x="15989" y="2385"/>
                    </a:lnTo>
                    <a:lnTo>
                      <a:pt x="16091" y="2328"/>
                    </a:lnTo>
                    <a:lnTo>
                      <a:pt x="16190" y="2272"/>
                    </a:lnTo>
                    <a:lnTo>
                      <a:pt x="16284" y="2217"/>
                    </a:lnTo>
                    <a:lnTo>
                      <a:pt x="16374" y="2163"/>
                    </a:lnTo>
                    <a:lnTo>
                      <a:pt x="16462" y="2109"/>
                    </a:lnTo>
                    <a:lnTo>
                      <a:pt x="16544" y="2057"/>
                    </a:lnTo>
                    <a:lnTo>
                      <a:pt x="16622" y="2006"/>
                    </a:lnTo>
                    <a:lnTo>
                      <a:pt x="16696" y="1956"/>
                    </a:lnTo>
                    <a:lnTo>
                      <a:pt x="16696" y="1956"/>
                    </a:lnTo>
                    <a:lnTo>
                      <a:pt x="16771" y="1903"/>
                    </a:lnTo>
                    <a:lnTo>
                      <a:pt x="16856" y="1842"/>
                    </a:lnTo>
                    <a:lnTo>
                      <a:pt x="16950" y="1772"/>
                    </a:lnTo>
                    <a:lnTo>
                      <a:pt x="17054" y="1695"/>
                    </a:lnTo>
                    <a:lnTo>
                      <a:pt x="17282" y="1522"/>
                    </a:lnTo>
                    <a:lnTo>
                      <a:pt x="17533" y="1328"/>
                    </a:lnTo>
                    <a:lnTo>
                      <a:pt x="17803" y="1118"/>
                    </a:lnTo>
                    <a:lnTo>
                      <a:pt x="18083" y="897"/>
                    </a:lnTo>
                    <a:lnTo>
                      <a:pt x="18369" y="672"/>
                    </a:lnTo>
                    <a:lnTo>
                      <a:pt x="18653" y="446"/>
                    </a:lnTo>
                    <a:lnTo>
                      <a:pt x="18653" y="446"/>
                    </a:lnTo>
                    <a:lnTo>
                      <a:pt x="18697" y="401"/>
                    </a:lnTo>
                    <a:lnTo>
                      <a:pt x="18743" y="356"/>
                    </a:lnTo>
                    <a:lnTo>
                      <a:pt x="18743" y="356"/>
                    </a:lnTo>
                    <a:lnTo>
                      <a:pt x="18840" y="265"/>
                    </a:lnTo>
                    <a:lnTo>
                      <a:pt x="18938" y="175"/>
                    </a:lnTo>
                    <a:lnTo>
                      <a:pt x="19038" y="87"/>
                    </a:lnTo>
                    <a:lnTo>
                      <a:pt x="19139" y="0"/>
                    </a:lnTo>
                    <a:lnTo>
                      <a:pt x="19139" y="0"/>
                    </a:lnTo>
                    <a:lnTo>
                      <a:pt x="18737" y="281"/>
                    </a:lnTo>
                    <a:lnTo>
                      <a:pt x="18286" y="594"/>
                    </a:lnTo>
                    <a:lnTo>
                      <a:pt x="17815" y="922"/>
                    </a:lnTo>
                    <a:lnTo>
                      <a:pt x="17345" y="1246"/>
                    </a:lnTo>
                    <a:lnTo>
                      <a:pt x="16903" y="1548"/>
                    </a:lnTo>
                    <a:lnTo>
                      <a:pt x="16702" y="1685"/>
                    </a:lnTo>
                    <a:lnTo>
                      <a:pt x="16517" y="1810"/>
                    </a:lnTo>
                    <a:lnTo>
                      <a:pt x="16352" y="1919"/>
                    </a:lnTo>
                    <a:lnTo>
                      <a:pt x="16209" y="2012"/>
                    </a:lnTo>
                    <a:lnTo>
                      <a:pt x="16094" y="2086"/>
                    </a:lnTo>
                    <a:lnTo>
                      <a:pt x="16047" y="2114"/>
                    </a:lnTo>
                    <a:lnTo>
                      <a:pt x="16009" y="2137"/>
                    </a:lnTo>
                    <a:lnTo>
                      <a:pt x="16009" y="2137"/>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350">
                  <a:latin typeface="Aptos" panose="020B0004020202020204" pitchFamily="34" charset="0"/>
                  <a:sym typeface="Aptos" panose="020B0004020202020204" pitchFamily="34" charset="0"/>
                </a:endParaRPr>
              </a:p>
            </p:txBody>
          </p:sp>
        </p:grpSp>
        <p:sp>
          <p:nvSpPr>
            <p:cNvPr id="348" name="Arc 347">
              <a:extLst>
                <a:ext uri="{FF2B5EF4-FFF2-40B4-BE49-F238E27FC236}">
                  <a16:creationId xmlns:a16="http://schemas.microsoft.com/office/drawing/2014/main" id="{2E58B5DE-373E-A0EE-FCFD-A0B9EEDDD2FB}"/>
                </a:ext>
              </a:extLst>
            </p:cNvPr>
            <p:cNvSpPr/>
            <p:nvPr/>
          </p:nvSpPr>
          <p:spPr>
            <a:xfrm rot="21398505" flipV="1">
              <a:off x="-10536768" y="2258980"/>
              <a:ext cx="15571333" cy="3777477"/>
            </a:xfrm>
            <a:prstGeom prst="arc">
              <a:avLst>
                <a:gd name="adj1" fmla="val 20768171"/>
                <a:gd name="adj2" fmla="val 21407445"/>
              </a:avLst>
            </a:prstGeom>
            <a:ln w="155575">
              <a:gradFill>
                <a:gsLst>
                  <a:gs pos="26000">
                    <a:schemeClr val="bg1"/>
                  </a:gs>
                  <a:gs pos="100000">
                    <a:srgbClr val="6360D8"/>
                  </a:gs>
                </a:gsLst>
                <a:lin ang="5400000" scaled="1"/>
              </a:gradFill>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219170">
                <a:defRPr/>
              </a:pPr>
              <a:endParaRPr lang="en-US" sz="2400">
                <a:solidFill>
                  <a:prstClr val="black"/>
                </a:solidFill>
                <a:latin typeface="Aptos" panose="020B0004020202020204" pitchFamily="34" charset="0"/>
                <a:ea typeface="+mn-lt"/>
                <a:cs typeface="+mn-lt"/>
                <a:sym typeface="Aptos" panose="020B0004020202020204" pitchFamily="34" charset="0"/>
              </a:endParaRPr>
            </a:p>
          </p:txBody>
        </p:sp>
        <p:sp>
          <p:nvSpPr>
            <p:cNvPr id="350" name="Arc 349">
              <a:extLst>
                <a:ext uri="{FF2B5EF4-FFF2-40B4-BE49-F238E27FC236}">
                  <a16:creationId xmlns:a16="http://schemas.microsoft.com/office/drawing/2014/main" id="{8077BA6A-9056-4FA0-B6BA-1B5A9C70E0E1}"/>
                </a:ext>
              </a:extLst>
            </p:cNvPr>
            <p:cNvSpPr/>
            <p:nvPr/>
          </p:nvSpPr>
          <p:spPr>
            <a:xfrm rot="201495">
              <a:off x="-10536768" y="1564502"/>
              <a:ext cx="15571333" cy="3777477"/>
            </a:xfrm>
            <a:prstGeom prst="arc">
              <a:avLst>
                <a:gd name="adj1" fmla="val 20768171"/>
                <a:gd name="adj2" fmla="val 21407445"/>
              </a:avLst>
            </a:prstGeom>
            <a:ln w="155575">
              <a:gradFill>
                <a:gsLst>
                  <a:gs pos="26000">
                    <a:schemeClr val="bg1"/>
                  </a:gs>
                  <a:gs pos="100000">
                    <a:srgbClr val="6360D8"/>
                  </a:gs>
                </a:gsLst>
                <a:lin ang="5400000" scaled="1"/>
              </a:gradFill>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219170">
                <a:defRPr/>
              </a:pPr>
              <a:endParaRPr lang="en-US" sz="2400">
                <a:solidFill>
                  <a:prstClr val="black"/>
                </a:solidFill>
                <a:latin typeface="Aptos" panose="020B0004020202020204" pitchFamily="34" charset="0"/>
                <a:ea typeface="+mn-lt"/>
                <a:cs typeface="+mn-lt"/>
                <a:sym typeface="Aptos" panose="020B0004020202020204" pitchFamily="34" charset="0"/>
              </a:endParaRPr>
            </a:p>
          </p:txBody>
        </p:sp>
        <p:cxnSp>
          <p:nvCxnSpPr>
            <p:cNvPr id="137" name="Straight Connector 136">
              <a:extLst>
                <a:ext uri="{FF2B5EF4-FFF2-40B4-BE49-F238E27FC236}">
                  <a16:creationId xmlns:a16="http://schemas.microsoft.com/office/drawing/2014/main" id="{3DCB504C-7103-FD9B-F5DA-EC51D639CE1E}"/>
                </a:ext>
              </a:extLst>
            </p:cNvPr>
            <p:cNvCxnSpPr>
              <a:cxnSpLocks/>
            </p:cNvCxnSpPr>
            <p:nvPr/>
          </p:nvCxnSpPr>
          <p:spPr>
            <a:xfrm>
              <a:off x="434187" y="2261322"/>
              <a:ext cx="3136739" cy="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637E6BBD-2014-236D-355E-3C0F6310C72C}"/>
                </a:ext>
              </a:extLst>
            </p:cNvPr>
            <p:cNvCxnSpPr>
              <a:cxnSpLocks/>
            </p:cNvCxnSpPr>
            <p:nvPr/>
          </p:nvCxnSpPr>
          <p:spPr>
            <a:xfrm>
              <a:off x="434187" y="2855047"/>
              <a:ext cx="3136739" cy="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F06DB58B-47B8-5C99-076E-1BB6C5CC5A68}"/>
                </a:ext>
              </a:extLst>
            </p:cNvPr>
            <p:cNvCxnSpPr>
              <a:cxnSpLocks/>
            </p:cNvCxnSpPr>
            <p:nvPr/>
          </p:nvCxnSpPr>
          <p:spPr>
            <a:xfrm>
              <a:off x="434187" y="3448772"/>
              <a:ext cx="3136739" cy="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2EC50DC4-F728-1A9B-CB40-D4EB1C040331}"/>
                </a:ext>
              </a:extLst>
            </p:cNvPr>
            <p:cNvCxnSpPr>
              <a:cxnSpLocks/>
            </p:cNvCxnSpPr>
            <p:nvPr/>
          </p:nvCxnSpPr>
          <p:spPr>
            <a:xfrm>
              <a:off x="434187" y="4042497"/>
              <a:ext cx="3136739" cy="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DAAC5547-93D5-9777-D3C5-7B10C5781DD6}"/>
                </a:ext>
              </a:extLst>
            </p:cNvPr>
            <p:cNvCxnSpPr>
              <a:cxnSpLocks/>
            </p:cNvCxnSpPr>
            <p:nvPr/>
          </p:nvCxnSpPr>
          <p:spPr>
            <a:xfrm>
              <a:off x="434187" y="4636222"/>
              <a:ext cx="3136739" cy="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91BED66A-6786-569C-86FB-43BCEF84EFF5}"/>
                </a:ext>
              </a:extLst>
            </p:cNvPr>
            <p:cNvCxnSpPr>
              <a:cxnSpLocks/>
            </p:cNvCxnSpPr>
            <p:nvPr/>
          </p:nvCxnSpPr>
          <p:spPr>
            <a:xfrm>
              <a:off x="434187" y="5229945"/>
              <a:ext cx="3136739" cy="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20F7147E-F1BF-37A9-F7E7-F42D8E1EE418}"/>
                </a:ext>
              </a:extLst>
            </p:cNvPr>
            <p:cNvCxnSpPr/>
            <p:nvPr/>
          </p:nvCxnSpPr>
          <p:spPr>
            <a:xfrm>
              <a:off x="8517483" y="2261322"/>
              <a:ext cx="3136739" cy="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EDD9A945-0288-4324-2C68-528603314AFB}"/>
                </a:ext>
              </a:extLst>
            </p:cNvPr>
            <p:cNvCxnSpPr>
              <a:cxnSpLocks/>
            </p:cNvCxnSpPr>
            <p:nvPr/>
          </p:nvCxnSpPr>
          <p:spPr>
            <a:xfrm>
              <a:off x="8517483" y="2855047"/>
              <a:ext cx="3136739" cy="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ED6F83F8-88E6-BF28-9E0E-2CD10CB16217}"/>
                </a:ext>
              </a:extLst>
            </p:cNvPr>
            <p:cNvCxnSpPr/>
            <p:nvPr/>
          </p:nvCxnSpPr>
          <p:spPr>
            <a:xfrm>
              <a:off x="8517483" y="3448772"/>
              <a:ext cx="3136739" cy="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5F2FA3BD-C48A-5C25-9DCC-3EFB03FCBB7A}"/>
                </a:ext>
              </a:extLst>
            </p:cNvPr>
            <p:cNvCxnSpPr/>
            <p:nvPr/>
          </p:nvCxnSpPr>
          <p:spPr>
            <a:xfrm>
              <a:off x="8517483" y="4042497"/>
              <a:ext cx="3136739" cy="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2BCFCA94-96C6-7B15-575F-9F6DC42E07DC}"/>
                </a:ext>
              </a:extLst>
            </p:cNvPr>
            <p:cNvCxnSpPr/>
            <p:nvPr/>
          </p:nvCxnSpPr>
          <p:spPr>
            <a:xfrm>
              <a:off x="8517483" y="4636222"/>
              <a:ext cx="3136739" cy="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3AE7DA89-F10B-EB50-A123-ECF3F465F8E0}"/>
                </a:ext>
              </a:extLst>
            </p:cNvPr>
            <p:cNvCxnSpPr/>
            <p:nvPr/>
          </p:nvCxnSpPr>
          <p:spPr>
            <a:xfrm>
              <a:off x="8517483" y="5229945"/>
              <a:ext cx="3136739" cy="0"/>
            </a:xfrm>
            <a:prstGeom prst="line">
              <a:avLst/>
            </a:prstGeom>
            <a:ln>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3FBAF7CF-6540-CC3C-0C50-2DFA6156D0D4}"/>
                </a:ext>
              </a:extLst>
            </p:cNvPr>
            <p:cNvSpPr txBox="1"/>
            <p:nvPr/>
          </p:nvSpPr>
          <p:spPr>
            <a:xfrm>
              <a:off x="1589421" y="1672679"/>
              <a:ext cx="826270" cy="276999"/>
            </a:xfrm>
            <a:prstGeom prst="rect">
              <a:avLst/>
            </a:prstGeom>
            <a:noFill/>
          </p:spPr>
          <p:txBody>
            <a:bodyPr wrap="square" rtlCol="0" anchor="ctr">
              <a:spAutoFit/>
            </a:bodyPr>
            <a:lstStyle/>
            <a:p>
              <a:pPr algn="ctr"/>
              <a:r>
                <a:rPr lang="en-US" sz="1200" b="1">
                  <a:solidFill>
                    <a:srgbClr val="060B25"/>
                  </a:solidFill>
                  <a:latin typeface="Aptos" panose="020B0004020202020204" pitchFamily="34" charset="0"/>
                  <a:sym typeface="Aptos" panose="020B0004020202020204" pitchFamily="34" charset="0"/>
                </a:rPr>
                <a:t>Cloud</a:t>
              </a:r>
            </a:p>
          </p:txBody>
        </p:sp>
        <p:sp>
          <p:nvSpPr>
            <p:cNvPr id="173" name="TextBox 172">
              <a:extLst>
                <a:ext uri="{FF2B5EF4-FFF2-40B4-BE49-F238E27FC236}">
                  <a16:creationId xmlns:a16="http://schemas.microsoft.com/office/drawing/2014/main" id="{A9C28230-57F9-5960-D671-941DCA5917B5}"/>
                </a:ext>
              </a:extLst>
            </p:cNvPr>
            <p:cNvSpPr txBox="1"/>
            <p:nvPr/>
          </p:nvSpPr>
          <p:spPr>
            <a:xfrm>
              <a:off x="930989" y="2246351"/>
              <a:ext cx="2143134" cy="276999"/>
            </a:xfrm>
            <a:prstGeom prst="rect">
              <a:avLst/>
            </a:prstGeom>
            <a:noFill/>
          </p:spPr>
          <p:txBody>
            <a:bodyPr wrap="square" rtlCol="0" anchor="ctr">
              <a:spAutoFit/>
            </a:bodyPr>
            <a:lstStyle/>
            <a:p>
              <a:pPr algn="ctr"/>
              <a:r>
                <a:rPr lang="en-US" sz="1200" b="1">
                  <a:solidFill>
                    <a:srgbClr val="060B25"/>
                  </a:solidFill>
                  <a:latin typeface="Aptos" panose="020B0004020202020204" pitchFamily="34" charset="0"/>
                  <a:sym typeface="Aptos" panose="020B0004020202020204" pitchFamily="34" charset="0"/>
                </a:rPr>
                <a:t>Vulnerability Management</a:t>
              </a:r>
            </a:p>
          </p:txBody>
        </p:sp>
        <p:sp>
          <p:nvSpPr>
            <p:cNvPr id="296" name="TextBox 295">
              <a:extLst>
                <a:ext uri="{FF2B5EF4-FFF2-40B4-BE49-F238E27FC236}">
                  <a16:creationId xmlns:a16="http://schemas.microsoft.com/office/drawing/2014/main" id="{B46D7D89-3480-1708-5A35-E5A2FDB3C168}"/>
                </a:ext>
              </a:extLst>
            </p:cNvPr>
            <p:cNvSpPr txBox="1"/>
            <p:nvPr/>
          </p:nvSpPr>
          <p:spPr>
            <a:xfrm>
              <a:off x="1589421" y="2837979"/>
              <a:ext cx="826270" cy="276999"/>
            </a:xfrm>
            <a:prstGeom prst="rect">
              <a:avLst/>
            </a:prstGeom>
            <a:noFill/>
          </p:spPr>
          <p:txBody>
            <a:bodyPr wrap="square" rtlCol="0" anchor="ctr">
              <a:spAutoFit/>
            </a:bodyPr>
            <a:lstStyle/>
            <a:p>
              <a:pPr algn="ctr"/>
              <a:r>
                <a:rPr lang="en-US" sz="1200" b="1">
                  <a:solidFill>
                    <a:srgbClr val="060B25"/>
                  </a:solidFill>
                  <a:latin typeface="Aptos" panose="020B0004020202020204" pitchFamily="34" charset="0"/>
                  <a:sym typeface="Aptos" panose="020B0004020202020204" pitchFamily="34" charset="0"/>
                </a:rPr>
                <a:t>VPN</a:t>
              </a:r>
            </a:p>
          </p:txBody>
        </p:sp>
        <p:sp>
          <p:nvSpPr>
            <p:cNvPr id="297" name="TextBox 296">
              <a:extLst>
                <a:ext uri="{FF2B5EF4-FFF2-40B4-BE49-F238E27FC236}">
                  <a16:creationId xmlns:a16="http://schemas.microsoft.com/office/drawing/2014/main" id="{94556B6F-6913-1BBC-9FED-0B9B081605DD}"/>
                </a:ext>
              </a:extLst>
            </p:cNvPr>
            <p:cNvSpPr txBox="1"/>
            <p:nvPr/>
          </p:nvSpPr>
          <p:spPr>
            <a:xfrm>
              <a:off x="930989" y="3435697"/>
              <a:ext cx="2143134" cy="276999"/>
            </a:xfrm>
            <a:prstGeom prst="rect">
              <a:avLst/>
            </a:prstGeom>
            <a:noFill/>
          </p:spPr>
          <p:txBody>
            <a:bodyPr wrap="square" rtlCol="0" anchor="ctr">
              <a:spAutoFit/>
            </a:bodyPr>
            <a:lstStyle/>
            <a:p>
              <a:pPr algn="ctr"/>
              <a:r>
                <a:rPr lang="en-US" sz="1200" b="1">
                  <a:solidFill>
                    <a:srgbClr val="060B25"/>
                  </a:solidFill>
                  <a:latin typeface="Aptos" panose="020B0004020202020204" pitchFamily="34" charset="0"/>
                  <a:sym typeface="Aptos" panose="020B0004020202020204" pitchFamily="34" charset="0"/>
                </a:rPr>
                <a:t>IAM</a:t>
              </a:r>
            </a:p>
          </p:txBody>
        </p:sp>
        <p:sp>
          <p:nvSpPr>
            <p:cNvPr id="298" name="TextBox 297">
              <a:extLst>
                <a:ext uri="{FF2B5EF4-FFF2-40B4-BE49-F238E27FC236}">
                  <a16:creationId xmlns:a16="http://schemas.microsoft.com/office/drawing/2014/main" id="{EA986933-652E-1A09-67BD-862EB4105C9B}"/>
                </a:ext>
              </a:extLst>
            </p:cNvPr>
            <p:cNvSpPr txBox="1"/>
            <p:nvPr/>
          </p:nvSpPr>
          <p:spPr>
            <a:xfrm>
              <a:off x="930989" y="4029421"/>
              <a:ext cx="2143134" cy="276999"/>
            </a:xfrm>
            <a:prstGeom prst="rect">
              <a:avLst/>
            </a:prstGeom>
            <a:noFill/>
          </p:spPr>
          <p:txBody>
            <a:bodyPr wrap="square" rtlCol="0" anchor="ctr">
              <a:spAutoFit/>
            </a:bodyPr>
            <a:lstStyle/>
            <a:p>
              <a:pPr algn="ctr"/>
              <a:r>
                <a:rPr lang="en-US" sz="1200" b="1">
                  <a:solidFill>
                    <a:srgbClr val="060B25"/>
                  </a:solidFill>
                  <a:latin typeface="Aptos" panose="020B0004020202020204" pitchFamily="34" charset="0"/>
                  <a:sym typeface="Aptos" panose="020B0004020202020204" pitchFamily="34" charset="0"/>
                </a:rPr>
                <a:t>CMDM</a:t>
              </a:r>
            </a:p>
          </p:txBody>
        </p:sp>
        <p:sp>
          <p:nvSpPr>
            <p:cNvPr id="299" name="TextBox 298">
              <a:extLst>
                <a:ext uri="{FF2B5EF4-FFF2-40B4-BE49-F238E27FC236}">
                  <a16:creationId xmlns:a16="http://schemas.microsoft.com/office/drawing/2014/main" id="{B288AA55-61A0-9EF7-5446-7B9B2D685059}"/>
                </a:ext>
              </a:extLst>
            </p:cNvPr>
            <p:cNvSpPr txBox="1"/>
            <p:nvPr/>
          </p:nvSpPr>
          <p:spPr>
            <a:xfrm>
              <a:off x="1589421" y="4621049"/>
              <a:ext cx="826270" cy="276999"/>
            </a:xfrm>
            <a:prstGeom prst="rect">
              <a:avLst/>
            </a:prstGeom>
            <a:noFill/>
          </p:spPr>
          <p:txBody>
            <a:bodyPr wrap="square" rtlCol="0" anchor="ctr">
              <a:spAutoFit/>
            </a:bodyPr>
            <a:lstStyle/>
            <a:p>
              <a:pPr algn="ctr"/>
              <a:r>
                <a:rPr lang="en-US" sz="1200" b="1">
                  <a:solidFill>
                    <a:srgbClr val="060B25"/>
                  </a:solidFill>
                  <a:latin typeface="Aptos" panose="020B0004020202020204" pitchFamily="34" charset="0"/>
                  <a:sym typeface="Aptos" panose="020B0004020202020204" pitchFamily="34" charset="0"/>
                </a:rPr>
                <a:t>EDR</a:t>
              </a:r>
            </a:p>
          </p:txBody>
        </p:sp>
        <p:sp>
          <p:nvSpPr>
            <p:cNvPr id="300" name="TextBox 299">
              <a:extLst>
                <a:ext uri="{FF2B5EF4-FFF2-40B4-BE49-F238E27FC236}">
                  <a16:creationId xmlns:a16="http://schemas.microsoft.com/office/drawing/2014/main" id="{23963BAA-0B75-06A4-22EB-C5AC0A0D2A94}"/>
                </a:ext>
              </a:extLst>
            </p:cNvPr>
            <p:cNvSpPr txBox="1"/>
            <p:nvPr/>
          </p:nvSpPr>
          <p:spPr>
            <a:xfrm>
              <a:off x="930989" y="5218767"/>
              <a:ext cx="2143134" cy="276999"/>
            </a:xfrm>
            <a:prstGeom prst="rect">
              <a:avLst/>
            </a:prstGeom>
            <a:noFill/>
          </p:spPr>
          <p:txBody>
            <a:bodyPr wrap="square" rtlCol="0" anchor="ctr">
              <a:spAutoFit/>
            </a:bodyPr>
            <a:lstStyle/>
            <a:p>
              <a:pPr algn="ctr"/>
              <a:r>
                <a:rPr lang="en-US" sz="1200" b="1">
                  <a:solidFill>
                    <a:srgbClr val="060B25"/>
                  </a:solidFill>
                  <a:latin typeface="Aptos" panose="020B0004020202020204" pitchFamily="34" charset="0"/>
                  <a:sym typeface="Aptos" panose="020B0004020202020204" pitchFamily="34" charset="0"/>
                </a:rPr>
                <a:t>PAM</a:t>
              </a:r>
            </a:p>
          </p:txBody>
        </p:sp>
        <p:sp>
          <p:nvSpPr>
            <p:cNvPr id="301" name="TextBox 300">
              <a:extLst>
                <a:ext uri="{FF2B5EF4-FFF2-40B4-BE49-F238E27FC236}">
                  <a16:creationId xmlns:a16="http://schemas.microsoft.com/office/drawing/2014/main" id="{F52D4CBF-E33C-0E8D-5493-6B7459DA8233}"/>
                </a:ext>
              </a:extLst>
            </p:cNvPr>
            <p:cNvSpPr txBox="1"/>
            <p:nvPr/>
          </p:nvSpPr>
          <p:spPr>
            <a:xfrm>
              <a:off x="9672717" y="1672679"/>
              <a:ext cx="826270" cy="276999"/>
            </a:xfrm>
            <a:prstGeom prst="rect">
              <a:avLst/>
            </a:prstGeom>
            <a:noFill/>
          </p:spPr>
          <p:txBody>
            <a:bodyPr wrap="square" rtlCol="0" anchor="ctr">
              <a:spAutoFit/>
            </a:bodyPr>
            <a:lstStyle/>
            <a:p>
              <a:pPr algn="ctr"/>
              <a:r>
                <a:rPr lang="en-US" sz="1200" b="1">
                  <a:solidFill>
                    <a:srgbClr val="060B25"/>
                  </a:solidFill>
                  <a:latin typeface="Aptos" panose="020B0004020202020204" pitchFamily="34" charset="0"/>
                  <a:sym typeface="Aptos" panose="020B0004020202020204" pitchFamily="34" charset="0"/>
                </a:rPr>
                <a:t>NDR</a:t>
              </a:r>
            </a:p>
          </p:txBody>
        </p:sp>
        <p:sp>
          <p:nvSpPr>
            <p:cNvPr id="302" name="TextBox 301">
              <a:extLst>
                <a:ext uri="{FF2B5EF4-FFF2-40B4-BE49-F238E27FC236}">
                  <a16:creationId xmlns:a16="http://schemas.microsoft.com/office/drawing/2014/main" id="{DA5925DC-BD6C-3242-D677-8706146D4E11}"/>
                </a:ext>
              </a:extLst>
            </p:cNvPr>
            <p:cNvSpPr txBox="1"/>
            <p:nvPr/>
          </p:nvSpPr>
          <p:spPr>
            <a:xfrm>
              <a:off x="9014285" y="2246351"/>
              <a:ext cx="2143134" cy="276999"/>
            </a:xfrm>
            <a:prstGeom prst="rect">
              <a:avLst/>
            </a:prstGeom>
            <a:noFill/>
          </p:spPr>
          <p:txBody>
            <a:bodyPr wrap="square" rtlCol="0" anchor="ctr">
              <a:spAutoFit/>
            </a:bodyPr>
            <a:lstStyle/>
            <a:p>
              <a:pPr algn="ctr"/>
              <a:r>
                <a:rPr lang="en-US" sz="1200" b="1">
                  <a:solidFill>
                    <a:srgbClr val="060B25"/>
                  </a:solidFill>
                  <a:latin typeface="Aptos" panose="020B0004020202020204" pitchFamily="34" charset="0"/>
                  <a:sym typeface="Aptos" panose="020B0004020202020204" pitchFamily="34" charset="0"/>
                </a:rPr>
                <a:t>APPSEC</a:t>
              </a:r>
            </a:p>
          </p:txBody>
        </p:sp>
        <p:sp>
          <p:nvSpPr>
            <p:cNvPr id="303" name="TextBox 302">
              <a:extLst>
                <a:ext uri="{FF2B5EF4-FFF2-40B4-BE49-F238E27FC236}">
                  <a16:creationId xmlns:a16="http://schemas.microsoft.com/office/drawing/2014/main" id="{97F367E0-1B9A-F26C-A07C-6D231A3EBB22}"/>
                </a:ext>
              </a:extLst>
            </p:cNvPr>
            <p:cNvSpPr txBox="1"/>
            <p:nvPr/>
          </p:nvSpPr>
          <p:spPr>
            <a:xfrm>
              <a:off x="9672717" y="2837979"/>
              <a:ext cx="826270" cy="276999"/>
            </a:xfrm>
            <a:prstGeom prst="rect">
              <a:avLst/>
            </a:prstGeom>
            <a:noFill/>
          </p:spPr>
          <p:txBody>
            <a:bodyPr wrap="square" rtlCol="0" anchor="ctr">
              <a:spAutoFit/>
            </a:bodyPr>
            <a:lstStyle/>
            <a:p>
              <a:pPr algn="ctr"/>
              <a:r>
                <a:rPr lang="en-US" sz="1200" b="1">
                  <a:solidFill>
                    <a:srgbClr val="060B25"/>
                  </a:solidFill>
                  <a:latin typeface="Aptos" panose="020B0004020202020204" pitchFamily="34" charset="0"/>
                  <a:sym typeface="Aptos" panose="020B0004020202020204" pitchFamily="34" charset="0"/>
                </a:rPr>
                <a:t>ERP</a:t>
              </a:r>
            </a:p>
          </p:txBody>
        </p:sp>
        <p:sp>
          <p:nvSpPr>
            <p:cNvPr id="304" name="TextBox 303">
              <a:extLst>
                <a:ext uri="{FF2B5EF4-FFF2-40B4-BE49-F238E27FC236}">
                  <a16:creationId xmlns:a16="http://schemas.microsoft.com/office/drawing/2014/main" id="{0B5ED302-4BFF-E2B6-0018-36DA291E7F80}"/>
                </a:ext>
              </a:extLst>
            </p:cNvPr>
            <p:cNvSpPr txBox="1"/>
            <p:nvPr/>
          </p:nvSpPr>
          <p:spPr>
            <a:xfrm>
              <a:off x="9014285" y="3435697"/>
              <a:ext cx="2143134" cy="276999"/>
            </a:xfrm>
            <a:prstGeom prst="rect">
              <a:avLst/>
            </a:prstGeom>
            <a:noFill/>
          </p:spPr>
          <p:txBody>
            <a:bodyPr wrap="square" rtlCol="0" anchor="ctr">
              <a:spAutoFit/>
            </a:bodyPr>
            <a:lstStyle/>
            <a:p>
              <a:pPr algn="ctr"/>
              <a:r>
                <a:rPr lang="en-US" sz="1200" b="1">
                  <a:solidFill>
                    <a:srgbClr val="060B25"/>
                  </a:solidFill>
                  <a:latin typeface="Aptos" panose="020B0004020202020204" pitchFamily="34" charset="0"/>
                  <a:sym typeface="Aptos" panose="020B0004020202020204" pitchFamily="34" charset="0"/>
                </a:rPr>
                <a:t>MDM</a:t>
              </a:r>
            </a:p>
          </p:txBody>
        </p:sp>
        <p:sp>
          <p:nvSpPr>
            <p:cNvPr id="305" name="TextBox 304">
              <a:extLst>
                <a:ext uri="{FF2B5EF4-FFF2-40B4-BE49-F238E27FC236}">
                  <a16:creationId xmlns:a16="http://schemas.microsoft.com/office/drawing/2014/main" id="{677B3088-0CD4-C3A5-21F8-9E2FE8715542}"/>
                </a:ext>
              </a:extLst>
            </p:cNvPr>
            <p:cNvSpPr txBox="1"/>
            <p:nvPr/>
          </p:nvSpPr>
          <p:spPr>
            <a:xfrm>
              <a:off x="9014285" y="4029421"/>
              <a:ext cx="2143134" cy="276999"/>
            </a:xfrm>
            <a:prstGeom prst="rect">
              <a:avLst/>
            </a:prstGeom>
            <a:noFill/>
          </p:spPr>
          <p:txBody>
            <a:bodyPr wrap="square" rtlCol="0" anchor="ctr">
              <a:spAutoFit/>
            </a:bodyPr>
            <a:lstStyle/>
            <a:p>
              <a:pPr algn="ctr"/>
              <a:r>
                <a:rPr lang="en-US" sz="1200" b="1">
                  <a:solidFill>
                    <a:srgbClr val="060B25"/>
                  </a:solidFill>
                  <a:latin typeface="Aptos" panose="020B0004020202020204" pitchFamily="34" charset="0"/>
                  <a:sym typeface="Aptos" panose="020B0004020202020204" pitchFamily="34" charset="0"/>
                </a:rPr>
                <a:t>Data Warehouse</a:t>
              </a:r>
            </a:p>
          </p:txBody>
        </p:sp>
        <p:sp>
          <p:nvSpPr>
            <p:cNvPr id="306" name="TextBox 305">
              <a:extLst>
                <a:ext uri="{FF2B5EF4-FFF2-40B4-BE49-F238E27FC236}">
                  <a16:creationId xmlns:a16="http://schemas.microsoft.com/office/drawing/2014/main" id="{9F4013D5-2D08-C8A4-B9E7-01C096E93596}"/>
                </a:ext>
              </a:extLst>
            </p:cNvPr>
            <p:cNvSpPr txBox="1"/>
            <p:nvPr/>
          </p:nvSpPr>
          <p:spPr>
            <a:xfrm>
              <a:off x="9672717" y="4621049"/>
              <a:ext cx="826270" cy="276999"/>
            </a:xfrm>
            <a:prstGeom prst="rect">
              <a:avLst/>
            </a:prstGeom>
            <a:noFill/>
          </p:spPr>
          <p:txBody>
            <a:bodyPr wrap="square" rtlCol="0" anchor="ctr">
              <a:spAutoFit/>
            </a:bodyPr>
            <a:lstStyle/>
            <a:p>
              <a:pPr algn="ctr"/>
              <a:r>
                <a:rPr lang="en-US" sz="1200" b="1">
                  <a:solidFill>
                    <a:srgbClr val="060B25"/>
                  </a:solidFill>
                  <a:latin typeface="Aptos" panose="020B0004020202020204" pitchFamily="34" charset="0"/>
                  <a:sym typeface="Aptos" panose="020B0004020202020204" pitchFamily="34" charset="0"/>
                </a:rPr>
                <a:t>DDI</a:t>
              </a:r>
            </a:p>
          </p:txBody>
        </p:sp>
        <p:sp>
          <p:nvSpPr>
            <p:cNvPr id="307" name="TextBox 306">
              <a:extLst>
                <a:ext uri="{FF2B5EF4-FFF2-40B4-BE49-F238E27FC236}">
                  <a16:creationId xmlns:a16="http://schemas.microsoft.com/office/drawing/2014/main" id="{3658D4AD-7CC2-5153-38C1-38110B8C3705}"/>
                </a:ext>
              </a:extLst>
            </p:cNvPr>
            <p:cNvSpPr txBox="1"/>
            <p:nvPr/>
          </p:nvSpPr>
          <p:spPr>
            <a:xfrm>
              <a:off x="9014285" y="5218767"/>
              <a:ext cx="2143134" cy="276999"/>
            </a:xfrm>
            <a:prstGeom prst="rect">
              <a:avLst/>
            </a:prstGeom>
            <a:noFill/>
          </p:spPr>
          <p:txBody>
            <a:bodyPr wrap="square" rtlCol="0" anchor="ctr">
              <a:spAutoFit/>
            </a:bodyPr>
            <a:lstStyle/>
            <a:p>
              <a:pPr algn="ctr"/>
              <a:r>
                <a:rPr lang="en-US" sz="1200" b="1">
                  <a:solidFill>
                    <a:srgbClr val="060B25"/>
                  </a:solidFill>
                  <a:latin typeface="Aptos" panose="020B0004020202020204" pitchFamily="34" charset="0"/>
                  <a:sym typeface="Aptos" panose="020B0004020202020204" pitchFamily="34" charset="0"/>
                </a:rPr>
                <a:t>Client Data Source</a:t>
              </a:r>
            </a:p>
          </p:txBody>
        </p:sp>
        <p:pic>
          <p:nvPicPr>
            <p:cNvPr id="308" name="Picture 307">
              <a:extLst>
                <a:ext uri="{FF2B5EF4-FFF2-40B4-BE49-F238E27FC236}">
                  <a16:creationId xmlns:a16="http://schemas.microsoft.com/office/drawing/2014/main" id="{34FF381A-AF44-1C06-D95F-6533FAB8D027}"/>
                </a:ext>
              </a:extLst>
            </p:cNvPr>
            <p:cNvPicPr>
              <a:picLocks noChangeAspect="1"/>
            </p:cNvPicPr>
            <p:nvPr/>
          </p:nvPicPr>
          <p:blipFill>
            <a:blip r:embed="rId6"/>
            <a:stretch>
              <a:fillRect/>
            </a:stretch>
          </p:blipFill>
          <p:spPr>
            <a:xfrm>
              <a:off x="1133390" y="1924131"/>
              <a:ext cx="370914" cy="221621"/>
            </a:xfrm>
            <a:prstGeom prst="rect">
              <a:avLst/>
            </a:prstGeom>
          </p:spPr>
        </p:pic>
        <p:pic>
          <p:nvPicPr>
            <p:cNvPr id="309" name="Picture 308">
              <a:extLst>
                <a:ext uri="{FF2B5EF4-FFF2-40B4-BE49-F238E27FC236}">
                  <a16:creationId xmlns:a16="http://schemas.microsoft.com/office/drawing/2014/main" id="{B5A1AE47-E5FA-02DE-6128-0C55E63729D1}"/>
                </a:ext>
              </a:extLst>
            </p:cNvPr>
            <p:cNvPicPr>
              <a:picLocks noChangeAspect="1"/>
            </p:cNvPicPr>
            <p:nvPr/>
          </p:nvPicPr>
          <p:blipFill>
            <a:blip r:embed="rId7"/>
            <a:stretch>
              <a:fillRect/>
            </a:stretch>
          </p:blipFill>
          <p:spPr>
            <a:xfrm>
              <a:off x="2342921" y="1947330"/>
              <a:ext cx="597359" cy="182196"/>
            </a:xfrm>
            <a:prstGeom prst="rect">
              <a:avLst/>
            </a:prstGeom>
          </p:spPr>
        </p:pic>
        <p:pic>
          <p:nvPicPr>
            <p:cNvPr id="310" name="Picture 309">
              <a:extLst>
                <a:ext uri="{FF2B5EF4-FFF2-40B4-BE49-F238E27FC236}">
                  <a16:creationId xmlns:a16="http://schemas.microsoft.com/office/drawing/2014/main" id="{EF0AB04A-96BE-E7C5-34CD-FEDA167829B3}"/>
                </a:ext>
              </a:extLst>
            </p:cNvPr>
            <p:cNvPicPr>
              <a:picLocks noChangeAspect="1"/>
            </p:cNvPicPr>
            <p:nvPr/>
          </p:nvPicPr>
          <p:blipFill>
            <a:blip r:embed="rId8"/>
            <a:stretch>
              <a:fillRect/>
            </a:stretch>
          </p:blipFill>
          <p:spPr>
            <a:xfrm>
              <a:off x="2496100" y="2593387"/>
              <a:ext cx="657095" cy="144561"/>
            </a:xfrm>
            <a:prstGeom prst="rect">
              <a:avLst/>
            </a:prstGeom>
          </p:spPr>
        </p:pic>
        <p:pic>
          <p:nvPicPr>
            <p:cNvPr id="311" name="Picture 310">
              <a:extLst>
                <a:ext uri="{FF2B5EF4-FFF2-40B4-BE49-F238E27FC236}">
                  <a16:creationId xmlns:a16="http://schemas.microsoft.com/office/drawing/2014/main" id="{D573A178-4AA9-C69D-493A-5B039D2E461E}"/>
                </a:ext>
              </a:extLst>
            </p:cNvPr>
            <p:cNvPicPr>
              <a:picLocks noChangeAspect="1"/>
            </p:cNvPicPr>
            <p:nvPr/>
          </p:nvPicPr>
          <p:blipFill>
            <a:blip r:embed="rId9"/>
            <a:stretch>
              <a:fillRect/>
            </a:stretch>
          </p:blipFill>
          <p:spPr>
            <a:xfrm>
              <a:off x="3204164" y="2573607"/>
              <a:ext cx="370914" cy="183325"/>
            </a:xfrm>
            <a:prstGeom prst="rect">
              <a:avLst/>
            </a:prstGeom>
          </p:spPr>
        </p:pic>
        <p:pic>
          <p:nvPicPr>
            <p:cNvPr id="312" name="Picture 311">
              <a:extLst>
                <a:ext uri="{FF2B5EF4-FFF2-40B4-BE49-F238E27FC236}">
                  <a16:creationId xmlns:a16="http://schemas.microsoft.com/office/drawing/2014/main" id="{83FFEA69-46C5-EE34-795B-767097E87438}"/>
                </a:ext>
              </a:extLst>
            </p:cNvPr>
            <p:cNvPicPr>
              <a:picLocks noChangeAspect="1"/>
            </p:cNvPicPr>
            <p:nvPr/>
          </p:nvPicPr>
          <p:blipFill>
            <a:blip r:embed="rId10"/>
            <a:stretch>
              <a:fillRect/>
            </a:stretch>
          </p:blipFill>
          <p:spPr>
            <a:xfrm>
              <a:off x="1027819" y="2590708"/>
              <a:ext cx="543054" cy="169705"/>
            </a:xfrm>
            <a:prstGeom prst="rect">
              <a:avLst/>
            </a:prstGeom>
          </p:spPr>
        </p:pic>
        <p:pic>
          <p:nvPicPr>
            <p:cNvPr id="313" name="Picture 312">
              <a:extLst>
                <a:ext uri="{FF2B5EF4-FFF2-40B4-BE49-F238E27FC236}">
                  <a16:creationId xmlns:a16="http://schemas.microsoft.com/office/drawing/2014/main" id="{23334A2C-6C40-9734-1FA3-A4B023082B62}"/>
                </a:ext>
              </a:extLst>
            </p:cNvPr>
            <p:cNvPicPr>
              <a:picLocks noChangeAspect="1"/>
            </p:cNvPicPr>
            <p:nvPr/>
          </p:nvPicPr>
          <p:blipFill>
            <a:blip r:embed="rId11"/>
            <a:stretch>
              <a:fillRect/>
            </a:stretch>
          </p:blipFill>
          <p:spPr>
            <a:xfrm>
              <a:off x="1672084" y="2597458"/>
              <a:ext cx="722805" cy="128298"/>
            </a:xfrm>
            <a:prstGeom prst="rect">
              <a:avLst/>
            </a:prstGeom>
          </p:spPr>
        </p:pic>
        <p:pic>
          <p:nvPicPr>
            <p:cNvPr id="314" name="Picture 313">
              <a:extLst>
                <a:ext uri="{FF2B5EF4-FFF2-40B4-BE49-F238E27FC236}">
                  <a16:creationId xmlns:a16="http://schemas.microsoft.com/office/drawing/2014/main" id="{5D828A48-9325-C3C1-EB78-A29811A8C339}"/>
                </a:ext>
              </a:extLst>
            </p:cNvPr>
            <p:cNvPicPr>
              <a:picLocks noChangeAspect="1"/>
            </p:cNvPicPr>
            <p:nvPr/>
          </p:nvPicPr>
          <p:blipFill>
            <a:blip r:embed="rId12"/>
            <a:stretch>
              <a:fillRect/>
            </a:stretch>
          </p:blipFill>
          <p:spPr>
            <a:xfrm>
              <a:off x="432923" y="2583593"/>
              <a:ext cx="493685" cy="164151"/>
            </a:xfrm>
            <a:prstGeom prst="rect">
              <a:avLst/>
            </a:prstGeom>
          </p:spPr>
        </p:pic>
        <p:pic>
          <p:nvPicPr>
            <p:cNvPr id="315" name="Picture 314">
              <a:extLst>
                <a:ext uri="{FF2B5EF4-FFF2-40B4-BE49-F238E27FC236}">
                  <a16:creationId xmlns:a16="http://schemas.microsoft.com/office/drawing/2014/main" id="{DA4563C0-B1A5-1844-DC48-9DDDDBA1D4E8}"/>
                </a:ext>
              </a:extLst>
            </p:cNvPr>
            <p:cNvPicPr>
              <a:picLocks noChangeAspect="1"/>
            </p:cNvPicPr>
            <p:nvPr/>
          </p:nvPicPr>
          <p:blipFill>
            <a:blip r:embed="rId13"/>
            <a:stretch>
              <a:fillRect/>
            </a:stretch>
          </p:blipFill>
          <p:spPr>
            <a:xfrm>
              <a:off x="636573" y="3193503"/>
              <a:ext cx="962055" cy="110636"/>
            </a:xfrm>
            <a:prstGeom prst="rect">
              <a:avLst/>
            </a:prstGeom>
          </p:spPr>
        </p:pic>
        <p:pic>
          <p:nvPicPr>
            <p:cNvPr id="316" name="Picture 315">
              <a:extLst>
                <a:ext uri="{FF2B5EF4-FFF2-40B4-BE49-F238E27FC236}">
                  <a16:creationId xmlns:a16="http://schemas.microsoft.com/office/drawing/2014/main" id="{5B86D2C8-C3B6-B0A0-6FE6-D2517CEE6EF1}"/>
                </a:ext>
              </a:extLst>
            </p:cNvPr>
            <p:cNvPicPr>
              <a:picLocks noChangeAspect="1"/>
            </p:cNvPicPr>
            <p:nvPr/>
          </p:nvPicPr>
          <p:blipFill>
            <a:blip r:embed="rId14"/>
            <a:stretch>
              <a:fillRect/>
            </a:stretch>
          </p:blipFill>
          <p:spPr>
            <a:xfrm>
              <a:off x="2363773" y="3162526"/>
              <a:ext cx="962055" cy="175575"/>
            </a:xfrm>
            <a:prstGeom prst="rect">
              <a:avLst/>
            </a:prstGeom>
          </p:spPr>
        </p:pic>
        <p:pic>
          <p:nvPicPr>
            <p:cNvPr id="317" name="Picture 316">
              <a:extLst>
                <a:ext uri="{FF2B5EF4-FFF2-40B4-BE49-F238E27FC236}">
                  <a16:creationId xmlns:a16="http://schemas.microsoft.com/office/drawing/2014/main" id="{78F4164E-5115-A59C-D1A8-EB93EBC12E60}"/>
                </a:ext>
              </a:extLst>
            </p:cNvPr>
            <p:cNvPicPr>
              <a:picLocks noChangeAspect="1"/>
            </p:cNvPicPr>
            <p:nvPr/>
          </p:nvPicPr>
          <p:blipFill>
            <a:blip r:embed="rId15"/>
            <a:stretch>
              <a:fillRect/>
            </a:stretch>
          </p:blipFill>
          <p:spPr>
            <a:xfrm>
              <a:off x="2677731" y="3745916"/>
              <a:ext cx="597359" cy="164275"/>
            </a:xfrm>
            <a:prstGeom prst="rect">
              <a:avLst/>
            </a:prstGeom>
          </p:spPr>
        </p:pic>
        <p:pic>
          <p:nvPicPr>
            <p:cNvPr id="318" name="Picture 317">
              <a:extLst>
                <a:ext uri="{FF2B5EF4-FFF2-40B4-BE49-F238E27FC236}">
                  <a16:creationId xmlns:a16="http://schemas.microsoft.com/office/drawing/2014/main" id="{17F54886-B9EE-143B-43D5-BFBA4C4FEBA7}"/>
                </a:ext>
              </a:extLst>
            </p:cNvPr>
            <p:cNvPicPr>
              <a:picLocks noChangeAspect="1"/>
            </p:cNvPicPr>
            <p:nvPr/>
          </p:nvPicPr>
          <p:blipFill>
            <a:blip r:embed="rId16"/>
            <a:stretch>
              <a:fillRect/>
            </a:stretch>
          </p:blipFill>
          <p:spPr>
            <a:xfrm>
              <a:off x="1572295" y="3760471"/>
              <a:ext cx="795086" cy="135165"/>
            </a:xfrm>
            <a:prstGeom prst="rect">
              <a:avLst/>
            </a:prstGeom>
          </p:spPr>
        </p:pic>
        <p:pic>
          <p:nvPicPr>
            <p:cNvPr id="319" name="Picture 318">
              <a:extLst>
                <a:ext uri="{FF2B5EF4-FFF2-40B4-BE49-F238E27FC236}">
                  <a16:creationId xmlns:a16="http://schemas.microsoft.com/office/drawing/2014/main" id="{E10C195E-9D11-6204-5869-163E33235A65}"/>
                </a:ext>
              </a:extLst>
            </p:cNvPr>
            <p:cNvPicPr>
              <a:picLocks noChangeAspect="1"/>
            </p:cNvPicPr>
            <p:nvPr/>
          </p:nvPicPr>
          <p:blipFill>
            <a:blip r:embed="rId7"/>
            <a:stretch>
              <a:fillRect/>
            </a:stretch>
          </p:blipFill>
          <p:spPr>
            <a:xfrm>
              <a:off x="664587" y="3736955"/>
              <a:ext cx="597359" cy="182196"/>
            </a:xfrm>
            <a:prstGeom prst="rect">
              <a:avLst/>
            </a:prstGeom>
          </p:spPr>
        </p:pic>
        <p:pic>
          <p:nvPicPr>
            <p:cNvPr id="322" name="Picture 321">
              <a:extLst>
                <a:ext uri="{FF2B5EF4-FFF2-40B4-BE49-F238E27FC236}">
                  <a16:creationId xmlns:a16="http://schemas.microsoft.com/office/drawing/2014/main" id="{06D123C2-2699-D29F-ADDC-4015601A5280}"/>
                </a:ext>
              </a:extLst>
            </p:cNvPr>
            <p:cNvPicPr>
              <a:picLocks noChangeAspect="1"/>
            </p:cNvPicPr>
            <p:nvPr/>
          </p:nvPicPr>
          <p:blipFill>
            <a:blip r:embed="rId17"/>
            <a:stretch>
              <a:fillRect/>
            </a:stretch>
          </p:blipFill>
          <p:spPr>
            <a:xfrm>
              <a:off x="2273328" y="4335564"/>
              <a:ext cx="962055" cy="141904"/>
            </a:xfrm>
            <a:prstGeom prst="rect">
              <a:avLst/>
            </a:prstGeom>
          </p:spPr>
        </p:pic>
        <p:pic>
          <p:nvPicPr>
            <p:cNvPr id="323" name="Picture 322">
              <a:extLst>
                <a:ext uri="{FF2B5EF4-FFF2-40B4-BE49-F238E27FC236}">
                  <a16:creationId xmlns:a16="http://schemas.microsoft.com/office/drawing/2014/main" id="{180E10A9-251E-62E5-CA77-59FC3F11D1FC}"/>
                </a:ext>
              </a:extLst>
            </p:cNvPr>
            <p:cNvPicPr>
              <a:picLocks noChangeAspect="1"/>
            </p:cNvPicPr>
            <p:nvPr/>
          </p:nvPicPr>
          <p:blipFill>
            <a:blip r:embed="rId18"/>
            <a:stretch>
              <a:fillRect/>
            </a:stretch>
          </p:blipFill>
          <p:spPr>
            <a:xfrm>
              <a:off x="930309" y="4249520"/>
              <a:ext cx="609286" cy="303120"/>
            </a:xfrm>
            <a:prstGeom prst="rect">
              <a:avLst/>
            </a:prstGeom>
          </p:spPr>
        </p:pic>
        <p:pic>
          <p:nvPicPr>
            <p:cNvPr id="324" name="Picture 323">
              <a:extLst>
                <a:ext uri="{FF2B5EF4-FFF2-40B4-BE49-F238E27FC236}">
                  <a16:creationId xmlns:a16="http://schemas.microsoft.com/office/drawing/2014/main" id="{6FDBDA49-3E4D-D071-B32C-A2183312C6AD}"/>
                </a:ext>
              </a:extLst>
            </p:cNvPr>
            <p:cNvPicPr>
              <a:picLocks noChangeAspect="1"/>
            </p:cNvPicPr>
            <p:nvPr/>
          </p:nvPicPr>
          <p:blipFill>
            <a:blip r:embed="rId12"/>
            <a:stretch>
              <a:fillRect/>
            </a:stretch>
          </p:blipFill>
          <p:spPr>
            <a:xfrm>
              <a:off x="1342578" y="4932866"/>
              <a:ext cx="493685" cy="164151"/>
            </a:xfrm>
            <a:prstGeom prst="rect">
              <a:avLst/>
            </a:prstGeom>
          </p:spPr>
        </p:pic>
        <p:pic>
          <p:nvPicPr>
            <p:cNvPr id="325" name="Picture 324">
              <a:extLst>
                <a:ext uri="{FF2B5EF4-FFF2-40B4-BE49-F238E27FC236}">
                  <a16:creationId xmlns:a16="http://schemas.microsoft.com/office/drawing/2014/main" id="{8508ABF5-20F2-48F0-83FB-7C6596835344}"/>
                </a:ext>
              </a:extLst>
            </p:cNvPr>
            <p:cNvPicPr>
              <a:picLocks noChangeAspect="1"/>
            </p:cNvPicPr>
            <p:nvPr/>
          </p:nvPicPr>
          <p:blipFill>
            <a:blip r:embed="rId19"/>
            <a:stretch>
              <a:fillRect/>
            </a:stretch>
          </p:blipFill>
          <p:spPr>
            <a:xfrm>
              <a:off x="2938219" y="4932414"/>
              <a:ext cx="722805" cy="154199"/>
            </a:xfrm>
            <a:prstGeom prst="rect">
              <a:avLst/>
            </a:prstGeom>
          </p:spPr>
        </p:pic>
        <p:pic>
          <p:nvPicPr>
            <p:cNvPr id="326" name="Picture 325">
              <a:extLst>
                <a:ext uri="{FF2B5EF4-FFF2-40B4-BE49-F238E27FC236}">
                  <a16:creationId xmlns:a16="http://schemas.microsoft.com/office/drawing/2014/main" id="{D5EAAC59-ECBB-0F26-C246-1CE5B5EB3446}"/>
                </a:ext>
              </a:extLst>
            </p:cNvPr>
            <p:cNvPicPr>
              <a:picLocks noChangeAspect="1"/>
            </p:cNvPicPr>
            <p:nvPr/>
          </p:nvPicPr>
          <p:blipFill>
            <a:blip r:embed="rId20"/>
            <a:stretch>
              <a:fillRect/>
            </a:stretch>
          </p:blipFill>
          <p:spPr>
            <a:xfrm>
              <a:off x="2043711" y="4926231"/>
              <a:ext cx="795086" cy="151067"/>
            </a:xfrm>
            <a:prstGeom prst="rect">
              <a:avLst/>
            </a:prstGeom>
          </p:spPr>
        </p:pic>
        <p:pic>
          <p:nvPicPr>
            <p:cNvPr id="327" name="Picture 326">
              <a:extLst>
                <a:ext uri="{FF2B5EF4-FFF2-40B4-BE49-F238E27FC236}">
                  <a16:creationId xmlns:a16="http://schemas.microsoft.com/office/drawing/2014/main" id="{EF577EFB-7C5B-CFF7-3740-A3EA1B20FBD5}"/>
                </a:ext>
              </a:extLst>
            </p:cNvPr>
            <p:cNvPicPr>
              <a:picLocks noChangeAspect="1"/>
            </p:cNvPicPr>
            <p:nvPr/>
          </p:nvPicPr>
          <p:blipFill>
            <a:blip r:embed="rId21"/>
            <a:stretch>
              <a:fillRect/>
            </a:stretch>
          </p:blipFill>
          <p:spPr>
            <a:xfrm>
              <a:off x="417482" y="4952633"/>
              <a:ext cx="722805" cy="128298"/>
            </a:xfrm>
            <a:prstGeom prst="rect">
              <a:avLst/>
            </a:prstGeom>
          </p:spPr>
        </p:pic>
        <p:pic>
          <p:nvPicPr>
            <p:cNvPr id="329" name="Picture 328">
              <a:extLst>
                <a:ext uri="{FF2B5EF4-FFF2-40B4-BE49-F238E27FC236}">
                  <a16:creationId xmlns:a16="http://schemas.microsoft.com/office/drawing/2014/main" id="{12B620D2-7527-47A2-9D35-9935D123A0ED}"/>
                </a:ext>
              </a:extLst>
            </p:cNvPr>
            <p:cNvPicPr>
              <a:picLocks noChangeAspect="1"/>
            </p:cNvPicPr>
            <p:nvPr/>
          </p:nvPicPr>
          <p:blipFill>
            <a:blip r:embed="rId22"/>
            <a:stretch>
              <a:fillRect/>
            </a:stretch>
          </p:blipFill>
          <p:spPr>
            <a:xfrm>
              <a:off x="636573" y="5478880"/>
              <a:ext cx="962055" cy="192411"/>
            </a:xfrm>
            <a:prstGeom prst="rect">
              <a:avLst/>
            </a:prstGeom>
          </p:spPr>
        </p:pic>
        <p:pic>
          <p:nvPicPr>
            <p:cNvPr id="328" name="Picture 327">
              <a:extLst>
                <a:ext uri="{FF2B5EF4-FFF2-40B4-BE49-F238E27FC236}">
                  <a16:creationId xmlns:a16="http://schemas.microsoft.com/office/drawing/2014/main" id="{EDE76126-A690-50B3-118A-8694E4C8AC5D}"/>
                </a:ext>
              </a:extLst>
            </p:cNvPr>
            <p:cNvPicPr>
              <a:picLocks noChangeAspect="1"/>
            </p:cNvPicPr>
            <p:nvPr/>
          </p:nvPicPr>
          <p:blipFill>
            <a:blip r:embed="rId23"/>
            <a:stretch>
              <a:fillRect/>
            </a:stretch>
          </p:blipFill>
          <p:spPr>
            <a:xfrm>
              <a:off x="2363773" y="5490906"/>
              <a:ext cx="962055" cy="168359"/>
            </a:xfrm>
            <a:prstGeom prst="rect">
              <a:avLst/>
            </a:prstGeom>
          </p:spPr>
        </p:pic>
        <p:pic>
          <p:nvPicPr>
            <p:cNvPr id="330" name="Picture 329">
              <a:extLst>
                <a:ext uri="{FF2B5EF4-FFF2-40B4-BE49-F238E27FC236}">
                  <a16:creationId xmlns:a16="http://schemas.microsoft.com/office/drawing/2014/main" id="{19B19C76-8F26-5021-5AC3-62096A9630EC}"/>
                </a:ext>
              </a:extLst>
            </p:cNvPr>
            <p:cNvPicPr>
              <a:picLocks noChangeAspect="1"/>
            </p:cNvPicPr>
            <p:nvPr/>
          </p:nvPicPr>
          <p:blipFill>
            <a:blip r:embed="rId13"/>
            <a:stretch>
              <a:fillRect/>
            </a:stretch>
          </p:blipFill>
          <p:spPr>
            <a:xfrm>
              <a:off x="8668858" y="2029492"/>
              <a:ext cx="874595" cy="100578"/>
            </a:xfrm>
            <a:prstGeom prst="rect">
              <a:avLst/>
            </a:prstGeom>
          </p:spPr>
        </p:pic>
        <p:pic>
          <p:nvPicPr>
            <p:cNvPr id="331" name="Picture 330">
              <a:extLst>
                <a:ext uri="{FF2B5EF4-FFF2-40B4-BE49-F238E27FC236}">
                  <a16:creationId xmlns:a16="http://schemas.microsoft.com/office/drawing/2014/main" id="{F5512B06-4D2B-CC3A-5DD3-68D5D450EF1F}"/>
                </a:ext>
              </a:extLst>
            </p:cNvPr>
            <p:cNvPicPr>
              <a:picLocks noChangeAspect="1"/>
            </p:cNvPicPr>
            <p:nvPr/>
          </p:nvPicPr>
          <p:blipFill>
            <a:blip r:embed="rId14"/>
            <a:stretch>
              <a:fillRect/>
            </a:stretch>
          </p:blipFill>
          <p:spPr>
            <a:xfrm>
              <a:off x="9688617" y="2001466"/>
              <a:ext cx="874595" cy="159614"/>
            </a:xfrm>
            <a:prstGeom prst="rect">
              <a:avLst/>
            </a:prstGeom>
          </p:spPr>
        </p:pic>
        <p:pic>
          <p:nvPicPr>
            <p:cNvPr id="332" name="Picture 331">
              <a:extLst>
                <a:ext uri="{FF2B5EF4-FFF2-40B4-BE49-F238E27FC236}">
                  <a16:creationId xmlns:a16="http://schemas.microsoft.com/office/drawing/2014/main" id="{CC718A20-5E1D-8EA5-9C93-F9864F7E4713}"/>
                </a:ext>
              </a:extLst>
            </p:cNvPr>
            <p:cNvPicPr>
              <a:picLocks noChangeAspect="1"/>
            </p:cNvPicPr>
            <p:nvPr/>
          </p:nvPicPr>
          <p:blipFill>
            <a:blip r:embed="rId24"/>
            <a:stretch>
              <a:fillRect/>
            </a:stretch>
          </p:blipFill>
          <p:spPr>
            <a:xfrm>
              <a:off x="10789396" y="2015818"/>
              <a:ext cx="835493" cy="132919"/>
            </a:xfrm>
            <a:prstGeom prst="rect">
              <a:avLst/>
            </a:prstGeom>
          </p:spPr>
        </p:pic>
        <p:pic>
          <p:nvPicPr>
            <p:cNvPr id="333" name="Picture 332">
              <a:extLst>
                <a:ext uri="{FF2B5EF4-FFF2-40B4-BE49-F238E27FC236}">
                  <a16:creationId xmlns:a16="http://schemas.microsoft.com/office/drawing/2014/main" id="{121534EC-42B7-1575-3253-831F7DC7B1D9}"/>
                </a:ext>
              </a:extLst>
            </p:cNvPr>
            <p:cNvPicPr>
              <a:picLocks noChangeAspect="1"/>
            </p:cNvPicPr>
            <p:nvPr/>
          </p:nvPicPr>
          <p:blipFill>
            <a:blip r:embed="rId25"/>
            <a:stretch>
              <a:fillRect/>
            </a:stretch>
          </p:blipFill>
          <p:spPr>
            <a:xfrm>
              <a:off x="10934939" y="2617044"/>
              <a:ext cx="657095" cy="98565"/>
            </a:xfrm>
            <a:prstGeom prst="rect">
              <a:avLst/>
            </a:prstGeom>
          </p:spPr>
        </p:pic>
        <p:pic>
          <p:nvPicPr>
            <p:cNvPr id="334" name="Picture 333">
              <a:extLst>
                <a:ext uri="{FF2B5EF4-FFF2-40B4-BE49-F238E27FC236}">
                  <a16:creationId xmlns:a16="http://schemas.microsoft.com/office/drawing/2014/main" id="{75915D14-A25B-B2FA-23B2-C7A7971E52FF}"/>
                </a:ext>
              </a:extLst>
            </p:cNvPr>
            <p:cNvPicPr>
              <a:picLocks noChangeAspect="1"/>
            </p:cNvPicPr>
            <p:nvPr/>
          </p:nvPicPr>
          <p:blipFill>
            <a:blip r:embed="rId26"/>
            <a:srcRect r="19650"/>
            <a:stretch/>
          </p:blipFill>
          <p:spPr>
            <a:xfrm>
              <a:off x="10011032" y="2593261"/>
              <a:ext cx="823965" cy="146130"/>
            </a:xfrm>
            <a:prstGeom prst="rect">
              <a:avLst/>
            </a:prstGeom>
          </p:spPr>
        </p:pic>
        <p:pic>
          <p:nvPicPr>
            <p:cNvPr id="335" name="Picture 334">
              <a:extLst>
                <a:ext uri="{FF2B5EF4-FFF2-40B4-BE49-F238E27FC236}">
                  <a16:creationId xmlns:a16="http://schemas.microsoft.com/office/drawing/2014/main" id="{D3455E4B-F31B-2407-FE42-97282F3EB7B1}"/>
                </a:ext>
              </a:extLst>
            </p:cNvPr>
            <p:cNvPicPr>
              <a:picLocks noChangeAspect="1"/>
            </p:cNvPicPr>
            <p:nvPr/>
          </p:nvPicPr>
          <p:blipFill>
            <a:blip r:embed="rId27"/>
            <a:stretch>
              <a:fillRect/>
            </a:stretch>
          </p:blipFill>
          <p:spPr>
            <a:xfrm>
              <a:off x="8561423" y="2618914"/>
              <a:ext cx="657095" cy="110064"/>
            </a:xfrm>
            <a:prstGeom prst="rect">
              <a:avLst/>
            </a:prstGeom>
          </p:spPr>
        </p:pic>
        <p:pic>
          <p:nvPicPr>
            <p:cNvPr id="336" name="Picture 335">
              <a:extLst>
                <a:ext uri="{FF2B5EF4-FFF2-40B4-BE49-F238E27FC236}">
                  <a16:creationId xmlns:a16="http://schemas.microsoft.com/office/drawing/2014/main" id="{3D71BD67-C57D-B3E9-D2F4-0C9A42037739}"/>
                </a:ext>
              </a:extLst>
            </p:cNvPr>
            <p:cNvPicPr>
              <a:picLocks noChangeAspect="1"/>
            </p:cNvPicPr>
            <p:nvPr/>
          </p:nvPicPr>
          <p:blipFill>
            <a:blip r:embed="rId28"/>
            <a:stretch>
              <a:fillRect/>
            </a:stretch>
          </p:blipFill>
          <p:spPr>
            <a:xfrm>
              <a:off x="9410811" y="2551319"/>
              <a:ext cx="448805" cy="230014"/>
            </a:xfrm>
            <a:prstGeom prst="rect">
              <a:avLst/>
            </a:prstGeom>
          </p:spPr>
        </p:pic>
        <p:pic>
          <p:nvPicPr>
            <p:cNvPr id="337" name="Picture 336">
              <a:extLst>
                <a:ext uri="{FF2B5EF4-FFF2-40B4-BE49-F238E27FC236}">
                  <a16:creationId xmlns:a16="http://schemas.microsoft.com/office/drawing/2014/main" id="{B5623DB7-6658-D625-CCA2-4E9DF69A6627}"/>
                </a:ext>
              </a:extLst>
            </p:cNvPr>
            <p:cNvPicPr>
              <a:picLocks noChangeAspect="1"/>
            </p:cNvPicPr>
            <p:nvPr/>
          </p:nvPicPr>
          <p:blipFill>
            <a:blip r:embed="rId29"/>
            <a:stretch>
              <a:fillRect/>
            </a:stretch>
          </p:blipFill>
          <p:spPr>
            <a:xfrm>
              <a:off x="9890879" y="3131897"/>
              <a:ext cx="497416" cy="246221"/>
            </a:xfrm>
            <a:prstGeom prst="rect">
              <a:avLst/>
            </a:prstGeom>
          </p:spPr>
        </p:pic>
        <p:pic>
          <p:nvPicPr>
            <p:cNvPr id="338" name="Picture 337">
              <a:extLst>
                <a:ext uri="{FF2B5EF4-FFF2-40B4-BE49-F238E27FC236}">
                  <a16:creationId xmlns:a16="http://schemas.microsoft.com/office/drawing/2014/main" id="{BEE2A733-EC6A-4D64-ADB4-7AB0D5E0B866}"/>
                </a:ext>
              </a:extLst>
            </p:cNvPr>
            <p:cNvPicPr>
              <a:picLocks noChangeAspect="1"/>
            </p:cNvPicPr>
            <p:nvPr/>
          </p:nvPicPr>
          <p:blipFill>
            <a:blip r:embed="rId30"/>
            <a:stretch>
              <a:fillRect/>
            </a:stretch>
          </p:blipFill>
          <p:spPr>
            <a:xfrm>
              <a:off x="10773070" y="3112365"/>
              <a:ext cx="590511" cy="285285"/>
            </a:xfrm>
            <a:prstGeom prst="rect">
              <a:avLst/>
            </a:prstGeom>
          </p:spPr>
        </p:pic>
        <p:pic>
          <p:nvPicPr>
            <p:cNvPr id="339" name="Picture 338">
              <a:extLst>
                <a:ext uri="{FF2B5EF4-FFF2-40B4-BE49-F238E27FC236}">
                  <a16:creationId xmlns:a16="http://schemas.microsoft.com/office/drawing/2014/main" id="{C4B338DA-7F11-A90A-FBA2-9F811A7D34B5}"/>
                </a:ext>
              </a:extLst>
            </p:cNvPr>
            <p:cNvPicPr>
              <a:picLocks noChangeAspect="1"/>
            </p:cNvPicPr>
            <p:nvPr/>
          </p:nvPicPr>
          <p:blipFill>
            <a:blip r:embed="rId31"/>
            <a:stretch>
              <a:fillRect/>
            </a:stretch>
          </p:blipFill>
          <p:spPr>
            <a:xfrm>
              <a:off x="8600632" y="3181436"/>
              <a:ext cx="997571" cy="147142"/>
            </a:xfrm>
            <a:prstGeom prst="rect">
              <a:avLst/>
            </a:prstGeom>
          </p:spPr>
        </p:pic>
        <p:pic>
          <p:nvPicPr>
            <p:cNvPr id="340" name="Picture 339">
              <a:extLst>
                <a:ext uri="{FF2B5EF4-FFF2-40B4-BE49-F238E27FC236}">
                  <a16:creationId xmlns:a16="http://schemas.microsoft.com/office/drawing/2014/main" id="{11A812B8-D591-932C-12C5-9B5440D8794C}"/>
                </a:ext>
              </a:extLst>
            </p:cNvPr>
            <p:cNvPicPr>
              <a:picLocks noChangeAspect="1"/>
            </p:cNvPicPr>
            <p:nvPr/>
          </p:nvPicPr>
          <p:blipFill>
            <a:blip r:embed="rId32"/>
            <a:stretch>
              <a:fillRect/>
            </a:stretch>
          </p:blipFill>
          <p:spPr>
            <a:xfrm>
              <a:off x="9295998" y="3745916"/>
              <a:ext cx="1549400" cy="224663"/>
            </a:xfrm>
            <a:prstGeom prst="rect">
              <a:avLst/>
            </a:prstGeom>
          </p:spPr>
        </p:pic>
        <p:pic>
          <p:nvPicPr>
            <p:cNvPr id="341" name="Picture 340">
              <a:extLst>
                <a:ext uri="{FF2B5EF4-FFF2-40B4-BE49-F238E27FC236}">
                  <a16:creationId xmlns:a16="http://schemas.microsoft.com/office/drawing/2014/main" id="{82D203EE-1B8A-CA8D-8610-5D642209B1A5}"/>
                </a:ext>
              </a:extLst>
            </p:cNvPr>
            <p:cNvPicPr>
              <a:picLocks noChangeAspect="1"/>
            </p:cNvPicPr>
            <p:nvPr/>
          </p:nvPicPr>
          <p:blipFill>
            <a:blip r:embed="rId33"/>
            <a:stretch>
              <a:fillRect/>
            </a:stretch>
          </p:blipFill>
          <p:spPr>
            <a:xfrm>
              <a:off x="10766001" y="4342858"/>
              <a:ext cx="795086" cy="188832"/>
            </a:xfrm>
            <a:prstGeom prst="rect">
              <a:avLst/>
            </a:prstGeom>
          </p:spPr>
        </p:pic>
        <p:pic>
          <p:nvPicPr>
            <p:cNvPr id="342" name="Picture 341">
              <a:extLst>
                <a:ext uri="{FF2B5EF4-FFF2-40B4-BE49-F238E27FC236}">
                  <a16:creationId xmlns:a16="http://schemas.microsoft.com/office/drawing/2014/main" id="{7BB5F8B1-C32E-44F0-6F6B-8A6E4020C17E}"/>
                </a:ext>
              </a:extLst>
            </p:cNvPr>
            <p:cNvPicPr>
              <a:picLocks noChangeAspect="1"/>
            </p:cNvPicPr>
            <p:nvPr/>
          </p:nvPicPr>
          <p:blipFill>
            <a:blip r:embed="rId34"/>
            <a:stretch>
              <a:fillRect/>
            </a:stretch>
          </p:blipFill>
          <p:spPr>
            <a:xfrm>
              <a:off x="8733878" y="4307498"/>
              <a:ext cx="657095" cy="259553"/>
            </a:xfrm>
            <a:prstGeom prst="rect">
              <a:avLst/>
            </a:prstGeom>
          </p:spPr>
        </p:pic>
        <p:pic>
          <p:nvPicPr>
            <p:cNvPr id="343" name="Picture 342">
              <a:extLst>
                <a:ext uri="{FF2B5EF4-FFF2-40B4-BE49-F238E27FC236}">
                  <a16:creationId xmlns:a16="http://schemas.microsoft.com/office/drawing/2014/main" id="{95EAB2BB-09A2-2F7E-3E0F-BE9F8ECFAA85}"/>
                </a:ext>
              </a:extLst>
            </p:cNvPr>
            <p:cNvPicPr>
              <a:picLocks noChangeAspect="1"/>
            </p:cNvPicPr>
            <p:nvPr/>
          </p:nvPicPr>
          <p:blipFill>
            <a:blip r:embed="rId35"/>
            <a:stretch>
              <a:fillRect/>
            </a:stretch>
          </p:blipFill>
          <p:spPr>
            <a:xfrm>
              <a:off x="9785715" y="4324473"/>
              <a:ext cx="657095" cy="225603"/>
            </a:xfrm>
            <a:prstGeom prst="rect">
              <a:avLst/>
            </a:prstGeom>
          </p:spPr>
        </p:pic>
        <p:pic>
          <p:nvPicPr>
            <p:cNvPr id="344" name="Picture 343">
              <a:extLst>
                <a:ext uri="{FF2B5EF4-FFF2-40B4-BE49-F238E27FC236}">
                  <a16:creationId xmlns:a16="http://schemas.microsoft.com/office/drawing/2014/main" id="{96094C21-72B1-E2ED-8ED0-62F1844583BF}"/>
                </a:ext>
              </a:extLst>
            </p:cNvPr>
            <p:cNvPicPr>
              <a:picLocks noChangeAspect="1"/>
            </p:cNvPicPr>
            <p:nvPr/>
          </p:nvPicPr>
          <p:blipFill>
            <a:blip r:embed="rId36"/>
            <a:stretch>
              <a:fillRect/>
            </a:stretch>
          </p:blipFill>
          <p:spPr>
            <a:xfrm>
              <a:off x="9616473" y="4925009"/>
              <a:ext cx="962055" cy="206841"/>
            </a:xfrm>
            <a:prstGeom prst="rect">
              <a:avLst/>
            </a:prstGeom>
          </p:spPr>
        </p:pic>
        <p:sp>
          <p:nvSpPr>
            <p:cNvPr id="345" name="TextBox 344">
              <a:extLst>
                <a:ext uri="{FF2B5EF4-FFF2-40B4-BE49-F238E27FC236}">
                  <a16:creationId xmlns:a16="http://schemas.microsoft.com/office/drawing/2014/main" id="{8BF22A00-FDDE-A6DD-E759-20505F33BBB2}"/>
                </a:ext>
              </a:extLst>
            </p:cNvPr>
            <p:cNvSpPr txBox="1"/>
            <p:nvPr/>
          </p:nvSpPr>
          <p:spPr>
            <a:xfrm>
              <a:off x="9014285" y="5454924"/>
              <a:ext cx="2143134" cy="261610"/>
            </a:xfrm>
            <a:prstGeom prst="rect">
              <a:avLst/>
            </a:prstGeom>
            <a:noFill/>
          </p:spPr>
          <p:txBody>
            <a:bodyPr wrap="square" rtlCol="0" anchor="ctr">
              <a:spAutoFit/>
            </a:bodyPr>
            <a:lstStyle/>
            <a:p>
              <a:pPr algn="ctr"/>
              <a:r>
                <a:rPr lang="en-US" sz="1050" i="1">
                  <a:solidFill>
                    <a:srgbClr val="060B25"/>
                  </a:solidFill>
                  <a:latin typeface="Aptos" panose="020B0004020202020204" pitchFamily="34" charset="0"/>
                  <a:sym typeface="Aptos" panose="020B0004020202020204" pitchFamily="34" charset="0"/>
                </a:rPr>
                <a:t>Custom Data Source</a:t>
              </a:r>
            </a:p>
          </p:txBody>
        </p:sp>
        <p:sp>
          <p:nvSpPr>
            <p:cNvPr id="361" name="Rectangle 360">
              <a:extLst>
                <a:ext uri="{FF2B5EF4-FFF2-40B4-BE49-F238E27FC236}">
                  <a16:creationId xmlns:a16="http://schemas.microsoft.com/office/drawing/2014/main" id="{5DB5D0F9-D842-223F-8AC9-5CAC71118B9C}"/>
                </a:ext>
              </a:extLst>
            </p:cNvPr>
            <p:cNvSpPr/>
            <p:nvPr/>
          </p:nvSpPr>
          <p:spPr>
            <a:xfrm>
              <a:off x="5220904" y="2368653"/>
              <a:ext cx="1769794" cy="835834"/>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362" name="Oval 361">
              <a:extLst>
                <a:ext uri="{FF2B5EF4-FFF2-40B4-BE49-F238E27FC236}">
                  <a16:creationId xmlns:a16="http://schemas.microsoft.com/office/drawing/2014/main" id="{F6F2C5C2-0098-2DD6-83F1-87899E5A6A4C}"/>
                </a:ext>
              </a:extLst>
            </p:cNvPr>
            <p:cNvSpPr>
              <a:spLocks noChangeAspect="1"/>
            </p:cNvSpPr>
            <p:nvPr/>
          </p:nvSpPr>
          <p:spPr>
            <a:xfrm>
              <a:off x="5135880" y="2808804"/>
              <a:ext cx="1920240" cy="1920240"/>
            </a:xfrm>
            <a:prstGeom prst="ellipse">
              <a:avLst/>
            </a:prstGeom>
            <a:solidFill>
              <a:srgbClr val="F1F1FF"/>
            </a:solidFill>
            <a:ln w="76200">
              <a:solidFill>
                <a:srgbClr val="636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pic>
          <p:nvPicPr>
            <p:cNvPr id="357" name="Picture 356" descr="A black background with a black square&#10;&#10;AI-generated content may be incorrect.">
              <a:extLst>
                <a:ext uri="{FF2B5EF4-FFF2-40B4-BE49-F238E27FC236}">
                  <a16:creationId xmlns:a16="http://schemas.microsoft.com/office/drawing/2014/main" id="{7B93920B-15C2-7880-47B7-4D12A32241F9}"/>
                </a:ext>
              </a:extLst>
            </p:cNvPr>
            <p:cNvPicPr>
              <a:picLocks noChangeAspect="1"/>
            </p:cNvPicPr>
            <p:nvPr/>
          </p:nvPicPr>
          <p:blipFill>
            <a:blip r:embed="rId37">
              <a:extLst>
                <a:ext uri="{BEBA8EAE-BF5A-486C-A8C5-ECC9F3942E4B}">
                  <a14:imgProps xmlns:a14="http://schemas.microsoft.com/office/drawing/2010/main">
                    <a14:imgLayer r:embed="rId38">
                      <a14:imgEffect>
                        <a14:brightnessContrast bright="-100000"/>
                      </a14:imgEffect>
                    </a14:imgLayer>
                  </a14:imgProps>
                </a:ext>
              </a:extLst>
            </a:blip>
            <a:stretch>
              <a:fillRect/>
            </a:stretch>
          </p:blipFill>
          <p:spPr>
            <a:xfrm>
              <a:off x="5648456" y="3050790"/>
              <a:ext cx="895089" cy="895089"/>
            </a:xfrm>
            <a:prstGeom prst="rect">
              <a:avLst/>
            </a:prstGeom>
          </p:spPr>
        </p:pic>
        <p:sp>
          <p:nvSpPr>
            <p:cNvPr id="363" name="TextBox 362">
              <a:extLst>
                <a:ext uri="{FF2B5EF4-FFF2-40B4-BE49-F238E27FC236}">
                  <a16:creationId xmlns:a16="http://schemas.microsoft.com/office/drawing/2014/main" id="{47AA2A84-FAF3-FBB3-B68A-6D6AF8ABCA34}"/>
                </a:ext>
              </a:extLst>
            </p:cNvPr>
            <p:cNvSpPr txBox="1"/>
            <p:nvPr/>
          </p:nvSpPr>
          <p:spPr>
            <a:xfrm>
              <a:off x="5364106" y="3931694"/>
              <a:ext cx="1463789" cy="564252"/>
            </a:xfrm>
            <a:prstGeom prst="rect">
              <a:avLst/>
            </a:prstGeom>
            <a:noFill/>
          </p:spPr>
          <p:txBody>
            <a:bodyPr wrap="square" rtlCol="0" anchor="ctr">
              <a:spAutoFit/>
            </a:bodyPr>
            <a:lstStyle/>
            <a:p>
              <a:pPr algn="ctr"/>
              <a:r>
                <a:rPr lang="en-US" b="1" err="1">
                  <a:solidFill>
                    <a:srgbClr val="060B25"/>
                  </a:solidFill>
                  <a:latin typeface="Aptos" panose="020B0004020202020204" pitchFamily="34" charset="0"/>
                  <a:sym typeface="Aptos" panose="020B0004020202020204" pitchFamily="34" charset="0"/>
                </a:rPr>
                <a:t>DataBridge</a:t>
              </a:r>
              <a:endParaRPr lang="en-US" b="1">
                <a:solidFill>
                  <a:srgbClr val="060B25"/>
                </a:solidFill>
                <a:latin typeface="Aptos" panose="020B0004020202020204" pitchFamily="34" charset="0"/>
                <a:sym typeface="Aptos" panose="020B0004020202020204" pitchFamily="34" charset="0"/>
              </a:endParaRPr>
            </a:p>
          </p:txBody>
        </p:sp>
        <p:sp>
          <p:nvSpPr>
            <p:cNvPr id="368" name="Rectangle: Rounded Corners 367">
              <a:extLst>
                <a:ext uri="{FF2B5EF4-FFF2-40B4-BE49-F238E27FC236}">
                  <a16:creationId xmlns:a16="http://schemas.microsoft.com/office/drawing/2014/main" id="{67AB8922-4CA8-5E4B-75B0-5B28E10CAB44}"/>
                </a:ext>
              </a:extLst>
            </p:cNvPr>
            <p:cNvSpPr/>
            <p:nvPr/>
          </p:nvSpPr>
          <p:spPr>
            <a:xfrm>
              <a:off x="4487119" y="5490380"/>
              <a:ext cx="3217762" cy="709126"/>
            </a:xfrm>
            <a:prstGeom prst="roundRect">
              <a:avLst>
                <a:gd name="adj" fmla="val 11294"/>
              </a:avLst>
            </a:prstGeom>
            <a:solidFill>
              <a:srgbClr val="F1F1FF"/>
            </a:solidFill>
            <a:ln w="19050">
              <a:solidFill>
                <a:srgbClr val="636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b="1">
                  <a:solidFill>
                    <a:srgbClr val="060B25"/>
                  </a:solidFill>
                  <a:latin typeface="Aptos" panose="020B0004020202020204" pitchFamily="34" charset="0"/>
                  <a:sym typeface="Aptos" panose="020B0004020202020204" pitchFamily="34" charset="0"/>
                </a:rPr>
                <a:t>Knowledge Graph</a:t>
              </a:r>
            </a:p>
          </p:txBody>
        </p:sp>
      </p:grpSp>
      <p:sp>
        <p:nvSpPr>
          <p:cNvPr id="4" name="Shape 347">
            <a:extLst>
              <a:ext uri="{FF2B5EF4-FFF2-40B4-BE49-F238E27FC236}">
                <a16:creationId xmlns:a16="http://schemas.microsoft.com/office/drawing/2014/main" id="{8D17E3A6-A91D-E0C0-9D8A-4061AE44AF96}"/>
              </a:ext>
            </a:extLst>
          </p:cNvPr>
          <p:cNvSpPr txBox="1">
            <a:spLocks noChangeArrowheads="1"/>
          </p:cNvSpPr>
          <p:nvPr/>
        </p:nvSpPr>
        <p:spPr bwMode="auto">
          <a:xfrm>
            <a:off x="4268699" y="5133329"/>
            <a:ext cx="3654602" cy="13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2555" tIns="142555" rIns="142555" bIns="142555"/>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defTabSz="457200" fontAlgn="base">
              <a:spcBef>
                <a:spcPct val="0"/>
              </a:spcBef>
              <a:spcAft>
                <a:spcPct val="0"/>
              </a:spcAft>
              <a:defRPr>
                <a:solidFill>
                  <a:schemeClr val="tx1"/>
                </a:solidFill>
                <a:latin typeface="Myriad Pro" panose="020B0503030403020204" pitchFamily="34" charset="0"/>
              </a:defRPr>
            </a:lvl6pPr>
            <a:lvl7pPr marL="2971800" indent="-228600" defTabSz="457200" fontAlgn="base">
              <a:spcBef>
                <a:spcPct val="0"/>
              </a:spcBef>
              <a:spcAft>
                <a:spcPct val="0"/>
              </a:spcAft>
              <a:defRPr>
                <a:solidFill>
                  <a:schemeClr val="tx1"/>
                </a:solidFill>
                <a:latin typeface="Myriad Pro" panose="020B0503030403020204" pitchFamily="34" charset="0"/>
              </a:defRPr>
            </a:lvl7pPr>
            <a:lvl8pPr marL="3429000" indent="-228600" defTabSz="457200" fontAlgn="base">
              <a:spcBef>
                <a:spcPct val="0"/>
              </a:spcBef>
              <a:spcAft>
                <a:spcPct val="0"/>
              </a:spcAft>
              <a:defRPr>
                <a:solidFill>
                  <a:schemeClr val="tx1"/>
                </a:solidFill>
                <a:latin typeface="Myriad Pro" panose="020B0503030403020204" pitchFamily="34" charset="0"/>
              </a:defRPr>
            </a:lvl8pPr>
            <a:lvl9pPr marL="3886200" indent="-228600" defTabSz="457200" fontAlgn="base">
              <a:spcBef>
                <a:spcPct val="0"/>
              </a:spcBef>
              <a:spcAft>
                <a:spcPct val="0"/>
              </a:spcAft>
              <a:defRPr>
                <a:solidFill>
                  <a:schemeClr val="tx1"/>
                </a:solidFill>
                <a:latin typeface="Myriad Pro" panose="020B0503030403020204" pitchFamily="34" charset="0"/>
              </a:defRPr>
            </a:lvl9pPr>
          </a:lstStyle>
          <a:p>
            <a:pPr marL="0" marR="0" lvl="0" indent="0" algn="ctr" defTabSz="609585" eaLnBrk="1" fontAlgn="base" latinLnBrk="0" hangingPunct="1">
              <a:lnSpc>
                <a:spcPct val="100000"/>
              </a:lnSpc>
              <a:spcBef>
                <a:spcPts val="0"/>
              </a:spcBef>
              <a:spcAft>
                <a:spcPts val="300"/>
              </a:spcAft>
              <a:buClrTx/>
              <a:buSzPct val="80000"/>
              <a:buFontTx/>
              <a:buNone/>
              <a:tabLst/>
              <a:defRPr/>
            </a:pPr>
            <a:r>
              <a:rPr kumimoji="0" lang="en-US" altLang="en-US" sz="1800" b="1" i="0" u="none" strike="noStrike" kern="1200" cap="none" spc="0" normalizeH="0" baseline="0" noProof="0">
                <a:ln>
                  <a:noFill/>
                </a:ln>
                <a:solidFill>
                  <a:srgbClr val="6360D8"/>
                </a:solidFill>
                <a:effectLst/>
                <a:uLnTx/>
                <a:uFillTx/>
                <a:latin typeface="Aptos" panose="020B0004020202020204" pitchFamily="34" charset="0"/>
                <a:ea typeface="Open Sans" panose="020B0604020202020204" charset="0"/>
                <a:cs typeface="Segoe UI" panose="020B0502040204020203" pitchFamily="34" charset="0"/>
                <a:sym typeface="Aptos" panose="020B0004020202020204" pitchFamily="34" charset="0"/>
              </a:rPr>
              <a:t>Schema-Agnostic Design</a:t>
            </a:r>
          </a:p>
          <a:p>
            <a:pPr marL="0" marR="0" lvl="0" indent="0" algn="ctr" defTabSz="609585" eaLnBrk="1" fontAlgn="base" latinLnBrk="0" hangingPunct="1">
              <a:lnSpc>
                <a:spcPct val="100000"/>
              </a:lnSpc>
              <a:spcBef>
                <a:spcPts val="0"/>
              </a:spcBef>
              <a:spcAft>
                <a:spcPts val="600"/>
              </a:spcAft>
              <a:buClrTx/>
              <a:buSzPct val="80000"/>
              <a:buFontTx/>
              <a:buNone/>
              <a:tabLst/>
              <a:defRPr/>
            </a:pPr>
            <a:r>
              <a:rPr lang="en-US" altLang="en-US" sz="1050" b="1">
                <a:solidFill>
                  <a:srgbClr val="595959"/>
                </a:solidFill>
                <a:latin typeface="Aptos" panose="020B0004020202020204" pitchFamily="34" charset="0"/>
                <a:ea typeface="Open Sans" panose="020B0604020202020204" charset="0"/>
                <a:cs typeface="Segoe UI" panose="020B0502040204020203" pitchFamily="34" charset="0"/>
                <a:sym typeface="Aptos" panose="020B0004020202020204" pitchFamily="34" charset="0"/>
              </a:rPr>
              <a:t>Adapts to source changes automatically: </a:t>
            </a:r>
            <a:r>
              <a:rPr lang="en-US" altLang="en-US" sz="1050">
                <a:solidFill>
                  <a:srgbClr val="595959"/>
                </a:solidFill>
                <a:latin typeface="Aptos" panose="020B0004020202020204" pitchFamily="34" charset="0"/>
                <a:ea typeface="Open Sans" panose="020B0604020202020204" charset="0"/>
                <a:cs typeface="Segoe UI" panose="020B0502040204020203" pitchFamily="34" charset="0"/>
                <a:sym typeface="Aptos" panose="020B0004020202020204" pitchFamily="34" charset="0"/>
              </a:rPr>
              <a:t>Traditional integrations break with schema changes. </a:t>
            </a:r>
            <a:r>
              <a:rPr lang="en-US" altLang="en-US" sz="1050" err="1">
                <a:solidFill>
                  <a:srgbClr val="595959"/>
                </a:solidFill>
                <a:latin typeface="Aptos" panose="020B0004020202020204" pitchFamily="34" charset="0"/>
                <a:ea typeface="Open Sans" panose="020B0604020202020204" charset="0"/>
                <a:cs typeface="Segoe UI" panose="020B0502040204020203" pitchFamily="34" charset="0"/>
                <a:sym typeface="Aptos" panose="020B0004020202020204" pitchFamily="34" charset="0"/>
              </a:rPr>
              <a:t>DataBridge</a:t>
            </a:r>
            <a:r>
              <a:rPr lang="en-US" altLang="en-US" sz="1050">
                <a:solidFill>
                  <a:srgbClr val="595959"/>
                </a:solidFill>
                <a:latin typeface="Aptos" panose="020B0004020202020204" pitchFamily="34" charset="0"/>
                <a:ea typeface="Open Sans" panose="020B0604020202020204" charset="0"/>
                <a:cs typeface="Segoe UI" panose="020B0502040204020203" pitchFamily="34" charset="0"/>
                <a:sym typeface="Aptos" panose="020B0004020202020204" pitchFamily="34" charset="0"/>
              </a:rPr>
              <a:t> uses a schema-less ingestion approach, automatically accommodating evolving data structures without manual intervention—ensuring seamless continuity.</a:t>
            </a:r>
          </a:p>
        </p:txBody>
      </p:sp>
      <p:sp>
        <p:nvSpPr>
          <p:cNvPr id="5" name="Shape 347">
            <a:extLst>
              <a:ext uri="{FF2B5EF4-FFF2-40B4-BE49-F238E27FC236}">
                <a16:creationId xmlns:a16="http://schemas.microsoft.com/office/drawing/2014/main" id="{5720E83D-E599-6325-4376-21F050A5A1EB}"/>
              </a:ext>
            </a:extLst>
          </p:cNvPr>
          <p:cNvSpPr txBox="1">
            <a:spLocks noChangeArrowheads="1"/>
          </p:cNvSpPr>
          <p:nvPr/>
        </p:nvSpPr>
        <p:spPr bwMode="auto">
          <a:xfrm>
            <a:off x="536723" y="5133329"/>
            <a:ext cx="3654602" cy="13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2555" tIns="142555" rIns="142555" bIns="142555"/>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defTabSz="457200" fontAlgn="base">
              <a:spcBef>
                <a:spcPct val="0"/>
              </a:spcBef>
              <a:spcAft>
                <a:spcPct val="0"/>
              </a:spcAft>
              <a:defRPr>
                <a:solidFill>
                  <a:schemeClr val="tx1"/>
                </a:solidFill>
                <a:latin typeface="Myriad Pro" panose="020B0503030403020204" pitchFamily="34" charset="0"/>
              </a:defRPr>
            </a:lvl6pPr>
            <a:lvl7pPr marL="2971800" indent="-228600" defTabSz="457200" fontAlgn="base">
              <a:spcBef>
                <a:spcPct val="0"/>
              </a:spcBef>
              <a:spcAft>
                <a:spcPct val="0"/>
              </a:spcAft>
              <a:defRPr>
                <a:solidFill>
                  <a:schemeClr val="tx1"/>
                </a:solidFill>
                <a:latin typeface="Myriad Pro" panose="020B0503030403020204" pitchFamily="34" charset="0"/>
              </a:defRPr>
            </a:lvl7pPr>
            <a:lvl8pPr marL="3429000" indent="-228600" defTabSz="457200" fontAlgn="base">
              <a:spcBef>
                <a:spcPct val="0"/>
              </a:spcBef>
              <a:spcAft>
                <a:spcPct val="0"/>
              </a:spcAft>
              <a:defRPr>
                <a:solidFill>
                  <a:schemeClr val="tx1"/>
                </a:solidFill>
                <a:latin typeface="Myriad Pro" panose="020B0503030403020204" pitchFamily="34" charset="0"/>
              </a:defRPr>
            </a:lvl8pPr>
            <a:lvl9pPr marL="3886200" indent="-228600" defTabSz="457200" fontAlgn="base">
              <a:spcBef>
                <a:spcPct val="0"/>
              </a:spcBef>
              <a:spcAft>
                <a:spcPct val="0"/>
              </a:spcAft>
              <a:defRPr>
                <a:solidFill>
                  <a:schemeClr val="tx1"/>
                </a:solidFill>
                <a:latin typeface="Myriad Pro" panose="020B0503030403020204" pitchFamily="34" charset="0"/>
              </a:defRPr>
            </a:lvl9pPr>
          </a:lstStyle>
          <a:p>
            <a:pPr marL="0" marR="0" lvl="0" indent="0" algn="ctr" defTabSz="609585" eaLnBrk="1" fontAlgn="base" latinLnBrk="0" hangingPunct="1">
              <a:lnSpc>
                <a:spcPct val="100000"/>
              </a:lnSpc>
              <a:spcBef>
                <a:spcPts val="0"/>
              </a:spcBef>
              <a:spcAft>
                <a:spcPts val="300"/>
              </a:spcAft>
              <a:buClrTx/>
              <a:buSzPct val="80000"/>
              <a:buFontTx/>
              <a:buNone/>
              <a:tabLst/>
              <a:defRPr/>
            </a:pPr>
            <a:r>
              <a:rPr lang="en-US" altLang="en-US" b="1">
                <a:solidFill>
                  <a:srgbClr val="6360D8"/>
                </a:solidFill>
                <a:latin typeface="Aptos" panose="020B0004020202020204" pitchFamily="34" charset="0"/>
                <a:ea typeface="Open Sans" panose="020B0604020202020204" charset="0"/>
                <a:cs typeface="Segoe UI" panose="020B0502040204020203" pitchFamily="34" charset="0"/>
                <a:sym typeface="Aptos" panose="020B0004020202020204" pitchFamily="34" charset="0"/>
              </a:rPr>
              <a:t>No Code Integration</a:t>
            </a:r>
            <a:endParaRPr kumimoji="0" lang="en-US" altLang="en-US" sz="1800" b="0" i="0" u="none" strike="noStrike" kern="1200" cap="none" spc="0" normalizeH="0" baseline="0" noProof="0">
              <a:ln>
                <a:noFill/>
              </a:ln>
              <a:solidFill>
                <a:srgbClr val="6360D8"/>
              </a:solidFill>
              <a:effectLst/>
              <a:uLnTx/>
              <a:uFillTx/>
              <a:latin typeface="Aptos" panose="020B0004020202020204" pitchFamily="34" charset="0"/>
              <a:ea typeface="Open Sans" panose="020B0604020202020204" charset="0"/>
              <a:cs typeface="Segoe UI" panose="020B0502040204020203" pitchFamily="34" charset="0"/>
              <a:sym typeface="Aptos" panose="020B0004020202020204" pitchFamily="34" charset="0"/>
            </a:endParaRPr>
          </a:p>
          <a:p>
            <a:pPr algn="ctr">
              <a:spcBef>
                <a:spcPts val="300"/>
              </a:spcBef>
            </a:pPr>
            <a:r>
              <a:rPr lang="en-US" sz="1050" b="1" i="0" u="none" strike="noStrike">
                <a:solidFill>
                  <a:srgbClr val="595959"/>
                </a:solidFill>
                <a:effectLst/>
                <a:latin typeface="Aptos" panose="020B0004020202020204" pitchFamily="34" charset="0"/>
                <a:sym typeface="Aptos" panose="020B0004020202020204" pitchFamily="34" charset="0"/>
              </a:rPr>
              <a:t>Configure, don’t code: </a:t>
            </a:r>
            <a:r>
              <a:rPr lang="en-US" sz="1050" b="0" i="0" u="none" strike="noStrike">
                <a:solidFill>
                  <a:srgbClr val="595959"/>
                </a:solidFill>
                <a:effectLst/>
                <a:latin typeface="Aptos" panose="020B0004020202020204" pitchFamily="34" charset="0"/>
                <a:sym typeface="Aptos" panose="020B0004020202020204" pitchFamily="34" charset="0"/>
              </a:rPr>
              <a:t>Integrations within </a:t>
            </a:r>
            <a:r>
              <a:rPr lang="en-US" sz="1050" b="0" i="0" u="none" strike="noStrike" err="1">
                <a:solidFill>
                  <a:srgbClr val="595959"/>
                </a:solidFill>
                <a:effectLst/>
                <a:latin typeface="Aptos" panose="020B0004020202020204" pitchFamily="34" charset="0"/>
                <a:sym typeface="Aptos" panose="020B0004020202020204" pitchFamily="34" charset="0"/>
              </a:rPr>
              <a:t>DataBridge</a:t>
            </a:r>
            <a:r>
              <a:rPr lang="en-US" sz="1050" b="0" i="0" u="none" strike="noStrike">
                <a:solidFill>
                  <a:srgbClr val="595959"/>
                </a:solidFill>
                <a:effectLst/>
                <a:latin typeface="Aptos" panose="020B0004020202020204" pitchFamily="34" charset="0"/>
                <a:sym typeface="Aptos" panose="020B0004020202020204" pitchFamily="34" charset="0"/>
              </a:rPr>
              <a:t> require zero custom development. Everything is handled through simple UI-based configurations—eliminating the need for engineering effort and making setup quick and repeatable.</a:t>
            </a:r>
            <a:endParaRPr lang="en-US" altLang="en-US" sz="1000">
              <a:solidFill>
                <a:srgbClr val="060B25"/>
              </a:solidFill>
              <a:latin typeface="Aptos" panose="020B0004020202020204" pitchFamily="34" charset="0"/>
              <a:ea typeface="Open Sans" panose="020B0604020202020204" charset="0"/>
              <a:cs typeface="Segoe UI" panose="020B0502040204020203" pitchFamily="34" charset="0"/>
              <a:sym typeface="Aptos" panose="020B0004020202020204" pitchFamily="34" charset="0"/>
            </a:endParaRPr>
          </a:p>
        </p:txBody>
      </p:sp>
      <p:sp>
        <p:nvSpPr>
          <p:cNvPr id="6" name="Shape 347">
            <a:extLst>
              <a:ext uri="{FF2B5EF4-FFF2-40B4-BE49-F238E27FC236}">
                <a16:creationId xmlns:a16="http://schemas.microsoft.com/office/drawing/2014/main" id="{DC943BCC-FE15-6EC9-DAE9-F593C3F1D0CF}"/>
              </a:ext>
            </a:extLst>
          </p:cNvPr>
          <p:cNvSpPr txBox="1">
            <a:spLocks noChangeArrowheads="1"/>
          </p:cNvSpPr>
          <p:nvPr/>
        </p:nvSpPr>
        <p:spPr bwMode="auto">
          <a:xfrm>
            <a:off x="7999620" y="5123428"/>
            <a:ext cx="3940846" cy="1605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2555" tIns="142555" rIns="142555" bIns="142555"/>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defTabSz="457200" fontAlgn="base">
              <a:spcBef>
                <a:spcPct val="0"/>
              </a:spcBef>
              <a:spcAft>
                <a:spcPct val="0"/>
              </a:spcAft>
              <a:defRPr>
                <a:solidFill>
                  <a:schemeClr val="tx1"/>
                </a:solidFill>
                <a:latin typeface="Myriad Pro" panose="020B0503030403020204" pitchFamily="34" charset="0"/>
              </a:defRPr>
            </a:lvl6pPr>
            <a:lvl7pPr marL="2971800" indent="-228600" defTabSz="457200" fontAlgn="base">
              <a:spcBef>
                <a:spcPct val="0"/>
              </a:spcBef>
              <a:spcAft>
                <a:spcPct val="0"/>
              </a:spcAft>
              <a:defRPr>
                <a:solidFill>
                  <a:schemeClr val="tx1"/>
                </a:solidFill>
                <a:latin typeface="Myriad Pro" panose="020B0503030403020204" pitchFamily="34" charset="0"/>
              </a:defRPr>
            </a:lvl7pPr>
            <a:lvl8pPr marL="3429000" indent="-228600" defTabSz="457200" fontAlgn="base">
              <a:spcBef>
                <a:spcPct val="0"/>
              </a:spcBef>
              <a:spcAft>
                <a:spcPct val="0"/>
              </a:spcAft>
              <a:defRPr>
                <a:solidFill>
                  <a:schemeClr val="tx1"/>
                </a:solidFill>
                <a:latin typeface="Myriad Pro" panose="020B0503030403020204" pitchFamily="34" charset="0"/>
              </a:defRPr>
            </a:lvl8pPr>
            <a:lvl9pPr marL="3886200" indent="-228600" defTabSz="457200" fontAlgn="base">
              <a:spcBef>
                <a:spcPct val="0"/>
              </a:spcBef>
              <a:spcAft>
                <a:spcPct val="0"/>
              </a:spcAft>
              <a:defRPr>
                <a:solidFill>
                  <a:schemeClr val="tx1"/>
                </a:solidFill>
                <a:latin typeface="Myriad Pro" panose="020B0503030403020204" pitchFamily="34" charset="0"/>
              </a:defRPr>
            </a:lvl9pPr>
          </a:lstStyle>
          <a:p>
            <a:pPr marL="0" marR="0" lvl="0" indent="0" algn="ctr" defTabSz="609585" eaLnBrk="1" fontAlgn="base" latinLnBrk="0" hangingPunct="1">
              <a:lnSpc>
                <a:spcPct val="100000"/>
              </a:lnSpc>
              <a:spcBef>
                <a:spcPts val="0"/>
              </a:spcBef>
              <a:spcAft>
                <a:spcPts val="300"/>
              </a:spcAft>
              <a:buClrTx/>
              <a:buSzPct val="80000"/>
              <a:buFontTx/>
              <a:buNone/>
              <a:tabLst/>
              <a:defRPr/>
            </a:pPr>
            <a:r>
              <a:rPr kumimoji="0" lang="en-US" altLang="en-US" sz="1800" b="1" i="0" u="none" strike="noStrike" kern="1200" cap="none" spc="0" normalizeH="0" baseline="0" noProof="0">
                <a:ln>
                  <a:noFill/>
                </a:ln>
                <a:solidFill>
                  <a:srgbClr val="6360D8"/>
                </a:solidFill>
                <a:effectLst/>
                <a:uLnTx/>
                <a:uFillTx/>
                <a:latin typeface="Aptos" panose="020B0004020202020204" pitchFamily="34" charset="0"/>
                <a:ea typeface="Open Sans" panose="020B0604020202020204" charset="0"/>
                <a:cs typeface="Segoe UI" panose="020B0502040204020203" pitchFamily="34" charset="0"/>
                <a:sym typeface="Aptos" panose="020B0004020202020204" pitchFamily="34" charset="0"/>
              </a:rPr>
              <a:t>Common Integration Patterns</a:t>
            </a:r>
          </a:p>
          <a:p>
            <a:pPr marL="0" marR="0" lvl="0" indent="0" algn="ctr" defTabSz="609585" eaLnBrk="1" fontAlgn="base" latinLnBrk="0" hangingPunct="1">
              <a:lnSpc>
                <a:spcPct val="100000"/>
              </a:lnSpc>
              <a:spcBef>
                <a:spcPts val="0"/>
              </a:spcBef>
              <a:spcAft>
                <a:spcPts val="600"/>
              </a:spcAft>
              <a:buClrTx/>
              <a:buSzPct val="80000"/>
              <a:buFontTx/>
              <a:buNone/>
              <a:tabLst/>
              <a:defRPr/>
            </a:pPr>
            <a:r>
              <a:rPr lang="en-GB" altLang="en-US" sz="1050">
                <a:solidFill>
                  <a:srgbClr val="595959"/>
                </a:solidFill>
                <a:latin typeface="Aptos" panose="020B0004020202020204" pitchFamily="34" charset="0"/>
                <a:ea typeface="Open Sans" panose="020B0604020202020204" charset="0"/>
                <a:cs typeface="Segoe UI" panose="020B0502040204020203" pitchFamily="34" charset="0"/>
                <a:sym typeface="Aptos" panose="020B0004020202020204" pitchFamily="34" charset="0"/>
              </a:rPr>
              <a:t>Connect sources quickly and reliably: </a:t>
            </a:r>
            <a:r>
              <a:rPr lang="en-GB" altLang="en-US" sz="1050" err="1">
                <a:solidFill>
                  <a:srgbClr val="595959"/>
                </a:solidFill>
                <a:latin typeface="Aptos" panose="020B0004020202020204" pitchFamily="34" charset="0"/>
                <a:ea typeface="Open Sans" panose="020B0604020202020204" charset="0"/>
                <a:cs typeface="Segoe UI" panose="020B0502040204020203" pitchFamily="34" charset="0"/>
                <a:sym typeface="Aptos" panose="020B0004020202020204" pitchFamily="34" charset="0"/>
              </a:rPr>
              <a:t>DataBridge</a:t>
            </a:r>
            <a:r>
              <a:rPr lang="en-GB" altLang="en-US" sz="1050">
                <a:solidFill>
                  <a:srgbClr val="595959"/>
                </a:solidFill>
                <a:latin typeface="Aptos" panose="020B0004020202020204" pitchFamily="34" charset="0"/>
                <a:ea typeface="Open Sans" panose="020B0604020202020204" charset="0"/>
                <a:cs typeface="Segoe UI" panose="020B0502040204020203" pitchFamily="34" charset="0"/>
                <a:sym typeface="Aptos" panose="020B0004020202020204" pitchFamily="34" charset="0"/>
              </a:rPr>
              <a:t> supports secure API-based pulls for SaaS tools, file/log ingestion for batch exports and telemetry, direct cloud account integrations (AWS/Azure/GCP) using least-privilege access, and Jira/ServiceNow workflows to create and track remediation—keeping status and evidence aligned end to end.</a:t>
            </a:r>
            <a:endParaRPr lang="en-US" altLang="en-US" sz="1050">
              <a:solidFill>
                <a:srgbClr val="595959"/>
              </a:solidFill>
              <a:latin typeface="Aptos" panose="020B0004020202020204" pitchFamily="34" charset="0"/>
              <a:ea typeface="Open Sans" panose="020B0604020202020204" charset="0"/>
              <a:cs typeface="Segoe UI" panose="020B0502040204020203" pitchFamily="34" charset="0"/>
              <a:sym typeface="Aptos" panose="020B0004020202020204" pitchFamily="34" charset="0"/>
            </a:endParaRPr>
          </a:p>
        </p:txBody>
      </p:sp>
    </p:spTree>
    <p:extLst>
      <p:ext uri="{BB962C8B-B14F-4D97-AF65-F5344CB8AC3E}">
        <p14:creationId xmlns:p14="http://schemas.microsoft.com/office/powerpoint/2010/main" val="3575778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B991B-219F-83F0-04E7-10D6C5145000}"/>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F4AFC78B-2E80-32FB-9385-4478006C062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10" name="think-cell data - do not delete" hidden="1">
                        <a:extLst>
                          <a:ext uri="{FF2B5EF4-FFF2-40B4-BE49-F238E27FC236}">
                            <a16:creationId xmlns:a16="http://schemas.microsoft.com/office/drawing/2014/main" id="{F4AFC78B-2E80-32FB-9385-4478006C062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object 8">
            <a:extLst>
              <a:ext uri="{FF2B5EF4-FFF2-40B4-BE49-F238E27FC236}">
                <a16:creationId xmlns:a16="http://schemas.microsoft.com/office/drawing/2014/main" id="{1D525EEB-C953-0C87-B996-1DEE24FD26CB}"/>
              </a:ext>
            </a:extLst>
          </p:cNvPr>
          <p:cNvSpPr txBox="1"/>
          <p:nvPr/>
        </p:nvSpPr>
        <p:spPr>
          <a:xfrm>
            <a:off x="647998" y="525983"/>
            <a:ext cx="5300415" cy="743793"/>
          </a:xfrm>
          <a:prstGeom prst="rect">
            <a:avLst/>
          </a:prstGeom>
        </p:spPr>
        <p:txBody>
          <a:bodyPr vert="horz" wrap="square" lIns="0" tIns="0" rIns="0" bIns="0" rtlCol="0">
            <a:spAutoFit/>
          </a:bodyPr>
          <a:lstStyle/>
          <a:p>
            <a:pPr marL="20319" marR="0" lvl="0" indent="0" algn="l" defTabSz="1219170" eaLnBrk="1" fontAlgn="auto" latinLnBrk="0" hangingPunct="1">
              <a:lnSpc>
                <a:spcPts val="2180"/>
              </a:lnSpc>
              <a:spcBef>
                <a:spcPts val="0"/>
              </a:spcBef>
              <a:spcAft>
                <a:spcPts val="0"/>
              </a:spcAft>
              <a:buClrTx/>
              <a:buSzTx/>
              <a:buFontTx/>
              <a:buNone/>
              <a:tabLst/>
              <a:defRPr/>
            </a:pPr>
            <a:r>
              <a:rPr kumimoji="0" lang="en-US" sz="1400" i="0" u="none" strike="noStrike" kern="1200" cap="none" spc="-100" normalizeH="0" noProof="0">
                <a:ln>
                  <a:noFill/>
                </a:ln>
                <a:solidFill>
                  <a:srgbClr val="595959"/>
                </a:solidFill>
                <a:effectLst/>
                <a:uLnTx/>
                <a:uFillTx/>
                <a:latin typeface="+mj-lt"/>
                <a:ea typeface="Open Sans" panose="020B0606030504020204" pitchFamily="34" charset="0"/>
                <a:cs typeface="Open Sans" panose="020B0606030504020204" pitchFamily="34" charset="0"/>
                <a:sym typeface="Aptos" panose="020B0004020202020204" pitchFamily="34" charset="0"/>
              </a:rPr>
              <a:t>Platform Overview </a:t>
            </a:r>
          </a:p>
          <a:p>
            <a:pPr marL="20319" marR="0" lvl="0" indent="0" algn="l" defTabSz="1219170" eaLnBrk="1" fontAlgn="auto" latinLnBrk="0" hangingPunct="1">
              <a:spcBef>
                <a:spcPts val="0"/>
              </a:spcBef>
              <a:spcAft>
                <a:spcPts val="0"/>
              </a:spcAft>
              <a:buClrTx/>
              <a:buSzTx/>
              <a:buFontTx/>
              <a:buNone/>
              <a:tabLst/>
              <a:defRPr/>
            </a:pPr>
            <a:r>
              <a:rPr kumimoji="0" lang="en-US" sz="3000" b="1" i="0" u="none" strike="noStrike" kern="1200" cap="none" spc="-100" normalizeH="0" noProof="0">
                <a:ln>
                  <a:noFill/>
                </a:ln>
                <a:solidFill>
                  <a:srgbClr val="060B25"/>
                </a:solidFill>
                <a:effectLst/>
                <a:uLnTx/>
                <a:uFillTx/>
                <a:latin typeface="+mj-lt"/>
                <a:ea typeface="Open Sans" panose="020B0606030504020204" pitchFamily="34" charset="0"/>
                <a:cs typeface="Open Sans" panose="020B0606030504020204" pitchFamily="34" charset="0"/>
                <a:sym typeface="Aptos" panose="020B0004020202020204" pitchFamily="34" charset="0"/>
              </a:rPr>
              <a:t>Automated Entity Resolution</a:t>
            </a:r>
          </a:p>
        </p:txBody>
      </p:sp>
      <p:cxnSp>
        <p:nvCxnSpPr>
          <p:cNvPr id="2065" name="Straight Connector 2064">
            <a:extLst>
              <a:ext uri="{FF2B5EF4-FFF2-40B4-BE49-F238E27FC236}">
                <a16:creationId xmlns:a16="http://schemas.microsoft.com/office/drawing/2014/main" id="{C5C5806E-F5FE-3C61-BD8A-F26B732B1B66}"/>
              </a:ext>
            </a:extLst>
          </p:cNvPr>
          <p:cNvCxnSpPr>
            <a:cxnSpLocks/>
          </p:cNvCxnSpPr>
          <p:nvPr/>
        </p:nvCxnSpPr>
        <p:spPr>
          <a:xfrm>
            <a:off x="779042" y="3246452"/>
            <a:ext cx="474457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66" name="Straight Connector 2065">
            <a:extLst>
              <a:ext uri="{FF2B5EF4-FFF2-40B4-BE49-F238E27FC236}">
                <a16:creationId xmlns:a16="http://schemas.microsoft.com/office/drawing/2014/main" id="{C197B4D6-2088-EEEE-18F6-7ACC86CF4581}"/>
              </a:ext>
            </a:extLst>
          </p:cNvPr>
          <p:cNvCxnSpPr>
            <a:cxnSpLocks/>
          </p:cNvCxnSpPr>
          <p:nvPr/>
        </p:nvCxnSpPr>
        <p:spPr>
          <a:xfrm>
            <a:off x="779042" y="5108959"/>
            <a:ext cx="474457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67" name="Straight Connector 2066">
            <a:extLst>
              <a:ext uri="{FF2B5EF4-FFF2-40B4-BE49-F238E27FC236}">
                <a16:creationId xmlns:a16="http://schemas.microsoft.com/office/drawing/2014/main" id="{AF888B4F-D38A-DA83-E10F-76EA33FD8F40}"/>
              </a:ext>
            </a:extLst>
          </p:cNvPr>
          <p:cNvCxnSpPr>
            <a:cxnSpLocks/>
          </p:cNvCxnSpPr>
          <p:nvPr/>
        </p:nvCxnSpPr>
        <p:spPr>
          <a:xfrm>
            <a:off x="779042" y="4177706"/>
            <a:ext cx="474457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69" name="TextBox 2068">
            <a:extLst>
              <a:ext uri="{FF2B5EF4-FFF2-40B4-BE49-F238E27FC236}">
                <a16:creationId xmlns:a16="http://schemas.microsoft.com/office/drawing/2014/main" id="{FDCBE88C-4B30-36A5-A60A-E5896213AFA4}"/>
              </a:ext>
            </a:extLst>
          </p:cNvPr>
          <p:cNvSpPr txBox="1"/>
          <p:nvPr/>
        </p:nvSpPr>
        <p:spPr>
          <a:xfrm>
            <a:off x="1394680" y="2229392"/>
            <a:ext cx="4352977" cy="900246"/>
          </a:xfrm>
          <a:prstGeom prst="rect">
            <a:avLst/>
          </a:prstGeom>
          <a:noFill/>
        </p:spPr>
        <p:txBody>
          <a:bodyPr wrap="square" anchor="ctr">
            <a:spAutoFit/>
          </a:bodyPr>
          <a:lstStyle/>
          <a:p>
            <a:pPr marL="0" marR="0" lvl="2" indent="0" defTabSz="914400" rtl="0" eaLnBrk="1" fontAlgn="auto" latinLnBrk="0" hangingPunct="1">
              <a:lnSpc>
                <a:spcPct val="100000"/>
              </a:lnSpc>
              <a:spcBef>
                <a:spcPts val="200"/>
              </a:spcBef>
              <a:spcAft>
                <a:spcPts val="400"/>
              </a:spcAft>
              <a:buClrTx/>
              <a:buSzTx/>
              <a:buFontTx/>
              <a:buNone/>
              <a:tabLst/>
              <a:defRPr/>
            </a:pPr>
            <a:r>
              <a:rPr kumimoji="0" lang="en-US" sz="1300" b="1" i="0" u="none" strike="noStrike" kern="1200" cap="none" spc="0" normalizeH="0" baseline="0" noProof="0">
                <a:ln>
                  <a:noFill/>
                </a:ln>
                <a:solidFill>
                  <a:srgbClr val="060B25"/>
                </a:solidFill>
                <a:effectLst/>
                <a:uLnTx/>
                <a:uFillTx/>
                <a:latin typeface="Aptos" panose="020B0004020202020204" pitchFamily="34" charset="0"/>
                <a:ea typeface="+mn-lt"/>
                <a:cs typeface="+mn-lt"/>
                <a:sym typeface="Aptos" panose="020B0004020202020204" pitchFamily="34" charset="0"/>
              </a:rPr>
              <a:t>Entity Extraction</a:t>
            </a:r>
          </a:p>
          <a:p>
            <a:pPr marL="0" marR="0" lvl="2" indent="0" defTabSz="914400" rtl="0" eaLnBrk="1" fontAlgn="auto" latinLnBrk="0" hangingPunct="1">
              <a:lnSpc>
                <a:spcPct val="100000"/>
              </a:lnSpc>
              <a:spcBef>
                <a:spcPts val="200"/>
              </a:spcBef>
              <a:spcAft>
                <a:spcPts val="400"/>
              </a:spcAft>
              <a:buClrTx/>
              <a:buSzTx/>
              <a:buFontTx/>
              <a:buNone/>
              <a:tabLst/>
              <a:defRPr/>
            </a:pPr>
            <a:r>
              <a:rPr kumimoji="0" lang="en-US" sz="1150" b="0" i="0" u="none" strike="noStrike" kern="1200" cap="none" spc="0" normalizeH="0" baseline="0" noProof="0">
                <a:ln>
                  <a:noFill/>
                </a:ln>
                <a:solidFill>
                  <a:srgbClr val="595959"/>
                </a:solidFill>
                <a:effectLst/>
                <a:uLnTx/>
                <a:uFillTx/>
                <a:latin typeface="Aptos" panose="020B0004020202020204" pitchFamily="34" charset="0"/>
                <a:ea typeface="+mn-lt"/>
                <a:cs typeface="+mn-lt"/>
                <a:sym typeface="Aptos" panose="020B0004020202020204" pitchFamily="34" charset="0"/>
              </a:rPr>
              <a:t>Automatically identifies and maps entities from varied data sources using GenAI, primary key detection, and delta-based processing</a:t>
            </a:r>
            <a:endParaRPr kumimoji="0" lang="en-US" sz="1150" b="1" i="0" u="none" strike="noStrike" kern="1200" cap="none" spc="0" normalizeH="0" baseline="0" noProof="0">
              <a:ln>
                <a:noFill/>
              </a:ln>
              <a:solidFill>
                <a:srgbClr val="375E80"/>
              </a:solidFill>
              <a:effectLst/>
              <a:uLnTx/>
              <a:uFillTx/>
              <a:latin typeface="Aptos" panose="020B0004020202020204" pitchFamily="34" charset="0"/>
              <a:ea typeface="+mn-lt"/>
              <a:cs typeface="+mn-lt"/>
              <a:sym typeface="Aptos" panose="020B0004020202020204" pitchFamily="34" charset="0"/>
            </a:endParaRPr>
          </a:p>
        </p:txBody>
      </p:sp>
      <p:sp>
        <p:nvSpPr>
          <p:cNvPr id="2072" name="TextBox 2071">
            <a:extLst>
              <a:ext uri="{FF2B5EF4-FFF2-40B4-BE49-F238E27FC236}">
                <a16:creationId xmlns:a16="http://schemas.microsoft.com/office/drawing/2014/main" id="{D0C9E5E2-38AE-E578-CB9D-350F593F17A8}"/>
              </a:ext>
            </a:extLst>
          </p:cNvPr>
          <p:cNvSpPr txBox="1"/>
          <p:nvPr/>
        </p:nvSpPr>
        <p:spPr>
          <a:xfrm>
            <a:off x="1394680" y="3363265"/>
            <a:ext cx="4352977" cy="697627"/>
          </a:xfrm>
          <a:prstGeom prst="rect">
            <a:avLst/>
          </a:prstGeom>
          <a:noFill/>
        </p:spPr>
        <p:txBody>
          <a:bodyPr wrap="square" anchor="ctr">
            <a:spAutoFit/>
          </a:bodyPr>
          <a:lstStyle/>
          <a:p>
            <a:pPr marL="0" marR="0" lvl="2" indent="0" defTabSz="914400" rtl="0" eaLnBrk="1" fontAlgn="auto" latinLnBrk="0" hangingPunct="1">
              <a:lnSpc>
                <a:spcPct val="100000"/>
              </a:lnSpc>
              <a:spcBef>
                <a:spcPts val="0"/>
              </a:spcBef>
              <a:spcAft>
                <a:spcPts val="400"/>
              </a:spcAft>
              <a:buClrTx/>
              <a:buSzTx/>
              <a:buFontTx/>
              <a:buNone/>
              <a:tabLst/>
              <a:defRPr/>
            </a:pPr>
            <a:r>
              <a:rPr lang="en-US" sz="1300" b="1">
                <a:solidFill>
                  <a:srgbClr val="060B25"/>
                </a:solidFill>
                <a:latin typeface="Aptos" panose="020B0004020202020204" pitchFamily="34" charset="0"/>
                <a:ea typeface="+mn-lt"/>
                <a:cs typeface="+mn-lt"/>
                <a:sym typeface="Aptos" panose="020B0004020202020204" pitchFamily="34" charset="0"/>
              </a:rPr>
              <a:t>Normalization</a:t>
            </a:r>
          </a:p>
          <a:p>
            <a:pPr marL="0" marR="0" lvl="2" indent="0" defTabSz="914400" rtl="0" eaLnBrk="1" fontAlgn="auto" latinLnBrk="0" hangingPunct="1">
              <a:lnSpc>
                <a:spcPct val="100000"/>
              </a:lnSpc>
              <a:spcBef>
                <a:spcPts val="0"/>
              </a:spcBef>
              <a:spcAft>
                <a:spcPts val="400"/>
              </a:spcAft>
              <a:buClrTx/>
              <a:buSzTx/>
              <a:buFontTx/>
              <a:buNone/>
              <a:tabLst/>
              <a:defRPr/>
            </a:pPr>
            <a:r>
              <a:rPr kumimoji="0" lang="en-US" sz="1150" b="0" i="0" u="none" strike="noStrike" kern="1200" cap="none" spc="0" normalizeH="0" baseline="0" noProof="0">
                <a:ln>
                  <a:noFill/>
                </a:ln>
                <a:solidFill>
                  <a:srgbClr val="595959"/>
                </a:solidFill>
                <a:effectLst/>
                <a:uLnTx/>
                <a:uFillTx/>
                <a:latin typeface="Aptos" panose="020B0004020202020204" pitchFamily="34" charset="0"/>
                <a:ea typeface="+mn-lt"/>
                <a:cs typeface="+mn-lt"/>
                <a:sym typeface="Aptos" panose="020B0004020202020204" pitchFamily="34" charset="0"/>
              </a:rPr>
              <a:t>Standardizes inconsistent formats and values through rule-based logic, machine learning, and DAG-based expression evaluation</a:t>
            </a:r>
          </a:p>
        </p:txBody>
      </p:sp>
      <p:sp>
        <p:nvSpPr>
          <p:cNvPr id="2078" name="TextBox 2077">
            <a:extLst>
              <a:ext uri="{FF2B5EF4-FFF2-40B4-BE49-F238E27FC236}">
                <a16:creationId xmlns:a16="http://schemas.microsoft.com/office/drawing/2014/main" id="{B426F2AA-497D-A5EC-9668-FA583AABA427}"/>
              </a:ext>
            </a:extLst>
          </p:cNvPr>
          <p:cNvSpPr txBox="1"/>
          <p:nvPr/>
        </p:nvSpPr>
        <p:spPr>
          <a:xfrm>
            <a:off x="1394680" y="4214655"/>
            <a:ext cx="4352977" cy="874598"/>
          </a:xfrm>
          <a:prstGeom prst="rect">
            <a:avLst/>
          </a:prstGeom>
          <a:noFill/>
        </p:spPr>
        <p:txBody>
          <a:bodyPr wrap="square" anchor="ctr">
            <a:spAutoFit/>
          </a:bodyPr>
          <a:lstStyle/>
          <a:p>
            <a:pPr marL="0" marR="0" lvl="2" indent="0" defTabSz="914400" rtl="0" eaLnBrk="1" fontAlgn="auto" latinLnBrk="0" hangingPunct="1">
              <a:lnSpc>
                <a:spcPct val="100000"/>
              </a:lnSpc>
              <a:spcBef>
                <a:spcPts val="0"/>
              </a:spcBef>
              <a:spcAft>
                <a:spcPts val="400"/>
              </a:spcAft>
              <a:buClrTx/>
              <a:buSzTx/>
              <a:buFontTx/>
              <a:buNone/>
              <a:tabLst/>
              <a:defRPr/>
            </a:pPr>
            <a:r>
              <a:rPr lang="en-US" sz="1300" b="1">
                <a:solidFill>
                  <a:srgbClr val="060B25"/>
                </a:solidFill>
                <a:latin typeface="Aptos" panose="020B0004020202020204" pitchFamily="34" charset="0"/>
                <a:ea typeface="+mn-lt"/>
                <a:cs typeface="+mn-lt"/>
                <a:sym typeface="Aptos" panose="020B0004020202020204" pitchFamily="34" charset="0"/>
              </a:rPr>
              <a:t>Resolution</a:t>
            </a:r>
          </a:p>
          <a:p>
            <a:pPr marL="0" marR="0" lvl="2" indent="0" defTabSz="914400" rtl="0" eaLnBrk="1" fontAlgn="auto" latinLnBrk="0" hangingPunct="1">
              <a:lnSpc>
                <a:spcPct val="100000"/>
              </a:lnSpc>
              <a:spcBef>
                <a:spcPts val="0"/>
              </a:spcBef>
              <a:spcAft>
                <a:spcPts val="400"/>
              </a:spcAft>
              <a:buClrTx/>
              <a:buSzTx/>
              <a:buFontTx/>
              <a:buNone/>
              <a:tabLst/>
              <a:defRPr/>
            </a:pPr>
            <a:r>
              <a:rPr kumimoji="0" lang="en-US" sz="1150" b="0" i="0" u="none" strike="noStrike" kern="1200" cap="none" spc="0" normalizeH="0" baseline="0" noProof="0">
                <a:ln>
                  <a:noFill/>
                </a:ln>
                <a:solidFill>
                  <a:srgbClr val="595959"/>
                </a:solidFill>
                <a:effectLst/>
                <a:uLnTx/>
                <a:uFillTx/>
                <a:latin typeface="Aptos" panose="020B0004020202020204" pitchFamily="34" charset="0"/>
                <a:ea typeface="+mn-lt"/>
                <a:cs typeface="+mn-lt"/>
                <a:sym typeface="Aptos" panose="020B0004020202020204" pitchFamily="34" charset="0"/>
              </a:rPr>
              <a:t>Resolves complex entity relationships using candidate key identification, GraphX-powered graph algorithms, and exception handling</a:t>
            </a:r>
          </a:p>
        </p:txBody>
      </p:sp>
      <p:sp>
        <p:nvSpPr>
          <p:cNvPr id="2080" name="object 8">
            <a:extLst>
              <a:ext uri="{FF2B5EF4-FFF2-40B4-BE49-F238E27FC236}">
                <a16:creationId xmlns:a16="http://schemas.microsoft.com/office/drawing/2014/main" id="{22675369-0A79-1931-A570-07F9D88C6EEA}"/>
              </a:ext>
            </a:extLst>
          </p:cNvPr>
          <p:cNvSpPr txBox="1"/>
          <p:nvPr/>
        </p:nvSpPr>
        <p:spPr>
          <a:xfrm>
            <a:off x="6404986" y="525983"/>
            <a:ext cx="5300415" cy="743793"/>
          </a:xfrm>
          <a:prstGeom prst="rect">
            <a:avLst/>
          </a:prstGeom>
        </p:spPr>
        <p:txBody>
          <a:bodyPr vert="horz" wrap="square" lIns="0" tIns="0" rIns="0" bIns="0" rtlCol="0">
            <a:spAutoFit/>
          </a:bodyPr>
          <a:lstStyle/>
          <a:p>
            <a:pPr marL="20319" marR="0" lvl="0" indent="0" algn="l" defTabSz="1219170" eaLnBrk="1" fontAlgn="auto" latinLnBrk="0" hangingPunct="1">
              <a:lnSpc>
                <a:spcPts val="2180"/>
              </a:lnSpc>
              <a:spcBef>
                <a:spcPts val="0"/>
              </a:spcBef>
              <a:spcAft>
                <a:spcPts val="0"/>
              </a:spcAft>
              <a:buClrTx/>
              <a:buSzTx/>
              <a:buFontTx/>
              <a:buNone/>
              <a:tabLst/>
              <a:defRPr/>
            </a:pPr>
            <a:r>
              <a:rPr kumimoji="0" lang="en-US" sz="1400" i="0" u="none" strike="noStrike" kern="1200" cap="none" spc="-100" normalizeH="0" noProof="0">
                <a:ln>
                  <a:noFill/>
                </a:ln>
                <a:solidFill>
                  <a:srgbClr val="595959"/>
                </a:solidFill>
                <a:effectLst/>
                <a:uLnTx/>
                <a:uFillTx/>
                <a:latin typeface="+mj-lt"/>
                <a:ea typeface="Open Sans" panose="020B0606030504020204" pitchFamily="34" charset="0"/>
                <a:cs typeface="Open Sans" panose="020B0606030504020204" pitchFamily="34" charset="0"/>
                <a:sym typeface="Aptos" panose="020B0004020202020204" pitchFamily="34" charset="0"/>
              </a:rPr>
              <a:t>  </a:t>
            </a:r>
          </a:p>
          <a:p>
            <a:pPr marL="20319" marR="0" lvl="0" indent="0" algn="l" defTabSz="1219170" eaLnBrk="1" fontAlgn="auto" latinLnBrk="0" hangingPunct="1">
              <a:spcBef>
                <a:spcPts val="0"/>
              </a:spcBef>
              <a:spcAft>
                <a:spcPts val="0"/>
              </a:spcAft>
              <a:buClrTx/>
              <a:buSzTx/>
              <a:buFontTx/>
              <a:buNone/>
              <a:tabLst/>
              <a:defRPr/>
            </a:pPr>
            <a:r>
              <a:rPr kumimoji="0" lang="en-US" sz="3000" b="1" i="0" u="none" strike="noStrike" kern="1200" cap="none" spc="-100" normalizeH="0" noProof="0">
                <a:ln>
                  <a:noFill/>
                </a:ln>
                <a:solidFill>
                  <a:srgbClr val="060B25"/>
                </a:solidFill>
                <a:effectLst/>
                <a:uLnTx/>
                <a:uFillTx/>
                <a:latin typeface="+mj-lt"/>
                <a:ea typeface="Open Sans" panose="020B0606030504020204" pitchFamily="34" charset="0"/>
                <a:cs typeface="Open Sans" panose="020B0606030504020204" pitchFamily="34" charset="0"/>
                <a:sym typeface="Aptos" panose="020B0004020202020204" pitchFamily="34" charset="0"/>
              </a:rPr>
              <a:t>Knowledge Graph</a:t>
            </a:r>
          </a:p>
        </p:txBody>
      </p:sp>
      <p:sp>
        <p:nvSpPr>
          <p:cNvPr id="2081" name="object 8">
            <a:extLst>
              <a:ext uri="{FF2B5EF4-FFF2-40B4-BE49-F238E27FC236}">
                <a16:creationId xmlns:a16="http://schemas.microsoft.com/office/drawing/2014/main" id="{1E31D486-89EF-8C41-6E16-23FDE19AA28D}"/>
              </a:ext>
            </a:extLst>
          </p:cNvPr>
          <p:cNvSpPr txBox="1"/>
          <p:nvPr/>
        </p:nvSpPr>
        <p:spPr>
          <a:xfrm>
            <a:off x="647998" y="1353677"/>
            <a:ext cx="5099659" cy="571096"/>
          </a:xfrm>
          <a:prstGeom prst="rect">
            <a:avLst/>
          </a:prstGeom>
        </p:spPr>
        <p:txBody>
          <a:bodyPr vert="horz" wrap="square" lIns="0" tIns="16933" rIns="0" bIns="0" rtlCol="0">
            <a:spAutoFit/>
          </a:bodyPr>
          <a:lstStyle/>
          <a:p>
            <a:pPr marL="16933" marR="6773" algn="just" defTabSz="1219170">
              <a:spcBef>
                <a:spcPts val="133"/>
              </a:spcBef>
              <a:tabLst>
                <a:tab pos="321725" algn="l"/>
                <a:tab pos="322572" algn="l"/>
              </a:tabLst>
            </a:pPr>
            <a:r>
              <a:rPr lang="en-US" sz="1200">
                <a:solidFill>
                  <a:srgbClr val="595959"/>
                </a:solidFill>
                <a:latin typeface="Aptos" panose="020B0004020202020204" pitchFamily="34" charset="0"/>
                <a:cs typeface="Poppins" panose="00000500000000000000" pitchFamily="2" charset="0"/>
                <a:sym typeface="Aptos" panose="020B0004020202020204" pitchFamily="34" charset="0"/>
              </a:rPr>
              <a:t>Prevalent AI’s Entity Resolution Module automatically discovers, standardizes, correlates and enriches asset data to transform fragmented source inputs into a unified, accurate and dependable asset inventory</a:t>
            </a:r>
          </a:p>
        </p:txBody>
      </p:sp>
      <p:pic>
        <p:nvPicPr>
          <p:cNvPr id="2083" name="Picture 2082">
            <a:extLst>
              <a:ext uri="{FF2B5EF4-FFF2-40B4-BE49-F238E27FC236}">
                <a16:creationId xmlns:a16="http://schemas.microsoft.com/office/drawing/2014/main" id="{887D2CFE-754F-49BB-C82C-0BA930F7B2A7}"/>
              </a:ext>
            </a:extLst>
          </p:cNvPr>
          <p:cNvPicPr>
            <a:picLocks noChangeAspect="1"/>
          </p:cNvPicPr>
          <p:nvPr/>
        </p:nvPicPr>
        <p:blipFill>
          <a:blip r:embed="rId6"/>
          <a:stretch>
            <a:fillRect/>
          </a:stretch>
        </p:blipFill>
        <p:spPr>
          <a:xfrm rot="10800000">
            <a:off x="805268" y="2411331"/>
            <a:ext cx="536369" cy="536369"/>
          </a:xfrm>
          <a:prstGeom prst="rect">
            <a:avLst/>
          </a:prstGeom>
        </p:spPr>
      </p:pic>
      <p:pic>
        <p:nvPicPr>
          <p:cNvPr id="2085" name="Picture 2084">
            <a:extLst>
              <a:ext uri="{FF2B5EF4-FFF2-40B4-BE49-F238E27FC236}">
                <a16:creationId xmlns:a16="http://schemas.microsoft.com/office/drawing/2014/main" id="{19D3B1F5-FA30-046A-A8CB-5ADDDD339D95}"/>
              </a:ext>
            </a:extLst>
          </p:cNvPr>
          <p:cNvPicPr>
            <a:picLocks noChangeAspect="1"/>
          </p:cNvPicPr>
          <p:nvPr/>
        </p:nvPicPr>
        <p:blipFill>
          <a:blip r:embed="rId7"/>
          <a:stretch>
            <a:fillRect/>
          </a:stretch>
        </p:blipFill>
        <p:spPr>
          <a:xfrm>
            <a:off x="805268" y="3443894"/>
            <a:ext cx="536369" cy="536369"/>
          </a:xfrm>
          <a:prstGeom prst="rect">
            <a:avLst/>
          </a:prstGeom>
        </p:spPr>
      </p:pic>
      <p:pic>
        <p:nvPicPr>
          <p:cNvPr id="2088" name="Picture 2087">
            <a:extLst>
              <a:ext uri="{FF2B5EF4-FFF2-40B4-BE49-F238E27FC236}">
                <a16:creationId xmlns:a16="http://schemas.microsoft.com/office/drawing/2014/main" id="{C02DF07F-0EBF-8A6E-401D-5BAC3DFC1712}"/>
              </a:ext>
            </a:extLst>
          </p:cNvPr>
          <p:cNvPicPr>
            <a:picLocks noChangeAspect="1"/>
          </p:cNvPicPr>
          <p:nvPr/>
        </p:nvPicPr>
        <p:blipFill>
          <a:blip r:embed="rId8"/>
          <a:stretch>
            <a:fillRect/>
          </a:stretch>
        </p:blipFill>
        <p:spPr>
          <a:xfrm>
            <a:off x="805268" y="4383770"/>
            <a:ext cx="536369" cy="536369"/>
          </a:xfrm>
          <a:prstGeom prst="rect">
            <a:avLst/>
          </a:prstGeom>
        </p:spPr>
      </p:pic>
      <p:grpSp>
        <p:nvGrpSpPr>
          <p:cNvPr id="2093" name="Group 2092">
            <a:extLst>
              <a:ext uri="{FF2B5EF4-FFF2-40B4-BE49-F238E27FC236}">
                <a16:creationId xmlns:a16="http://schemas.microsoft.com/office/drawing/2014/main" id="{47D57748-0861-0F33-B677-00E11F7DB0C4}"/>
              </a:ext>
            </a:extLst>
          </p:cNvPr>
          <p:cNvGrpSpPr/>
          <p:nvPr/>
        </p:nvGrpSpPr>
        <p:grpSpPr>
          <a:xfrm>
            <a:off x="7003793" y="2010883"/>
            <a:ext cx="4477721" cy="2632449"/>
            <a:chOff x="8336239" y="2700028"/>
            <a:chExt cx="3283906" cy="1930606"/>
          </a:xfrm>
        </p:grpSpPr>
        <p:sp>
          <p:nvSpPr>
            <p:cNvPr id="2094" name="Rectangle 2093">
              <a:extLst>
                <a:ext uri="{FF2B5EF4-FFF2-40B4-BE49-F238E27FC236}">
                  <a16:creationId xmlns:a16="http://schemas.microsoft.com/office/drawing/2014/main" id="{145ADD43-C64B-BC81-5FA8-B7B90870968E}"/>
                </a:ext>
              </a:extLst>
            </p:cNvPr>
            <p:cNvSpPr/>
            <p:nvPr/>
          </p:nvSpPr>
          <p:spPr>
            <a:xfrm rot="16200000">
              <a:off x="10932135" y="3567115"/>
              <a:ext cx="977128" cy="208443"/>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2095" name="Rectangle 2094">
              <a:extLst>
                <a:ext uri="{FF2B5EF4-FFF2-40B4-BE49-F238E27FC236}">
                  <a16:creationId xmlns:a16="http://schemas.microsoft.com/office/drawing/2014/main" id="{1FB8FC2A-279F-EC7A-5389-EB9D58E967DD}"/>
                </a:ext>
              </a:extLst>
            </p:cNvPr>
            <p:cNvSpPr/>
            <p:nvPr/>
          </p:nvSpPr>
          <p:spPr>
            <a:xfrm rot="16200000">
              <a:off x="10895503" y="3470168"/>
              <a:ext cx="839836" cy="279332"/>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2096" name="Rectangle 2095">
              <a:extLst>
                <a:ext uri="{FF2B5EF4-FFF2-40B4-BE49-F238E27FC236}">
                  <a16:creationId xmlns:a16="http://schemas.microsoft.com/office/drawing/2014/main" id="{F4831DDF-8A1C-2FD6-661B-229988251C7A}"/>
                </a:ext>
              </a:extLst>
            </p:cNvPr>
            <p:cNvSpPr/>
            <p:nvPr/>
          </p:nvSpPr>
          <p:spPr>
            <a:xfrm rot="16200000">
              <a:off x="10923686" y="3556454"/>
              <a:ext cx="839836" cy="163679"/>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2097" name="Rectangle 2096">
              <a:extLst>
                <a:ext uri="{FF2B5EF4-FFF2-40B4-BE49-F238E27FC236}">
                  <a16:creationId xmlns:a16="http://schemas.microsoft.com/office/drawing/2014/main" id="{FA5DAAB5-A471-68E6-95BC-49528EB1F957}"/>
                </a:ext>
              </a:extLst>
            </p:cNvPr>
            <p:cNvSpPr/>
            <p:nvPr/>
          </p:nvSpPr>
          <p:spPr>
            <a:xfrm rot="18219801">
              <a:off x="11205142" y="3990293"/>
              <a:ext cx="72957" cy="57519"/>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pic>
          <p:nvPicPr>
            <p:cNvPr id="2098" name="Picture 2097" descr="A diagram of a flowchart&#10;&#10;Description automatically generated">
              <a:extLst>
                <a:ext uri="{FF2B5EF4-FFF2-40B4-BE49-F238E27FC236}">
                  <a16:creationId xmlns:a16="http://schemas.microsoft.com/office/drawing/2014/main" id="{25F35267-A181-045D-4EF5-23CD0EDC2E54}"/>
                </a:ext>
              </a:extLst>
            </p:cNvPr>
            <p:cNvPicPr>
              <a:picLocks noChangeAspect="1"/>
            </p:cNvPicPr>
            <p:nvPr/>
          </p:nvPicPr>
          <p:blipFill>
            <a:blip r:embed="rId9">
              <a:extLst>
                <a:ext uri="{28A0092B-C50C-407E-A947-70E740481C1C}">
                  <a14:useLocalDpi xmlns:a14="http://schemas.microsoft.com/office/drawing/2010/main" val="0"/>
                </a:ext>
              </a:extLst>
            </a:blip>
            <a:srcRect r="23782"/>
            <a:stretch/>
          </p:blipFill>
          <p:spPr>
            <a:xfrm>
              <a:off x="8336239" y="2700028"/>
              <a:ext cx="3178134" cy="1930606"/>
            </a:xfrm>
            <a:prstGeom prst="rect">
              <a:avLst/>
            </a:prstGeom>
          </p:spPr>
        </p:pic>
        <p:sp>
          <p:nvSpPr>
            <p:cNvPr id="2099" name="Rectangle 2098">
              <a:extLst>
                <a:ext uri="{FF2B5EF4-FFF2-40B4-BE49-F238E27FC236}">
                  <a16:creationId xmlns:a16="http://schemas.microsoft.com/office/drawing/2014/main" id="{207728D1-797F-B00F-488B-D417357B4C88}"/>
                </a:ext>
              </a:extLst>
            </p:cNvPr>
            <p:cNvSpPr/>
            <p:nvPr/>
          </p:nvSpPr>
          <p:spPr>
            <a:xfrm>
              <a:off x="11177756" y="3171291"/>
              <a:ext cx="353488" cy="852587"/>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rgbClr val="C00000"/>
                </a:solidFill>
                <a:latin typeface="Aptos" panose="020B0004020202020204" pitchFamily="34" charset="0"/>
                <a:sym typeface="Aptos" panose="020B0004020202020204" pitchFamily="34" charset="0"/>
              </a:endParaRPr>
            </a:p>
          </p:txBody>
        </p:sp>
        <p:sp>
          <p:nvSpPr>
            <p:cNvPr id="2100" name="Rectangle 2099">
              <a:extLst>
                <a:ext uri="{FF2B5EF4-FFF2-40B4-BE49-F238E27FC236}">
                  <a16:creationId xmlns:a16="http://schemas.microsoft.com/office/drawing/2014/main" id="{CE64AC93-7127-0693-880C-C26432EF0C07}"/>
                </a:ext>
              </a:extLst>
            </p:cNvPr>
            <p:cNvSpPr/>
            <p:nvPr/>
          </p:nvSpPr>
          <p:spPr>
            <a:xfrm>
              <a:off x="11266657" y="3344989"/>
              <a:ext cx="353488" cy="852587"/>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rgbClr val="C00000"/>
                </a:solidFill>
                <a:latin typeface="Aptos" panose="020B0004020202020204" pitchFamily="34" charset="0"/>
                <a:sym typeface="Aptos" panose="020B0004020202020204" pitchFamily="34" charset="0"/>
              </a:endParaRPr>
            </a:p>
          </p:txBody>
        </p:sp>
        <p:sp>
          <p:nvSpPr>
            <p:cNvPr id="2101" name="Rectangle 2100">
              <a:extLst>
                <a:ext uri="{FF2B5EF4-FFF2-40B4-BE49-F238E27FC236}">
                  <a16:creationId xmlns:a16="http://schemas.microsoft.com/office/drawing/2014/main" id="{F93B5C13-76BE-5AC9-E779-10D702C8858D}"/>
                </a:ext>
              </a:extLst>
            </p:cNvPr>
            <p:cNvSpPr/>
            <p:nvPr/>
          </p:nvSpPr>
          <p:spPr>
            <a:xfrm rot="2157162">
              <a:off x="11180309" y="4017594"/>
              <a:ext cx="162124" cy="56593"/>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rgbClr val="C00000"/>
                </a:solidFill>
                <a:latin typeface="Aptos" panose="020B0004020202020204" pitchFamily="34" charset="0"/>
                <a:sym typeface="Aptos" panose="020B0004020202020204" pitchFamily="34" charset="0"/>
              </a:endParaRPr>
            </a:p>
          </p:txBody>
        </p:sp>
      </p:grpSp>
      <p:sp>
        <p:nvSpPr>
          <p:cNvPr id="2102" name="object 8">
            <a:extLst>
              <a:ext uri="{FF2B5EF4-FFF2-40B4-BE49-F238E27FC236}">
                <a16:creationId xmlns:a16="http://schemas.microsoft.com/office/drawing/2014/main" id="{9963DDC4-6FFA-2C6B-8AC6-5F9EADCE8CA7}"/>
              </a:ext>
            </a:extLst>
          </p:cNvPr>
          <p:cNvSpPr txBox="1"/>
          <p:nvPr/>
        </p:nvSpPr>
        <p:spPr>
          <a:xfrm>
            <a:off x="6404986" y="1353677"/>
            <a:ext cx="4798901" cy="571096"/>
          </a:xfrm>
          <a:prstGeom prst="rect">
            <a:avLst/>
          </a:prstGeom>
        </p:spPr>
        <p:txBody>
          <a:bodyPr vert="horz" wrap="square" lIns="0" tIns="16933" rIns="0" bIns="0" rtlCol="0">
            <a:spAutoFit/>
          </a:bodyPr>
          <a:lstStyle/>
          <a:p>
            <a:pPr marL="16933" marR="6773" algn="just" defTabSz="1219170">
              <a:spcBef>
                <a:spcPts val="133"/>
              </a:spcBef>
              <a:tabLst>
                <a:tab pos="321725" algn="l"/>
                <a:tab pos="322572" algn="l"/>
              </a:tabLst>
            </a:pPr>
            <a:r>
              <a:rPr lang="en-US" sz="1200">
                <a:solidFill>
                  <a:srgbClr val="595959"/>
                </a:solidFill>
                <a:latin typeface="Aptos" panose="020B0004020202020204" pitchFamily="34" charset="0"/>
                <a:cs typeface="Poppins" panose="00000500000000000000" pitchFamily="2" charset="0"/>
                <a:sym typeface="Aptos" panose="020B0004020202020204" pitchFamily="34" charset="0"/>
              </a:rPr>
              <a:t>The Knowledge Graph provides the contextual backbone of Prevalent AI’s platform, enabling real-time insight across assets, vulnerabilities, identities, and controls at scale</a:t>
            </a:r>
          </a:p>
        </p:txBody>
      </p:sp>
      <p:sp>
        <p:nvSpPr>
          <p:cNvPr id="2103" name="TextBox 2102">
            <a:extLst>
              <a:ext uri="{FF2B5EF4-FFF2-40B4-BE49-F238E27FC236}">
                <a16:creationId xmlns:a16="http://schemas.microsoft.com/office/drawing/2014/main" id="{AD315219-7313-3563-F93D-CDD5588BCA66}"/>
              </a:ext>
            </a:extLst>
          </p:cNvPr>
          <p:cNvSpPr txBox="1"/>
          <p:nvPr/>
        </p:nvSpPr>
        <p:spPr>
          <a:xfrm>
            <a:off x="6556694" y="4740372"/>
            <a:ext cx="5148707" cy="1561966"/>
          </a:xfrm>
          <a:prstGeom prst="rect">
            <a:avLst/>
          </a:prstGeom>
          <a:noFill/>
        </p:spPr>
        <p:txBody>
          <a:bodyPr wrap="square" anchor="ctr">
            <a:spAutoFit/>
          </a:bodyPr>
          <a:lstStyle/>
          <a:p>
            <a:pPr marL="274320" marR="0" lvl="2" indent="-274320" defTabSz="914400" rtl="0" eaLnBrk="1" fontAlgn="auto" latinLnBrk="0" hangingPunct="1">
              <a:lnSpc>
                <a:spcPct val="100000"/>
              </a:lnSpc>
              <a:spcBef>
                <a:spcPts val="0"/>
              </a:spcBef>
              <a:spcAft>
                <a:spcPts val="600"/>
              </a:spcAft>
              <a:buClr>
                <a:srgbClr val="6360D8"/>
              </a:buClr>
              <a:buSzPct val="125000"/>
              <a:buFont typeface="Wingdings" panose="05000000000000000000" pitchFamily="2" charset="2"/>
              <a:buChar char="ü"/>
              <a:tabLst/>
              <a:defRPr/>
            </a:pPr>
            <a:r>
              <a:rPr kumimoji="0" lang="en-US" sz="1150" b="0" i="0" u="none" strike="noStrike" kern="1200" cap="none" spc="0" normalizeH="0" baseline="0" noProof="0">
                <a:ln>
                  <a:noFill/>
                </a:ln>
                <a:solidFill>
                  <a:srgbClr val="595959"/>
                </a:solidFill>
                <a:effectLst/>
                <a:uLnTx/>
                <a:uFillTx/>
                <a:latin typeface="Aptos" panose="020B0004020202020204" pitchFamily="34" charset="0"/>
                <a:ea typeface="+mn-lt"/>
                <a:cs typeface="+mn-lt"/>
                <a:sym typeface="Aptos" panose="020B0004020202020204" pitchFamily="34" charset="0"/>
              </a:rPr>
              <a:t>Compresses one terabyte of raw data into 50 gigabytes of high-performance graph, modeling millions of nodes and edges</a:t>
            </a:r>
          </a:p>
          <a:p>
            <a:pPr marL="274320" marR="0" lvl="2" indent="-274320" defTabSz="914400" rtl="0" eaLnBrk="1" fontAlgn="auto" latinLnBrk="0" hangingPunct="1">
              <a:lnSpc>
                <a:spcPct val="100000"/>
              </a:lnSpc>
              <a:spcBef>
                <a:spcPts val="0"/>
              </a:spcBef>
              <a:spcAft>
                <a:spcPts val="600"/>
              </a:spcAft>
              <a:buClr>
                <a:srgbClr val="6360D8"/>
              </a:buClr>
              <a:buSzPct val="125000"/>
              <a:buFont typeface="Wingdings" panose="05000000000000000000" pitchFamily="2" charset="2"/>
              <a:buChar char="ü"/>
              <a:tabLst/>
              <a:defRPr/>
            </a:pPr>
            <a:r>
              <a:rPr kumimoji="0" lang="en-US" sz="1150" b="0" i="0" u="none" strike="noStrike" kern="1200" cap="none" spc="0" normalizeH="0" baseline="0" noProof="0">
                <a:ln>
                  <a:noFill/>
                </a:ln>
                <a:solidFill>
                  <a:srgbClr val="595959"/>
                </a:solidFill>
                <a:effectLst/>
                <a:uLnTx/>
                <a:uFillTx/>
                <a:latin typeface="Aptos" panose="020B0004020202020204" pitchFamily="34" charset="0"/>
                <a:ea typeface="+mn-lt"/>
                <a:cs typeface="+mn-lt"/>
                <a:sym typeface="Aptos" panose="020B0004020202020204" pitchFamily="34" charset="0"/>
              </a:rPr>
              <a:t>Proven to scale across billions of records and over 100 data pipelines, delivering deep, continuous insights</a:t>
            </a:r>
          </a:p>
          <a:p>
            <a:pPr marL="274320" marR="0" lvl="2" indent="-274320" defTabSz="914400" rtl="0" eaLnBrk="1" fontAlgn="auto" latinLnBrk="0" hangingPunct="1">
              <a:lnSpc>
                <a:spcPct val="100000"/>
              </a:lnSpc>
              <a:spcBef>
                <a:spcPts val="0"/>
              </a:spcBef>
              <a:spcAft>
                <a:spcPts val="600"/>
              </a:spcAft>
              <a:buClr>
                <a:srgbClr val="6360D8"/>
              </a:buClr>
              <a:buSzPct val="125000"/>
              <a:buFont typeface="Wingdings" panose="05000000000000000000" pitchFamily="2" charset="2"/>
              <a:buChar char="ü"/>
              <a:tabLst/>
              <a:defRPr/>
            </a:pPr>
            <a:r>
              <a:rPr kumimoji="0" lang="en-US" sz="1150" b="0" i="0" u="none" strike="noStrike" kern="1200" cap="none" spc="0" normalizeH="0" baseline="0" noProof="0">
                <a:ln>
                  <a:noFill/>
                </a:ln>
                <a:solidFill>
                  <a:srgbClr val="595959"/>
                </a:solidFill>
                <a:effectLst/>
                <a:uLnTx/>
                <a:uFillTx/>
                <a:latin typeface="Aptos" panose="020B0004020202020204" pitchFamily="34" charset="0"/>
                <a:ea typeface="+mn-lt"/>
                <a:cs typeface="+mn-lt"/>
                <a:sym typeface="Aptos" panose="020B0004020202020204" pitchFamily="34" charset="0"/>
              </a:rPr>
              <a:t>Supports flexible modeling that evolves quickly without full data reloads</a:t>
            </a:r>
          </a:p>
          <a:p>
            <a:pPr marL="274320" marR="0" lvl="2" indent="-274320" defTabSz="914400" rtl="0" eaLnBrk="1" fontAlgn="auto" latinLnBrk="0" hangingPunct="1">
              <a:lnSpc>
                <a:spcPct val="100000"/>
              </a:lnSpc>
              <a:spcBef>
                <a:spcPts val="0"/>
              </a:spcBef>
              <a:spcAft>
                <a:spcPts val="400"/>
              </a:spcAft>
              <a:buClr>
                <a:srgbClr val="6360D8"/>
              </a:buClr>
              <a:buSzPct val="125000"/>
              <a:buFont typeface="Wingdings" panose="05000000000000000000" pitchFamily="2" charset="2"/>
              <a:buChar char="ü"/>
              <a:tabLst/>
              <a:defRPr/>
            </a:pPr>
            <a:r>
              <a:rPr kumimoji="0" lang="en-US" sz="1150" b="0" i="0" u="none" strike="noStrike" kern="1200" cap="none" spc="0" normalizeH="0" baseline="0" noProof="0">
                <a:ln>
                  <a:noFill/>
                </a:ln>
                <a:solidFill>
                  <a:srgbClr val="595959"/>
                </a:solidFill>
                <a:effectLst/>
                <a:uLnTx/>
                <a:uFillTx/>
                <a:latin typeface="Aptos" panose="020B0004020202020204" pitchFamily="34" charset="0"/>
                <a:ea typeface="+mn-lt"/>
                <a:cs typeface="+mn-lt"/>
                <a:sym typeface="Aptos" panose="020B0004020202020204" pitchFamily="34" charset="0"/>
              </a:rPr>
              <a:t>Drives dynamic risk scoring, advanced analytics, and GenAI with a unified, trusted data layer</a:t>
            </a:r>
          </a:p>
        </p:txBody>
      </p:sp>
      <p:sp>
        <p:nvSpPr>
          <p:cNvPr id="2" name="TextBox 1">
            <a:extLst>
              <a:ext uri="{FF2B5EF4-FFF2-40B4-BE49-F238E27FC236}">
                <a16:creationId xmlns:a16="http://schemas.microsoft.com/office/drawing/2014/main" id="{51C6D065-36F8-34DA-AA19-0D8D04016333}"/>
              </a:ext>
            </a:extLst>
          </p:cNvPr>
          <p:cNvSpPr txBox="1"/>
          <p:nvPr/>
        </p:nvSpPr>
        <p:spPr>
          <a:xfrm>
            <a:off x="1394680" y="5120994"/>
            <a:ext cx="4352977" cy="697627"/>
          </a:xfrm>
          <a:prstGeom prst="rect">
            <a:avLst/>
          </a:prstGeom>
          <a:noFill/>
        </p:spPr>
        <p:txBody>
          <a:bodyPr wrap="square" anchor="ctr">
            <a:spAutoFit/>
          </a:bodyPr>
          <a:lstStyle/>
          <a:p>
            <a:pPr marL="0" marR="0" lvl="2" indent="0" defTabSz="914400" rtl="0" eaLnBrk="1" fontAlgn="auto" latinLnBrk="0" hangingPunct="1">
              <a:lnSpc>
                <a:spcPct val="100000"/>
              </a:lnSpc>
              <a:spcBef>
                <a:spcPts val="0"/>
              </a:spcBef>
              <a:spcAft>
                <a:spcPts val="400"/>
              </a:spcAft>
              <a:buClrTx/>
              <a:buSzTx/>
              <a:buFontTx/>
              <a:buNone/>
              <a:tabLst/>
              <a:defRPr/>
            </a:pPr>
            <a:r>
              <a:rPr lang="en-US" sz="1300" b="1">
                <a:solidFill>
                  <a:srgbClr val="060B25"/>
                </a:solidFill>
                <a:latin typeface="Aptos" panose="020B0004020202020204" pitchFamily="34" charset="0"/>
                <a:ea typeface="+mn-lt"/>
                <a:cs typeface="+mn-lt"/>
                <a:sym typeface="Aptos" panose="020B0004020202020204" pitchFamily="34" charset="0"/>
              </a:rPr>
              <a:t>Merge </a:t>
            </a:r>
          </a:p>
          <a:p>
            <a:pPr marL="0" marR="0" lvl="2" indent="0" defTabSz="914400" rtl="0" eaLnBrk="1" fontAlgn="auto" latinLnBrk="0" hangingPunct="1">
              <a:lnSpc>
                <a:spcPct val="100000"/>
              </a:lnSpc>
              <a:spcBef>
                <a:spcPts val="0"/>
              </a:spcBef>
              <a:spcAft>
                <a:spcPts val="400"/>
              </a:spcAft>
              <a:buClrTx/>
              <a:buSzTx/>
              <a:buFontTx/>
              <a:buNone/>
              <a:tabLst/>
              <a:defRPr/>
            </a:pPr>
            <a:r>
              <a:rPr kumimoji="0" lang="en-US" sz="1150" b="0" i="0" u="none" strike="noStrike" kern="1200" cap="none" spc="0" normalizeH="0" baseline="0" noProof="0">
                <a:ln>
                  <a:noFill/>
                </a:ln>
                <a:solidFill>
                  <a:srgbClr val="595959"/>
                </a:solidFill>
                <a:effectLst/>
                <a:uLnTx/>
                <a:uFillTx/>
                <a:latin typeface="Aptos" panose="020B0004020202020204" pitchFamily="34" charset="0"/>
                <a:ea typeface="+mn-lt"/>
                <a:cs typeface="+mn-lt"/>
                <a:sym typeface="Aptos" panose="020B0004020202020204" pitchFamily="34" charset="0"/>
              </a:rPr>
              <a:t>Creates a single source of truth by merging attributes, auditing entities, and maintaining versioned snapshots with resolvers</a:t>
            </a:r>
          </a:p>
        </p:txBody>
      </p:sp>
      <p:pic>
        <p:nvPicPr>
          <p:cNvPr id="3" name="Picture 2">
            <a:extLst>
              <a:ext uri="{FF2B5EF4-FFF2-40B4-BE49-F238E27FC236}">
                <a16:creationId xmlns:a16="http://schemas.microsoft.com/office/drawing/2014/main" id="{95E7D57C-5C32-3F2D-9F90-49DC06C58A4C}"/>
              </a:ext>
            </a:extLst>
          </p:cNvPr>
          <p:cNvPicPr>
            <a:picLocks noChangeAspect="1"/>
          </p:cNvPicPr>
          <p:nvPr/>
        </p:nvPicPr>
        <p:blipFill>
          <a:blip r:embed="rId10"/>
          <a:stretch>
            <a:fillRect/>
          </a:stretch>
        </p:blipFill>
        <p:spPr>
          <a:xfrm>
            <a:off x="829648" y="5226003"/>
            <a:ext cx="487608" cy="487608"/>
          </a:xfrm>
          <a:prstGeom prst="rect">
            <a:avLst/>
          </a:prstGeom>
        </p:spPr>
      </p:pic>
      <p:sp>
        <p:nvSpPr>
          <p:cNvPr id="4" name="Rectangle 3">
            <a:extLst>
              <a:ext uri="{FF2B5EF4-FFF2-40B4-BE49-F238E27FC236}">
                <a16:creationId xmlns:a16="http://schemas.microsoft.com/office/drawing/2014/main" id="{9B324AA6-DEF3-2F44-7843-9209B741CB6F}"/>
              </a:ext>
            </a:extLst>
          </p:cNvPr>
          <p:cNvSpPr/>
          <p:nvPr/>
        </p:nvSpPr>
        <p:spPr>
          <a:xfrm>
            <a:off x="11066012" y="429535"/>
            <a:ext cx="914400" cy="914400"/>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C00000"/>
                </a:solidFill>
              </a:rPr>
              <a:t>VARIANT</a:t>
            </a:r>
          </a:p>
        </p:txBody>
      </p:sp>
    </p:spTree>
    <p:extLst>
      <p:ext uri="{BB962C8B-B14F-4D97-AF65-F5344CB8AC3E}">
        <p14:creationId xmlns:p14="http://schemas.microsoft.com/office/powerpoint/2010/main" val="1495659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146D5-8402-BB1F-2F67-F3EEF3B82B63}"/>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FE9345F-3AE6-7148-EC3A-81A804D90FC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7" name="think-cell data - do not delete" hidden="1">
                        <a:extLst>
                          <a:ext uri="{FF2B5EF4-FFF2-40B4-BE49-F238E27FC236}">
                            <a16:creationId xmlns:a16="http://schemas.microsoft.com/office/drawing/2014/main" id="{AFE9345F-3AE6-7148-EC3A-81A804D90FC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 name="object 8">
            <a:extLst>
              <a:ext uri="{FF2B5EF4-FFF2-40B4-BE49-F238E27FC236}">
                <a16:creationId xmlns:a16="http://schemas.microsoft.com/office/drawing/2014/main" id="{9E44A42C-1316-F829-1AEB-34501F82C095}"/>
              </a:ext>
            </a:extLst>
          </p:cNvPr>
          <p:cNvSpPr txBox="1"/>
          <p:nvPr/>
        </p:nvSpPr>
        <p:spPr>
          <a:xfrm>
            <a:off x="647998" y="525983"/>
            <a:ext cx="11355315" cy="743793"/>
          </a:xfrm>
          <a:prstGeom prst="rect">
            <a:avLst/>
          </a:prstGeom>
        </p:spPr>
        <p:txBody>
          <a:bodyPr vert="horz" wrap="square" lIns="0" tIns="0" rIns="0" bIns="0" rtlCol="0">
            <a:spAutoFit/>
          </a:bodyPr>
          <a:lstStyle/>
          <a:p>
            <a:pPr marL="20319" marR="0" lvl="0" indent="0" algn="l" defTabSz="1219170" eaLnBrk="1" fontAlgn="auto" latinLnBrk="0" hangingPunct="1">
              <a:lnSpc>
                <a:spcPts val="2180"/>
              </a:lnSpc>
              <a:spcBef>
                <a:spcPts val="0"/>
              </a:spcBef>
              <a:spcAft>
                <a:spcPts val="0"/>
              </a:spcAft>
              <a:buClrTx/>
              <a:buSzTx/>
              <a:buFontTx/>
              <a:buNone/>
              <a:tabLst/>
              <a:defRPr/>
            </a:pPr>
            <a:r>
              <a:rPr lang="en-US" sz="1400" spc="-100">
                <a:solidFill>
                  <a:srgbClr val="595959"/>
                </a:solidFill>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Technology Architecture </a:t>
            </a:r>
          </a:p>
          <a:p>
            <a:pPr marL="20319" marR="0" lvl="0" indent="0" algn="l" defTabSz="1219170" eaLnBrk="1" fontAlgn="auto" latinLnBrk="0" hangingPunct="1">
              <a:spcBef>
                <a:spcPts val="0"/>
              </a:spcBef>
              <a:spcAft>
                <a:spcPts val="0"/>
              </a:spcAft>
              <a:buClrTx/>
              <a:buSzTx/>
              <a:buFontTx/>
              <a:buNone/>
              <a:tabLst/>
              <a:defRPr/>
            </a:pPr>
            <a:r>
              <a:rPr kumimoji="0" lang="en-US" sz="3000" b="1" i="0" u="none" strike="noStrike" kern="1200" cap="none" spc="-100" normalizeH="0" noProof="0">
                <a:ln>
                  <a:noFill/>
                </a:ln>
                <a:solidFill>
                  <a:srgbClr val="060B25"/>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Platform Overview</a:t>
            </a:r>
          </a:p>
        </p:txBody>
      </p:sp>
      <p:sp>
        <p:nvSpPr>
          <p:cNvPr id="23" name="Rectangle 22">
            <a:extLst>
              <a:ext uri="{FF2B5EF4-FFF2-40B4-BE49-F238E27FC236}">
                <a16:creationId xmlns:a16="http://schemas.microsoft.com/office/drawing/2014/main" id="{DD22179C-DE69-E3A3-BB70-ECAB8B6F0A1F}"/>
              </a:ext>
            </a:extLst>
          </p:cNvPr>
          <p:cNvSpPr/>
          <p:nvPr/>
        </p:nvSpPr>
        <p:spPr>
          <a:xfrm>
            <a:off x="1358962" y="1469028"/>
            <a:ext cx="9474077" cy="3927407"/>
          </a:xfrm>
          <a:prstGeom prst="rect">
            <a:avLst/>
          </a:prstGeom>
          <a:solidFill>
            <a:srgbClr val="F1F1FF"/>
          </a:solidFill>
          <a:ln w="3175">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ea typeface="+mn-lt"/>
                <a:cs typeface="+mn-lt"/>
                <a:sym typeface="+mn-lt"/>
              </a:rPr>
              <a:t>```</a:t>
            </a:r>
          </a:p>
        </p:txBody>
      </p:sp>
      <p:pic>
        <p:nvPicPr>
          <p:cNvPr id="186" name="Picture 185" descr="A white rectangular object with a black border&#10;&#10;AI-generated content may be incorrect.">
            <a:extLst>
              <a:ext uri="{FF2B5EF4-FFF2-40B4-BE49-F238E27FC236}">
                <a16:creationId xmlns:a16="http://schemas.microsoft.com/office/drawing/2014/main" id="{7EA2B8D2-3FF3-FC91-0A27-DC50649DBDC1}"/>
              </a:ext>
            </a:extLst>
          </p:cNvPr>
          <p:cNvPicPr>
            <a:picLocks noChangeAspect="1"/>
          </p:cNvPicPr>
          <p:nvPr/>
        </p:nvPicPr>
        <p:blipFill>
          <a:blip r:embed="rId6">
            <a:duotone>
              <a:prstClr val="black"/>
              <a:schemeClr val="accent3">
                <a:tint val="45000"/>
                <a:satMod val="400000"/>
              </a:schemeClr>
            </a:duotone>
            <a:alphaModFix amt="35000"/>
          </a:blip>
          <a:stretch>
            <a:fillRect/>
          </a:stretch>
        </p:blipFill>
        <p:spPr>
          <a:xfrm>
            <a:off x="1953847" y="2919776"/>
            <a:ext cx="8394395" cy="2113070"/>
          </a:xfrm>
          <a:prstGeom prst="rect">
            <a:avLst/>
          </a:prstGeom>
          <a:ln w="3175">
            <a:solidFill>
              <a:srgbClr val="D4D2F2"/>
            </a:solidFill>
          </a:ln>
        </p:spPr>
      </p:pic>
      <p:sp>
        <p:nvSpPr>
          <p:cNvPr id="99" name="TextBox 98">
            <a:extLst>
              <a:ext uri="{FF2B5EF4-FFF2-40B4-BE49-F238E27FC236}">
                <a16:creationId xmlns:a16="http://schemas.microsoft.com/office/drawing/2014/main" id="{06C6C3E9-814B-AE5F-A0DB-3E2EAB433955}"/>
              </a:ext>
            </a:extLst>
          </p:cNvPr>
          <p:cNvSpPr txBox="1"/>
          <p:nvPr/>
        </p:nvSpPr>
        <p:spPr>
          <a:xfrm>
            <a:off x="5203423" y="2917033"/>
            <a:ext cx="1815259" cy="246221"/>
          </a:xfrm>
          <a:prstGeom prst="rect">
            <a:avLst/>
          </a:prstGeom>
          <a:noFill/>
        </p:spPr>
        <p:txBody>
          <a:bodyPr wrap="square">
            <a:spAutoFit/>
          </a:bodyPr>
          <a:lstStyle/>
          <a:p>
            <a:pPr algn="ctr"/>
            <a:r>
              <a:rPr lang="en-US" sz="1000" b="1">
                <a:solidFill>
                  <a:srgbClr val="060B25"/>
                </a:solidFill>
                <a:latin typeface="+mj-lt"/>
                <a:cs typeface="Calibri" panose="020F0502020204030204" pitchFamily="34" charset="0"/>
              </a:rPr>
              <a:t>Data Fabric</a:t>
            </a:r>
          </a:p>
        </p:txBody>
      </p:sp>
      <p:sp>
        <p:nvSpPr>
          <p:cNvPr id="35" name="Rectangle 34">
            <a:extLst>
              <a:ext uri="{FF2B5EF4-FFF2-40B4-BE49-F238E27FC236}">
                <a16:creationId xmlns:a16="http://schemas.microsoft.com/office/drawing/2014/main" id="{6A28D39E-D6B7-327F-3493-D65DADB416B7}"/>
              </a:ext>
            </a:extLst>
          </p:cNvPr>
          <p:cNvSpPr/>
          <p:nvPr/>
        </p:nvSpPr>
        <p:spPr>
          <a:xfrm>
            <a:off x="8769201" y="4882840"/>
            <a:ext cx="1057976" cy="258798"/>
          </a:xfrm>
          <a:prstGeom prst="rect">
            <a:avLst/>
          </a:prstGeom>
          <a:solidFill>
            <a:srgbClr val="ECEAF3"/>
          </a:solidFill>
          <a:ln>
            <a:solidFill>
              <a:srgbClr val="A6A6A6"/>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158" name="TextBox 157">
            <a:extLst>
              <a:ext uri="{FF2B5EF4-FFF2-40B4-BE49-F238E27FC236}">
                <a16:creationId xmlns:a16="http://schemas.microsoft.com/office/drawing/2014/main" id="{309F126A-830E-5E74-6418-F354993502FB}"/>
              </a:ext>
            </a:extLst>
          </p:cNvPr>
          <p:cNvSpPr txBox="1"/>
          <p:nvPr/>
        </p:nvSpPr>
        <p:spPr>
          <a:xfrm>
            <a:off x="8767871" y="4901440"/>
            <a:ext cx="1060636" cy="221599"/>
          </a:xfrm>
          <a:prstGeom prst="rect">
            <a:avLst/>
          </a:prstGeom>
          <a:noFill/>
        </p:spPr>
        <p:txBody>
          <a:bodyPr wrap="square">
            <a:spAutoFit/>
          </a:bodyPr>
          <a:lstStyle/>
          <a:p>
            <a:pPr algn="ctr"/>
            <a:r>
              <a:rPr lang="en-US" sz="840" b="1">
                <a:latin typeface="+mj-lt"/>
              </a:rPr>
              <a:t>Containerized</a:t>
            </a:r>
            <a:endParaRPr lang="en-IN" sz="840" b="1">
              <a:latin typeface="+mj-lt"/>
            </a:endParaRPr>
          </a:p>
        </p:txBody>
      </p:sp>
      <p:sp>
        <p:nvSpPr>
          <p:cNvPr id="33" name="Rectangle: Rounded Corners 32">
            <a:extLst>
              <a:ext uri="{FF2B5EF4-FFF2-40B4-BE49-F238E27FC236}">
                <a16:creationId xmlns:a16="http://schemas.microsoft.com/office/drawing/2014/main" id="{C216AE29-3614-A94F-FA30-5E0B1A6B2EDB}"/>
              </a:ext>
            </a:extLst>
          </p:cNvPr>
          <p:cNvSpPr/>
          <p:nvPr/>
        </p:nvSpPr>
        <p:spPr>
          <a:xfrm>
            <a:off x="8748811" y="1354801"/>
            <a:ext cx="1057976" cy="258798"/>
          </a:xfrm>
          <a:prstGeom prst="roundRect">
            <a:avLst>
              <a:gd name="adj" fmla="val 5042"/>
            </a:avLst>
          </a:prstGeom>
          <a:solidFill>
            <a:srgbClr val="060B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189" name="TextBox 188">
            <a:extLst>
              <a:ext uri="{FF2B5EF4-FFF2-40B4-BE49-F238E27FC236}">
                <a16:creationId xmlns:a16="http://schemas.microsoft.com/office/drawing/2014/main" id="{CD07695E-0482-25CC-D43C-58D2E9150FE1}"/>
              </a:ext>
            </a:extLst>
          </p:cNvPr>
          <p:cNvSpPr txBox="1"/>
          <p:nvPr/>
        </p:nvSpPr>
        <p:spPr>
          <a:xfrm>
            <a:off x="8760039" y="1367381"/>
            <a:ext cx="1060636" cy="221599"/>
          </a:xfrm>
          <a:prstGeom prst="rect">
            <a:avLst/>
          </a:prstGeom>
          <a:noFill/>
        </p:spPr>
        <p:txBody>
          <a:bodyPr wrap="square">
            <a:spAutoFit/>
          </a:bodyPr>
          <a:lstStyle/>
          <a:p>
            <a:pPr algn="ctr"/>
            <a:r>
              <a:rPr lang="en-US" sz="840" b="1">
                <a:solidFill>
                  <a:srgbClr val="F1F1FF"/>
                </a:solidFill>
                <a:latin typeface="+mj-lt"/>
              </a:rPr>
              <a:t>Cloud/On-Prem</a:t>
            </a:r>
            <a:endParaRPr lang="en-IN" sz="840" b="1">
              <a:solidFill>
                <a:srgbClr val="F1F1FF"/>
              </a:solidFill>
              <a:latin typeface="+mj-lt"/>
            </a:endParaRPr>
          </a:p>
        </p:txBody>
      </p:sp>
      <p:grpSp>
        <p:nvGrpSpPr>
          <p:cNvPr id="43" name="Group 42">
            <a:extLst>
              <a:ext uri="{FF2B5EF4-FFF2-40B4-BE49-F238E27FC236}">
                <a16:creationId xmlns:a16="http://schemas.microsoft.com/office/drawing/2014/main" id="{38ED0BD9-8468-61DC-D049-3D0366ED205A}"/>
              </a:ext>
            </a:extLst>
          </p:cNvPr>
          <p:cNvGrpSpPr/>
          <p:nvPr/>
        </p:nvGrpSpPr>
        <p:grpSpPr>
          <a:xfrm>
            <a:off x="1953847" y="1673935"/>
            <a:ext cx="8394395" cy="374229"/>
            <a:chOff x="1837933" y="915547"/>
            <a:chExt cx="8555656" cy="404839"/>
          </a:xfrm>
        </p:grpSpPr>
        <p:sp>
          <p:nvSpPr>
            <p:cNvPr id="26" name="Rectangle: Rounded Corners 25">
              <a:extLst>
                <a:ext uri="{FF2B5EF4-FFF2-40B4-BE49-F238E27FC236}">
                  <a16:creationId xmlns:a16="http://schemas.microsoft.com/office/drawing/2014/main" id="{BF26D8DA-A15F-3154-C8BA-EE683A812B53}"/>
                </a:ext>
              </a:extLst>
            </p:cNvPr>
            <p:cNvSpPr/>
            <p:nvPr/>
          </p:nvSpPr>
          <p:spPr>
            <a:xfrm>
              <a:off x="1837933" y="915547"/>
              <a:ext cx="8555656" cy="404839"/>
            </a:xfrm>
            <a:prstGeom prst="roundRect">
              <a:avLst>
                <a:gd name="adj" fmla="val 5042"/>
              </a:avLst>
            </a:prstGeom>
            <a:solidFill>
              <a:srgbClr val="ECEAF3"/>
            </a:solidFill>
            <a:ln>
              <a:solidFill>
                <a:srgbClr val="A6A6A6"/>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solidFill>
                    <a:srgbClr val="060B25"/>
                  </a:solidFill>
                  <a:ea typeface="+mn-lt"/>
                  <a:cs typeface="+mn-lt"/>
                  <a:sym typeface="+mn-lt"/>
                </a:rPr>
                <a:t>Managed Services</a:t>
              </a:r>
            </a:p>
          </p:txBody>
        </p:sp>
        <p:pic>
          <p:nvPicPr>
            <p:cNvPr id="42" name="Picture 41" descr="A black background with a black square&#10;&#10;AI-generated content may be incorrect.">
              <a:extLst>
                <a:ext uri="{FF2B5EF4-FFF2-40B4-BE49-F238E27FC236}">
                  <a16:creationId xmlns:a16="http://schemas.microsoft.com/office/drawing/2014/main" id="{18311AB3-63A4-3F8E-D7B0-692A50004A00}"/>
                </a:ext>
              </a:extLst>
            </p:cNvPr>
            <p:cNvPicPr>
              <a:picLocks noChangeAspect="1"/>
            </p:cNvPicPr>
            <p:nvPr/>
          </p:nvPicPr>
          <p:blipFill>
            <a:blip r:embed="rId7"/>
            <a:stretch>
              <a:fillRect/>
            </a:stretch>
          </p:blipFill>
          <p:spPr>
            <a:xfrm>
              <a:off x="1969516" y="1012244"/>
              <a:ext cx="1180949" cy="202932"/>
            </a:xfrm>
            <a:prstGeom prst="rect">
              <a:avLst/>
            </a:prstGeom>
          </p:spPr>
        </p:pic>
      </p:grpSp>
      <p:sp>
        <p:nvSpPr>
          <p:cNvPr id="44" name="Rectangle 43">
            <a:extLst>
              <a:ext uri="{FF2B5EF4-FFF2-40B4-BE49-F238E27FC236}">
                <a16:creationId xmlns:a16="http://schemas.microsoft.com/office/drawing/2014/main" id="{B4EFB483-271E-8C7E-8E46-2A398A417905}"/>
              </a:ext>
            </a:extLst>
          </p:cNvPr>
          <p:cNvSpPr/>
          <p:nvPr/>
        </p:nvSpPr>
        <p:spPr>
          <a:xfrm>
            <a:off x="1358962" y="5697584"/>
            <a:ext cx="9474077" cy="686130"/>
          </a:xfrm>
          <a:prstGeom prst="rect">
            <a:avLst/>
          </a:prstGeom>
          <a:solidFill>
            <a:srgbClr val="F1F1FF"/>
          </a:solidFill>
          <a:ln w="3175">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ea typeface="+mn-lt"/>
                <a:cs typeface="+mn-lt"/>
                <a:sym typeface="+mn-lt"/>
              </a:rPr>
              <a:t>`</a:t>
            </a:r>
          </a:p>
        </p:txBody>
      </p:sp>
      <p:sp>
        <p:nvSpPr>
          <p:cNvPr id="45" name="Rectangle 44">
            <a:extLst>
              <a:ext uri="{FF2B5EF4-FFF2-40B4-BE49-F238E27FC236}">
                <a16:creationId xmlns:a16="http://schemas.microsoft.com/office/drawing/2014/main" id="{965C5CC0-BF8E-9A05-EEB6-7DDAC0D2CF09}"/>
              </a:ext>
            </a:extLst>
          </p:cNvPr>
          <p:cNvSpPr/>
          <p:nvPr/>
        </p:nvSpPr>
        <p:spPr>
          <a:xfrm>
            <a:off x="1534921" y="5892625"/>
            <a:ext cx="1170614" cy="393457"/>
          </a:xfrm>
          <a:prstGeom prst="rect">
            <a:avLst/>
          </a:prstGeom>
          <a:solidFill>
            <a:schemeClr val="bg1"/>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pic>
        <p:nvPicPr>
          <p:cNvPr id="46" name="Picture 45" descr="A close-up of a logo&#10;&#10;Description automatically generated">
            <a:extLst>
              <a:ext uri="{FF2B5EF4-FFF2-40B4-BE49-F238E27FC236}">
                <a16:creationId xmlns:a16="http://schemas.microsoft.com/office/drawing/2014/main" id="{67E5E61B-A90E-B9D0-4379-7D7B188344E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886194" y="5978482"/>
            <a:ext cx="760498" cy="272950"/>
          </a:xfrm>
          <a:prstGeom prst="rect">
            <a:avLst/>
          </a:prstGeom>
        </p:spPr>
      </p:pic>
      <p:sp>
        <p:nvSpPr>
          <p:cNvPr id="47" name="Rectangle: Rounded Corners 46">
            <a:extLst>
              <a:ext uri="{FF2B5EF4-FFF2-40B4-BE49-F238E27FC236}">
                <a16:creationId xmlns:a16="http://schemas.microsoft.com/office/drawing/2014/main" id="{DB5DD0FE-9C6E-2EB5-E36F-327645676A61}"/>
              </a:ext>
            </a:extLst>
          </p:cNvPr>
          <p:cNvSpPr/>
          <p:nvPr/>
        </p:nvSpPr>
        <p:spPr>
          <a:xfrm>
            <a:off x="1588334" y="5832288"/>
            <a:ext cx="1074752" cy="142487"/>
          </a:xfrm>
          <a:prstGeom prst="roundRect">
            <a:avLst>
              <a:gd name="adj" fmla="val 5042"/>
            </a:avLst>
          </a:prstGeom>
          <a:solidFill>
            <a:srgbClr val="F2F2F2"/>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48" name="TextBox 47">
            <a:extLst>
              <a:ext uri="{FF2B5EF4-FFF2-40B4-BE49-F238E27FC236}">
                <a16:creationId xmlns:a16="http://schemas.microsoft.com/office/drawing/2014/main" id="{A9C297B7-9938-CEBD-D3E2-6B01A0EA2CCF}"/>
              </a:ext>
            </a:extLst>
          </p:cNvPr>
          <p:cNvSpPr txBox="1"/>
          <p:nvPr/>
        </p:nvSpPr>
        <p:spPr>
          <a:xfrm>
            <a:off x="1650867" y="5866187"/>
            <a:ext cx="949687" cy="83100"/>
          </a:xfrm>
          <a:prstGeom prst="rect">
            <a:avLst/>
          </a:prstGeom>
          <a:noFill/>
        </p:spPr>
        <p:txBody>
          <a:bodyPr wrap="square" lIns="0" tIns="0" rIns="0" bIns="0" rtlCol="0" anchor="t">
            <a:spAutoFit/>
          </a:bodyPr>
          <a:lstStyle/>
          <a:p>
            <a:pPr algn="ctr"/>
            <a:r>
              <a:rPr lang="en-US" sz="540" b="1">
                <a:solidFill>
                  <a:srgbClr val="060B25"/>
                </a:solidFill>
                <a:latin typeface="+mj-lt"/>
                <a:cs typeface="Calibri Light"/>
              </a:rPr>
              <a:t>Endpoint Management</a:t>
            </a:r>
            <a:endParaRPr lang="en-US" sz="540">
              <a:solidFill>
                <a:srgbClr val="060B25"/>
              </a:solidFill>
              <a:latin typeface="+mj-lt"/>
              <a:cs typeface="Calibri Light"/>
            </a:endParaRPr>
          </a:p>
        </p:txBody>
      </p:sp>
      <p:pic>
        <p:nvPicPr>
          <p:cNvPr id="49" name="Picture 48" descr="A red and white logo&#10;&#10;Description automatically generated">
            <a:extLst>
              <a:ext uri="{FF2B5EF4-FFF2-40B4-BE49-F238E27FC236}">
                <a16:creationId xmlns:a16="http://schemas.microsoft.com/office/drawing/2014/main" id="{5289493C-5E60-2FD2-9B27-57B4DBEF65FB}"/>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612032" y="6002182"/>
            <a:ext cx="390137" cy="225547"/>
          </a:xfrm>
          <a:prstGeom prst="rect">
            <a:avLst/>
          </a:prstGeom>
          <a:noFill/>
        </p:spPr>
      </p:pic>
      <p:sp>
        <p:nvSpPr>
          <p:cNvPr id="50" name="Rectangle 49">
            <a:extLst>
              <a:ext uri="{FF2B5EF4-FFF2-40B4-BE49-F238E27FC236}">
                <a16:creationId xmlns:a16="http://schemas.microsoft.com/office/drawing/2014/main" id="{E461C910-6C8F-0FF6-69DD-2BB8B60E4690}"/>
              </a:ext>
            </a:extLst>
          </p:cNvPr>
          <p:cNvSpPr/>
          <p:nvPr/>
        </p:nvSpPr>
        <p:spPr>
          <a:xfrm>
            <a:off x="2772079" y="5903537"/>
            <a:ext cx="961926" cy="393457"/>
          </a:xfrm>
          <a:prstGeom prst="rect">
            <a:avLst/>
          </a:prstGeom>
          <a:solidFill>
            <a:srgbClr val="FFFFFF"/>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pic>
        <p:nvPicPr>
          <p:cNvPr id="51" name="Picture 50" descr="A red and white logo&#10;&#10;Description automatically generated">
            <a:extLst>
              <a:ext uri="{FF2B5EF4-FFF2-40B4-BE49-F238E27FC236}">
                <a16:creationId xmlns:a16="http://schemas.microsoft.com/office/drawing/2014/main" id="{97D8C396-6E4F-17E8-2A61-88E3B8792619}"/>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857399" y="6028150"/>
            <a:ext cx="272371" cy="174596"/>
          </a:xfrm>
          <a:prstGeom prst="rect">
            <a:avLst/>
          </a:prstGeom>
        </p:spPr>
      </p:pic>
      <p:sp>
        <p:nvSpPr>
          <p:cNvPr id="52" name="Rectangle 51">
            <a:extLst>
              <a:ext uri="{FF2B5EF4-FFF2-40B4-BE49-F238E27FC236}">
                <a16:creationId xmlns:a16="http://schemas.microsoft.com/office/drawing/2014/main" id="{AEDBD613-56F9-3B64-1A5A-0B9F6E0C4AEC}"/>
              </a:ext>
            </a:extLst>
          </p:cNvPr>
          <p:cNvSpPr/>
          <p:nvPr/>
        </p:nvSpPr>
        <p:spPr>
          <a:xfrm>
            <a:off x="2818098" y="5824844"/>
            <a:ext cx="873456" cy="149930"/>
          </a:xfrm>
          <a:prstGeom prst="rect">
            <a:avLst/>
          </a:prstGeom>
          <a:solidFill>
            <a:srgbClr val="F2F2F2"/>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53" name="TextBox 52">
            <a:extLst>
              <a:ext uri="{FF2B5EF4-FFF2-40B4-BE49-F238E27FC236}">
                <a16:creationId xmlns:a16="http://schemas.microsoft.com/office/drawing/2014/main" id="{E7CBB59C-9808-2753-1B3F-7AC55FE038C3}"/>
              </a:ext>
            </a:extLst>
          </p:cNvPr>
          <p:cNvSpPr txBox="1"/>
          <p:nvPr/>
        </p:nvSpPr>
        <p:spPr>
          <a:xfrm>
            <a:off x="3033308" y="5866559"/>
            <a:ext cx="443036" cy="83100"/>
          </a:xfrm>
          <a:prstGeom prst="rect">
            <a:avLst/>
          </a:prstGeom>
          <a:noFill/>
        </p:spPr>
        <p:txBody>
          <a:bodyPr wrap="square" lIns="0" tIns="0" rIns="0" bIns="0" rtlCol="0" anchor="t">
            <a:spAutoFit/>
          </a:bodyPr>
          <a:lstStyle/>
          <a:p>
            <a:pPr algn="ctr"/>
            <a:r>
              <a:rPr lang="en-US" sz="540" b="1">
                <a:solidFill>
                  <a:srgbClr val="060B25"/>
                </a:solidFill>
                <a:latin typeface="+mj-lt"/>
                <a:cs typeface="Calibri Light"/>
              </a:rPr>
              <a:t>VM</a:t>
            </a:r>
            <a:endParaRPr lang="en-US" sz="540">
              <a:solidFill>
                <a:srgbClr val="060B25"/>
              </a:solidFill>
              <a:latin typeface="+mj-lt"/>
              <a:cs typeface="Calibri Light"/>
            </a:endParaRPr>
          </a:p>
        </p:txBody>
      </p:sp>
      <p:pic>
        <p:nvPicPr>
          <p:cNvPr id="54" name="Picture 53" descr="A black and white logo&#10;&#10;Description automatically generated">
            <a:extLst>
              <a:ext uri="{FF2B5EF4-FFF2-40B4-BE49-F238E27FC236}">
                <a16:creationId xmlns:a16="http://schemas.microsoft.com/office/drawing/2014/main" id="{C3ECBB13-2DAC-1152-FA45-7F3C069B9767}"/>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217220" y="6091351"/>
            <a:ext cx="403573" cy="89064"/>
          </a:xfrm>
          <a:prstGeom prst="rect">
            <a:avLst/>
          </a:prstGeom>
        </p:spPr>
      </p:pic>
      <p:sp>
        <p:nvSpPr>
          <p:cNvPr id="55" name="Rectangle 54">
            <a:extLst>
              <a:ext uri="{FF2B5EF4-FFF2-40B4-BE49-F238E27FC236}">
                <a16:creationId xmlns:a16="http://schemas.microsoft.com/office/drawing/2014/main" id="{704EDE9C-E4EE-D630-922E-F1621B56B398}"/>
              </a:ext>
            </a:extLst>
          </p:cNvPr>
          <p:cNvSpPr/>
          <p:nvPr/>
        </p:nvSpPr>
        <p:spPr>
          <a:xfrm>
            <a:off x="3813766" y="5908530"/>
            <a:ext cx="1170614" cy="393457"/>
          </a:xfrm>
          <a:prstGeom prst="rect">
            <a:avLst/>
          </a:prstGeom>
          <a:solidFill>
            <a:srgbClr val="FFFFFF"/>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pic>
        <p:nvPicPr>
          <p:cNvPr id="56" name="Picture 55" descr="A red eagle with wings&#10;&#10;Description automatically generated">
            <a:extLst>
              <a:ext uri="{FF2B5EF4-FFF2-40B4-BE49-F238E27FC236}">
                <a16:creationId xmlns:a16="http://schemas.microsoft.com/office/drawing/2014/main" id="{8E8189E0-0E69-1865-D55C-5D07F8B7A36A}"/>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44717" y="6033508"/>
            <a:ext cx="398652" cy="174443"/>
          </a:xfrm>
          <a:prstGeom prst="rect">
            <a:avLst/>
          </a:prstGeom>
        </p:spPr>
      </p:pic>
      <p:pic>
        <p:nvPicPr>
          <p:cNvPr id="57" name="Picture 56" descr="A blue shield with white crosses&#10;&#10;Description automatically generated">
            <a:extLst>
              <a:ext uri="{FF2B5EF4-FFF2-40B4-BE49-F238E27FC236}">
                <a16:creationId xmlns:a16="http://schemas.microsoft.com/office/drawing/2014/main" id="{3136007F-09F1-5761-B3AF-CF73696FEA85}"/>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4625785" y="6027502"/>
            <a:ext cx="339799" cy="174443"/>
          </a:xfrm>
          <a:prstGeom prst="rect">
            <a:avLst/>
          </a:prstGeom>
        </p:spPr>
      </p:pic>
      <p:sp>
        <p:nvSpPr>
          <p:cNvPr id="58" name="Rectangle: Rounded Corners 57">
            <a:extLst>
              <a:ext uri="{FF2B5EF4-FFF2-40B4-BE49-F238E27FC236}">
                <a16:creationId xmlns:a16="http://schemas.microsoft.com/office/drawing/2014/main" id="{684B5457-88B5-5133-760D-BD9E9D0E3911}"/>
              </a:ext>
            </a:extLst>
          </p:cNvPr>
          <p:cNvSpPr/>
          <p:nvPr/>
        </p:nvSpPr>
        <p:spPr>
          <a:xfrm>
            <a:off x="3877427" y="5848194"/>
            <a:ext cx="1074752" cy="142487"/>
          </a:xfrm>
          <a:prstGeom prst="roundRect">
            <a:avLst>
              <a:gd name="adj" fmla="val 5042"/>
            </a:avLst>
          </a:prstGeom>
          <a:solidFill>
            <a:srgbClr val="F2F2F2"/>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59" name="TextBox 58">
            <a:extLst>
              <a:ext uri="{FF2B5EF4-FFF2-40B4-BE49-F238E27FC236}">
                <a16:creationId xmlns:a16="http://schemas.microsoft.com/office/drawing/2014/main" id="{2C394A35-E194-C5FE-3813-24C7D127A2DA}"/>
              </a:ext>
            </a:extLst>
          </p:cNvPr>
          <p:cNvSpPr txBox="1"/>
          <p:nvPr/>
        </p:nvSpPr>
        <p:spPr>
          <a:xfrm>
            <a:off x="3868041" y="5877717"/>
            <a:ext cx="1093524" cy="83100"/>
          </a:xfrm>
          <a:prstGeom prst="rect">
            <a:avLst/>
          </a:prstGeom>
          <a:noFill/>
        </p:spPr>
        <p:txBody>
          <a:bodyPr wrap="square" lIns="0" tIns="0" rIns="0" bIns="0" rtlCol="0" anchor="t">
            <a:spAutoFit/>
          </a:bodyPr>
          <a:lstStyle/>
          <a:p>
            <a:pPr algn="ctr"/>
            <a:r>
              <a:rPr lang="en-US" sz="540" b="1">
                <a:solidFill>
                  <a:srgbClr val="060B25"/>
                </a:solidFill>
                <a:latin typeface="+mj-lt"/>
                <a:cs typeface="Calibri Light"/>
              </a:rPr>
              <a:t>EDR/AV</a:t>
            </a:r>
            <a:endParaRPr lang="en-US" sz="540">
              <a:solidFill>
                <a:srgbClr val="060B25"/>
              </a:solidFill>
              <a:latin typeface="+mj-lt"/>
              <a:cs typeface="Calibri Light"/>
            </a:endParaRPr>
          </a:p>
        </p:txBody>
      </p:sp>
      <p:pic>
        <p:nvPicPr>
          <p:cNvPr id="60" name="Picture 59" descr="A black and white logo&#10;&#10;Description automatically generated">
            <a:extLst>
              <a:ext uri="{FF2B5EF4-FFF2-40B4-BE49-F238E27FC236}">
                <a16:creationId xmlns:a16="http://schemas.microsoft.com/office/drawing/2014/main" id="{A6E941F2-A643-E279-EF24-992B9D8BCC3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3885589" y="6082849"/>
            <a:ext cx="546844" cy="91974"/>
          </a:xfrm>
          <a:prstGeom prst="rect">
            <a:avLst/>
          </a:prstGeom>
        </p:spPr>
      </p:pic>
      <p:sp>
        <p:nvSpPr>
          <p:cNvPr id="61" name="Rectangle 60">
            <a:extLst>
              <a:ext uri="{FF2B5EF4-FFF2-40B4-BE49-F238E27FC236}">
                <a16:creationId xmlns:a16="http://schemas.microsoft.com/office/drawing/2014/main" id="{9675C1A0-AFF3-8888-6ABB-6AF7914CCD1E}"/>
              </a:ext>
            </a:extLst>
          </p:cNvPr>
          <p:cNvSpPr/>
          <p:nvPr/>
        </p:nvSpPr>
        <p:spPr>
          <a:xfrm>
            <a:off x="5069281" y="5913693"/>
            <a:ext cx="1170614" cy="393457"/>
          </a:xfrm>
          <a:prstGeom prst="rect">
            <a:avLst/>
          </a:prstGeom>
          <a:solidFill>
            <a:srgbClr val="FFFFFF"/>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62" name="Rectangle 61">
            <a:extLst>
              <a:ext uri="{FF2B5EF4-FFF2-40B4-BE49-F238E27FC236}">
                <a16:creationId xmlns:a16="http://schemas.microsoft.com/office/drawing/2014/main" id="{98CB904D-3F7E-5527-B8A9-DAE910497A82}"/>
              </a:ext>
            </a:extLst>
          </p:cNvPr>
          <p:cNvSpPr/>
          <p:nvPr/>
        </p:nvSpPr>
        <p:spPr>
          <a:xfrm>
            <a:off x="6322015" y="5904516"/>
            <a:ext cx="945566" cy="393457"/>
          </a:xfrm>
          <a:prstGeom prst="rect">
            <a:avLst/>
          </a:prstGeom>
          <a:solidFill>
            <a:srgbClr val="FFFFFF"/>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63" name="Rectangle 62">
            <a:extLst>
              <a:ext uri="{FF2B5EF4-FFF2-40B4-BE49-F238E27FC236}">
                <a16:creationId xmlns:a16="http://schemas.microsoft.com/office/drawing/2014/main" id="{6387562A-ABF0-DC03-5D05-85638B9CB9E3}"/>
              </a:ext>
            </a:extLst>
          </p:cNvPr>
          <p:cNvSpPr/>
          <p:nvPr/>
        </p:nvSpPr>
        <p:spPr>
          <a:xfrm>
            <a:off x="7367394" y="5901219"/>
            <a:ext cx="757540" cy="393457"/>
          </a:xfrm>
          <a:prstGeom prst="rect">
            <a:avLst/>
          </a:prstGeom>
          <a:solidFill>
            <a:srgbClr val="FFFFFF"/>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64" name="Rectangle 63">
            <a:extLst>
              <a:ext uri="{FF2B5EF4-FFF2-40B4-BE49-F238E27FC236}">
                <a16:creationId xmlns:a16="http://schemas.microsoft.com/office/drawing/2014/main" id="{ADC1A645-D8C6-F92C-5435-761700C442DD}"/>
              </a:ext>
            </a:extLst>
          </p:cNvPr>
          <p:cNvSpPr/>
          <p:nvPr/>
        </p:nvSpPr>
        <p:spPr>
          <a:xfrm>
            <a:off x="9459549" y="5886120"/>
            <a:ext cx="1170614" cy="393457"/>
          </a:xfrm>
          <a:prstGeom prst="rect">
            <a:avLst/>
          </a:prstGeom>
          <a:solidFill>
            <a:srgbClr val="FFFFFF"/>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65" name="Rectangle 64">
            <a:extLst>
              <a:ext uri="{FF2B5EF4-FFF2-40B4-BE49-F238E27FC236}">
                <a16:creationId xmlns:a16="http://schemas.microsoft.com/office/drawing/2014/main" id="{014FFB02-F74A-7B1B-FC93-BE90F489BA70}"/>
              </a:ext>
            </a:extLst>
          </p:cNvPr>
          <p:cNvSpPr/>
          <p:nvPr/>
        </p:nvSpPr>
        <p:spPr>
          <a:xfrm>
            <a:off x="8215730" y="5906575"/>
            <a:ext cx="1170614" cy="385447"/>
          </a:xfrm>
          <a:prstGeom prst="rect">
            <a:avLst/>
          </a:prstGeom>
          <a:solidFill>
            <a:srgbClr val="FFFFFF"/>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pic>
        <p:nvPicPr>
          <p:cNvPr id="66" name="Picture 65" descr="A red eagle with wings&#10;&#10;Description automatically generated">
            <a:extLst>
              <a:ext uri="{FF2B5EF4-FFF2-40B4-BE49-F238E27FC236}">
                <a16:creationId xmlns:a16="http://schemas.microsoft.com/office/drawing/2014/main" id="{6BB8D754-5B9A-DA3D-A431-4090B3463664}"/>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9107840" y="6015108"/>
            <a:ext cx="273056" cy="212149"/>
          </a:xfrm>
          <a:prstGeom prst="rect">
            <a:avLst/>
          </a:prstGeom>
        </p:spPr>
      </p:pic>
      <p:pic>
        <p:nvPicPr>
          <p:cNvPr id="67" name="Picture 66" descr="A green shield with a white padlock&#10;&#10;Description automatically generated">
            <a:extLst>
              <a:ext uri="{FF2B5EF4-FFF2-40B4-BE49-F238E27FC236}">
                <a16:creationId xmlns:a16="http://schemas.microsoft.com/office/drawing/2014/main" id="{2907B5C7-2B73-A045-B7FB-83C5CF10951B}"/>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5881401" y="6034653"/>
            <a:ext cx="314729" cy="241512"/>
          </a:xfrm>
          <a:prstGeom prst="rect">
            <a:avLst/>
          </a:prstGeom>
        </p:spPr>
      </p:pic>
      <p:pic>
        <p:nvPicPr>
          <p:cNvPr id="68" name="Picture 67" descr="A black text on a white background&#10;&#10;Description automatically generated">
            <a:extLst>
              <a:ext uri="{FF2B5EF4-FFF2-40B4-BE49-F238E27FC236}">
                <a16:creationId xmlns:a16="http://schemas.microsoft.com/office/drawing/2014/main" id="{83DCE162-2CE4-5EEC-C88F-920DEB057A04}"/>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5104667" y="6055189"/>
            <a:ext cx="428819" cy="159762"/>
          </a:xfrm>
          <a:prstGeom prst="rect">
            <a:avLst/>
          </a:prstGeom>
        </p:spPr>
      </p:pic>
      <p:pic>
        <p:nvPicPr>
          <p:cNvPr id="69" name="Picture 68" descr="A logo with a square and a square in the middle&#10;&#10;Description automatically generated with medium confidence">
            <a:extLst>
              <a:ext uri="{FF2B5EF4-FFF2-40B4-BE49-F238E27FC236}">
                <a16:creationId xmlns:a16="http://schemas.microsoft.com/office/drawing/2014/main" id="{EF6788E1-A9E1-7B87-6191-6A1FF94162F1}"/>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6334644" y="6012962"/>
            <a:ext cx="500219" cy="256204"/>
          </a:xfrm>
          <a:prstGeom prst="rect">
            <a:avLst/>
          </a:prstGeom>
        </p:spPr>
      </p:pic>
      <p:pic>
        <p:nvPicPr>
          <p:cNvPr id="70" name="Picture 69" descr="A close-up of a logo&#10;&#10;Description automatically generated">
            <a:extLst>
              <a:ext uri="{FF2B5EF4-FFF2-40B4-BE49-F238E27FC236}">
                <a16:creationId xmlns:a16="http://schemas.microsoft.com/office/drawing/2014/main" id="{1765FC23-76A3-53E2-97E7-90A76A77E1C0}"/>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6693542" y="6010629"/>
            <a:ext cx="545507" cy="263969"/>
          </a:xfrm>
          <a:prstGeom prst="rect">
            <a:avLst/>
          </a:prstGeom>
        </p:spPr>
      </p:pic>
      <p:sp>
        <p:nvSpPr>
          <p:cNvPr id="71" name="Rectangle 70">
            <a:extLst>
              <a:ext uri="{FF2B5EF4-FFF2-40B4-BE49-F238E27FC236}">
                <a16:creationId xmlns:a16="http://schemas.microsoft.com/office/drawing/2014/main" id="{DB26D035-33C3-1EAC-F4C1-4A97C6906869}"/>
              </a:ext>
            </a:extLst>
          </p:cNvPr>
          <p:cNvSpPr/>
          <p:nvPr/>
        </p:nvSpPr>
        <p:spPr>
          <a:xfrm>
            <a:off x="5122694" y="5853355"/>
            <a:ext cx="1074752" cy="142487"/>
          </a:xfrm>
          <a:prstGeom prst="rect">
            <a:avLst/>
          </a:prstGeom>
          <a:solidFill>
            <a:srgbClr val="F2F2F2"/>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72" name="Rectangle 71">
            <a:extLst>
              <a:ext uri="{FF2B5EF4-FFF2-40B4-BE49-F238E27FC236}">
                <a16:creationId xmlns:a16="http://schemas.microsoft.com/office/drawing/2014/main" id="{52598D5D-0771-424F-51BC-77C6F2890764}"/>
              </a:ext>
            </a:extLst>
          </p:cNvPr>
          <p:cNvSpPr/>
          <p:nvPr/>
        </p:nvSpPr>
        <p:spPr>
          <a:xfrm>
            <a:off x="6409599" y="5844179"/>
            <a:ext cx="769578" cy="142487"/>
          </a:xfrm>
          <a:prstGeom prst="rect">
            <a:avLst/>
          </a:prstGeom>
          <a:solidFill>
            <a:srgbClr val="F2F2F2"/>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73" name="Rectangle 72">
            <a:extLst>
              <a:ext uri="{FF2B5EF4-FFF2-40B4-BE49-F238E27FC236}">
                <a16:creationId xmlns:a16="http://schemas.microsoft.com/office/drawing/2014/main" id="{7A399002-ACA2-AA65-4404-18E33F789A43}"/>
              </a:ext>
            </a:extLst>
          </p:cNvPr>
          <p:cNvSpPr/>
          <p:nvPr/>
        </p:nvSpPr>
        <p:spPr>
          <a:xfrm>
            <a:off x="7463855" y="5840881"/>
            <a:ext cx="567499" cy="142487"/>
          </a:xfrm>
          <a:prstGeom prst="rect">
            <a:avLst/>
          </a:prstGeom>
          <a:solidFill>
            <a:srgbClr val="F2F2F2"/>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74" name="Rectangle 73">
            <a:extLst>
              <a:ext uri="{FF2B5EF4-FFF2-40B4-BE49-F238E27FC236}">
                <a16:creationId xmlns:a16="http://schemas.microsoft.com/office/drawing/2014/main" id="{2E0A6FAB-BA5D-5117-03FB-243D89363C05}"/>
              </a:ext>
            </a:extLst>
          </p:cNvPr>
          <p:cNvSpPr/>
          <p:nvPr/>
        </p:nvSpPr>
        <p:spPr>
          <a:xfrm>
            <a:off x="9512963" y="5825784"/>
            <a:ext cx="1074752" cy="142487"/>
          </a:xfrm>
          <a:prstGeom prst="rect">
            <a:avLst/>
          </a:prstGeom>
          <a:solidFill>
            <a:srgbClr val="F2F2F2"/>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75" name="Rectangle 74">
            <a:extLst>
              <a:ext uri="{FF2B5EF4-FFF2-40B4-BE49-F238E27FC236}">
                <a16:creationId xmlns:a16="http://schemas.microsoft.com/office/drawing/2014/main" id="{A5AD2B55-2DEA-D1E3-DB8A-5F55667ACEAA}"/>
              </a:ext>
            </a:extLst>
          </p:cNvPr>
          <p:cNvSpPr/>
          <p:nvPr/>
        </p:nvSpPr>
        <p:spPr>
          <a:xfrm>
            <a:off x="8257969" y="5827274"/>
            <a:ext cx="1074752" cy="142487"/>
          </a:xfrm>
          <a:prstGeom prst="rect">
            <a:avLst/>
          </a:prstGeom>
          <a:solidFill>
            <a:srgbClr val="F2F2F2"/>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76" name="TextBox 75">
            <a:extLst>
              <a:ext uri="{FF2B5EF4-FFF2-40B4-BE49-F238E27FC236}">
                <a16:creationId xmlns:a16="http://schemas.microsoft.com/office/drawing/2014/main" id="{708A3E6D-2B4E-7D63-494F-A215CE58CBF5}"/>
              </a:ext>
            </a:extLst>
          </p:cNvPr>
          <p:cNvSpPr txBox="1"/>
          <p:nvPr/>
        </p:nvSpPr>
        <p:spPr>
          <a:xfrm>
            <a:off x="8320502" y="5859807"/>
            <a:ext cx="949687" cy="83100"/>
          </a:xfrm>
          <a:prstGeom prst="rect">
            <a:avLst/>
          </a:prstGeom>
          <a:noFill/>
        </p:spPr>
        <p:txBody>
          <a:bodyPr wrap="square" lIns="0" tIns="0" rIns="0" bIns="0" rtlCol="0" anchor="t">
            <a:spAutoFit/>
          </a:bodyPr>
          <a:lstStyle/>
          <a:p>
            <a:pPr algn="ctr"/>
            <a:r>
              <a:rPr lang="en-US" sz="540" b="1">
                <a:solidFill>
                  <a:srgbClr val="060B25"/>
                </a:solidFill>
                <a:latin typeface="+mj-lt"/>
                <a:cs typeface="Calibri Light"/>
              </a:rPr>
              <a:t>IAM/IGA</a:t>
            </a:r>
            <a:endParaRPr lang="en-US" sz="540">
              <a:solidFill>
                <a:srgbClr val="060B25"/>
              </a:solidFill>
              <a:latin typeface="+mj-lt"/>
              <a:cs typeface="Calibri Light"/>
            </a:endParaRPr>
          </a:p>
        </p:txBody>
      </p:sp>
      <p:sp>
        <p:nvSpPr>
          <p:cNvPr id="77" name="TextBox 76">
            <a:extLst>
              <a:ext uri="{FF2B5EF4-FFF2-40B4-BE49-F238E27FC236}">
                <a16:creationId xmlns:a16="http://schemas.microsoft.com/office/drawing/2014/main" id="{58913FA5-66E4-6115-3A92-F0E850C2032D}"/>
              </a:ext>
            </a:extLst>
          </p:cNvPr>
          <p:cNvSpPr txBox="1"/>
          <p:nvPr/>
        </p:nvSpPr>
        <p:spPr>
          <a:xfrm>
            <a:off x="9575496" y="5848805"/>
            <a:ext cx="949687" cy="83100"/>
          </a:xfrm>
          <a:prstGeom prst="rect">
            <a:avLst/>
          </a:prstGeom>
          <a:noFill/>
        </p:spPr>
        <p:txBody>
          <a:bodyPr wrap="square" lIns="0" tIns="0" rIns="0" bIns="0" rtlCol="0" anchor="t">
            <a:spAutoFit/>
          </a:bodyPr>
          <a:lstStyle/>
          <a:p>
            <a:pPr algn="ctr"/>
            <a:r>
              <a:rPr lang="en-US" sz="540" b="1">
                <a:solidFill>
                  <a:srgbClr val="060B25"/>
                </a:solidFill>
                <a:latin typeface="+mj-lt"/>
                <a:cs typeface="Calibri Light"/>
              </a:rPr>
              <a:t>Existing Data Stores</a:t>
            </a:r>
            <a:endParaRPr lang="en-US" sz="540">
              <a:solidFill>
                <a:srgbClr val="060B25"/>
              </a:solidFill>
              <a:latin typeface="+mj-lt"/>
              <a:cs typeface="Calibri Light"/>
            </a:endParaRPr>
          </a:p>
        </p:txBody>
      </p:sp>
      <p:sp>
        <p:nvSpPr>
          <p:cNvPr id="78" name="TextBox 77">
            <a:extLst>
              <a:ext uri="{FF2B5EF4-FFF2-40B4-BE49-F238E27FC236}">
                <a16:creationId xmlns:a16="http://schemas.microsoft.com/office/drawing/2014/main" id="{A67C3EB7-2399-A228-45C1-C057ED743ECD}"/>
              </a:ext>
            </a:extLst>
          </p:cNvPr>
          <p:cNvSpPr txBox="1"/>
          <p:nvPr/>
        </p:nvSpPr>
        <p:spPr>
          <a:xfrm>
            <a:off x="5185227" y="5886659"/>
            <a:ext cx="949687" cy="83100"/>
          </a:xfrm>
          <a:prstGeom prst="rect">
            <a:avLst/>
          </a:prstGeom>
          <a:noFill/>
        </p:spPr>
        <p:txBody>
          <a:bodyPr wrap="square" lIns="0" tIns="0" rIns="0" bIns="0" rtlCol="0" anchor="t">
            <a:spAutoFit/>
          </a:bodyPr>
          <a:lstStyle/>
          <a:p>
            <a:pPr algn="ctr"/>
            <a:r>
              <a:rPr lang="en-US" sz="540" b="1">
                <a:solidFill>
                  <a:srgbClr val="060B25"/>
                </a:solidFill>
                <a:latin typeface="+mj-lt"/>
                <a:cs typeface="Calibri Light"/>
              </a:rPr>
              <a:t>Cloud</a:t>
            </a:r>
            <a:endParaRPr lang="en-US" sz="540">
              <a:solidFill>
                <a:srgbClr val="060B25"/>
              </a:solidFill>
              <a:latin typeface="+mj-lt"/>
              <a:cs typeface="Calibri Light"/>
            </a:endParaRPr>
          </a:p>
        </p:txBody>
      </p:sp>
      <p:sp>
        <p:nvSpPr>
          <p:cNvPr id="79" name="TextBox 78">
            <a:extLst>
              <a:ext uri="{FF2B5EF4-FFF2-40B4-BE49-F238E27FC236}">
                <a16:creationId xmlns:a16="http://schemas.microsoft.com/office/drawing/2014/main" id="{D2E72705-0D70-40B3-17FA-48C514E75E99}"/>
              </a:ext>
            </a:extLst>
          </p:cNvPr>
          <p:cNvSpPr txBox="1"/>
          <p:nvPr/>
        </p:nvSpPr>
        <p:spPr>
          <a:xfrm>
            <a:off x="6593008" y="5871253"/>
            <a:ext cx="402761" cy="83100"/>
          </a:xfrm>
          <a:prstGeom prst="rect">
            <a:avLst/>
          </a:prstGeom>
          <a:noFill/>
        </p:spPr>
        <p:txBody>
          <a:bodyPr wrap="square" lIns="0" tIns="0" rIns="0" bIns="0" rtlCol="0" anchor="t">
            <a:spAutoFit/>
          </a:bodyPr>
          <a:lstStyle/>
          <a:p>
            <a:pPr algn="ctr"/>
            <a:r>
              <a:rPr lang="en-US" sz="540" b="1">
                <a:solidFill>
                  <a:srgbClr val="060B25"/>
                </a:solidFill>
                <a:latin typeface="+mj-lt"/>
                <a:cs typeface="Calibri Light"/>
              </a:rPr>
              <a:t>CMDB</a:t>
            </a:r>
            <a:endParaRPr lang="en-US" sz="540">
              <a:solidFill>
                <a:srgbClr val="060B25"/>
              </a:solidFill>
              <a:latin typeface="+mj-lt"/>
              <a:cs typeface="Calibri Light"/>
            </a:endParaRPr>
          </a:p>
        </p:txBody>
      </p:sp>
      <p:sp>
        <p:nvSpPr>
          <p:cNvPr id="80" name="TextBox 79">
            <a:extLst>
              <a:ext uri="{FF2B5EF4-FFF2-40B4-BE49-F238E27FC236}">
                <a16:creationId xmlns:a16="http://schemas.microsoft.com/office/drawing/2014/main" id="{C0125EB9-A5D3-0556-EA6E-C921636101D5}"/>
              </a:ext>
            </a:extLst>
          </p:cNvPr>
          <p:cNvSpPr txBox="1"/>
          <p:nvPr/>
        </p:nvSpPr>
        <p:spPr>
          <a:xfrm>
            <a:off x="7581174" y="5869645"/>
            <a:ext cx="332861" cy="83100"/>
          </a:xfrm>
          <a:prstGeom prst="rect">
            <a:avLst/>
          </a:prstGeom>
          <a:noFill/>
        </p:spPr>
        <p:txBody>
          <a:bodyPr wrap="square" lIns="0" tIns="0" rIns="0" bIns="0" rtlCol="0" anchor="t">
            <a:spAutoFit/>
          </a:bodyPr>
          <a:lstStyle/>
          <a:p>
            <a:pPr algn="ctr"/>
            <a:r>
              <a:rPr lang="en-US" sz="540" b="1">
                <a:solidFill>
                  <a:srgbClr val="060B25"/>
                </a:solidFill>
                <a:latin typeface="+mj-lt"/>
                <a:cs typeface="Calibri Light"/>
              </a:rPr>
              <a:t>HR</a:t>
            </a:r>
            <a:endParaRPr lang="en-US" sz="540">
              <a:solidFill>
                <a:srgbClr val="060B25"/>
              </a:solidFill>
              <a:latin typeface="+mj-lt"/>
              <a:cs typeface="Calibri Light"/>
            </a:endParaRPr>
          </a:p>
        </p:txBody>
      </p:sp>
      <p:pic>
        <p:nvPicPr>
          <p:cNvPr id="81" name="Picture 80" descr="A blue circle with white letters and a orange arch&#10;&#10;Description automatically generated">
            <a:extLst>
              <a:ext uri="{FF2B5EF4-FFF2-40B4-BE49-F238E27FC236}">
                <a16:creationId xmlns:a16="http://schemas.microsoft.com/office/drawing/2014/main" id="{3326EC46-624B-A0A1-1F7A-F3E38A459E09}"/>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7463856" y="6030807"/>
            <a:ext cx="196798" cy="201230"/>
          </a:xfrm>
          <a:prstGeom prst="rect">
            <a:avLst/>
          </a:prstGeom>
        </p:spPr>
      </p:pic>
      <p:pic>
        <p:nvPicPr>
          <p:cNvPr id="82" name="Picture 81" descr="A green circle with a white letter and leaf in it&#10;&#10;Description automatically generated">
            <a:extLst>
              <a:ext uri="{FF2B5EF4-FFF2-40B4-BE49-F238E27FC236}">
                <a16:creationId xmlns:a16="http://schemas.microsoft.com/office/drawing/2014/main" id="{94E6B122-BB80-2C30-3DBC-68014ABF0270}"/>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7791657" y="6032137"/>
            <a:ext cx="191278" cy="192131"/>
          </a:xfrm>
          <a:prstGeom prst="rect">
            <a:avLst/>
          </a:prstGeom>
        </p:spPr>
      </p:pic>
      <p:pic>
        <p:nvPicPr>
          <p:cNvPr id="83" name="Picture 82" descr="A blue text on a white background&#10;&#10;Description automatically generated">
            <a:extLst>
              <a:ext uri="{FF2B5EF4-FFF2-40B4-BE49-F238E27FC236}">
                <a16:creationId xmlns:a16="http://schemas.microsoft.com/office/drawing/2014/main" id="{85F65943-0FB6-4416-1B89-4744C70E6883}"/>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8238177" y="6032197"/>
            <a:ext cx="497513" cy="176834"/>
          </a:xfrm>
          <a:prstGeom prst="rect">
            <a:avLst/>
          </a:prstGeom>
        </p:spPr>
      </p:pic>
      <p:pic>
        <p:nvPicPr>
          <p:cNvPr id="84" name="Picture 83" descr="A blue and white logo&#10;&#10;Description automatically generated">
            <a:extLst>
              <a:ext uri="{FF2B5EF4-FFF2-40B4-BE49-F238E27FC236}">
                <a16:creationId xmlns:a16="http://schemas.microsoft.com/office/drawing/2014/main" id="{9D0625C0-D7C7-A9E3-EC83-859B54874639}"/>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8977167" y="6048503"/>
            <a:ext cx="151710" cy="151710"/>
          </a:xfrm>
          <a:prstGeom prst="rect">
            <a:avLst/>
          </a:prstGeom>
        </p:spPr>
      </p:pic>
      <p:pic>
        <p:nvPicPr>
          <p:cNvPr id="85" name="Picture 84" descr="A blue and white logo&#10;&#10;Description automatically generated">
            <a:extLst>
              <a:ext uri="{FF2B5EF4-FFF2-40B4-BE49-F238E27FC236}">
                <a16:creationId xmlns:a16="http://schemas.microsoft.com/office/drawing/2014/main" id="{FF2468ED-1B78-B1D4-394B-A01FC7CF8BAE}"/>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8703872" y="6030808"/>
            <a:ext cx="248142" cy="182960"/>
          </a:xfrm>
          <a:prstGeom prst="rect">
            <a:avLst/>
          </a:prstGeom>
        </p:spPr>
      </p:pic>
      <p:pic>
        <p:nvPicPr>
          <p:cNvPr id="88" name="Picture 2" descr="All images">
            <a:extLst>
              <a:ext uri="{FF2B5EF4-FFF2-40B4-BE49-F238E27FC236}">
                <a16:creationId xmlns:a16="http://schemas.microsoft.com/office/drawing/2014/main" id="{1CF0D90F-B4AC-AA75-882E-8E8DE155C75F}"/>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5607006" y="6031255"/>
            <a:ext cx="224646" cy="224646"/>
          </a:xfrm>
          <a:prstGeom prst="rect">
            <a:avLst/>
          </a:prstGeom>
          <a:noFill/>
          <a:extLst>
            <a:ext uri="{909E8E84-426E-40DD-AFC4-6F175D3DCCD1}">
              <a14:hiddenFill xmlns:a14="http://schemas.microsoft.com/office/drawing/2010/main">
                <a:solidFill>
                  <a:srgbClr val="FFFFFF"/>
                </a:solidFill>
              </a14:hiddenFill>
            </a:ext>
          </a:extLst>
        </p:spPr>
      </p:pic>
      <p:sp>
        <p:nvSpPr>
          <p:cNvPr id="89" name="Rectangle 88">
            <a:extLst>
              <a:ext uri="{FF2B5EF4-FFF2-40B4-BE49-F238E27FC236}">
                <a16:creationId xmlns:a16="http://schemas.microsoft.com/office/drawing/2014/main" id="{CCDA7995-BD52-8DFC-FB1C-FA5945E4E682}"/>
              </a:ext>
            </a:extLst>
          </p:cNvPr>
          <p:cNvSpPr/>
          <p:nvPr/>
        </p:nvSpPr>
        <p:spPr>
          <a:xfrm>
            <a:off x="5203423" y="5454568"/>
            <a:ext cx="1451770" cy="334577"/>
          </a:xfrm>
          <a:prstGeom prst="rect">
            <a:avLst/>
          </a:prstGeom>
          <a:solidFill>
            <a:srgbClr val="6360D8"/>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90" name="TextBox 89">
            <a:extLst>
              <a:ext uri="{FF2B5EF4-FFF2-40B4-BE49-F238E27FC236}">
                <a16:creationId xmlns:a16="http://schemas.microsoft.com/office/drawing/2014/main" id="{50543C82-9CE1-134B-EDE4-D38F40DA7F98}"/>
              </a:ext>
            </a:extLst>
          </p:cNvPr>
          <p:cNvSpPr txBox="1"/>
          <p:nvPr/>
        </p:nvSpPr>
        <p:spPr>
          <a:xfrm>
            <a:off x="5286737" y="5492590"/>
            <a:ext cx="1285142" cy="258532"/>
          </a:xfrm>
          <a:prstGeom prst="rect">
            <a:avLst/>
          </a:prstGeom>
          <a:noFill/>
        </p:spPr>
        <p:txBody>
          <a:bodyPr wrap="square" lIns="0" tIns="0" rIns="0" bIns="0" rtlCol="0" anchor="t">
            <a:spAutoFit/>
          </a:bodyPr>
          <a:lstStyle/>
          <a:p>
            <a:pPr algn="ctr"/>
            <a:r>
              <a:rPr lang="en-US" sz="840" b="1">
                <a:solidFill>
                  <a:schemeClr val="bg1"/>
                </a:solidFill>
                <a:latin typeface="+mj-lt"/>
                <a:cs typeface="Calibri" panose="020F0502020204030204" pitchFamily="34" charset="0"/>
              </a:rPr>
              <a:t>Data Sources</a:t>
            </a:r>
          </a:p>
          <a:p>
            <a:pPr algn="ctr"/>
            <a:r>
              <a:rPr lang="en-US" sz="840">
                <a:solidFill>
                  <a:schemeClr val="bg1"/>
                </a:solidFill>
                <a:latin typeface="+mj-lt"/>
                <a:cs typeface="Calibri" panose="020F0502020204030204" pitchFamily="34" charset="0"/>
              </a:rPr>
              <a:t>(Representative Sample)</a:t>
            </a:r>
          </a:p>
        </p:txBody>
      </p:sp>
      <p:pic>
        <p:nvPicPr>
          <p:cNvPr id="91" name="Picture 2">
            <a:extLst>
              <a:ext uri="{FF2B5EF4-FFF2-40B4-BE49-F238E27FC236}">
                <a16:creationId xmlns:a16="http://schemas.microsoft.com/office/drawing/2014/main" id="{7F25078F-4A10-9CD1-5321-124C81A44A0F}"/>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flipH="1">
            <a:off x="9517672" y="6002562"/>
            <a:ext cx="216324" cy="258941"/>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4" descr="Storage - Blob | Microsoft Azure Mono">
            <a:extLst>
              <a:ext uri="{FF2B5EF4-FFF2-40B4-BE49-F238E27FC236}">
                <a16:creationId xmlns:a16="http://schemas.microsoft.com/office/drawing/2014/main" id="{465867E7-5B34-970B-0604-F4D90DC13D42}"/>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9785545" y="6009247"/>
            <a:ext cx="246843" cy="219877"/>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14">
            <a:extLst>
              <a:ext uri="{FF2B5EF4-FFF2-40B4-BE49-F238E27FC236}">
                <a16:creationId xmlns:a16="http://schemas.microsoft.com/office/drawing/2014/main" id="{1DDDC6A8-E5F1-D574-913C-959BF2109178}"/>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0035254" y="6034653"/>
            <a:ext cx="569338" cy="172229"/>
          </a:xfrm>
          <a:prstGeom prst="rect">
            <a:avLst/>
          </a:prstGeom>
          <a:noFill/>
          <a:extLst>
            <a:ext uri="{909E8E84-426E-40DD-AFC4-6F175D3DCCD1}">
              <a14:hiddenFill xmlns:a14="http://schemas.microsoft.com/office/drawing/2010/main">
                <a:solidFill>
                  <a:srgbClr val="FFFFFF"/>
                </a:solidFill>
              </a14:hiddenFill>
            </a:ext>
          </a:extLst>
        </p:spPr>
      </p:pic>
      <p:sp>
        <p:nvSpPr>
          <p:cNvPr id="94" name="Rectangle 93">
            <a:extLst>
              <a:ext uri="{FF2B5EF4-FFF2-40B4-BE49-F238E27FC236}">
                <a16:creationId xmlns:a16="http://schemas.microsoft.com/office/drawing/2014/main" id="{ADF0B0A7-A9C9-C993-CF93-5FCEA5E1DC56}"/>
              </a:ext>
            </a:extLst>
          </p:cNvPr>
          <p:cNvSpPr/>
          <p:nvPr/>
        </p:nvSpPr>
        <p:spPr>
          <a:xfrm>
            <a:off x="3129770" y="3321896"/>
            <a:ext cx="6706348" cy="404838"/>
          </a:xfrm>
          <a:prstGeom prst="rect">
            <a:avLst/>
          </a:prstGeom>
          <a:solidFill>
            <a:srgbClr val="6360D8"/>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95" name="Rectangle 94">
            <a:extLst>
              <a:ext uri="{FF2B5EF4-FFF2-40B4-BE49-F238E27FC236}">
                <a16:creationId xmlns:a16="http://schemas.microsoft.com/office/drawing/2014/main" id="{D5F72C28-2A21-EF65-EF18-3A857415BF4A}"/>
              </a:ext>
            </a:extLst>
          </p:cNvPr>
          <p:cNvSpPr/>
          <p:nvPr/>
        </p:nvSpPr>
        <p:spPr>
          <a:xfrm>
            <a:off x="3129770" y="3796483"/>
            <a:ext cx="6706349" cy="404838"/>
          </a:xfrm>
          <a:prstGeom prst="rect">
            <a:avLst/>
          </a:prstGeom>
          <a:solidFill>
            <a:srgbClr val="6360D8"/>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96" name="Rectangle 95">
            <a:extLst>
              <a:ext uri="{FF2B5EF4-FFF2-40B4-BE49-F238E27FC236}">
                <a16:creationId xmlns:a16="http://schemas.microsoft.com/office/drawing/2014/main" id="{EF6D9B93-0440-3D39-3AD9-F79B2748518A}"/>
              </a:ext>
            </a:extLst>
          </p:cNvPr>
          <p:cNvSpPr/>
          <p:nvPr/>
        </p:nvSpPr>
        <p:spPr>
          <a:xfrm>
            <a:off x="3129770" y="4274473"/>
            <a:ext cx="6706351" cy="404838"/>
          </a:xfrm>
          <a:prstGeom prst="rect">
            <a:avLst/>
          </a:prstGeom>
          <a:solidFill>
            <a:srgbClr val="6360D8"/>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97" name="TextBox 96">
            <a:extLst>
              <a:ext uri="{FF2B5EF4-FFF2-40B4-BE49-F238E27FC236}">
                <a16:creationId xmlns:a16="http://schemas.microsoft.com/office/drawing/2014/main" id="{829B4785-CABC-0C8E-0123-B917F7FFC7D4}"/>
              </a:ext>
            </a:extLst>
          </p:cNvPr>
          <p:cNvSpPr txBox="1"/>
          <p:nvPr/>
        </p:nvSpPr>
        <p:spPr>
          <a:xfrm>
            <a:off x="5362200" y="3880341"/>
            <a:ext cx="1618795" cy="246221"/>
          </a:xfrm>
          <a:prstGeom prst="rect">
            <a:avLst/>
          </a:prstGeom>
          <a:noFill/>
        </p:spPr>
        <p:txBody>
          <a:bodyPr wrap="square">
            <a:spAutoFit/>
          </a:bodyPr>
          <a:lstStyle/>
          <a:p>
            <a:pPr algn="ctr"/>
            <a:r>
              <a:rPr lang="en-US" sz="1000" b="1">
                <a:solidFill>
                  <a:schemeClr val="bg1"/>
                </a:solidFill>
                <a:latin typeface="+mj-lt"/>
                <a:cs typeface="Calibri" panose="020F0502020204030204" pitchFamily="34" charset="0"/>
              </a:rPr>
              <a:t>Data lake</a:t>
            </a:r>
            <a:endParaRPr lang="en-US" sz="1000">
              <a:solidFill>
                <a:schemeClr val="bg1"/>
              </a:solidFill>
              <a:latin typeface="+mj-lt"/>
              <a:cs typeface="Calibri" panose="020F0502020204030204" pitchFamily="34" charset="0"/>
            </a:endParaRPr>
          </a:p>
        </p:txBody>
      </p:sp>
      <p:sp>
        <p:nvSpPr>
          <p:cNvPr id="103" name="TextBox 102">
            <a:extLst>
              <a:ext uri="{FF2B5EF4-FFF2-40B4-BE49-F238E27FC236}">
                <a16:creationId xmlns:a16="http://schemas.microsoft.com/office/drawing/2014/main" id="{756BD7CD-9BB9-37E5-36B4-70158BEF41A9}"/>
              </a:ext>
            </a:extLst>
          </p:cNvPr>
          <p:cNvSpPr txBox="1"/>
          <p:nvPr/>
        </p:nvSpPr>
        <p:spPr>
          <a:xfrm>
            <a:off x="5371552" y="4356714"/>
            <a:ext cx="1618795" cy="246221"/>
          </a:xfrm>
          <a:prstGeom prst="rect">
            <a:avLst/>
          </a:prstGeom>
          <a:noFill/>
        </p:spPr>
        <p:txBody>
          <a:bodyPr wrap="square">
            <a:spAutoFit/>
          </a:bodyPr>
          <a:lstStyle/>
          <a:p>
            <a:pPr algn="ctr"/>
            <a:r>
              <a:rPr lang="en-US" sz="1000" b="1">
                <a:solidFill>
                  <a:schemeClr val="bg1"/>
                </a:solidFill>
                <a:latin typeface="+mj-lt"/>
                <a:cs typeface="Calibri" panose="020F0502020204030204" pitchFamily="34" charset="0"/>
              </a:rPr>
              <a:t>Data Bridge</a:t>
            </a:r>
            <a:endParaRPr lang="en-US" sz="1000">
              <a:solidFill>
                <a:schemeClr val="bg1"/>
              </a:solidFill>
              <a:latin typeface="+mj-lt"/>
              <a:cs typeface="Calibri" panose="020F0502020204030204" pitchFamily="34" charset="0"/>
            </a:endParaRPr>
          </a:p>
        </p:txBody>
      </p:sp>
      <p:sp>
        <p:nvSpPr>
          <p:cNvPr id="105" name="TextBox 104">
            <a:extLst>
              <a:ext uri="{FF2B5EF4-FFF2-40B4-BE49-F238E27FC236}">
                <a16:creationId xmlns:a16="http://schemas.microsoft.com/office/drawing/2014/main" id="{F09DD055-0961-3FDE-D8FF-18E629B8E33D}"/>
              </a:ext>
            </a:extLst>
          </p:cNvPr>
          <p:cNvSpPr txBox="1"/>
          <p:nvPr/>
        </p:nvSpPr>
        <p:spPr>
          <a:xfrm>
            <a:off x="5350280" y="3414763"/>
            <a:ext cx="1618795" cy="264688"/>
          </a:xfrm>
          <a:prstGeom prst="rect">
            <a:avLst/>
          </a:prstGeom>
          <a:noFill/>
        </p:spPr>
        <p:txBody>
          <a:bodyPr wrap="square" lIns="109728" tIns="54864" rIns="109728" bIns="54864" anchor="t">
            <a:spAutoFit/>
          </a:bodyPr>
          <a:lstStyle/>
          <a:p>
            <a:pPr algn="ctr"/>
            <a:r>
              <a:rPr lang="en-US" sz="1000" b="1">
                <a:solidFill>
                  <a:schemeClr val="bg1"/>
                </a:solidFill>
                <a:latin typeface="+mj-lt"/>
                <a:ea typeface="Calibri"/>
                <a:cs typeface="Calibri"/>
              </a:rPr>
              <a:t>Knowledge Graph</a:t>
            </a:r>
            <a:endParaRPr lang="en-US" sz="1000">
              <a:solidFill>
                <a:schemeClr val="bg1"/>
              </a:solidFill>
              <a:latin typeface="+mj-lt"/>
              <a:ea typeface="Calibri"/>
              <a:cs typeface="Calibri"/>
            </a:endParaRPr>
          </a:p>
        </p:txBody>
      </p:sp>
      <p:grpSp>
        <p:nvGrpSpPr>
          <p:cNvPr id="106" name="Group 105">
            <a:extLst>
              <a:ext uri="{FF2B5EF4-FFF2-40B4-BE49-F238E27FC236}">
                <a16:creationId xmlns:a16="http://schemas.microsoft.com/office/drawing/2014/main" id="{C02DFA7A-D86A-90B2-C7ED-97058D9E2C71}"/>
              </a:ext>
            </a:extLst>
          </p:cNvPr>
          <p:cNvGrpSpPr/>
          <p:nvPr/>
        </p:nvGrpSpPr>
        <p:grpSpPr>
          <a:xfrm rot="16200000">
            <a:off x="2168811" y="3814520"/>
            <a:ext cx="1357124" cy="371876"/>
            <a:chOff x="2086993" y="3096020"/>
            <a:chExt cx="2775164" cy="1626287"/>
          </a:xfrm>
        </p:grpSpPr>
        <p:sp>
          <p:nvSpPr>
            <p:cNvPr id="108" name="Rectangle 107">
              <a:extLst>
                <a:ext uri="{FF2B5EF4-FFF2-40B4-BE49-F238E27FC236}">
                  <a16:creationId xmlns:a16="http://schemas.microsoft.com/office/drawing/2014/main" id="{E25B77C5-819E-EC78-2E66-74AE62D54DC9}"/>
                </a:ext>
              </a:extLst>
            </p:cNvPr>
            <p:cNvSpPr/>
            <p:nvPr/>
          </p:nvSpPr>
          <p:spPr>
            <a:xfrm>
              <a:off x="2086993" y="3096020"/>
              <a:ext cx="2775164" cy="1626287"/>
            </a:xfrm>
            <a:prstGeom prst="rect">
              <a:avLst/>
            </a:prstGeom>
            <a:solidFill>
              <a:srgbClr val="6360D8"/>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109" name="TextBox 108">
              <a:extLst>
                <a:ext uri="{FF2B5EF4-FFF2-40B4-BE49-F238E27FC236}">
                  <a16:creationId xmlns:a16="http://schemas.microsoft.com/office/drawing/2014/main" id="{92BEC98F-5420-7978-5CC7-3A93C2D896D4}"/>
                </a:ext>
              </a:extLst>
            </p:cNvPr>
            <p:cNvSpPr txBox="1"/>
            <p:nvPr/>
          </p:nvSpPr>
          <p:spPr>
            <a:xfrm>
              <a:off x="2659671" y="3487572"/>
              <a:ext cx="1618795" cy="246220"/>
            </a:xfrm>
            <a:prstGeom prst="rect">
              <a:avLst/>
            </a:prstGeom>
            <a:noFill/>
          </p:spPr>
          <p:txBody>
            <a:bodyPr wrap="square">
              <a:spAutoFit/>
            </a:bodyPr>
            <a:lstStyle/>
            <a:p>
              <a:pPr algn="ctr"/>
              <a:r>
                <a:rPr lang="en-US" sz="1000" b="1">
                  <a:solidFill>
                    <a:schemeClr val="bg1"/>
                  </a:solidFill>
                  <a:latin typeface="+mj-lt"/>
                  <a:cs typeface="Calibri" panose="020F0502020204030204" pitchFamily="34" charset="0"/>
                </a:rPr>
                <a:t>Studio</a:t>
              </a:r>
              <a:endParaRPr lang="en-US" sz="1000">
                <a:solidFill>
                  <a:schemeClr val="bg1"/>
                </a:solidFill>
                <a:latin typeface="+mj-lt"/>
                <a:cs typeface="Calibri" panose="020F0502020204030204" pitchFamily="34" charset="0"/>
              </a:endParaRPr>
            </a:p>
          </p:txBody>
        </p:sp>
      </p:grpSp>
      <p:grpSp>
        <p:nvGrpSpPr>
          <p:cNvPr id="110" name="Group 109">
            <a:extLst>
              <a:ext uri="{FF2B5EF4-FFF2-40B4-BE49-F238E27FC236}">
                <a16:creationId xmlns:a16="http://schemas.microsoft.com/office/drawing/2014/main" id="{548212FE-209D-EE12-C352-F2347AFF7A43}"/>
              </a:ext>
            </a:extLst>
          </p:cNvPr>
          <p:cNvGrpSpPr/>
          <p:nvPr/>
        </p:nvGrpSpPr>
        <p:grpSpPr>
          <a:xfrm>
            <a:off x="3699213" y="3582923"/>
            <a:ext cx="1279335" cy="276510"/>
            <a:chOff x="5456333" y="3481274"/>
            <a:chExt cx="1279335" cy="276510"/>
          </a:xfrm>
        </p:grpSpPr>
        <p:sp>
          <p:nvSpPr>
            <p:cNvPr id="111" name="Rectangle 110">
              <a:extLst>
                <a:ext uri="{FF2B5EF4-FFF2-40B4-BE49-F238E27FC236}">
                  <a16:creationId xmlns:a16="http://schemas.microsoft.com/office/drawing/2014/main" id="{74098BBC-8E16-CC73-3349-96A00CC0DA09}"/>
                </a:ext>
              </a:extLst>
            </p:cNvPr>
            <p:cNvSpPr/>
            <p:nvPr/>
          </p:nvSpPr>
          <p:spPr>
            <a:xfrm>
              <a:off x="5456333" y="3481274"/>
              <a:ext cx="1279335" cy="276510"/>
            </a:xfrm>
            <a:prstGeom prst="rect">
              <a:avLst/>
            </a:prstGeom>
            <a:solidFill>
              <a:srgbClr val="ECEAF3"/>
            </a:solidFill>
            <a:ln>
              <a:solidFill>
                <a:srgbClr val="A6A6A6"/>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112" name="TextBox 111">
              <a:extLst>
                <a:ext uri="{FF2B5EF4-FFF2-40B4-BE49-F238E27FC236}">
                  <a16:creationId xmlns:a16="http://schemas.microsoft.com/office/drawing/2014/main" id="{80563034-3CC0-DF24-6951-83F6B74603A2}"/>
                </a:ext>
              </a:extLst>
            </p:cNvPr>
            <p:cNvSpPr txBox="1"/>
            <p:nvPr/>
          </p:nvSpPr>
          <p:spPr>
            <a:xfrm>
              <a:off x="5543171" y="3521809"/>
              <a:ext cx="1105659" cy="221599"/>
            </a:xfrm>
            <a:prstGeom prst="rect">
              <a:avLst/>
            </a:prstGeom>
            <a:noFill/>
          </p:spPr>
          <p:txBody>
            <a:bodyPr wrap="square">
              <a:spAutoFit/>
            </a:bodyPr>
            <a:lstStyle/>
            <a:p>
              <a:pPr algn="ctr"/>
              <a:r>
                <a:rPr lang="en-US" sz="840" b="1">
                  <a:solidFill>
                    <a:srgbClr val="060B25"/>
                  </a:solidFill>
                  <a:latin typeface="+mj-lt"/>
                  <a:cs typeface="Calibri" panose="020F0502020204030204" pitchFamily="34" charset="0"/>
                </a:rPr>
                <a:t>Entity Resolution</a:t>
              </a:r>
              <a:endParaRPr lang="en-US" sz="840">
                <a:solidFill>
                  <a:srgbClr val="060B25"/>
                </a:solidFill>
                <a:latin typeface="+mj-lt"/>
                <a:cs typeface="Calibri" panose="020F0502020204030204" pitchFamily="34" charset="0"/>
              </a:endParaRPr>
            </a:p>
          </p:txBody>
        </p:sp>
      </p:grpSp>
      <p:sp>
        <p:nvSpPr>
          <p:cNvPr id="113" name="Rectangle 112">
            <a:extLst>
              <a:ext uri="{FF2B5EF4-FFF2-40B4-BE49-F238E27FC236}">
                <a16:creationId xmlns:a16="http://schemas.microsoft.com/office/drawing/2014/main" id="{E7462880-F2EC-18DC-3E8B-501993BF5445}"/>
              </a:ext>
            </a:extLst>
          </p:cNvPr>
          <p:cNvSpPr/>
          <p:nvPr/>
        </p:nvSpPr>
        <p:spPr>
          <a:xfrm>
            <a:off x="8484242" y="3834610"/>
            <a:ext cx="1293587" cy="326494"/>
          </a:xfrm>
          <a:prstGeom prst="rect">
            <a:avLst/>
          </a:prstGeom>
          <a:solidFill>
            <a:srgbClr val="FFFFFF"/>
          </a:solidFill>
          <a:ln>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pic>
        <p:nvPicPr>
          <p:cNvPr id="114" name="Picture 2">
            <a:extLst>
              <a:ext uri="{FF2B5EF4-FFF2-40B4-BE49-F238E27FC236}">
                <a16:creationId xmlns:a16="http://schemas.microsoft.com/office/drawing/2014/main" id="{B5C22FC7-99EE-876A-F923-175A416D75C8}"/>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flipH="1">
            <a:off x="8598545" y="3861348"/>
            <a:ext cx="253891" cy="303909"/>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4" descr="Storage - Blob | Microsoft Azure Mono">
            <a:extLst>
              <a:ext uri="{FF2B5EF4-FFF2-40B4-BE49-F238E27FC236}">
                <a16:creationId xmlns:a16="http://schemas.microsoft.com/office/drawing/2014/main" id="{D85F0AF0-4233-DA55-EA16-BD416BDB4973}"/>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8961668" y="3874817"/>
            <a:ext cx="289710" cy="258061"/>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6" descr="Databricks Logo and symbol, meaning, history, PNG, brand">
            <a:extLst>
              <a:ext uri="{FF2B5EF4-FFF2-40B4-BE49-F238E27FC236}">
                <a16:creationId xmlns:a16="http://schemas.microsoft.com/office/drawing/2014/main" id="{350DDE73-5F39-9FAC-1B46-806274DA5467}"/>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9187056" y="3862065"/>
            <a:ext cx="537735" cy="302476"/>
          </a:xfrm>
          <a:prstGeom prst="rect">
            <a:avLst/>
          </a:prstGeom>
          <a:noFill/>
          <a:extLst>
            <a:ext uri="{909E8E84-426E-40DD-AFC4-6F175D3DCCD1}">
              <a14:hiddenFill xmlns:a14="http://schemas.microsoft.com/office/drawing/2010/main">
                <a:solidFill>
                  <a:srgbClr val="FFFFFF"/>
                </a:solidFill>
              </a14:hiddenFill>
            </a:ext>
          </a:extLst>
        </p:spPr>
      </p:pic>
      <p:cxnSp>
        <p:nvCxnSpPr>
          <p:cNvPr id="159" name="Straight Arrow Connector 158">
            <a:extLst>
              <a:ext uri="{FF2B5EF4-FFF2-40B4-BE49-F238E27FC236}">
                <a16:creationId xmlns:a16="http://schemas.microsoft.com/office/drawing/2014/main" id="{F51E2827-FCED-988C-25F0-4C3BB9899A29}"/>
              </a:ext>
            </a:extLst>
          </p:cNvPr>
          <p:cNvCxnSpPr>
            <a:cxnSpLocks/>
          </p:cNvCxnSpPr>
          <p:nvPr/>
        </p:nvCxnSpPr>
        <p:spPr>
          <a:xfrm>
            <a:off x="7179177" y="4689499"/>
            <a:ext cx="1780" cy="1003469"/>
          </a:xfrm>
          <a:prstGeom prst="straightConnector1">
            <a:avLst/>
          </a:prstGeom>
          <a:ln>
            <a:solidFill>
              <a:srgbClr val="060B2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ACB9332A-55BA-0CCF-C76F-4B70190B5919}"/>
              </a:ext>
            </a:extLst>
          </p:cNvPr>
          <p:cNvCxnSpPr>
            <a:cxnSpLocks/>
          </p:cNvCxnSpPr>
          <p:nvPr/>
        </p:nvCxnSpPr>
        <p:spPr>
          <a:xfrm flipH="1">
            <a:off x="7906816" y="4689499"/>
            <a:ext cx="7219" cy="1003470"/>
          </a:xfrm>
          <a:prstGeom prst="straightConnector1">
            <a:avLst/>
          </a:prstGeom>
          <a:ln>
            <a:solidFill>
              <a:srgbClr val="060B2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aphicFrame>
        <p:nvGraphicFramePr>
          <p:cNvPr id="128" name="Table 127">
            <a:extLst>
              <a:ext uri="{FF2B5EF4-FFF2-40B4-BE49-F238E27FC236}">
                <a16:creationId xmlns:a16="http://schemas.microsoft.com/office/drawing/2014/main" id="{4FD61209-5108-4D14-AEBA-131EBEFA54FB}"/>
              </a:ext>
            </a:extLst>
          </p:cNvPr>
          <p:cNvGraphicFramePr>
            <a:graphicFrameLocks noGrp="1"/>
          </p:cNvGraphicFramePr>
          <p:nvPr/>
        </p:nvGraphicFramePr>
        <p:xfrm>
          <a:off x="1953846" y="2216388"/>
          <a:ext cx="8394396" cy="438298"/>
        </p:xfrm>
        <a:graphic>
          <a:graphicData uri="http://schemas.openxmlformats.org/drawingml/2006/table">
            <a:tbl>
              <a:tblPr firstRow="1" bandRow="1">
                <a:tableStyleId>{5C22544A-7EE6-4342-B048-85BDC9FD1C3A}</a:tableStyleId>
              </a:tblPr>
              <a:tblGrid>
                <a:gridCol w="1399066">
                  <a:extLst>
                    <a:ext uri="{9D8B030D-6E8A-4147-A177-3AD203B41FA5}">
                      <a16:colId xmlns:a16="http://schemas.microsoft.com/office/drawing/2014/main" val="2379284227"/>
                    </a:ext>
                  </a:extLst>
                </a:gridCol>
                <a:gridCol w="1399066">
                  <a:extLst>
                    <a:ext uri="{9D8B030D-6E8A-4147-A177-3AD203B41FA5}">
                      <a16:colId xmlns:a16="http://schemas.microsoft.com/office/drawing/2014/main" val="422327596"/>
                    </a:ext>
                  </a:extLst>
                </a:gridCol>
                <a:gridCol w="1399066">
                  <a:extLst>
                    <a:ext uri="{9D8B030D-6E8A-4147-A177-3AD203B41FA5}">
                      <a16:colId xmlns:a16="http://schemas.microsoft.com/office/drawing/2014/main" val="2820201242"/>
                    </a:ext>
                  </a:extLst>
                </a:gridCol>
                <a:gridCol w="1399066">
                  <a:extLst>
                    <a:ext uri="{9D8B030D-6E8A-4147-A177-3AD203B41FA5}">
                      <a16:colId xmlns:a16="http://schemas.microsoft.com/office/drawing/2014/main" val="932274286"/>
                    </a:ext>
                  </a:extLst>
                </a:gridCol>
                <a:gridCol w="1399066">
                  <a:extLst>
                    <a:ext uri="{9D8B030D-6E8A-4147-A177-3AD203B41FA5}">
                      <a16:colId xmlns:a16="http://schemas.microsoft.com/office/drawing/2014/main" val="1469355421"/>
                    </a:ext>
                  </a:extLst>
                </a:gridCol>
                <a:gridCol w="1399066">
                  <a:extLst>
                    <a:ext uri="{9D8B030D-6E8A-4147-A177-3AD203B41FA5}">
                      <a16:colId xmlns:a16="http://schemas.microsoft.com/office/drawing/2014/main" val="2432721507"/>
                    </a:ext>
                  </a:extLst>
                </a:gridCol>
              </a:tblGrid>
              <a:tr h="43829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ln>
                            <a:noFill/>
                          </a:ln>
                          <a:solidFill>
                            <a:schemeClr val="bg1"/>
                          </a:solidFill>
                          <a:latin typeface="+mn-lt"/>
                          <a:ea typeface="+mn-ea"/>
                          <a:cs typeface="Calibri" panose="020F0502020204030204" pitchFamily="34" charset="0"/>
                        </a:rPr>
                        <a:t>Asset Visibility &amp; CMDB</a:t>
                      </a:r>
                    </a:p>
                  </a:txBody>
                  <a:tcPr anchor="ctr">
                    <a:lnL w="12700" cmpd="sng">
                      <a:noFill/>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6360D8"/>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ln>
                            <a:noFill/>
                          </a:ln>
                          <a:solidFill>
                            <a:schemeClr val="bg1"/>
                          </a:solidFill>
                          <a:latin typeface="+mn-lt"/>
                          <a:ea typeface="+mn-ea"/>
                          <a:cs typeface="Calibri" panose="020F0502020204030204" pitchFamily="34" charset="0"/>
                        </a:rPr>
                        <a:t>Identity Visibility</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6360D8"/>
                    </a:solidFill>
                  </a:tcPr>
                </a:tc>
                <a:tc>
                  <a:txBody>
                    <a:bodyPr/>
                    <a:lstStyle/>
                    <a:p>
                      <a:pPr algn="ctr"/>
                      <a:r>
                        <a:rPr lang="en-US" sz="1000" b="1" kern="1200">
                          <a:ln>
                            <a:noFill/>
                          </a:ln>
                          <a:solidFill>
                            <a:schemeClr val="bg1"/>
                          </a:solidFill>
                          <a:latin typeface="+mn-lt"/>
                          <a:ea typeface="+mn-ea"/>
                          <a:cs typeface="Calibri" panose="020F0502020204030204" pitchFamily="34" charset="0"/>
                        </a:rPr>
                        <a:t>CTEM</a:t>
                      </a:r>
                      <a:endParaRPr lang="en-GB" sz="1000">
                        <a:ln>
                          <a:noFill/>
                        </a:ln>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6360D8"/>
                    </a:solidFill>
                  </a:tcPr>
                </a:tc>
                <a:tc>
                  <a:txBody>
                    <a:bodyPr/>
                    <a:lstStyle/>
                    <a:p>
                      <a:pPr algn="ctr"/>
                      <a:r>
                        <a:rPr lang="en-US" sz="1000" b="1" kern="1200">
                          <a:ln>
                            <a:noFill/>
                          </a:ln>
                          <a:solidFill>
                            <a:schemeClr val="bg1"/>
                          </a:solidFill>
                          <a:latin typeface="+mn-lt"/>
                          <a:ea typeface="+mn-ea"/>
                          <a:cs typeface="Calibri" panose="020F0502020204030204" pitchFamily="34" charset="0"/>
                        </a:rPr>
                        <a:t>CCM</a:t>
                      </a:r>
                      <a:endParaRPr lang="en-GB" sz="1000">
                        <a:ln>
                          <a:noFill/>
                        </a:ln>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6360D8"/>
                    </a:solidFill>
                  </a:tcPr>
                </a:tc>
                <a:tc>
                  <a:txBody>
                    <a:bodyPr/>
                    <a:lstStyle/>
                    <a:p>
                      <a:pPr algn="ctr"/>
                      <a:r>
                        <a:rPr lang="en-GB" sz="1000">
                          <a:ln>
                            <a:noFill/>
                          </a:ln>
                        </a:rPr>
                        <a:t>Insider Risk</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6360D8"/>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ln>
                            <a:noFill/>
                          </a:ln>
                          <a:solidFill>
                            <a:schemeClr val="bg1"/>
                          </a:solidFill>
                          <a:latin typeface="+mn-lt"/>
                          <a:ea typeface="+mn-ea"/>
                          <a:cs typeface="Calibri" panose="020F0502020204030204" pitchFamily="34" charset="0"/>
                        </a:rPr>
                        <a:t>Cyber Gen-AI Assistant</a:t>
                      </a:r>
                    </a:p>
                  </a:txBody>
                  <a:tcPr anchor="ctr">
                    <a:lnL w="28575"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6360D8"/>
                    </a:solidFill>
                  </a:tcPr>
                </a:tc>
                <a:extLst>
                  <a:ext uri="{0D108BD9-81ED-4DB2-BD59-A6C34878D82A}">
                    <a16:rowId xmlns:a16="http://schemas.microsoft.com/office/drawing/2014/main" val="2455985505"/>
                  </a:ext>
                </a:extLst>
              </a:tr>
            </a:tbl>
          </a:graphicData>
        </a:graphic>
      </p:graphicFrame>
      <p:cxnSp>
        <p:nvCxnSpPr>
          <p:cNvPr id="127" name="Straight Arrow Connector 126">
            <a:extLst>
              <a:ext uri="{FF2B5EF4-FFF2-40B4-BE49-F238E27FC236}">
                <a16:creationId xmlns:a16="http://schemas.microsoft.com/office/drawing/2014/main" id="{46063E0D-C7C7-DDA3-1A65-6C3494CF21DA}"/>
              </a:ext>
            </a:extLst>
          </p:cNvPr>
          <p:cNvCxnSpPr>
            <a:cxnSpLocks/>
          </p:cNvCxnSpPr>
          <p:nvPr/>
        </p:nvCxnSpPr>
        <p:spPr>
          <a:xfrm>
            <a:off x="9617367" y="2649296"/>
            <a:ext cx="0" cy="266486"/>
          </a:xfrm>
          <a:prstGeom prst="straightConnector1">
            <a:avLst/>
          </a:prstGeom>
          <a:ln>
            <a:solidFill>
              <a:srgbClr val="060B2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5F90E7EB-4B22-2102-A321-E02770A0E352}"/>
              </a:ext>
            </a:extLst>
          </p:cNvPr>
          <p:cNvCxnSpPr>
            <a:cxnSpLocks/>
          </p:cNvCxnSpPr>
          <p:nvPr/>
        </p:nvCxnSpPr>
        <p:spPr>
          <a:xfrm>
            <a:off x="4040324" y="2636597"/>
            <a:ext cx="0" cy="266486"/>
          </a:xfrm>
          <a:prstGeom prst="straightConnector1">
            <a:avLst/>
          </a:prstGeom>
          <a:ln>
            <a:solidFill>
              <a:srgbClr val="060B2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BAB5B50-5CC8-E1EC-4645-83FFD365E622}"/>
              </a:ext>
            </a:extLst>
          </p:cNvPr>
          <p:cNvCxnSpPr>
            <a:cxnSpLocks/>
          </p:cNvCxnSpPr>
          <p:nvPr/>
        </p:nvCxnSpPr>
        <p:spPr>
          <a:xfrm>
            <a:off x="2663086" y="2657270"/>
            <a:ext cx="0" cy="266486"/>
          </a:xfrm>
          <a:prstGeom prst="straightConnector1">
            <a:avLst/>
          </a:prstGeom>
          <a:ln>
            <a:solidFill>
              <a:srgbClr val="060B2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9483FCC1-7CC3-E6E3-82AA-8996CBAD0918}"/>
              </a:ext>
            </a:extLst>
          </p:cNvPr>
          <p:cNvCxnSpPr>
            <a:cxnSpLocks/>
          </p:cNvCxnSpPr>
          <p:nvPr/>
        </p:nvCxnSpPr>
        <p:spPr>
          <a:xfrm>
            <a:off x="5444067" y="2626639"/>
            <a:ext cx="0" cy="266486"/>
          </a:xfrm>
          <a:prstGeom prst="straightConnector1">
            <a:avLst/>
          </a:prstGeom>
          <a:ln>
            <a:solidFill>
              <a:srgbClr val="060B2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0AC4DC64-07EF-7AC4-306E-DF84927D2810}"/>
              </a:ext>
            </a:extLst>
          </p:cNvPr>
          <p:cNvCxnSpPr>
            <a:cxnSpLocks/>
          </p:cNvCxnSpPr>
          <p:nvPr/>
        </p:nvCxnSpPr>
        <p:spPr>
          <a:xfrm>
            <a:off x="6819789" y="2642080"/>
            <a:ext cx="0" cy="266486"/>
          </a:xfrm>
          <a:prstGeom prst="straightConnector1">
            <a:avLst/>
          </a:prstGeom>
          <a:ln>
            <a:solidFill>
              <a:srgbClr val="060B2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4F1FA32F-ACB2-35C6-1B20-FE8BCC1FC686}"/>
              </a:ext>
            </a:extLst>
          </p:cNvPr>
          <p:cNvCxnSpPr>
            <a:cxnSpLocks/>
          </p:cNvCxnSpPr>
          <p:nvPr/>
        </p:nvCxnSpPr>
        <p:spPr>
          <a:xfrm>
            <a:off x="8248158" y="2640085"/>
            <a:ext cx="0" cy="266486"/>
          </a:xfrm>
          <a:prstGeom prst="straightConnector1">
            <a:avLst/>
          </a:prstGeom>
          <a:ln>
            <a:solidFill>
              <a:srgbClr val="060B2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100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71C7F-538D-0D33-3BAE-55BB60163652}"/>
            </a:ext>
          </a:extLst>
        </p:cNvPr>
        <p:cNvGrpSpPr/>
        <p:nvPr/>
      </p:nvGrpSpPr>
      <p:grpSpPr>
        <a:xfrm>
          <a:off x="0" y="0"/>
          <a:ext cx="0" cy="0"/>
          <a:chOff x="0" y="0"/>
          <a:chExt cx="0" cy="0"/>
        </a:xfrm>
      </p:grpSpPr>
      <p:graphicFrame>
        <p:nvGraphicFramePr>
          <p:cNvPr id="41" name="think-cell data - do not delete" hidden="1">
            <a:extLst>
              <a:ext uri="{FF2B5EF4-FFF2-40B4-BE49-F238E27FC236}">
                <a16:creationId xmlns:a16="http://schemas.microsoft.com/office/drawing/2014/main" id="{14668566-35D4-3109-31F1-CF9E34629C0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41" name="think-cell data - do not delete" hidden="1">
                        <a:extLst>
                          <a:ext uri="{FF2B5EF4-FFF2-40B4-BE49-F238E27FC236}">
                            <a16:creationId xmlns:a16="http://schemas.microsoft.com/office/drawing/2014/main" id="{14668566-35D4-3109-31F1-CF9E34629C0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Oval 1">
            <a:extLst>
              <a:ext uri="{FF2B5EF4-FFF2-40B4-BE49-F238E27FC236}">
                <a16:creationId xmlns:a16="http://schemas.microsoft.com/office/drawing/2014/main" id="{6A9734D4-F6C3-354A-A863-8F8467764ABF}"/>
              </a:ext>
            </a:extLst>
          </p:cNvPr>
          <p:cNvSpPr/>
          <p:nvPr/>
        </p:nvSpPr>
        <p:spPr>
          <a:xfrm>
            <a:off x="2543556" y="1733420"/>
            <a:ext cx="518400" cy="51840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64"/>
          </a:p>
        </p:txBody>
      </p:sp>
      <p:sp>
        <p:nvSpPr>
          <p:cNvPr id="7" name="TextBox 6">
            <a:extLst>
              <a:ext uri="{FF2B5EF4-FFF2-40B4-BE49-F238E27FC236}">
                <a16:creationId xmlns:a16="http://schemas.microsoft.com/office/drawing/2014/main" id="{BFAFD14D-0A36-5167-4B31-1384DE1ADA3A}"/>
              </a:ext>
            </a:extLst>
          </p:cNvPr>
          <p:cNvSpPr txBox="1"/>
          <p:nvPr/>
        </p:nvSpPr>
        <p:spPr>
          <a:xfrm>
            <a:off x="1999958" y="2227197"/>
            <a:ext cx="1498680" cy="313932"/>
          </a:xfrm>
          <a:prstGeom prst="rect">
            <a:avLst/>
          </a:prstGeom>
          <a:noFill/>
        </p:spPr>
        <p:txBody>
          <a:bodyPr wrap="none">
            <a:spAutoFit/>
          </a:bodyPr>
          <a:lstStyle/>
          <a:p>
            <a:pPr algn="ctr">
              <a:defRPr sz="1600" b="1"/>
            </a:pPr>
            <a:r>
              <a:rPr lang="en-US" sz="1440"/>
              <a:t>Prevalent</a:t>
            </a:r>
            <a:r>
              <a:rPr sz="1440"/>
              <a:t> </a:t>
            </a:r>
            <a:r>
              <a:rPr lang="en-US" sz="1440"/>
              <a:t>Hosted</a:t>
            </a:r>
            <a:endParaRPr sz="1440"/>
          </a:p>
        </p:txBody>
      </p:sp>
      <p:sp>
        <p:nvSpPr>
          <p:cNvPr id="8" name="TextBox 7">
            <a:extLst>
              <a:ext uri="{FF2B5EF4-FFF2-40B4-BE49-F238E27FC236}">
                <a16:creationId xmlns:a16="http://schemas.microsoft.com/office/drawing/2014/main" id="{F3D3628A-22BE-71CC-90CB-655F622F61C7}"/>
              </a:ext>
            </a:extLst>
          </p:cNvPr>
          <p:cNvSpPr txBox="1"/>
          <p:nvPr/>
        </p:nvSpPr>
        <p:spPr>
          <a:xfrm>
            <a:off x="1948021" y="2474085"/>
            <a:ext cx="1602554" cy="313932"/>
          </a:xfrm>
          <a:prstGeom prst="rect">
            <a:avLst/>
          </a:prstGeom>
          <a:noFill/>
        </p:spPr>
        <p:txBody>
          <a:bodyPr wrap="none">
            <a:spAutoFit/>
          </a:bodyPr>
          <a:lstStyle/>
          <a:p>
            <a:pPr algn="ctr">
              <a:defRPr sz="1100">
                <a:solidFill>
                  <a:srgbClr val="6B7280"/>
                </a:solidFill>
              </a:defRPr>
            </a:pPr>
            <a:r>
              <a:rPr lang="en-GB" sz="1440" b="1"/>
              <a:t>Single-tenant </a:t>
            </a:r>
            <a:r>
              <a:rPr sz="1440" b="1"/>
              <a:t>SaaS</a:t>
            </a:r>
          </a:p>
        </p:txBody>
      </p:sp>
      <p:sp>
        <p:nvSpPr>
          <p:cNvPr id="9" name="Rounded Rectangle 7">
            <a:extLst>
              <a:ext uri="{FF2B5EF4-FFF2-40B4-BE49-F238E27FC236}">
                <a16:creationId xmlns:a16="http://schemas.microsoft.com/office/drawing/2014/main" id="{33925777-71D0-45F6-BD80-C8ED60AAE532}"/>
              </a:ext>
            </a:extLst>
          </p:cNvPr>
          <p:cNvSpPr/>
          <p:nvPr/>
        </p:nvSpPr>
        <p:spPr>
          <a:xfrm>
            <a:off x="1185672" y="2783374"/>
            <a:ext cx="3127248" cy="2498198"/>
          </a:xfrm>
          <a:prstGeom prst="roundRect">
            <a:avLst>
              <a:gd name="adj" fmla="val 5683"/>
            </a:avLst>
          </a:prstGeom>
          <a:solidFill>
            <a:srgbClr val="EFF6FF"/>
          </a:solidFill>
          <a:ln w="19050" cap="flat">
            <a:solidFill>
              <a:srgbClr val="BFDBFE"/>
            </a:solidFill>
            <a:prstDash val="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64"/>
          </a:p>
        </p:txBody>
      </p:sp>
      <p:sp>
        <p:nvSpPr>
          <p:cNvPr id="10" name="TextBox 9">
            <a:extLst>
              <a:ext uri="{FF2B5EF4-FFF2-40B4-BE49-F238E27FC236}">
                <a16:creationId xmlns:a16="http://schemas.microsoft.com/office/drawing/2014/main" id="{6BCA2A94-4E89-9856-1988-E81BAC75E59D}"/>
              </a:ext>
            </a:extLst>
          </p:cNvPr>
          <p:cNvSpPr txBox="1"/>
          <p:nvPr/>
        </p:nvSpPr>
        <p:spPr>
          <a:xfrm>
            <a:off x="1350264" y="2967860"/>
            <a:ext cx="1104790" cy="230832"/>
          </a:xfrm>
          <a:prstGeom prst="rect">
            <a:avLst/>
          </a:prstGeom>
          <a:noFill/>
        </p:spPr>
        <p:txBody>
          <a:bodyPr wrap="none">
            <a:spAutoFit/>
          </a:bodyPr>
          <a:lstStyle/>
          <a:p>
            <a:pPr>
              <a:defRPr sz="1000" b="1">
                <a:solidFill>
                  <a:srgbClr val="2563EB"/>
                </a:solidFill>
              </a:defRPr>
            </a:pPr>
            <a:r>
              <a:rPr lang="en-US" sz="900"/>
              <a:t>PREVALENT </a:t>
            </a:r>
            <a:r>
              <a:rPr sz="900"/>
              <a:t>CLOUD</a:t>
            </a:r>
          </a:p>
        </p:txBody>
      </p:sp>
      <p:sp>
        <p:nvSpPr>
          <p:cNvPr id="11" name="Rounded Rectangle 9">
            <a:extLst>
              <a:ext uri="{FF2B5EF4-FFF2-40B4-BE49-F238E27FC236}">
                <a16:creationId xmlns:a16="http://schemas.microsoft.com/office/drawing/2014/main" id="{D3A8E28C-8156-02DB-5C09-4D56A027B428}"/>
              </a:ext>
            </a:extLst>
          </p:cNvPr>
          <p:cNvSpPr/>
          <p:nvPr/>
        </p:nvSpPr>
        <p:spPr>
          <a:xfrm>
            <a:off x="1350264" y="3225483"/>
            <a:ext cx="2798064" cy="411480"/>
          </a:xfrm>
          <a:prstGeom prst="round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64"/>
          </a:p>
        </p:txBody>
      </p:sp>
      <p:sp>
        <p:nvSpPr>
          <p:cNvPr id="12" name="Rounded Rectangle 10">
            <a:extLst>
              <a:ext uri="{FF2B5EF4-FFF2-40B4-BE49-F238E27FC236}">
                <a16:creationId xmlns:a16="http://schemas.microsoft.com/office/drawing/2014/main" id="{BAB02C44-1DE9-B1A5-55A3-2782E6A8C640}"/>
              </a:ext>
            </a:extLst>
          </p:cNvPr>
          <p:cNvSpPr/>
          <p:nvPr/>
        </p:nvSpPr>
        <p:spPr>
          <a:xfrm>
            <a:off x="1432560" y="3307779"/>
            <a:ext cx="246888" cy="246888"/>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111827"/>
                </a:solidFill>
              </a:defRPr>
            </a:pPr>
            <a:endParaRPr sz="900"/>
          </a:p>
        </p:txBody>
      </p:sp>
      <p:sp>
        <p:nvSpPr>
          <p:cNvPr id="13" name="TextBox 12">
            <a:extLst>
              <a:ext uri="{FF2B5EF4-FFF2-40B4-BE49-F238E27FC236}">
                <a16:creationId xmlns:a16="http://schemas.microsoft.com/office/drawing/2014/main" id="{7FFE51F8-C105-E22B-D44F-8CA60AB411F2}"/>
              </a:ext>
            </a:extLst>
          </p:cNvPr>
          <p:cNvSpPr txBox="1"/>
          <p:nvPr/>
        </p:nvSpPr>
        <p:spPr>
          <a:xfrm>
            <a:off x="1761744" y="3308883"/>
            <a:ext cx="1569660" cy="244682"/>
          </a:xfrm>
          <a:prstGeom prst="rect">
            <a:avLst/>
          </a:prstGeom>
          <a:noFill/>
        </p:spPr>
        <p:txBody>
          <a:bodyPr wrap="none" anchor="ctr">
            <a:spAutoFit/>
          </a:bodyPr>
          <a:lstStyle/>
          <a:p>
            <a:pPr>
              <a:defRPr sz="1100" b="1">
                <a:solidFill>
                  <a:srgbClr val="374151"/>
                </a:solidFill>
                <a:latin typeface="Arial"/>
              </a:defRPr>
            </a:pPr>
            <a:r>
              <a:rPr lang="en-US" sz="990"/>
              <a:t>Exposure Management</a:t>
            </a:r>
            <a:endParaRPr sz="990"/>
          </a:p>
        </p:txBody>
      </p:sp>
      <p:sp>
        <p:nvSpPr>
          <p:cNvPr id="14" name="Rounded Rectangle 15">
            <a:extLst>
              <a:ext uri="{FF2B5EF4-FFF2-40B4-BE49-F238E27FC236}">
                <a16:creationId xmlns:a16="http://schemas.microsoft.com/office/drawing/2014/main" id="{AD762E13-0674-2FEA-B63D-D92945D6CCBF}"/>
              </a:ext>
            </a:extLst>
          </p:cNvPr>
          <p:cNvSpPr/>
          <p:nvPr/>
        </p:nvSpPr>
        <p:spPr>
          <a:xfrm>
            <a:off x="1350264" y="3720358"/>
            <a:ext cx="2798064" cy="411480"/>
          </a:xfrm>
          <a:prstGeom prst="round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64"/>
          </a:p>
        </p:txBody>
      </p:sp>
      <p:sp>
        <p:nvSpPr>
          <p:cNvPr id="15" name="Rounded Rectangle 16">
            <a:extLst>
              <a:ext uri="{FF2B5EF4-FFF2-40B4-BE49-F238E27FC236}">
                <a16:creationId xmlns:a16="http://schemas.microsoft.com/office/drawing/2014/main" id="{3F468D4E-2465-0ADE-DEAA-7EA59737B30E}"/>
              </a:ext>
            </a:extLst>
          </p:cNvPr>
          <p:cNvSpPr/>
          <p:nvPr/>
        </p:nvSpPr>
        <p:spPr>
          <a:xfrm>
            <a:off x="1432560" y="3802654"/>
            <a:ext cx="246888" cy="246888"/>
          </a:xfrm>
          <a:prstGeom prst="round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111827"/>
                </a:solidFill>
              </a:defRPr>
            </a:pPr>
            <a:endParaRPr sz="900"/>
          </a:p>
        </p:txBody>
      </p:sp>
      <p:sp>
        <p:nvSpPr>
          <p:cNvPr id="16" name="TextBox 15">
            <a:extLst>
              <a:ext uri="{FF2B5EF4-FFF2-40B4-BE49-F238E27FC236}">
                <a16:creationId xmlns:a16="http://schemas.microsoft.com/office/drawing/2014/main" id="{20031B1E-BAA9-3CEE-5A2D-6A2B8DD4FDA4}"/>
              </a:ext>
            </a:extLst>
          </p:cNvPr>
          <p:cNvSpPr txBox="1"/>
          <p:nvPr/>
        </p:nvSpPr>
        <p:spPr>
          <a:xfrm>
            <a:off x="1761744" y="3803758"/>
            <a:ext cx="1415772" cy="244682"/>
          </a:xfrm>
          <a:prstGeom prst="rect">
            <a:avLst/>
          </a:prstGeom>
          <a:noFill/>
        </p:spPr>
        <p:txBody>
          <a:bodyPr wrap="none" anchor="ctr">
            <a:spAutoFit/>
          </a:bodyPr>
          <a:lstStyle/>
          <a:p>
            <a:pPr>
              <a:defRPr sz="1100" b="1">
                <a:solidFill>
                  <a:srgbClr val="374151"/>
                </a:solidFill>
                <a:latin typeface="Arial"/>
              </a:defRPr>
            </a:pPr>
            <a:r>
              <a:rPr lang="en-US" sz="990"/>
              <a:t>B</a:t>
            </a:r>
            <a:r>
              <a:rPr lang="en-IN" sz="990" err="1"/>
              <a:t>ig</a:t>
            </a:r>
            <a:r>
              <a:rPr lang="en-IN" sz="990"/>
              <a:t> Data Processing</a:t>
            </a:r>
            <a:endParaRPr sz="990"/>
          </a:p>
        </p:txBody>
      </p:sp>
      <p:sp>
        <p:nvSpPr>
          <p:cNvPr id="17" name="Rounded Rectangle 18">
            <a:extLst>
              <a:ext uri="{FF2B5EF4-FFF2-40B4-BE49-F238E27FC236}">
                <a16:creationId xmlns:a16="http://schemas.microsoft.com/office/drawing/2014/main" id="{22C85CB4-A114-F992-1AFA-03BCB9167BF9}"/>
              </a:ext>
            </a:extLst>
          </p:cNvPr>
          <p:cNvSpPr/>
          <p:nvPr/>
        </p:nvSpPr>
        <p:spPr>
          <a:xfrm>
            <a:off x="1350264" y="4191425"/>
            <a:ext cx="2798064" cy="411480"/>
          </a:xfrm>
          <a:prstGeom prst="round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64"/>
          </a:p>
        </p:txBody>
      </p:sp>
      <p:sp>
        <p:nvSpPr>
          <p:cNvPr id="18" name="Rounded Rectangle 19">
            <a:extLst>
              <a:ext uri="{FF2B5EF4-FFF2-40B4-BE49-F238E27FC236}">
                <a16:creationId xmlns:a16="http://schemas.microsoft.com/office/drawing/2014/main" id="{93336C95-E01E-BE6F-20CD-A51EBA1CDB34}"/>
              </a:ext>
            </a:extLst>
          </p:cNvPr>
          <p:cNvSpPr/>
          <p:nvPr/>
        </p:nvSpPr>
        <p:spPr>
          <a:xfrm>
            <a:off x="1432560" y="4273721"/>
            <a:ext cx="246888" cy="246888"/>
          </a:xfrm>
          <a:prstGeom prst="round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111827"/>
                </a:solidFill>
              </a:defRPr>
            </a:pPr>
            <a:endParaRPr sz="900"/>
          </a:p>
        </p:txBody>
      </p:sp>
      <p:sp>
        <p:nvSpPr>
          <p:cNvPr id="19" name="TextBox 18">
            <a:extLst>
              <a:ext uri="{FF2B5EF4-FFF2-40B4-BE49-F238E27FC236}">
                <a16:creationId xmlns:a16="http://schemas.microsoft.com/office/drawing/2014/main" id="{24184147-DB5E-9027-6779-6B5603652AD1}"/>
              </a:ext>
            </a:extLst>
          </p:cNvPr>
          <p:cNvSpPr txBox="1"/>
          <p:nvPr/>
        </p:nvSpPr>
        <p:spPr>
          <a:xfrm>
            <a:off x="1761745" y="4274825"/>
            <a:ext cx="1050288" cy="244682"/>
          </a:xfrm>
          <a:prstGeom prst="rect">
            <a:avLst/>
          </a:prstGeom>
          <a:noFill/>
        </p:spPr>
        <p:txBody>
          <a:bodyPr wrap="none" anchor="ctr">
            <a:spAutoFit/>
          </a:bodyPr>
          <a:lstStyle/>
          <a:p>
            <a:pPr>
              <a:defRPr sz="1100" b="1">
                <a:solidFill>
                  <a:srgbClr val="374151"/>
                </a:solidFill>
                <a:latin typeface="Arial"/>
              </a:defRPr>
            </a:pPr>
            <a:r>
              <a:rPr sz="990"/>
              <a:t>Graph</a:t>
            </a:r>
            <a:r>
              <a:rPr lang="en-US" sz="990"/>
              <a:t> </a:t>
            </a:r>
            <a:r>
              <a:rPr sz="990"/>
              <a:t>Engine</a:t>
            </a:r>
            <a:r>
              <a:rPr lang="en-US" sz="990"/>
              <a:t> </a:t>
            </a:r>
            <a:endParaRPr sz="990"/>
          </a:p>
        </p:txBody>
      </p:sp>
      <p:sp>
        <p:nvSpPr>
          <p:cNvPr id="20" name="Oval 19">
            <a:extLst>
              <a:ext uri="{FF2B5EF4-FFF2-40B4-BE49-F238E27FC236}">
                <a16:creationId xmlns:a16="http://schemas.microsoft.com/office/drawing/2014/main" id="{84326B12-1041-5F18-01F8-7219A056B8C3}"/>
              </a:ext>
            </a:extLst>
          </p:cNvPr>
          <p:cNvSpPr/>
          <p:nvPr/>
        </p:nvSpPr>
        <p:spPr>
          <a:xfrm>
            <a:off x="5924832" y="1733420"/>
            <a:ext cx="518400" cy="518400"/>
          </a:xfrm>
          <a:prstGeom prst="ellipse">
            <a:avLst/>
          </a:prstGeom>
          <a:solidFill>
            <a:srgbClr val="F3E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64"/>
          </a:p>
        </p:txBody>
      </p:sp>
      <p:sp>
        <p:nvSpPr>
          <p:cNvPr id="21" name="TextBox 20">
            <a:extLst>
              <a:ext uri="{FF2B5EF4-FFF2-40B4-BE49-F238E27FC236}">
                <a16:creationId xmlns:a16="http://schemas.microsoft.com/office/drawing/2014/main" id="{B51B184D-9764-95AC-EBEC-58719B7C1D2A}"/>
              </a:ext>
            </a:extLst>
          </p:cNvPr>
          <p:cNvSpPr txBox="1"/>
          <p:nvPr/>
        </p:nvSpPr>
        <p:spPr>
          <a:xfrm>
            <a:off x="5564111" y="2227197"/>
            <a:ext cx="1283236" cy="313932"/>
          </a:xfrm>
          <a:prstGeom prst="rect">
            <a:avLst/>
          </a:prstGeom>
          <a:noFill/>
        </p:spPr>
        <p:txBody>
          <a:bodyPr wrap="none">
            <a:spAutoFit/>
          </a:bodyPr>
          <a:lstStyle/>
          <a:p>
            <a:pPr algn="ctr">
              <a:defRPr sz="1600" b="1"/>
            </a:pPr>
            <a:r>
              <a:rPr sz="1440"/>
              <a:t>Hybrid </a:t>
            </a:r>
            <a:r>
              <a:rPr lang="en-US" sz="1440"/>
              <a:t>Hosted</a:t>
            </a:r>
            <a:endParaRPr sz="1440"/>
          </a:p>
        </p:txBody>
      </p:sp>
      <p:sp>
        <p:nvSpPr>
          <p:cNvPr id="22" name="TextBox 21">
            <a:extLst>
              <a:ext uri="{FF2B5EF4-FFF2-40B4-BE49-F238E27FC236}">
                <a16:creationId xmlns:a16="http://schemas.microsoft.com/office/drawing/2014/main" id="{FBC92D9C-430E-52D5-4891-236EB0602D56}"/>
              </a:ext>
            </a:extLst>
          </p:cNvPr>
          <p:cNvSpPr txBox="1"/>
          <p:nvPr/>
        </p:nvSpPr>
        <p:spPr>
          <a:xfrm>
            <a:off x="5117707" y="2474085"/>
            <a:ext cx="2176045" cy="313932"/>
          </a:xfrm>
          <a:prstGeom prst="rect">
            <a:avLst/>
          </a:prstGeom>
          <a:noFill/>
        </p:spPr>
        <p:txBody>
          <a:bodyPr wrap="none">
            <a:spAutoFit/>
          </a:bodyPr>
          <a:lstStyle/>
          <a:p>
            <a:pPr algn="ctr">
              <a:defRPr sz="1100">
                <a:solidFill>
                  <a:srgbClr val="6B7280"/>
                </a:solidFill>
              </a:defRPr>
            </a:pPr>
            <a:r>
              <a:rPr lang="en-GB" sz="1440" b="1"/>
              <a:t>Single-tenant SaaS + BYOS</a:t>
            </a:r>
            <a:endParaRPr sz="1440" b="1"/>
          </a:p>
        </p:txBody>
      </p:sp>
      <p:sp>
        <p:nvSpPr>
          <p:cNvPr id="23" name="Rounded Rectangle 27">
            <a:extLst>
              <a:ext uri="{FF2B5EF4-FFF2-40B4-BE49-F238E27FC236}">
                <a16:creationId xmlns:a16="http://schemas.microsoft.com/office/drawing/2014/main" id="{A3DAD79E-85ED-E0E9-BCC0-6A2DD9DF5A25}"/>
              </a:ext>
            </a:extLst>
          </p:cNvPr>
          <p:cNvSpPr/>
          <p:nvPr/>
        </p:nvSpPr>
        <p:spPr>
          <a:xfrm>
            <a:off x="4642104" y="2817439"/>
            <a:ext cx="3127248" cy="1990189"/>
          </a:xfrm>
          <a:prstGeom prst="roundRect">
            <a:avLst>
              <a:gd name="adj" fmla="val 6120"/>
            </a:avLst>
          </a:prstGeom>
          <a:solidFill>
            <a:srgbClr val="EFF6FF"/>
          </a:solidFill>
          <a:ln w="19050">
            <a:solidFill>
              <a:srgbClr val="BFDBFE"/>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64"/>
          </a:p>
        </p:txBody>
      </p:sp>
      <p:sp>
        <p:nvSpPr>
          <p:cNvPr id="24" name="TextBox 23">
            <a:extLst>
              <a:ext uri="{FF2B5EF4-FFF2-40B4-BE49-F238E27FC236}">
                <a16:creationId xmlns:a16="http://schemas.microsoft.com/office/drawing/2014/main" id="{15BC8C22-BD40-D2FF-64AA-09669FFA1ADB}"/>
              </a:ext>
            </a:extLst>
          </p:cNvPr>
          <p:cNvSpPr txBox="1"/>
          <p:nvPr/>
        </p:nvSpPr>
        <p:spPr>
          <a:xfrm>
            <a:off x="4806696" y="2967860"/>
            <a:ext cx="1104790" cy="230832"/>
          </a:xfrm>
          <a:prstGeom prst="rect">
            <a:avLst/>
          </a:prstGeom>
          <a:noFill/>
        </p:spPr>
        <p:txBody>
          <a:bodyPr wrap="none">
            <a:spAutoFit/>
          </a:bodyPr>
          <a:lstStyle/>
          <a:p>
            <a:pPr>
              <a:defRPr sz="1000" b="1">
                <a:solidFill>
                  <a:srgbClr val="2563EB"/>
                </a:solidFill>
              </a:defRPr>
            </a:pPr>
            <a:r>
              <a:rPr lang="en-US" sz="900"/>
              <a:t>PREVALENT</a:t>
            </a:r>
            <a:r>
              <a:rPr sz="900"/>
              <a:t> CLOUD</a:t>
            </a:r>
          </a:p>
        </p:txBody>
      </p:sp>
      <p:sp>
        <p:nvSpPr>
          <p:cNvPr id="25" name="Rounded Rectangle 29">
            <a:extLst>
              <a:ext uri="{FF2B5EF4-FFF2-40B4-BE49-F238E27FC236}">
                <a16:creationId xmlns:a16="http://schemas.microsoft.com/office/drawing/2014/main" id="{0287FDB1-398F-C25D-C83C-0429165AD764}"/>
              </a:ext>
            </a:extLst>
          </p:cNvPr>
          <p:cNvSpPr/>
          <p:nvPr/>
        </p:nvSpPr>
        <p:spPr>
          <a:xfrm>
            <a:off x="4806696" y="3297044"/>
            <a:ext cx="2798064" cy="411480"/>
          </a:xfrm>
          <a:prstGeom prst="round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64"/>
          </a:p>
        </p:txBody>
      </p:sp>
      <p:sp>
        <p:nvSpPr>
          <p:cNvPr id="26" name="Rounded Rectangle 30">
            <a:extLst>
              <a:ext uri="{FF2B5EF4-FFF2-40B4-BE49-F238E27FC236}">
                <a16:creationId xmlns:a16="http://schemas.microsoft.com/office/drawing/2014/main" id="{5660B0BC-174C-3275-8133-D5893203C2C1}"/>
              </a:ext>
            </a:extLst>
          </p:cNvPr>
          <p:cNvSpPr/>
          <p:nvPr/>
        </p:nvSpPr>
        <p:spPr>
          <a:xfrm>
            <a:off x="4888992" y="3379340"/>
            <a:ext cx="246888" cy="246888"/>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111827"/>
                </a:solidFill>
              </a:defRPr>
            </a:pPr>
            <a:endParaRPr sz="900"/>
          </a:p>
        </p:txBody>
      </p:sp>
      <p:sp>
        <p:nvSpPr>
          <p:cNvPr id="27" name="TextBox 26">
            <a:extLst>
              <a:ext uri="{FF2B5EF4-FFF2-40B4-BE49-F238E27FC236}">
                <a16:creationId xmlns:a16="http://schemas.microsoft.com/office/drawing/2014/main" id="{BB1F3FC5-2409-20EF-D6BF-299EC95CB294}"/>
              </a:ext>
            </a:extLst>
          </p:cNvPr>
          <p:cNvSpPr txBox="1"/>
          <p:nvPr/>
        </p:nvSpPr>
        <p:spPr>
          <a:xfrm>
            <a:off x="5218176" y="3380444"/>
            <a:ext cx="1689886" cy="244682"/>
          </a:xfrm>
          <a:prstGeom prst="rect">
            <a:avLst/>
          </a:prstGeom>
          <a:noFill/>
        </p:spPr>
        <p:txBody>
          <a:bodyPr wrap="none" anchor="ctr">
            <a:spAutoFit/>
          </a:bodyPr>
          <a:lstStyle/>
          <a:p>
            <a:pPr>
              <a:defRPr sz="1100" b="1">
                <a:solidFill>
                  <a:srgbClr val="374151"/>
                </a:solidFill>
                <a:latin typeface="Arial"/>
              </a:defRPr>
            </a:pPr>
            <a:r>
              <a:rPr lang="en-US" sz="990" dirty="0"/>
              <a:t>Exposure Management *</a:t>
            </a:r>
            <a:endParaRPr sz="990" dirty="0"/>
          </a:p>
        </p:txBody>
      </p:sp>
      <p:sp>
        <p:nvSpPr>
          <p:cNvPr id="28" name="Rounded Rectangle 35">
            <a:extLst>
              <a:ext uri="{FF2B5EF4-FFF2-40B4-BE49-F238E27FC236}">
                <a16:creationId xmlns:a16="http://schemas.microsoft.com/office/drawing/2014/main" id="{2EB9299F-A98D-8B27-1C31-4476336B4841}"/>
              </a:ext>
            </a:extLst>
          </p:cNvPr>
          <p:cNvSpPr/>
          <p:nvPr/>
        </p:nvSpPr>
        <p:spPr>
          <a:xfrm>
            <a:off x="4806696" y="3780564"/>
            <a:ext cx="2798064" cy="411480"/>
          </a:xfrm>
          <a:prstGeom prst="round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64"/>
          </a:p>
        </p:txBody>
      </p:sp>
      <p:sp>
        <p:nvSpPr>
          <p:cNvPr id="29" name="Rounded Rectangle 36">
            <a:extLst>
              <a:ext uri="{FF2B5EF4-FFF2-40B4-BE49-F238E27FC236}">
                <a16:creationId xmlns:a16="http://schemas.microsoft.com/office/drawing/2014/main" id="{0C378C87-8F43-05E9-CF54-F9DA05507043}"/>
              </a:ext>
            </a:extLst>
          </p:cNvPr>
          <p:cNvSpPr/>
          <p:nvPr/>
        </p:nvSpPr>
        <p:spPr>
          <a:xfrm>
            <a:off x="4888992" y="3862860"/>
            <a:ext cx="246888" cy="246888"/>
          </a:xfrm>
          <a:prstGeom prst="round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111827"/>
                </a:solidFill>
              </a:defRPr>
            </a:pPr>
            <a:endParaRPr sz="900"/>
          </a:p>
        </p:txBody>
      </p:sp>
      <p:sp>
        <p:nvSpPr>
          <p:cNvPr id="30" name="TextBox 29">
            <a:extLst>
              <a:ext uri="{FF2B5EF4-FFF2-40B4-BE49-F238E27FC236}">
                <a16:creationId xmlns:a16="http://schemas.microsoft.com/office/drawing/2014/main" id="{52874EAA-1524-3119-BF21-1C9022B00E09}"/>
              </a:ext>
            </a:extLst>
          </p:cNvPr>
          <p:cNvSpPr txBox="1"/>
          <p:nvPr/>
        </p:nvSpPr>
        <p:spPr>
          <a:xfrm>
            <a:off x="5218176" y="3863965"/>
            <a:ext cx="1535998" cy="244682"/>
          </a:xfrm>
          <a:prstGeom prst="rect">
            <a:avLst/>
          </a:prstGeom>
          <a:noFill/>
        </p:spPr>
        <p:txBody>
          <a:bodyPr wrap="none" anchor="ctr">
            <a:spAutoFit/>
          </a:bodyPr>
          <a:lstStyle/>
          <a:p>
            <a:pPr>
              <a:defRPr sz="1100" b="1">
                <a:solidFill>
                  <a:srgbClr val="374151"/>
                </a:solidFill>
                <a:latin typeface="Arial"/>
              </a:defRPr>
            </a:pPr>
            <a:r>
              <a:rPr lang="en-US" sz="990" dirty="0"/>
              <a:t>Big Data Processing * </a:t>
            </a:r>
            <a:endParaRPr sz="990" dirty="0"/>
          </a:p>
        </p:txBody>
      </p:sp>
      <p:sp>
        <p:nvSpPr>
          <p:cNvPr id="31" name="Rounded Rectangle 38">
            <a:extLst>
              <a:ext uri="{FF2B5EF4-FFF2-40B4-BE49-F238E27FC236}">
                <a16:creationId xmlns:a16="http://schemas.microsoft.com/office/drawing/2014/main" id="{9F7E5561-EFB7-E592-C5C5-BD93741FBD0D}"/>
              </a:ext>
            </a:extLst>
          </p:cNvPr>
          <p:cNvSpPr/>
          <p:nvPr/>
        </p:nvSpPr>
        <p:spPr>
          <a:xfrm>
            <a:off x="4806696" y="4274340"/>
            <a:ext cx="2798064" cy="411480"/>
          </a:xfrm>
          <a:prstGeom prst="round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64"/>
          </a:p>
        </p:txBody>
      </p:sp>
      <p:sp>
        <p:nvSpPr>
          <p:cNvPr id="32" name="Rounded Rectangle 39">
            <a:extLst>
              <a:ext uri="{FF2B5EF4-FFF2-40B4-BE49-F238E27FC236}">
                <a16:creationId xmlns:a16="http://schemas.microsoft.com/office/drawing/2014/main" id="{898C252E-2132-457E-FE9D-D1C4CBE00B35}"/>
              </a:ext>
            </a:extLst>
          </p:cNvPr>
          <p:cNvSpPr/>
          <p:nvPr/>
        </p:nvSpPr>
        <p:spPr>
          <a:xfrm>
            <a:off x="4888992" y="4356636"/>
            <a:ext cx="246888" cy="246888"/>
          </a:xfrm>
          <a:prstGeom prst="round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111827"/>
                </a:solidFill>
              </a:defRPr>
            </a:pPr>
            <a:endParaRPr sz="900"/>
          </a:p>
        </p:txBody>
      </p:sp>
      <p:sp>
        <p:nvSpPr>
          <p:cNvPr id="33" name="TextBox 32">
            <a:extLst>
              <a:ext uri="{FF2B5EF4-FFF2-40B4-BE49-F238E27FC236}">
                <a16:creationId xmlns:a16="http://schemas.microsoft.com/office/drawing/2014/main" id="{13C2D5CE-28E1-3742-3676-82DE8D9F8BDF}"/>
              </a:ext>
            </a:extLst>
          </p:cNvPr>
          <p:cNvSpPr txBox="1"/>
          <p:nvPr/>
        </p:nvSpPr>
        <p:spPr>
          <a:xfrm>
            <a:off x="5218178" y="4357741"/>
            <a:ext cx="1099981" cy="244682"/>
          </a:xfrm>
          <a:prstGeom prst="rect">
            <a:avLst/>
          </a:prstGeom>
          <a:noFill/>
        </p:spPr>
        <p:txBody>
          <a:bodyPr wrap="none" anchor="ctr">
            <a:spAutoFit/>
          </a:bodyPr>
          <a:lstStyle/>
          <a:p>
            <a:pPr>
              <a:defRPr sz="1100" b="1">
                <a:solidFill>
                  <a:srgbClr val="374151"/>
                </a:solidFill>
                <a:latin typeface="Arial"/>
              </a:defRPr>
            </a:pPr>
            <a:r>
              <a:rPr sz="990" dirty="0"/>
              <a:t>Graph</a:t>
            </a:r>
            <a:r>
              <a:rPr lang="en-US" sz="990" dirty="0"/>
              <a:t> </a:t>
            </a:r>
            <a:r>
              <a:rPr sz="990" dirty="0"/>
              <a:t>Engine</a:t>
            </a:r>
            <a:r>
              <a:rPr lang="en-US" sz="990" dirty="0"/>
              <a:t> *</a:t>
            </a:r>
            <a:endParaRPr sz="990" dirty="0"/>
          </a:p>
        </p:txBody>
      </p:sp>
      <p:sp>
        <p:nvSpPr>
          <p:cNvPr id="34" name="Rounded Rectangle 41">
            <a:extLst>
              <a:ext uri="{FF2B5EF4-FFF2-40B4-BE49-F238E27FC236}">
                <a16:creationId xmlns:a16="http://schemas.microsoft.com/office/drawing/2014/main" id="{FCE2E5CA-512C-20F2-44E9-F207038470B1}"/>
              </a:ext>
            </a:extLst>
          </p:cNvPr>
          <p:cNvSpPr/>
          <p:nvPr/>
        </p:nvSpPr>
        <p:spPr>
          <a:xfrm>
            <a:off x="5588508" y="4873121"/>
            <a:ext cx="1234440" cy="246888"/>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6B7280"/>
                </a:solidFill>
              </a:defRPr>
            </a:pPr>
            <a:r>
              <a:rPr sz="810"/>
              <a:t>Secure Connection</a:t>
            </a:r>
          </a:p>
        </p:txBody>
      </p:sp>
      <p:sp>
        <p:nvSpPr>
          <p:cNvPr id="35" name="Rounded Rectangle 42">
            <a:extLst>
              <a:ext uri="{FF2B5EF4-FFF2-40B4-BE49-F238E27FC236}">
                <a16:creationId xmlns:a16="http://schemas.microsoft.com/office/drawing/2014/main" id="{B30ECA0F-8FF0-C1F0-2AED-E27BC03F6D9E}"/>
              </a:ext>
            </a:extLst>
          </p:cNvPr>
          <p:cNvSpPr/>
          <p:nvPr/>
        </p:nvSpPr>
        <p:spPr>
          <a:xfrm>
            <a:off x="4642104" y="5199276"/>
            <a:ext cx="3127248" cy="822960"/>
          </a:xfrm>
          <a:prstGeom prst="roundRect">
            <a:avLst/>
          </a:prstGeom>
          <a:solidFill>
            <a:srgbClr val="F9FAFB"/>
          </a:solidFill>
          <a:ln w="19050">
            <a:solidFill>
              <a:srgbClr val="E5E7EB"/>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64"/>
          </a:p>
        </p:txBody>
      </p:sp>
      <p:sp>
        <p:nvSpPr>
          <p:cNvPr id="36" name="TextBox 35">
            <a:extLst>
              <a:ext uri="{FF2B5EF4-FFF2-40B4-BE49-F238E27FC236}">
                <a16:creationId xmlns:a16="http://schemas.microsoft.com/office/drawing/2014/main" id="{F1547AEE-9BE8-F6BF-26ED-0C906BC3A406}"/>
              </a:ext>
            </a:extLst>
          </p:cNvPr>
          <p:cNvSpPr txBox="1"/>
          <p:nvPr/>
        </p:nvSpPr>
        <p:spPr>
          <a:xfrm>
            <a:off x="4806697" y="5281573"/>
            <a:ext cx="978153" cy="230832"/>
          </a:xfrm>
          <a:prstGeom prst="rect">
            <a:avLst/>
          </a:prstGeom>
          <a:noFill/>
        </p:spPr>
        <p:txBody>
          <a:bodyPr wrap="none" lIns="91440" tIns="45720" rIns="91440" bIns="45720" anchor="t">
            <a:spAutoFit/>
          </a:bodyPr>
          <a:lstStyle/>
          <a:p>
            <a:pPr>
              <a:defRPr sz="1000" b="1">
                <a:solidFill>
                  <a:srgbClr val="111827"/>
                </a:solidFill>
              </a:defRPr>
            </a:pPr>
            <a:r>
              <a:rPr lang="en-US" sz="900"/>
              <a:t>CLIENT</a:t>
            </a:r>
            <a:r>
              <a:rPr sz="900"/>
              <a:t> CLOUD</a:t>
            </a:r>
          </a:p>
        </p:txBody>
      </p:sp>
      <p:sp>
        <p:nvSpPr>
          <p:cNvPr id="37" name="Rounded Rectangle 44">
            <a:extLst>
              <a:ext uri="{FF2B5EF4-FFF2-40B4-BE49-F238E27FC236}">
                <a16:creationId xmlns:a16="http://schemas.microsoft.com/office/drawing/2014/main" id="{E3F9C80B-DAAA-7042-16EE-135E438045BA}"/>
              </a:ext>
            </a:extLst>
          </p:cNvPr>
          <p:cNvSpPr/>
          <p:nvPr/>
        </p:nvSpPr>
        <p:spPr>
          <a:xfrm>
            <a:off x="4806696" y="5528460"/>
            <a:ext cx="2798064" cy="411480"/>
          </a:xfrm>
          <a:prstGeom prst="round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64"/>
          </a:p>
        </p:txBody>
      </p:sp>
      <p:sp>
        <p:nvSpPr>
          <p:cNvPr id="38" name="Rounded Rectangle 45">
            <a:extLst>
              <a:ext uri="{FF2B5EF4-FFF2-40B4-BE49-F238E27FC236}">
                <a16:creationId xmlns:a16="http://schemas.microsoft.com/office/drawing/2014/main" id="{43137860-B7BD-E042-C124-7D479E422ECA}"/>
              </a:ext>
            </a:extLst>
          </p:cNvPr>
          <p:cNvSpPr/>
          <p:nvPr/>
        </p:nvSpPr>
        <p:spPr>
          <a:xfrm>
            <a:off x="4888992" y="5610756"/>
            <a:ext cx="246888" cy="246888"/>
          </a:xfrm>
          <a:prstGeom prst="round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111827"/>
                </a:solidFill>
              </a:defRPr>
            </a:pPr>
            <a:endParaRPr sz="900"/>
          </a:p>
        </p:txBody>
      </p:sp>
      <p:sp>
        <p:nvSpPr>
          <p:cNvPr id="39" name="TextBox 38">
            <a:extLst>
              <a:ext uri="{FF2B5EF4-FFF2-40B4-BE49-F238E27FC236}">
                <a16:creationId xmlns:a16="http://schemas.microsoft.com/office/drawing/2014/main" id="{B9C9713F-BDF9-F0B0-5845-87FF551105E4}"/>
              </a:ext>
            </a:extLst>
          </p:cNvPr>
          <p:cNvSpPr txBox="1"/>
          <p:nvPr/>
        </p:nvSpPr>
        <p:spPr>
          <a:xfrm>
            <a:off x="5218177" y="5611861"/>
            <a:ext cx="1497526" cy="244682"/>
          </a:xfrm>
          <a:prstGeom prst="rect">
            <a:avLst/>
          </a:prstGeom>
          <a:noFill/>
        </p:spPr>
        <p:txBody>
          <a:bodyPr wrap="none" anchor="ctr">
            <a:spAutoFit/>
          </a:bodyPr>
          <a:lstStyle/>
          <a:p>
            <a:pPr>
              <a:defRPr sz="1100" b="1">
                <a:solidFill>
                  <a:srgbClr val="374151"/>
                </a:solidFill>
                <a:latin typeface="Arial"/>
              </a:defRPr>
            </a:pPr>
            <a:r>
              <a:rPr sz="990"/>
              <a:t>Data </a:t>
            </a:r>
            <a:r>
              <a:rPr lang="en-US" sz="990"/>
              <a:t>Lake (Raw + KG)</a:t>
            </a:r>
            <a:endParaRPr sz="990"/>
          </a:p>
        </p:txBody>
      </p:sp>
      <p:sp>
        <p:nvSpPr>
          <p:cNvPr id="40" name="Oval 39">
            <a:extLst>
              <a:ext uri="{FF2B5EF4-FFF2-40B4-BE49-F238E27FC236}">
                <a16:creationId xmlns:a16="http://schemas.microsoft.com/office/drawing/2014/main" id="{1E34384A-6391-BA5A-D0E5-533B79524C06}"/>
              </a:ext>
            </a:extLst>
          </p:cNvPr>
          <p:cNvSpPr/>
          <p:nvPr/>
        </p:nvSpPr>
        <p:spPr>
          <a:xfrm>
            <a:off x="9456420" y="1733420"/>
            <a:ext cx="518400" cy="518400"/>
          </a:xfrm>
          <a:prstGeom prst="ellipse">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64"/>
          </a:p>
        </p:txBody>
      </p:sp>
      <p:sp>
        <p:nvSpPr>
          <p:cNvPr id="42" name="TextBox 41">
            <a:extLst>
              <a:ext uri="{FF2B5EF4-FFF2-40B4-BE49-F238E27FC236}">
                <a16:creationId xmlns:a16="http://schemas.microsoft.com/office/drawing/2014/main" id="{C93233AE-8D7E-E700-0691-0861D9FE001A}"/>
              </a:ext>
            </a:extLst>
          </p:cNvPr>
          <p:cNvSpPr txBox="1"/>
          <p:nvPr/>
        </p:nvSpPr>
        <p:spPr>
          <a:xfrm>
            <a:off x="8991563" y="2227197"/>
            <a:ext cx="1341201" cy="313932"/>
          </a:xfrm>
          <a:prstGeom prst="rect">
            <a:avLst/>
          </a:prstGeom>
          <a:noFill/>
        </p:spPr>
        <p:txBody>
          <a:bodyPr wrap="none">
            <a:spAutoFit/>
          </a:bodyPr>
          <a:lstStyle/>
          <a:p>
            <a:pPr algn="ctr">
              <a:defRPr sz="1600" b="1"/>
            </a:pPr>
            <a:r>
              <a:rPr lang="en-US" sz="1440"/>
              <a:t>Client</a:t>
            </a:r>
            <a:r>
              <a:rPr sz="1440"/>
              <a:t> Hosted</a:t>
            </a:r>
          </a:p>
        </p:txBody>
      </p:sp>
      <p:sp>
        <p:nvSpPr>
          <p:cNvPr id="43" name="TextBox 42">
            <a:extLst>
              <a:ext uri="{FF2B5EF4-FFF2-40B4-BE49-F238E27FC236}">
                <a16:creationId xmlns:a16="http://schemas.microsoft.com/office/drawing/2014/main" id="{C631B0B4-7509-027E-DB22-7F11B20076B7}"/>
              </a:ext>
            </a:extLst>
          </p:cNvPr>
          <p:cNvSpPr txBox="1"/>
          <p:nvPr/>
        </p:nvSpPr>
        <p:spPr>
          <a:xfrm>
            <a:off x="9043244" y="2474085"/>
            <a:ext cx="1237839" cy="313932"/>
          </a:xfrm>
          <a:prstGeom prst="rect">
            <a:avLst/>
          </a:prstGeom>
          <a:noFill/>
        </p:spPr>
        <p:txBody>
          <a:bodyPr wrap="none">
            <a:spAutoFit/>
          </a:bodyPr>
          <a:lstStyle/>
          <a:p>
            <a:pPr algn="ctr">
              <a:defRPr sz="1100">
                <a:solidFill>
                  <a:srgbClr val="6B7280"/>
                </a:solidFill>
              </a:defRPr>
            </a:pPr>
            <a:r>
              <a:rPr lang="en-US" sz="1440" b="1"/>
              <a:t>Client</a:t>
            </a:r>
            <a:r>
              <a:rPr sz="1440" b="1"/>
              <a:t> Cl</a:t>
            </a:r>
            <a:r>
              <a:rPr sz="1440" b="1">
                <a:solidFill>
                  <a:srgbClr val="6B7280"/>
                </a:solidFill>
              </a:rPr>
              <a:t>o</a:t>
            </a:r>
            <a:r>
              <a:rPr sz="1440" b="1"/>
              <a:t>ud</a:t>
            </a:r>
          </a:p>
        </p:txBody>
      </p:sp>
      <p:sp>
        <p:nvSpPr>
          <p:cNvPr id="44" name="Rounded Rectangle 50">
            <a:extLst>
              <a:ext uri="{FF2B5EF4-FFF2-40B4-BE49-F238E27FC236}">
                <a16:creationId xmlns:a16="http://schemas.microsoft.com/office/drawing/2014/main" id="{4C837BBB-AF7E-BA7B-DB79-CFF476338317}"/>
              </a:ext>
            </a:extLst>
          </p:cNvPr>
          <p:cNvSpPr/>
          <p:nvPr/>
        </p:nvSpPr>
        <p:spPr>
          <a:xfrm>
            <a:off x="8109895" y="2747764"/>
            <a:ext cx="3127248" cy="2498197"/>
          </a:xfrm>
          <a:prstGeom prst="roundRect">
            <a:avLst>
              <a:gd name="adj" fmla="val 6355"/>
            </a:avLst>
          </a:prstGeom>
          <a:solidFill>
            <a:srgbClr val="F9FAFB"/>
          </a:solidFill>
          <a:ln w="19050">
            <a:solidFill>
              <a:srgbClr val="E5E7EB"/>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64"/>
          </a:p>
        </p:txBody>
      </p:sp>
      <p:sp>
        <p:nvSpPr>
          <p:cNvPr id="45" name="TextBox 44">
            <a:extLst>
              <a:ext uri="{FF2B5EF4-FFF2-40B4-BE49-F238E27FC236}">
                <a16:creationId xmlns:a16="http://schemas.microsoft.com/office/drawing/2014/main" id="{4E697AC8-3CD8-685D-0EFB-E446A7A1E923}"/>
              </a:ext>
            </a:extLst>
          </p:cNvPr>
          <p:cNvSpPr txBox="1"/>
          <p:nvPr/>
        </p:nvSpPr>
        <p:spPr>
          <a:xfrm>
            <a:off x="8263129" y="2967860"/>
            <a:ext cx="978153" cy="230832"/>
          </a:xfrm>
          <a:prstGeom prst="rect">
            <a:avLst/>
          </a:prstGeom>
          <a:noFill/>
        </p:spPr>
        <p:txBody>
          <a:bodyPr wrap="none">
            <a:spAutoFit/>
          </a:bodyPr>
          <a:lstStyle/>
          <a:p>
            <a:pPr>
              <a:defRPr sz="1000" b="1">
                <a:solidFill>
                  <a:srgbClr val="111827"/>
                </a:solidFill>
              </a:defRPr>
            </a:pPr>
            <a:r>
              <a:rPr lang="en-US" sz="900"/>
              <a:t>CLIENT</a:t>
            </a:r>
            <a:r>
              <a:rPr sz="900"/>
              <a:t> CLOUD</a:t>
            </a:r>
          </a:p>
        </p:txBody>
      </p:sp>
      <p:sp>
        <p:nvSpPr>
          <p:cNvPr id="46" name="Rounded Rectangle 52">
            <a:extLst>
              <a:ext uri="{FF2B5EF4-FFF2-40B4-BE49-F238E27FC236}">
                <a16:creationId xmlns:a16="http://schemas.microsoft.com/office/drawing/2014/main" id="{2C90C072-1F66-3398-DA2E-F366E12D25F6}"/>
              </a:ext>
            </a:extLst>
          </p:cNvPr>
          <p:cNvSpPr/>
          <p:nvPr/>
        </p:nvSpPr>
        <p:spPr>
          <a:xfrm>
            <a:off x="8263128" y="3297044"/>
            <a:ext cx="2798064" cy="411480"/>
          </a:xfrm>
          <a:prstGeom prst="round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64"/>
          </a:p>
        </p:txBody>
      </p:sp>
      <p:sp>
        <p:nvSpPr>
          <p:cNvPr id="47" name="Rounded Rectangle 53">
            <a:extLst>
              <a:ext uri="{FF2B5EF4-FFF2-40B4-BE49-F238E27FC236}">
                <a16:creationId xmlns:a16="http://schemas.microsoft.com/office/drawing/2014/main" id="{CA57D8FE-2D6E-5F41-5D7D-AD97CCF0943D}"/>
              </a:ext>
            </a:extLst>
          </p:cNvPr>
          <p:cNvSpPr/>
          <p:nvPr/>
        </p:nvSpPr>
        <p:spPr>
          <a:xfrm>
            <a:off x="8345424" y="3379340"/>
            <a:ext cx="246888" cy="246888"/>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111827"/>
                </a:solidFill>
              </a:defRPr>
            </a:pPr>
            <a:endParaRPr sz="900"/>
          </a:p>
        </p:txBody>
      </p:sp>
      <p:sp>
        <p:nvSpPr>
          <p:cNvPr id="51" name="TextBox 50">
            <a:extLst>
              <a:ext uri="{FF2B5EF4-FFF2-40B4-BE49-F238E27FC236}">
                <a16:creationId xmlns:a16="http://schemas.microsoft.com/office/drawing/2014/main" id="{01DD2194-B2D4-BE69-D4AA-148AE400F456}"/>
              </a:ext>
            </a:extLst>
          </p:cNvPr>
          <p:cNvSpPr txBox="1"/>
          <p:nvPr/>
        </p:nvSpPr>
        <p:spPr>
          <a:xfrm>
            <a:off x="8674608" y="3380444"/>
            <a:ext cx="1569660" cy="244682"/>
          </a:xfrm>
          <a:prstGeom prst="rect">
            <a:avLst/>
          </a:prstGeom>
          <a:noFill/>
        </p:spPr>
        <p:txBody>
          <a:bodyPr wrap="none" anchor="ctr">
            <a:spAutoFit/>
          </a:bodyPr>
          <a:lstStyle/>
          <a:p>
            <a:pPr>
              <a:defRPr sz="1100" b="1">
                <a:solidFill>
                  <a:srgbClr val="374151"/>
                </a:solidFill>
                <a:latin typeface="Arial"/>
              </a:defRPr>
            </a:pPr>
            <a:r>
              <a:rPr lang="en-US" sz="990"/>
              <a:t>Exposure Management</a:t>
            </a:r>
            <a:endParaRPr sz="990"/>
          </a:p>
        </p:txBody>
      </p:sp>
      <p:sp>
        <p:nvSpPr>
          <p:cNvPr id="52" name="Rounded Rectangle 58">
            <a:extLst>
              <a:ext uri="{FF2B5EF4-FFF2-40B4-BE49-F238E27FC236}">
                <a16:creationId xmlns:a16="http://schemas.microsoft.com/office/drawing/2014/main" id="{B6F49026-9E79-459A-3EC3-FD717BCF04E8}"/>
              </a:ext>
            </a:extLst>
          </p:cNvPr>
          <p:cNvSpPr/>
          <p:nvPr/>
        </p:nvSpPr>
        <p:spPr>
          <a:xfrm>
            <a:off x="8263128" y="3780564"/>
            <a:ext cx="2798064" cy="411480"/>
          </a:xfrm>
          <a:prstGeom prst="round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64"/>
          </a:p>
        </p:txBody>
      </p:sp>
      <p:sp>
        <p:nvSpPr>
          <p:cNvPr id="53" name="Rounded Rectangle 59">
            <a:extLst>
              <a:ext uri="{FF2B5EF4-FFF2-40B4-BE49-F238E27FC236}">
                <a16:creationId xmlns:a16="http://schemas.microsoft.com/office/drawing/2014/main" id="{9FAF92F1-F883-39AE-7F50-20DABCF8B511}"/>
              </a:ext>
            </a:extLst>
          </p:cNvPr>
          <p:cNvSpPr/>
          <p:nvPr/>
        </p:nvSpPr>
        <p:spPr>
          <a:xfrm>
            <a:off x="8345424" y="3862860"/>
            <a:ext cx="246888" cy="246888"/>
          </a:xfrm>
          <a:prstGeom prst="round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111827"/>
                </a:solidFill>
              </a:defRPr>
            </a:pPr>
            <a:endParaRPr sz="900"/>
          </a:p>
        </p:txBody>
      </p:sp>
      <p:sp>
        <p:nvSpPr>
          <p:cNvPr id="56" name="TextBox 55">
            <a:extLst>
              <a:ext uri="{FF2B5EF4-FFF2-40B4-BE49-F238E27FC236}">
                <a16:creationId xmlns:a16="http://schemas.microsoft.com/office/drawing/2014/main" id="{668CE3E2-5239-ED1D-62D0-F535A5FC2C5C}"/>
              </a:ext>
            </a:extLst>
          </p:cNvPr>
          <p:cNvSpPr txBox="1"/>
          <p:nvPr/>
        </p:nvSpPr>
        <p:spPr>
          <a:xfrm>
            <a:off x="8674608" y="3863965"/>
            <a:ext cx="1415772" cy="244682"/>
          </a:xfrm>
          <a:prstGeom prst="rect">
            <a:avLst/>
          </a:prstGeom>
          <a:noFill/>
        </p:spPr>
        <p:txBody>
          <a:bodyPr wrap="none" anchor="ctr">
            <a:spAutoFit/>
          </a:bodyPr>
          <a:lstStyle/>
          <a:p>
            <a:pPr>
              <a:defRPr sz="1100" b="1">
                <a:solidFill>
                  <a:srgbClr val="374151"/>
                </a:solidFill>
                <a:latin typeface="Arial"/>
              </a:defRPr>
            </a:pPr>
            <a:r>
              <a:rPr lang="en-US" sz="990"/>
              <a:t>Big Data Processing</a:t>
            </a:r>
          </a:p>
        </p:txBody>
      </p:sp>
      <p:sp>
        <p:nvSpPr>
          <p:cNvPr id="62" name="Rounded Rectangle 61">
            <a:extLst>
              <a:ext uri="{FF2B5EF4-FFF2-40B4-BE49-F238E27FC236}">
                <a16:creationId xmlns:a16="http://schemas.microsoft.com/office/drawing/2014/main" id="{EE0C61DC-73C0-B57A-74B5-87FAA6921E71}"/>
              </a:ext>
            </a:extLst>
          </p:cNvPr>
          <p:cNvSpPr/>
          <p:nvPr/>
        </p:nvSpPr>
        <p:spPr>
          <a:xfrm>
            <a:off x="8263128" y="4274340"/>
            <a:ext cx="2798064" cy="411480"/>
          </a:xfrm>
          <a:prstGeom prst="round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64"/>
          </a:p>
        </p:txBody>
      </p:sp>
      <p:sp>
        <p:nvSpPr>
          <p:cNvPr id="63" name="Rounded Rectangle 62">
            <a:extLst>
              <a:ext uri="{FF2B5EF4-FFF2-40B4-BE49-F238E27FC236}">
                <a16:creationId xmlns:a16="http://schemas.microsoft.com/office/drawing/2014/main" id="{4F68C95E-937E-E403-DBD8-07640D419AD0}"/>
              </a:ext>
            </a:extLst>
          </p:cNvPr>
          <p:cNvSpPr/>
          <p:nvPr/>
        </p:nvSpPr>
        <p:spPr>
          <a:xfrm>
            <a:off x="8345424" y="4356636"/>
            <a:ext cx="246888" cy="246888"/>
          </a:xfrm>
          <a:prstGeom prst="round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111827"/>
                </a:solidFill>
              </a:defRPr>
            </a:pPr>
            <a:endParaRPr sz="900"/>
          </a:p>
        </p:txBody>
      </p:sp>
      <p:sp>
        <p:nvSpPr>
          <p:cNvPr id="128" name="TextBox 127">
            <a:extLst>
              <a:ext uri="{FF2B5EF4-FFF2-40B4-BE49-F238E27FC236}">
                <a16:creationId xmlns:a16="http://schemas.microsoft.com/office/drawing/2014/main" id="{04B94483-14CA-015C-6195-A1E426687275}"/>
              </a:ext>
            </a:extLst>
          </p:cNvPr>
          <p:cNvSpPr txBox="1"/>
          <p:nvPr/>
        </p:nvSpPr>
        <p:spPr>
          <a:xfrm>
            <a:off x="8674610" y="4357741"/>
            <a:ext cx="1015021" cy="244682"/>
          </a:xfrm>
          <a:prstGeom prst="rect">
            <a:avLst/>
          </a:prstGeom>
          <a:noFill/>
        </p:spPr>
        <p:txBody>
          <a:bodyPr wrap="none" anchor="ctr">
            <a:spAutoFit/>
          </a:bodyPr>
          <a:lstStyle/>
          <a:p>
            <a:pPr>
              <a:defRPr sz="1100" b="1">
                <a:solidFill>
                  <a:srgbClr val="374151"/>
                </a:solidFill>
                <a:latin typeface="Arial"/>
              </a:defRPr>
            </a:pPr>
            <a:r>
              <a:rPr sz="990"/>
              <a:t>Graph</a:t>
            </a:r>
            <a:r>
              <a:rPr lang="en-US" sz="990"/>
              <a:t> </a:t>
            </a:r>
            <a:r>
              <a:rPr sz="990"/>
              <a:t>Engine</a:t>
            </a:r>
          </a:p>
        </p:txBody>
      </p:sp>
      <p:sp>
        <p:nvSpPr>
          <p:cNvPr id="129" name="Rounded Rectangle 64">
            <a:extLst>
              <a:ext uri="{FF2B5EF4-FFF2-40B4-BE49-F238E27FC236}">
                <a16:creationId xmlns:a16="http://schemas.microsoft.com/office/drawing/2014/main" id="{4B1BFA75-17BB-4D47-8D3E-FFD7626775CA}"/>
              </a:ext>
            </a:extLst>
          </p:cNvPr>
          <p:cNvSpPr/>
          <p:nvPr/>
        </p:nvSpPr>
        <p:spPr>
          <a:xfrm>
            <a:off x="8274487" y="4761485"/>
            <a:ext cx="2798064" cy="411480"/>
          </a:xfrm>
          <a:prstGeom prst="round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64"/>
          </a:p>
        </p:txBody>
      </p:sp>
      <p:sp>
        <p:nvSpPr>
          <p:cNvPr id="130" name="Rounded Rectangle 65">
            <a:extLst>
              <a:ext uri="{FF2B5EF4-FFF2-40B4-BE49-F238E27FC236}">
                <a16:creationId xmlns:a16="http://schemas.microsoft.com/office/drawing/2014/main" id="{A5F67173-16D0-55DB-B9A2-37E40D9809BA}"/>
              </a:ext>
            </a:extLst>
          </p:cNvPr>
          <p:cNvSpPr/>
          <p:nvPr/>
        </p:nvSpPr>
        <p:spPr>
          <a:xfrm>
            <a:off x="8356783" y="4843781"/>
            <a:ext cx="246888" cy="246888"/>
          </a:xfrm>
          <a:prstGeom prst="round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111827"/>
                </a:solidFill>
              </a:defRPr>
            </a:pPr>
            <a:endParaRPr sz="900"/>
          </a:p>
        </p:txBody>
      </p:sp>
      <p:sp>
        <p:nvSpPr>
          <p:cNvPr id="131" name="TextBox 130">
            <a:extLst>
              <a:ext uri="{FF2B5EF4-FFF2-40B4-BE49-F238E27FC236}">
                <a16:creationId xmlns:a16="http://schemas.microsoft.com/office/drawing/2014/main" id="{8B7BF72B-1C52-DB20-1355-8E124C3DF3C6}"/>
              </a:ext>
            </a:extLst>
          </p:cNvPr>
          <p:cNvSpPr txBox="1"/>
          <p:nvPr/>
        </p:nvSpPr>
        <p:spPr>
          <a:xfrm>
            <a:off x="8685969" y="4844885"/>
            <a:ext cx="1497526" cy="244682"/>
          </a:xfrm>
          <a:prstGeom prst="rect">
            <a:avLst/>
          </a:prstGeom>
          <a:noFill/>
        </p:spPr>
        <p:txBody>
          <a:bodyPr wrap="none" anchor="ctr">
            <a:spAutoFit/>
          </a:bodyPr>
          <a:lstStyle/>
          <a:p>
            <a:pPr>
              <a:defRPr sz="1100" b="1">
                <a:solidFill>
                  <a:srgbClr val="374151"/>
                </a:solidFill>
                <a:latin typeface="Arial"/>
              </a:defRPr>
            </a:pPr>
            <a:r>
              <a:rPr sz="990"/>
              <a:t>Data </a:t>
            </a:r>
            <a:r>
              <a:rPr lang="en-US" sz="990"/>
              <a:t>Lake (Raw + KG)</a:t>
            </a:r>
            <a:endParaRPr sz="990"/>
          </a:p>
        </p:txBody>
      </p:sp>
      <p:pic>
        <p:nvPicPr>
          <p:cNvPr id="132" name="Graphic 131" descr="Cloud with solid fill">
            <a:extLst>
              <a:ext uri="{FF2B5EF4-FFF2-40B4-BE49-F238E27FC236}">
                <a16:creationId xmlns:a16="http://schemas.microsoft.com/office/drawing/2014/main" id="{B6B10713-FAA6-CBEA-3179-30B60A6459B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612676" y="1742761"/>
            <a:ext cx="420250" cy="420250"/>
          </a:xfrm>
          <a:prstGeom prst="rect">
            <a:avLst/>
          </a:prstGeom>
        </p:spPr>
      </p:pic>
      <p:pic>
        <p:nvPicPr>
          <p:cNvPr id="133" name="Graphic 132" descr="Network diagram with solid fill">
            <a:extLst>
              <a:ext uri="{FF2B5EF4-FFF2-40B4-BE49-F238E27FC236}">
                <a16:creationId xmlns:a16="http://schemas.microsoft.com/office/drawing/2014/main" id="{7A4116E2-FB88-6220-0134-0E13CE2DCE5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6200000">
            <a:off x="5973419" y="1746880"/>
            <a:ext cx="432000" cy="432000"/>
          </a:xfrm>
          <a:prstGeom prst="rect">
            <a:avLst/>
          </a:prstGeom>
        </p:spPr>
      </p:pic>
      <p:pic>
        <p:nvPicPr>
          <p:cNvPr id="134" name="Graphic 133" descr="Cloud with solid fill">
            <a:extLst>
              <a:ext uri="{FF2B5EF4-FFF2-40B4-BE49-F238E27FC236}">
                <a16:creationId xmlns:a16="http://schemas.microsoft.com/office/drawing/2014/main" id="{2D67AE52-E567-05E0-68C3-B220579BEE0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538697" y="1803659"/>
            <a:ext cx="388800" cy="388800"/>
          </a:xfrm>
          <a:prstGeom prst="rect">
            <a:avLst/>
          </a:prstGeom>
        </p:spPr>
      </p:pic>
      <p:pic>
        <p:nvPicPr>
          <p:cNvPr id="135" name="Graphic 134" descr="Bar chart outline">
            <a:extLst>
              <a:ext uri="{FF2B5EF4-FFF2-40B4-BE49-F238E27FC236}">
                <a16:creationId xmlns:a16="http://schemas.microsoft.com/office/drawing/2014/main" id="{B3A88F74-6E4D-99A6-BFB8-B440D160A1D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452650" y="3323223"/>
            <a:ext cx="216000" cy="216000"/>
          </a:xfrm>
          <a:prstGeom prst="rect">
            <a:avLst/>
          </a:prstGeom>
        </p:spPr>
      </p:pic>
      <p:pic>
        <p:nvPicPr>
          <p:cNvPr id="136" name="Graphic 135" descr="Bar chart outline">
            <a:extLst>
              <a:ext uri="{FF2B5EF4-FFF2-40B4-BE49-F238E27FC236}">
                <a16:creationId xmlns:a16="http://schemas.microsoft.com/office/drawing/2014/main" id="{3FBE04D1-3C12-A22B-4E29-E00ADA8E2D1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922215" y="3389823"/>
            <a:ext cx="216000" cy="216000"/>
          </a:xfrm>
          <a:prstGeom prst="rect">
            <a:avLst/>
          </a:prstGeom>
        </p:spPr>
      </p:pic>
      <p:pic>
        <p:nvPicPr>
          <p:cNvPr id="140" name="Graphic 139" descr="Bar chart outline">
            <a:extLst>
              <a:ext uri="{FF2B5EF4-FFF2-40B4-BE49-F238E27FC236}">
                <a16:creationId xmlns:a16="http://schemas.microsoft.com/office/drawing/2014/main" id="{B4D205EE-4063-28E6-44F5-E92372C0219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44234" y="3396780"/>
            <a:ext cx="216000" cy="216000"/>
          </a:xfrm>
          <a:prstGeom prst="rect">
            <a:avLst/>
          </a:prstGeom>
        </p:spPr>
      </p:pic>
      <p:pic>
        <p:nvPicPr>
          <p:cNvPr id="141" name="Graphic 140" descr="Network outline">
            <a:extLst>
              <a:ext uri="{FF2B5EF4-FFF2-40B4-BE49-F238E27FC236}">
                <a16:creationId xmlns:a16="http://schemas.microsoft.com/office/drawing/2014/main" id="{8E662763-3386-0CF2-09C3-7D6EC183199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307707" y="4352457"/>
            <a:ext cx="259200" cy="259200"/>
          </a:xfrm>
          <a:prstGeom prst="rect">
            <a:avLst/>
          </a:prstGeom>
        </p:spPr>
      </p:pic>
      <p:pic>
        <p:nvPicPr>
          <p:cNvPr id="142" name="Graphic 141" descr="Network outline">
            <a:extLst>
              <a:ext uri="{FF2B5EF4-FFF2-40B4-BE49-F238E27FC236}">
                <a16:creationId xmlns:a16="http://schemas.microsoft.com/office/drawing/2014/main" id="{05FD7A59-5828-E6DA-8BB9-B06BA0EBD27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417550" y="4261901"/>
            <a:ext cx="259200" cy="259200"/>
          </a:xfrm>
          <a:prstGeom prst="rect">
            <a:avLst/>
          </a:prstGeom>
        </p:spPr>
      </p:pic>
      <p:pic>
        <p:nvPicPr>
          <p:cNvPr id="143" name="Graphic 142" descr="Network outline">
            <a:extLst>
              <a:ext uri="{FF2B5EF4-FFF2-40B4-BE49-F238E27FC236}">
                <a16:creationId xmlns:a16="http://schemas.microsoft.com/office/drawing/2014/main" id="{D8CC10C4-D1DB-B616-27D2-56D826DFE9B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900615" y="4358543"/>
            <a:ext cx="259200" cy="259200"/>
          </a:xfrm>
          <a:prstGeom prst="rect">
            <a:avLst/>
          </a:prstGeom>
        </p:spPr>
      </p:pic>
      <p:sp>
        <p:nvSpPr>
          <p:cNvPr id="144" name="Rounded Rectangle 21">
            <a:extLst>
              <a:ext uri="{FF2B5EF4-FFF2-40B4-BE49-F238E27FC236}">
                <a16:creationId xmlns:a16="http://schemas.microsoft.com/office/drawing/2014/main" id="{8816FB80-883D-65C9-6B1B-0F9E92AABB7A}"/>
              </a:ext>
            </a:extLst>
          </p:cNvPr>
          <p:cNvSpPr/>
          <p:nvPr/>
        </p:nvSpPr>
        <p:spPr>
          <a:xfrm>
            <a:off x="1350264" y="4670475"/>
            <a:ext cx="2798064" cy="411480"/>
          </a:xfrm>
          <a:prstGeom prst="round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64"/>
          </a:p>
        </p:txBody>
      </p:sp>
      <p:sp>
        <p:nvSpPr>
          <p:cNvPr id="145" name="Rounded Rectangle 22">
            <a:extLst>
              <a:ext uri="{FF2B5EF4-FFF2-40B4-BE49-F238E27FC236}">
                <a16:creationId xmlns:a16="http://schemas.microsoft.com/office/drawing/2014/main" id="{1DE23782-2C85-ADCE-7C80-342F3FBDC9CF}"/>
              </a:ext>
            </a:extLst>
          </p:cNvPr>
          <p:cNvSpPr/>
          <p:nvPr/>
        </p:nvSpPr>
        <p:spPr>
          <a:xfrm>
            <a:off x="1432560" y="4752771"/>
            <a:ext cx="246888" cy="246888"/>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111827"/>
                </a:solidFill>
              </a:defRPr>
            </a:pPr>
            <a:endParaRPr sz="900"/>
          </a:p>
        </p:txBody>
      </p:sp>
      <p:sp>
        <p:nvSpPr>
          <p:cNvPr id="146" name="TextBox 145">
            <a:extLst>
              <a:ext uri="{FF2B5EF4-FFF2-40B4-BE49-F238E27FC236}">
                <a16:creationId xmlns:a16="http://schemas.microsoft.com/office/drawing/2014/main" id="{CFDF7104-3A6B-7E22-675F-A84C3DD2BDBB}"/>
              </a:ext>
            </a:extLst>
          </p:cNvPr>
          <p:cNvSpPr txBox="1"/>
          <p:nvPr/>
        </p:nvSpPr>
        <p:spPr>
          <a:xfrm>
            <a:off x="1761745" y="4753875"/>
            <a:ext cx="1497526" cy="244682"/>
          </a:xfrm>
          <a:prstGeom prst="rect">
            <a:avLst/>
          </a:prstGeom>
          <a:noFill/>
        </p:spPr>
        <p:txBody>
          <a:bodyPr wrap="none" anchor="ctr">
            <a:spAutoFit/>
          </a:bodyPr>
          <a:lstStyle/>
          <a:p>
            <a:pPr>
              <a:defRPr sz="1100" b="1">
                <a:solidFill>
                  <a:srgbClr val="374151"/>
                </a:solidFill>
                <a:latin typeface="Arial"/>
              </a:defRPr>
            </a:pPr>
            <a:r>
              <a:rPr sz="990"/>
              <a:t>Data </a:t>
            </a:r>
            <a:r>
              <a:rPr lang="en-US" sz="990"/>
              <a:t>Lake (Raw + KG)</a:t>
            </a:r>
            <a:endParaRPr sz="990"/>
          </a:p>
        </p:txBody>
      </p:sp>
      <p:pic>
        <p:nvPicPr>
          <p:cNvPr id="156" name="Graphic 155" descr="Gears with solid fill">
            <a:extLst>
              <a:ext uri="{FF2B5EF4-FFF2-40B4-BE49-F238E27FC236}">
                <a16:creationId xmlns:a16="http://schemas.microsoft.com/office/drawing/2014/main" id="{CA46901E-2CFC-3736-EB4C-3ED749AD72E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331091" y="3870410"/>
            <a:ext cx="259200" cy="259200"/>
          </a:xfrm>
          <a:prstGeom prst="rect">
            <a:avLst/>
          </a:prstGeom>
        </p:spPr>
      </p:pic>
      <p:pic>
        <p:nvPicPr>
          <p:cNvPr id="157" name="Graphic 156" descr="Gears with solid fill">
            <a:extLst>
              <a:ext uri="{FF2B5EF4-FFF2-40B4-BE49-F238E27FC236}">
                <a16:creationId xmlns:a16="http://schemas.microsoft.com/office/drawing/2014/main" id="{BA147E1E-EE0A-B54A-D5C8-3573FD15D33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426404" y="3790116"/>
            <a:ext cx="259200" cy="259200"/>
          </a:xfrm>
          <a:prstGeom prst="rect">
            <a:avLst/>
          </a:prstGeom>
        </p:spPr>
      </p:pic>
      <p:pic>
        <p:nvPicPr>
          <p:cNvPr id="158" name="Graphic 157" descr="Gears with solid fill">
            <a:extLst>
              <a:ext uri="{FF2B5EF4-FFF2-40B4-BE49-F238E27FC236}">
                <a16:creationId xmlns:a16="http://schemas.microsoft.com/office/drawing/2014/main" id="{7B2B3D37-E8EC-6807-0989-91AAFE93D7A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882836" y="3840393"/>
            <a:ext cx="259200" cy="259200"/>
          </a:xfrm>
          <a:prstGeom prst="rect">
            <a:avLst/>
          </a:prstGeom>
        </p:spPr>
      </p:pic>
      <p:pic>
        <p:nvPicPr>
          <p:cNvPr id="159" name="Graphic 158" descr="Database with solid fill">
            <a:extLst>
              <a:ext uri="{FF2B5EF4-FFF2-40B4-BE49-F238E27FC236}">
                <a16:creationId xmlns:a16="http://schemas.microsoft.com/office/drawing/2014/main" id="{1FDAD81A-8F8D-52CC-5544-460BEC77C7A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391776" y="4866461"/>
            <a:ext cx="259200" cy="259200"/>
          </a:xfrm>
          <a:prstGeom prst="rect">
            <a:avLst/>
          </a:prstGeom>
        </p:spPr>
      </p:pic>
      <p:pic>
        <p:nvPicPr>
          <p:cNvPr id="160" name="Graphic 159" descr="Database with solid fill">
            <a:extLst>
              <a:ext uri="{FF2B5EF4-FFF2-40B4-BE49-F238E27FC236}">
                <a16:creationId xmlns:a16="http://schemas.microsoft.com/office/drawing/2014/main" id="{4DAE7FD0-80D1-604A-2007-9BACBD5E6EDE}"/>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439150" y="4746615"/>
            <a:ext cx="259200" cy="259200"/>
          </a:xfrm>
          <a:prstGeom prst="rect">
            <a:avLst/>
          </a:prstGeom>
        </p:spPr>
      </p:pic>
      <p:pic>
        <p:nvPicPr>
          <p:cNvPr id="161" name="Graphic 160" descr="Database with solid fill">
            <a:extLst>
              <a:ext uri="{FF2B5EF4-FFF2-40B4-BE49-F238E27FC236}">
                <a16:creationId xmlns:a16="http://schemas.microsoft.com/office/drawing/2014/main" id="{11C81228-85F9-81B8-4269-410D9EB2E4E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874378" y="5604600"/>
            <a:ext cx="259200" cy="259200"/>
          </a:xfrm>
          <a:prstGeom prst="rect">
            <a:avLst/>
          </a:prstGeom>
        </p:spPr>
      </p:pic>
      <p:pic>
        <p:nvPicPr>
          <p:cNvPr id="162" name="Graphic 161" descr="Lock with solid fill">
            <a:extLst>
              <a:ext uri="{FF2B5EF4-FFF2-40B4-BE49-F238E27FC236}">
                <a16:creationId xmlns:a16="http://schemas.microsoft.com/office/drawing/2014/main" id="{4EB1227B-B57C-9BC5-2950-A74266C2042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864751" y="4880932"/>
            <a:ext cx="244152" cy="232058"/>
          </a:xfrm>
          <a:prstGeom prst="rect">
            <a:avLst/>
          </a:prstGeom>
        </p:spPr>
      </p:pic>
      <p:sp>
        <p:nvSpPr>
          <p:cNvPr id="163" name="TextBox 162">
            <a:extLst>
              <a:ext uri="{FF2B5EF4-FFF2-40B4-BE49-F238E27FC236}">
                <a16:creationId xmlns:a16="http://schemas.microsoft.com/office/drawing/2014/main" id="{14C353F6-349E-6094-87F6-69FF5088DC6F}"/>
              </a:ext>
            </a:extLst>
          </p:cNvPr>
          <p:cNvSpPr txBox="1"/>
          <p:nvPr/>
        </p:nvSpPr>
        <p:spPr>
          <a:xfrm>
            <a:off x="4072686" y="6139858"/>
            <a:ext cx="4209870" cy="258532"/>
          </a:xfrm>
          <a:prstGeom prst="rect">
            <a:avLst/>
          </a:prstGeom>
          <a:noFill/>
        </p:spPr>
        <p:txBody>
          <a:bodyPr wrap="none" lIns="109728" tIns="54864" rIns="109728" bIns="54864" anchor="ctr">
            <a:spAutoFit/>
          </a:bodyPr>
          <a:lstStyle/>
          <a:p>
            <a:pPr>
              <a:defRPr sz="1100" b="1">
                <a:solidFill>
                  <a:srgbClr val="374151"/>
                </a:solidFill>
                <a:latin typeface="Arial"/>
              </a:defRPr>
            </a:pPr>
            <a:r>
              <a:rPr lang="en-US" sz="960" dirty="0"/>
              <a:t>* Transient, meta data and cache data are stored in Prevalent Cloud </a:t>
            </a:r>
            <a:endParaRPr lang="en-US" sz="990" dirty="0">
              <a:cs typeface="Arial"/>
            </a:endParaRPr>
          </a:p>
        </p:txBody>
      </p:sp>
      <p:sp>
        <p:nvSpPr>
          <p:cNvPr id="164" name="object 8">
            <a:extLst>
              <a:ext uri="{FF2B5EF4-FFF2-40B4-BE49-F238E27FC236}">
                <a16:creationId xmlns:a16="http://schemas.microsoft.com/office/drawing/2014/main" id="{9D5EE82A-4091-18E6-0A12-C57FACAC3D1B}"/>
              </a:ext>
            </a:extLst>
          </p:cNvPr>
          <p:cNvSpPr txBox="1"/>
          <p:nvPr/>
        </p:nvSpPr>
        <p:spPr>
          <a:xfrm>
            <a:off x="647998" y="525983"/>
            <a:ext cx="11074609" cy="743793"/>
          </a:xfrm>
          <a:prstGeom prst="rect">
            <a:avLst/>
          </a:prstGeom>
        </p:spPr>
        <p:txBody>
          <a:bodyPr vert="horz" wrap="square" lIns="0" tIns="0" rIns="0" bIns="0" rtlCol="0">
            <a:spAutoFit/>
          </a:bodyPr>
          <a:lstStyle/>
          <a:p>
            <a:pPr marL="20319" marR="0" lvl="0" indent="0" algn="l" defTabSz="1219170" eaLnBrk="1" fontAlgn="auto" latinLnBrk="0" hangingPunct="1">
              <a:lnSpc>
                <a:spcPts val="2180"/>
              </a:lnSpc>
              <a:spcBef>
                <a:spcPts val="0"/>
              </a:spcBef>
              <a:spcAft>
                <a:spcPts val="0"/>
              </a:spcAft>
              <a:buClrTx/>
              <a:buSzTx/>
              <a:buFontTx/>
              <a:buNone/>
              <a:tabLst/>
              <a:defRPr/>
            </a:pPr>
            <a:r>
              <a:rPr lang="en-US" sz="1400" spc="-100">
                <a:solidFill>
                  <a:srgbClr val="595959"/>
                </a:solidFill>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Platform Hosting</a:t>
            </a:r>
            <a:endParaRPr kumimoji="0" lang="en-US" sz="1400" i="0" u="none" strike="noStrike" kern="1200" cap="none" spc="-100" normalizeH="0" noProof="0">
              <a:ln>
                <a:noFill/>
              </a:ln>
              <a:solidFill>
                <a:srgbClr val="595959"/>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endParaRPr>
          </a:p>
          <a:p>
            <a:pPr marL="20319" marR="0" lvl="0" indent="0" algn="l" defTabSz="1219170" eaLnBrk="1" fontAlgn="auto" latinLnBrk="0" hangingPunct="1">
              <a:spcBef>
                <a:spcPts val="0"/>
              </a:spcBef>
              <a:spcAft>
                <a:spcPts val="0"/>
              </a:spcAft>
              <a:buClrTx/>
              <a:buSzTx/>
              <a:buFontTx/>
              <a:buNone/>
              <a:tabLst/>
              <a:defRPr/>
            </a:pPr>
            <a:r>
              <a:rPr kumimoji="0" lang="en-US" sz="3000" b="1" i="0" u="none" strike="noStrike" kern="1200" cap="none" spc="-100" normalizeH="0" noProof="0">
                <a:ln>
                  <a:noFill/>
                </a:ln>
                <a:solidFill>
                  <a:srgbClr val="060B25"/>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Deployment Models</a:t>
            </a:r>
          </a:p>
        </p:txBody>
      </p:sp>
      <p:sp>
        <p:nvSpPr>
          <p:cNvPr id="165" name="object 8">
            <a:extLst>
              <a:ext uri="{FF2B5EF4-FFF2-40B4-BE49-F238E27FC236}">
                <a16:creationId xmlns:a16="http://schemas.microsoft.com/office/drawing/2014/main" id="{DC3B5C57-74D4-A8A6-37E2-029F91688B7F}"/>
              </a:ext>
            </a:extLst>
          </p:cNvPr>
          <p:cNvSpPr txBox="1"/>
          <p:nvPr/>
        </p:nvSpPr>
        <p:spPr>
          <a:xfrm>
            <a:off x="647998" y="1353677"/>
            <a:ext cx="10998571" cy="201764"/>
          </a:xfrm>
          <a:prstGeom prst="rect">
            <a:avLst/>
          </a:prstGeom>
        </p:spPr>
        <p:txBody>
          <a:bodyPr vert="horz" wrap="square" lIns="0" tIns="16933" rIns="0" bIns="0" rtlCol="0">
            <a:spAutoFit/>
          </a:bodyPr>
          <a:lstStyle/>
          <a:p>
            <a:pPr marL="16933" marR="6773" defTabSz="1219170">
              <a:spcBef>
                <a:spcPts val="133"/>
              </a:spcBef>
              <a:tabLst>
                <a:tab pos="321725" algn="l"/>
                <a:tab pos="322572" algn="l"/>
              </a:tabLst>
            </a:pPr>
            <a:r>
              <a:rPr lang="en-GB" sz="1200">
                <a:solidFill>
                  <a:srgbClr val="595959"/>
                </a:solidFill>
                <a:latin typeface="Aptos" panose="020B0004020202020204" pitchFamily="34" charset="0"/>
                <a:cs typeface="Poppins" panose="00000500000000000000" pitchFamily="2" charset="0"/>
                <a:sym typeface="Aptos" panose="020B0004020202020204" pitchFamily="34" charset="0"/>
              </a:rPr>
              <a:t>Flexible deployment models designed for security, control, and scalability</a:t>
            </a:r>
          </a:p>
        </p:txBody>
      </p:sp>
    </p:spTree>
    <p:extLst>
      <p:ext uri="{BB962C8B-B14F-4D97-AF65-F5344CB8AC3E}">
        <p14:creationId xmlns:p14="http://schemas.microsoft.com/office/powerpoint/2010/main" val="3730472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54A4D-6D0F-3FAF-B5E7-2E46169EAF32}"/>
            </a:ext>
          </a:extLst>
        </p:cNvPr>
        <p:cNvGrpSpPr/>
        <p:nvPr/>
      </p:nvGrpSpPr>
      <p:grpSpPr>
        <a:xfrm>
          <a:off x="0" y="0"/>
          <a:ext cx="0" cy="0"/>
          <a:chOff x="0" y="0"/>
          <a:chExt cx="0" cy="0"/>
        </a:xfrm>
      </p:grpSpPr>
      <p:graphicFrame>
        <p:nvGraphicFramePr>
          <p:cNvPr id="41" name="think-cell data - do not delete" hidden="1">
            <a:extLst>
              <a:ext uri="{FF2B5EF4-FFF2-40B4-BE49-F238E27FC236}">
                <a16:creationId xmlns:a16="http://schemas.microsoft.com/office/drawing/2014/main" id="{F0D528C3-ABE7-DFD5-3B2D-339E9A3EB94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41" name="think-cell data - do not delete" hidden="1">
                        <a:extLst>
                          <a:ext uri="{FF2B5EF4-FFF2-40B4-BE49-F238E27FC236}">
                            <a16:creationId xmlns:a16="http://schemas.microsoft.com/office/drawing/2014/main" id="{F0D528C3-ABE7-DFD5-3B2D-339E9A3EB94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8" name="Picture 7" descr="A black background with a circle&#10;&#10;Description automatically generated">
            <a:extLst>
              <a:ext uri="{FF2B5EF4-FFF2-40B4-BE49-F238E27FC236}">
                <a16:creationId xmlns:a16="http://schemas.microsoft.com/office/drawing/2014/main" id="{9055F550-EF4A-D045-8084-9888A299810E}"/>
              </a:ext>
            </a:extLst>
          </p:cNvPr>
          <p:cNvPicPr>
            <a:picLocks noChangeAspect="1"/>
          </p:cNvPicPr>
          <p:nvPr/>
        </p:nvPicPr>
        <p:blipFill>
          <a:blip r:embed="rId6"/>
          <a:stretch>
            <a:fillRect/>
          </a:stretch>
        </p:blipFill>
        <p:spPr>
          <a:xfrm>
            <a:off x="6467147" y="1663777"/>
            <a:ext cx="4476708" cy="4476708"/>
          </a:xfrm>
          <a:prstGeom prst="rect">
            <a:avLst/>
          </a:prstGeom>
        </p:spPr>
      </p:pic>
      <p:pic>
        <p:nvPicPr>
          <p:cNvPr id="6" name="Picture 5" descr="A black circle with white lines&#10;&#10;Description automatically generated">
            <a:extLst>
              <a:ext uri="{FF2B5EF4-FFF2-40B4-BE49-F238E27FC236}">
                <a16:creationId xmlns:a16="http://schemas.microsoft.com/office/drawing/2014/main" id="{5A31C917-1618-A393-3AC6-CF048D5486D4}"/>
              </a:ext>
            </a:extLst>
          </p:cNvPr>
          <p:cNvPicPr>
            <a:picLocks noChangeAspect="1"/>
          </p:cNvPicPr>
          <p:nvPr/>
        </p:nvPicPr>
        <p:blipFill>
          <a:blip r:embed="rId7"/>
          <a:stretch>
            <a:fillRect/>
          </a:stretch>
        </p:blipFill>
        <p:spPr>
          <a:xfrm>
            <a:off x="6357816" y="1554446"/>
            <a:ext cx="4695368" cy="4695368"/>
          </a:xfrm>
          <a:prstGeom prst="rect">
            <a:avLst/>
          </a:prstGeom>
        </p:spPr>
      </p:pic>
      <p:grpSp>
        <p:nvGrpSpPr>
          <p:cNvPr id="202" name="Group 201">
            <a:extLst>
              <a:ext uri="{FF2B5EF4-FFF2-40B4-BE49-F238E27FC236}">
                <a16:creationId xmlns:a16="http://schemas.microsoft.com/office/drawing/2014/main" id="{195D3499-CFD0-6C06-B973-3CCEEFE5BDCF}"/>
              </a:ext>
            </a:extLst>
          </p:cNvPr>
          <p:cNvGrpSpPr/>
          <p:nvPr/>
        </p:nvGrpSpPr>
        <p:grpSpPr>
          <a:xfrm>
            <a:off x="6788716" y="1999715"/>
            <a:ext cx="3833568" cy="3804831"/>
            <a:chOff x="5008997" y="2216348"/>
            <a:chExt cx="2163949" cy="2147728"/>
          </a:xfrm>
        </p:grpSpPr>
        <p:grpSp>
          <p:nvGrpSpPr>
            <p:cNvPr id="201" name="Group 200">
              <a:extLst>
                <a:ext uri="{FF2B5EF4-FFF2-40B4-BE49-F238E27FC236}">
                  <a16:creationId xmlns:a16="http://schemas.microsoft.com/office/drawing/2014/main" id="{A60675E4-73F6-428B-35C2-1042A030EE6A}"/>
                </a:ext>
              </a:extLst>
            </p:cNvPr>
            <p:cNvGrpSpPr/>
            <p:nvPr/>
          </p:nvGrpSpPr>
          <p:grpSpPr>
            <a:xfrm>
              <a:off x="5090160" y="2296287"/>
              <a:ext cx="2011680" cy="2011680"/>
              <a:chOff x="5090160" y="2296287"/>
              <a:chExt cx="2011680" cy="2011680"/>
            </a:xfrm>
          </p:grpSpPr>
          <p:sp>
            <p:nvSpPr>
              <p:cNvPr id="196" name="Oval 195">
                <a:extLst>
                  <a:ext uri="{FF2B5EF4-FFF2-40B4-BE49-F238E27FC236}">
                    <a16:creationId xmlns:a16="http://schemas.microsoft.com/office/drawing/2014/main" id="{666A0B52-D06A-0101-C854-AC3544102242}"/>
                  </a:ext>
                </a:extLst>
              </p:cNvPr>
              <p:cNvSpPr>
                <a:spLocks noChangeAspect="1"/>
              </p:cNvSpPr>
              <p:nvPr/>
            </p:nvSpPr>
            <p:spPr>
              <a:xfrm>
                <a:off x="5090160" y="2296287"/>
                <a:ext cx="2011680" cy="2011680"/>
              </a:xfrm>
              <a:prstGeom prst="ellipse">
                <a:avLst/>
              </a:prstGeom>
              <a:solidFill>
                <a:srgbClr val="F1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191" name="Partial Circle 190">
                <a:extLst>
                  <a:ext uri="{FF2B5EF4-FFF2-40B4-BE49-F238E27FC236}">
                    <a16:creationId xmlns:a16="http://schemas.microsoft.com/office/drawing/2014/main" id="{FEF4DE9F-FEF1-2714-3DA4-1A53476ADD99}"/>
                  </a:ext>
                </a:extLst>
              </p:cNvPr>
              <p:cNvSpPr>
                <a:spLocks noChangeAspect="1"/>
              </p:cNvSpPr>
              <p:nvPr/>
            </p:nvSpPr>
            <p:spPr>
              <a:xfrm>
                <a:off x="5252707" y="2451545"/>
                <a:ext cx="1691640" cy="1691640"/>
              </a:xfrm>
              <a:prstGeom prst="pie">
                <a:avLst>
                  <a:gd name="adj1" fmla="val 0"/>
                  <a:gd name="adj2" fmla="val 5400000"/>
                </a:avLst>
              </a:prstGeom>
              <a:solidFill>
                <a:srgbClr val="92D2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192" name="Partial Circle 191">
                <a:extLst>
                  <a:ext uri="{FF2B5EF4-FFF2-40B4-BE49-F238E27FC236}">
                    <a16:creationId xmlns:a16="http://schemas.microsoft.com/office/drawing/2014/main" id="{1B02EA55-9714-0435-6E5F-E418D4909403}"/>
                  </a:ext>
                </a:extLst>
              </p:cNvPr>
              <p:cNvSpPr>
                <a:spLocks noChangeAspect="1"/>
              </p:cNvSpPr>
              <p:nvPr/>
            </p:nvSpPr>
            <p:spPr>
              <a:xfrm rot="5400000">
                <a:off x="5201934" y="2448455"/>
                <a:ext cx="1691640" cy="1691640"/>
              </a:xfrm>
              <a:prstGeom prst="pie">
                <a:avLst>
                  <a:gd name="adj1" fmla="val 0"/>
                  <a:gd name="adj2" fmla="val 5400000"/>
                </a:avLst>
              </a:prstGeom>
              <a:solidFill>
                <a:srgbClr val="67D3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193" name="Partial Circle 192">
                <a:extLst>
                  <a:ext uri="{FF2B5EF4-FFF2-40B4-BE49-F238E27FC236}">
                    <a16:creationId xmlns:a16="http://schemas.microsoft.com/office/drawing/2014/main" id="{B972ACBF-7591-277E-C517-8291B75E3DED}"/>
                  </a:ext>
                </a:extLst>
              </p:cNvPr>
              <p:cNvSpPr>
                <a:spLocks noChangeAspect="1"/>
              </p:cNvSpPr>
              <p:nvPr/>
            </p:nvSpPr>
            <p:spPr>
              <a:xfrm flipV="1">
                <a:off x="5252707" y="2415350"/>
                <a:ext cx="1691640" cy="1691640"/>
              </a:xfrm>
              <a:prstGeom prst="pie">
                <a:avLst>
                  <a:gd name="adj1" fmla="val 0"/>
                  <a:gd name="adj2" fmla="val 5400000"/>
                </a:avLst>
              </a:prstGeom>
              <a:solidFill>
                <a:srgbClr val="7E91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194" name="Partial Circle 193">
                <a:extLst>
                  <a:ext uri="{FF2B5EF4-FFF2-40B4-BE49-F238E27FC236}">
                    <a16:creationId xmlns:a16="http://schemas.microsoft.com/office/drawing/2014/main" id="{93B78CDF-1BF4-0300-4699-093E71D4FD5A}"/>
                  </a:ext>
                </a:extLst>
              </p:cNvPr>
              <p:cNvSpPr>
                <a:spLocks noChangeAspect="1"/>
              </p:cNvSpPr>
              <p:nvPr/>
            </p:nvSpPr>
            <p:spPr>
              <a:xfrm rot="16200000" flipV="1">
                <a:off x="5201934" y="2415351"/>
                <a:ext cx="1691640" cy="1691640"/>
              </a:xfrm>
              <a:prstGeom prst="pie">
                <a:avLst>
                  <a:gd name="adj1" fmla="val 0"/>
                  <a:gd name="adj2" fmla="val 5400000"/>
                </a:avLst>
              </a:prstGeom>
              <a:solidFill>
                <a:srgbClr val="636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grpSp>
        <p:sp>
          <p:nvSpPr>
            <p:cNvPr id="187" name="Circular Arrow 22">
              <a:extLst>
                <a:ext uri="{FF2B5EF4-FFF2-40B4-BE49-F238E27FC236}">
                  <a16:creationId xmlns:a16="http://schemas.microsoft.com/office/drawing/2014/main" id="{94346C4E-2601-D66E-59E8-DDC09C03AEBB}"/>
                </a:ext>
              </a:extLst>
            </p:cNvPr>
            <p:cNvSpPr>
              <a:spLocks noChangeAspect="1"/>
            </p:cNvSpPr>
            <p:nvPr/>
          </p:nvSpPr>
          <p:spPr>
            <a:xfrm rot="17910218">
              <a:off x="5069826" y="2256427"/>
              <a:ext cx="2103120" cy="2103120"/>
            </a:xfrm>
            <a:prstGeom prst="circularArrow">
              <a:avLst>
                <a:gd name="adj1" fmla="val 4365"/>
                <a:gd name="adj2" fmla="val 327528"/>
                <a:gd name="adj3" fmla="val 8671276"/>
                <a:gd name="adj4" fmla="val 3952467"/>
                <a:gd name="adj5" fmla="val 4799"/>
              </a:avLst>
            </a:prstGeom>
            <a:gradFill flip="none" rotWithShape="1">
              <a:gsLst>
                <a:gs pos="70000">
                  <a:srgbClr val="C2E2D3"/>
                </a:gs>
                <a:gs pos="20000">
                  <a:srgbClr val="F1F1FF"/>
                </a:gs>
                <a:gs pos="92000">
                  <a:srgbClr val="92D2A7"/>
                </a:gs>
              </a:gsLst>
              <a:lin ang="9000000" scaled="0"/>
              <a:tileRect/>
            </a:gradFill>
            <a:ln w="38100">
              <a:noFill/>
            </a:ln>
            <a:effectLst/>
          </p:spPr>
          <p:txBody>
            <a:bodyPr/>
            <a:lstStyle/>
            <a:p>
              <a:pPr defTabSz="978134"/>
              <a:endParaRPr lang="en-US" sz="1200" kern="0">
                <a:solidFill>
                  <a:prstClr val="white">
                    <a:hueOff val="0"/>
                    <a:satOff val="0"/>
                    <a:lumOff val="0"/>
                    <a:alphaOff val="0"/>
                  </a:prstClr>
                </a:solidFill>
                <a:latin typeface="Aptos" panose="020B0004020202020204" pitchFamily="34" charset="0"/>
                <a:sym typeface="Aptos" panose="020B0004020202020204" pitchFamily="34" charset="0"/>
              </a:endParaRPr>
            </a:p>
          </p:txBody>
        </p:sp>
        <p:sp>
          <p:nvSpPr>
            <p:cNvPr id="198" name="Circular Arrow 22">
              <a:extLst>
                <a:ext uri="{FF2B5EF4-FFF2-40B4-BE49-F238E27FC236}">
                  <a16:creationId xmlns:a16="http://schemas.microsoft.com/office/drawing/2014/main" id="{15F766A7-455B-5F6F-0898-978629EBAD87}"/>
                </a:ext>
              </a:extLst>
            </p:cNvPr>
            <p:cNvSpPr>
              <a:spLocks noChangeAspect="1"/>
            </p:cNvSpPr>
            <p:nvPr/>
          </p:nvSpPr>
          <p:spPr>
            <a:xfrm rot="1747785">
              <a:off x="5009010" y="2260956"/>
              <a:ext cx="2103120" cy="2103120"/>
            </a:xfrm>
            <a:prstGeom prst="circularArrow">
              <a:avLst>
                <a:gd name="adj1" fmla="val 4365"/>
                <a:gd name="adj2" fmla="val 327528"/>
                <a:gd name="adj3" fmla="val 8671276"/>
                <a:gd name="adj4" fmla="val 3700921"/>
                <a:gd name="adj5" fmla="val 4799"/>
              </a:avLst>
            </a:prstGeom>
            <a:gradFill flip="none" rotWithShape="1">
              <a:gsLst>
                <a:gs pos="70000">
                  <a:srgbClr val="ACE2ED"/>
                </a:gs>
                <a:gs pos="20000">
                  <a:srgbClr val="F1F1FF"/>
                </a:gs>
                <a:gs pos="92000">
                  <a:srgbClr val="67D3DB"/>
                </a:gs>
              </a:gsLst>
              <a:lin ang="9000000" scaled="0"/>
              <a:tileRect/>
            </a:gradFill>
            <a:ln w="38100">
              <a:noFill/>
            </a:ln>
            <a:effectLst/>
          </p:spPr>
          <p:txBody>
            <a:bodyPr/>
            <a:lstStyle/>
            <a:p>
              <a:pPr defTabSz="978134"/>
              <a:endParaRPr lang="en-US" sz="1200" kern="0">
                <a:solidFill>
                  <a:prstClr val="white">
                    <a:hueOff val="0"/>
                    <a:satOff val="0"/>
                    <a:lumOff val="0"/>
                    <a:alphaOff val="0"/>
                  </a:prstClr>
                </a:solidFill>
                <a:latin typeface="Aptos" panose="020B0004020202020204" pitchFamily="34" charset="0"/>
                <a:sym typeface="Aptos" panose="020B0004020202020204" pitchFamily="34" charset="0"/>
              </a:endParaRPr>
            </a:p>
          </p:txBody>
        </p:sp>
        <p:sp>
          <p:nvSpPr>
            <p:cNvPr id="199" name="Circular Arrow 22">
              <a:extLst>
                <a:ext uri="{FF2B5EF4-FFF2-40B4-BE49-F238E27FC236}">
                  <a16:creationId xmlns:a16="http://schemas.microsoft.com/office/drawing/2014/main" id="{6273A154-40F6-D766-AFB2-CCBA9F631020}"/>
                </a:ext>
              </a:extLst>
            </p:cNvPr>
            <p:cNvSpPr>
              <a:spLocks noChangeAspect="1"/>
            </p:cNvSpPr>
            <p:nvPr/>
          </p:nvSpPr>
          <p:spPr>
            <a:xfrm rot="7214381">
              <a:off x="5008997" y="2216348"/>
              <a:ext cx="2103120" cy="2103120"/>
            </a:xfrm>
            <a:prstGeom prst="circularArrow">
              <a:avLst>
                <a:gd name="adj1" fmla="val 4365"/>
                <a:gd name="adj2" fmla="val 327528"/>
                <a:gd name="adj3" fmla="val 8671276"/>
                <a:gd name="adj4" fmla="val 3881451"/>
                <a:gd name="adj5" fmla="val 4799"/>
              </a:avLst>
            </a:prstGeom>
            <a:gradFill flip="none" rotWithShape="1">
              <a:gsLst>
                <a:gs pos="70000">
                  <a:srgbClr val="AAA9EC"/>
                </a:gs>
                <a:gs pos="20000">
                  <a:srgbClr val="F1F1FF"/>
                </a:gs>
                <a:gs pos="92000">
                  <a:srgbClr val="6360D8"/>
                </a:gs>
              </a:gsLst>
              <a:lin ang="9000000" scaled="0"/>
              <a:tileRect/>
            </a:gradFill>
            <a:ln w="38100">
              <a:noFill/>
            </a:ln>
            <a:effectLst/>
          </p:spPr>
          <p:txBody>
            <a:bodyPr/>
            <a:lstStyle/>
            <a:p>
              <a:pPr defTabSz="978134"/>
              <a:endParaRPr lang="en-US" sz="1200" kern="0">
                <a:solidFill>
                  <a:prstClr val="white">
                    <a:hueOff val="0"/>
                    <a:satOff val="0"/>
                    <a:lumOff val="0"/>
                    <a:alphaOff val="0"/>
                  </a:prstClr>
                </a:solidFill>
                <a:latin typeface="Aptos" panose="020B0004020202020204" pitchFamily="34" charset="0"/>
                <a:sym typeface="Aptos" panose="020B0004020202020204" pitchFamily="34" charset="0"/>
              </a:endParaRPr>
            </a:p>
          </p:txBody>
        </p:sp>
        <p:sp>
          <p:nvSpPr>
            <p:cNvPr id="200" name="Circular Arrow 22">
              <a:extLst>
                <a:ext uri="{FF2B5EF4-FFF2-40B4-BE49-F238E27FC236}">
                  <a16:creationId xmlns:a16="http://schemas.microsoft.com/office/drawing/2014/main" id="{F7360B55-180F-5637-746B-7C52974573F5}"/>
                </a:ext>
              </a:extLst>
            </p:cNvPr>
            <p:cNvSpPr>
              <a:spLocks noChangeAspect="1"/>
            </p:cNvSpPr>
            <p:nvPr/>
          </p:nvSpPr>
          <p:spPr>
            <a:xfrm rot="12607208">
              <a:off x="5057856" y="2232468"/>
              <a:ext cx="2103120" cy="2103120"/>
            </a:xfrm>
            <a:prstGeom prst="circularArrow">
              <a:avLst>
                <a:gd name="adj1" fmla="val 4365"/>
                <a:gd name="adj2" fmla="val 327528"/>
                <a:gd name="adj3" fmla="val 8671276"/>
                <a:gd name="adj4" fmla="val 3809947"/>
                <a:gd name="adj5" fmla="val 4799"/>
              </a:avLst>
            </a:prstGeom>
            <a:gradFill flip="none" rotWithShape="1">
              <a:gsLst>
                <a:gs pos="70000">
                  <a:srgbClr val="B8C1EF"/>
                </a:gs>
                <a:gs pos="20000">
                  <a:srgbClr val="F1F1FF"/>
                </a:gs>
                <a:gs pos="92000">
                  <a:srgbClr val="7E91DE"/>
                </a:gs>
              </a:gsLst>
              <a:lin ang="9000000" scaled="0"/>
              <a:tileRect/>
            </a:gradFill>
            <a:ln w="38100">
              <a:noFill/>
            </a:ln>
            <a:effectLst/>
          </p:spPr>
          <p:txBody>
            <a:bodyPr/>
            <a:lstStyle/>
            <a:p>
              <a:pPr defTabSz="978134"/>
              <a:endParaRPr lang="en-US" sz="1200" kern="0">
                <a:solidFill>
                  <a:prstClr val="white">
                    <a:hueOff val="0"/>
                    <a:satOff val="0"/>
                    <a:lumOff val="0"/>
                    <a:alphaOff val="0"/>
                  </a:prstClr>
                </a:solidFill>
                <a:latin typeface="Aptos" panose="020B0004020202020204" pitchFamily="34" charset="0"/>
                <a:sym typeface="Aptos" panose="020B0004020202020204" pitchFamily="34" charset="0"/>
              </a:endParaRPr>
            </a:p>
          </p:txBody>
        </p:sp>
      </p:grpSp>
      <p:sp>
        <p:nvSpPr>
          <p:cNvPr id="15" name="Oval 14">
            <a:extLst>
              <a:ext uri="{FF2B5EF4-FFF2-40B4-BE49-F238E27FC236}">
                <a16:creationId xmlns:a16="http://schemas.microsoft.com/office/drawing/2014/main" id="{C53420F5-CEEC-7907-FF31-73BEB6578605}"/>
              </a:ext>
            </a:extLst>
          </p:cNvPr>
          <p:cNvSpPr/>
          <p:nvPr/>
        </p:nvSpPr>
        <p:spPr>
          <a:xfrm>
            <a:off x="7887289" y="3055652"/>
            <a:ext cx="418235" cy="418235"/>
          </a:xfrm>
          <a:prstGeom prst="ellips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rgbClr val="060B25"/>
                </a:solidFill>
                <a:latin typeface="Aptos" panose="020B0004020202020204" pitchFamily="34" charset="0"/>
                <a:sym typeface="Aptos" panose="020B0004020202020204" pitchFamily="34" charset="0"/>
              </a:rPr>
              <a:t>1</a:t>
            </a:r>
          </a:p>
        </p:txBody>
      </p:sp>
      <p:sp>
        <p:nvSpPr>
          <p:cNvPr id="203" name="Oval 202">
            <a:extLst>
              <a:ext uri="{FF2B5EF4-FFF2-40B4-BE49-F238E27FC236}">
                <a16:creationId xmlns:a16="http://schemas.microsoft.com/office/drawing/2014/main" id="{DB288A8E-80AF-7B70-1823-B01012DCA050}"/>
              </a:ext>
            </a:extLst>
          </p:cNvPr>
          <p:cNvSpPr/>
          <p:nvPr/>
        </p:nvSpPr>
        <p:spPr>
          <a:xfrm>
            <a:off x="9122475" y="3055652"/>
            <a:ext cx="418235" cy="418235"/>
          </a:xfrm>
          <a:prstGeom prst="ellips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rgbClr val="060B25"/>
                </a:solidFill>
                <a:latin typeface="Aptos" panose="020B0004020202020204" pitchFamily="34" charset="0"/>
                <a:sym typeface="Aptos" panose="020B0004020202020204" pitchFamily="34" charset="0"/>
              </a:rPr>
              <a:t>2</a:t>
            </a:r>
          </a:p>
        </p:txBody>
      </p:sp>
      <p:sp>
        <p:nvSpPr>
          <p:cNvPr id="204" name="Oval 203">
            <a:extLst>
              <a:ext uri="{FF2B5EF4-FFF2-40B4-BE49-F238E27FC236}">
                <a16:creationId xmlns:a16="http://schemas.microsoft.com/office/drawing/2014/main" id="{084DC78A-1B14-3655-31EC-86ED1186D990}"/>
              </a:ext>
            </a:extLst>
          </p:cNvPr>
          <p:cNvSpPr/>
          <p:nvPr/>
        </p:nvSpPr>
        <p:spPr>
          <a:xfrm>
            <a:off x="7887289" y="4313584"/>
            <a:ext cx="418235" cy="418235"/>
          </a:xfrm>
          <a:prstGeom prst="ellips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rgbClr val="060B25"/>
                </a:solidFill>
                <a:latin typeface="Aptos" panose="020B0004020202020204" pitchFamily="34" charset="0"/>
                <a:sym typeface="Aptos" panose="020B0004020202020204" pitchFamily="34" charset="0"/>
              </a:rPr>
              <a:t>4</a:t>
            </a:r>
          </a:p>
        </p:txBody>
      </p:sp>
      <p:sp>
        <p:nvSpPr>
          <p:cNvPr id="206" name="Rectangle: Rounded Corners 205">
            <a:extLst>
              <a:ext uri="{FF2B5EF4-FFF2-40B4-BE49-F238E27FC236}">
                <a16:creationId xmlns:a16="http://schemas.microsoft.com/office/drawing/2014/main" id="{35C5166C-BFF2-AB1E-679F-A346DB4172BF}"/>
              </a:ext>
            </a:extLst>
          </p:cNvPr>
          <p:cNvSpPr/>
          <p:nvPr/>
        </p:nvSpPr>
        <p:spPr>
          <a:xfrm>
            <a:off x="7786613" y="3596309"/>
            <a:ext cx="1747610" cy="530154"/>
          </a:xfrm>
          <a:prstGeom prst="roundRect">
            <a:avLst/>
          </a:prstGeom>
          <a:solidFill>
            <a:srgbClr val="F2F2F2"/>
          </a:solidFill>
          <a:ln>
            <a:solidFill>
              <a:srgbClr val="F1F1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i="1">
                <a:solidFill>
                  <a:srgbClr val="060B25"/>
                </a:solidFill>
                <a:latin typeface="Aptos" panose="020B0004020202020204" pitchFamily="34" charset="0"/>
                <a:sym typeface="Aptos" panose="020B0004020202020204" pitchFamily="34" charset="0"/>
              </a:rPr>
              <a:t>Exposure Management</a:t>
            </a:r>
          </a:p>
        </p:txBody>
      </p:sp>
      <p:grpSp>
        <p:nvGrpSpPr>
          <p:cNvPr id="10" name="Group 9">
            <a:extLst>
              <a:ext uri="{FF2B5EF4-FFF2-40B4-BE49-F238E27FC236}">
                <a16:creationId xmlns:a16="http://schemas.microsoft.com/office/drawing/2014/main" id="{0EB9E59D-7795-BBEB-3B6C-2E50A70059E7}"/>
              </a:ext>
            </a:extLst>
          </p:cNvPr>
          <p:cNvGrpSpPr/>
          <p:nvPr/>
        </p:nvGrpSpPr>
        <p:grpSpPr>
          <a:xfrm>
            <a:off x="735532" y="2264087"/>
            <a:ext cx="5116628" cy="567335"/>
            <a:chOff x="735532" y="2264087"/>
            <a:chExt cx="5116628" cy="567335"/>
          </a:xfrm>
        </p:grpSpPr>
        <p:sp>
          <p:nvSpPr>
            <p:cNvPr id="11" name="TextBox 10">
              <a:extLst>
                <a:ext uri="{FF2B5EF4-FFF2-40B4-BE49-F238E27FC236}">
                  <a16:creationId xmlns:a16="http://schemas.microsoft.com/office/drawing/2014/main" id="{F0C01F1F-768C-FA0E-B72E-12FBCBA95ABC}"/>
                </a:ext>
              </a:extLst>
            </p:cNvPr>
            <p:cNvSpPr txBox="1"/>
            <p:nvPr/>
          </p:nvSpPr>
          <p:spPr>
            <a:xfrm>
              <a:off x="994088" y="2264087"/>
              <a:ext cx="4858072" cy="567335"/>
            </a:xfrm>
            <a:prstGeom prst="rect">
              <a:avLst/>
            </a:prstGeom>
            <a:noFill/>
          </p:spPr>
          <p:txBody>
            <a:bodyPr wrap="square">
              <a:spAutoFit/>
            </a:bodyPr>
            <a:lstStyle/>
            <a:p>
              <a:pPr defTabSz="480060">
                <a:lnSpc>
                  <a:spcPct val="90000"/>
                </a:lnSpc>
                <a:spcBef>
                  <a:spcPct val="0"/>
                </a:spcBef>
                <a:spcAft>
                  <a:spcPct val="35000"/>
                </a:spcAft>
              </a:pPr>
              <a:r>
                <a:rPr lang="en-US" sz="1600" b="1">
                  <a:solidFill>
                    <a:srgbClr val="060B25"/>
                  </a:solidFill>
                  <a:latin typeface="Aptos" panose="020B0004020202020204" pitchFamily="34" charset="0"/>
                  <a:sym typeface="Aptos" panose="020B0004020202020204" pitchFamily="34" charset="0"/>
                </a:rPr>
                <a:t>DISCOVER</a:t>
              </a:r>
            </a:p>
            <a:p>
              <a:pPr defTabSz="480060">
                <a:lnSpc>
                  <a:spcPct val="90000"/>
                </a:lnSpc>
                <a:spcBef>
                  <a:spcPct val="0"/>
                </a:spcBef>
                <a:spcAft>
                  <a:spcPct val="35000"/>
                </a:spcAft>
              </a:pPr>
              <a:r>
                <a:rPr lang="en-US" sz="1200">
                  <a:solidFill>
                    <a:srgbClr val="595959"/>
                  </a:solidFill>
                  <a:latin typeface="Aptos" panose="020B0004020202020204" pitchFamily="34" charset="0"/>
                  <a:sym typeface="Aptos" panose="020B0004020202020204" pitchFamily="34" charset="0"/>
                </a:rPr>
                <a:t>Complete visibility and context, across all attack surfaces</a:t>
              </a:r>
            </a:p>
          </p:txBody>
        </p:sp>
        <p:sp>
          <p:nvSpPr>
            <p:cNvPr id="208" name="Oval 207">
              <a:extLst>
                <a:ext uri="{FF2B5EF4-FFF2-40B4-BE49-F238E27FC236}">
                  <a16:creationId xmlns:a16="http://schemas.microsoft.com/office/drawing/2014/main" id="{C77C481E-1751-B32D-53C7-101D2A2D4D34}"/>
                </a:ext>
              </a:extLst>
            </p:cNvPr>
            <p:cNvSpPr>
              <a:spLocks noChangeAspect="1"/>
            </p:cNvSpPr>
            <p:nvPr/>
          </p:nvSpPr>
          <p:spPr>
            <a:xfrm>
              <a:off x="735532" y="2295869"/>
              <a:ext cx="214621" cy="214621"/>
            </a:xfrm>
            <a:prstGeom prst="ellipse">
              <a:avLst/>
            </a:prstGeom>
            <a:solidFill>
              <a:srgbClr val="636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bg1"/>
                  </a:solidFill>
                  <a:latin typeface="Aptos" panose="020B0004020202020204" pitchFamily="34" charset="0"/>
                  <a:sym typeface="Aptos" panose="020B0004020202020204" pitchFamily="34" charset="0"/>
                </a:rPr>
                <a:t>1</a:t>
              </a:r>
            </a:p>
          </p:txBody>
        </p:sp>
      </p:grpSp>
      <p:grpSp>
        <p:nvGrpSpPr>
          <p:cNvPr id="9" name="Group 8">
            <a:extLst>
              <a:ext uri="{FF2B5EF4-FFF2-40B4-BE49-F238E27FC236}">
                <a16:creationId xmlns:a16="http://schemas.microsoft.com/office/drawing/2014/main" id="{930D8D79-AD5C-0A55-627A-F903E0170862}"/>
              </a:ext>
            </a:extLst>
          </p:cNvPr>
          <p:cNvGrpSpPr/>
          <p:nvPr/>
        </p:nvGrpSpPr>
        <p:grpSpPr>
          <a:xfrm>
            <a:off x="735532" y="3184357"/>
            <a:ext cx="5116628" cy="733534"/>
            <a:chOff x="735532" y="3130795"/>
            <a:chExt cx="5116628" cy="733534"/>
          </a:xfrm>
        </p:grpSpPr>
        <p:sp>
          <p:nvSpPr>
            <p:cNvPr id="14" name="TextBox 13">
              <a:extLst>
                <a:ext uri="{FF2B5EF4-FFF2-40B4-BE49-F238E27FC236}">
                  <a16:creationId xmlns:a16="http://schemas.microsoft.com/office/drawing/2014/main" id="{8B7D3B55-5EB9-DB3B-2021-190A6833EBF3}"/>
                </a:ext>
              </a:extLst>
            </p:cNvPr>
            <p:cNvSpPr txBox="1"/>
            <p:nvPr/>
          </p:nvSpPr>
          <p:spPr>
            <a:xfrm>
              <a:off x="994088" y="3130795"/>
              <a:ext cx="4858072" cy="733534"/>
            </a:xfrm>
            <a:prstGeom prst="rect">
              <a:avLst/>
            </a:prstGeom>
            <a:noFill/>
          </p:spPr>
          <p:txBody>
            <a:bodyPr wrap="square">
              <a:spAutoFit/>
            </a:bodyPr>
            <a:lstStyle/>
            <a:p>
              <a:pPr defTabSz="480060">
                <a:lnSpc>
                  <a:spcPct val="90000"/>
                </a:lnSpc>
                <a:spcBef>
                  <a:spcPct val="0"/>
                </a:spcBef>
                <a:spcAft>
                  <a:spcPct val="35000"/>
                </a:spcAft>
              </a:pPr>
              <a:r>
                <a:rPr lang="en-US" sz="1600" b="1">
                  <a:solidFill>
                    <a:srgbClr val="060B25"/>
                  </a:solidFill>
                  <a:latin typeface="Aptos" panose="020B0004020202020204" pitchFamily="34" charset="0"/>
                  <a:sym typeface="Aptos" panose="020B0004020202020204" pitchFamily="34" charset="0"/>
                </a:rPr>
                <a:t>ASSESS</a:t>
              </a:r>
            </a:p>
            <a:p>
              <a:pPr defTabSz="480060">
                <a:lnSpc>
                  <a:spcPct val="90000"/>
                </a:lnSpc>
                <a:spcBef>
                  <a:spcPct val="0"/>
                </a:spcBef>
                <a:spcAft>
                  <a:spcPct val="35000"/>
                </a:spcAft>
              </a:pPr>
              <a:r>
                <a:rPr lang="en-US" sz="1200">
                  <a:solidFill>
                    <a:srgbClr val="595959"/>
                  </a:solidFill>
                  <a:latin typeface="Aptos" panose="020B0004020202020204" pitchFamily="34" charset="0"/>
                  <a:sym typeface="Aptos" panose="020B0004020202020204" pitchFamily="34" charset="0"/>
                </a:rPr>
                <a:t>Identify, consolidate and contextualize findings across vulnerabilities and </a:t>
              </a:r>
              <a:r>
                <a:rPr lang="en-US" sz="1200" b="1">
                  <a:solidFill>
                    <a:srgbClr val="595959"/>
                  </a:solidFill>
                  <a:latin typeface="Aptos" panose="020B0004020202020204" pitchFamily="34" charset="0"/>
                  <a:sym typeface="Aptos" panose="020B0004020202020204" pitchFamily="34" charset="0"/>
                </a:rPr>
                <a:t>control weaknesses</a:t>
              </a:r>
            </a:p>
          </p:txBody>
        </p:sp>
        <p:sp>
          <p:nvSpPr>
            <p:cNvPr id="209" name="Oval 208">
              <a:extLst>
                <a:ext uri="{FF2B5EF4-FFF2-40B4-BE49-F238E27FC236}">
                  <a16:creationId xmlns:a16="http://schemas.microsoft.com/office/drawing/2014/main" id="{9319158C-F9E8-C14E-A8D7-081493DAE4FC}"/>
                </a:ext>
              </a:extLst>
            </p:cNvPr>
            <p:cNvSpPr>
              <a:spLocks noChangeAspect="1"/>
            </p:cNvSpPr>
            <p:nvPr/>
          </p:nvSpPr>
          <p:spPr>
            <a:xfrm>
              <a:off x="735532" y="3164283"/>
              <a:ext cx="214621" cy="214621"/>
            </a:xfrm>
            <a:prstGeom prst="ellipse">
              <a:avLst/>
            </a:prstGeom>
            <a:solidFill>
              <a:srgbClr val="636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bg1"/>
                  </a:solidFill>
                  <a:latin typeface="Aptos" panose="020B0004020202020204" pitchFamily="34" charset="0"/>
                  <a:sym typeface="Aptos" panose="020B0004020202020204" pitchFamily="34" charset="0"/>
                </a:rPr>
                <a:t>2</a:t>
              </a:r>
            </a:p>
          </p:txBody>
        </p:sp>
      </p:grpSp>
      <p:grpSp>
        <p:nvGrpSpPr>
          <p:cNvPr id="4" name="Group 3">
            <a:extLst>
              <a:ext uri="{FF2B5EF4-FFF2-40B4-BE49-F238E27FC236}">
                <a16:creationId xmlns:a16="http://schemas.microsoft.com/office/drawing/2014/main" id="{5975E7BF-31E3-EC78-C74B-3E0937688C23}"/>
              </a:ext>
            </a:extLst>
          </p:cNvPr>
          <p:cNvGrpSpPr/>
          <p:nvPr/>
        </p:nvGrpSpPr>
        <p:grpSpPr>
          <a:xfrm>
            <a:off x="735532" y="4270826"/>
            <a:ext cx="5116628" cy="567335"/>
            <a:chOff x="735532" y="4160946"/>
            <a:chExt cx="5116628" cy="567335"/>
          </a:xfrm>
        </p:grpSpPr>
        <p:sp>
          <p:nvSpPr>
            <p:cNvPr id="13" name="TextBox 12">
              <a:extLst>
                <a:ext uri="{FF2B5EF4-FFF2-40B4-BE49-F238E27FC236}">
                  <a16:creationId xmlns:a16="http://schemas.microsoft.com/office/drawing/2014/main" id="{2F1AB755-643A-B966-5563-4B4C6F30B4A4}"/>
                </a:ext>
              </a:extLst>
            </p:cNvPr>
            <p:cNvSpPr txBox="1"/>
            <p:nvPr/>
          </p:nvSpPr>
          <p:spPr>
            <a:xfrm>
              <a:off x="994088" y="4160946"/>
              <a:ext cx="4858072" cy="567335"/>
            </a:xfrm>
            <a:prstGeom prst="rect">
              <a:avLst/>
            </a:prstGeom>
            <a:noFill/>
          </p:spPr>
          <p:txBody>
            <a:bodyPr wrap="square">
              <a:spAutoFit/>
            </a:bodyPr>
            <a:lstStyle/>
            <a:p>
              <a:pPr defTabSz="480060">
                <a:lnSpc>
                  <a:spcPct val="90000"/>
                </a:lnSpc>
                <a:spcBef>
                  <a:spcPct val="0"/>
                </a:spcBef>
                <a:spcAft>
                  <a:spcPct val="35000"/>
                </a:spcAft>
              </a:pPr>
              <a:r>
                <a:rPr lang="en-US" sz="1600" b="1">
                  <a:solidFill>
                    <a:srgbClr val="060B25"/>
                  </a:solidFill>
                  <a:latin typeface="Aptos" panose="020B0004020202020204" pitchFamily="34" charset="0"/>
                  <a:sym typeface="Aptos" panose="020B0004020202020204" pitchFamily="34" charset="0"/>
                </a:rPr>
                <a:t>PRIORITIZE</a:t>
              </a:r>
            </a:p>
            <a:p>
              <a:pPr defTabSz="480060">
                <a:lnSpc>
                  <a:spcPct val="90000"/>
                </a:lnSpc>
                <a:spcBef>
                  <a:spcPct val="0"/>
                </a:spcBef>
                <a:spcAft>
                  <a:spcPct val="35000"/>
                </a:spcAft>
              </a:pPr>
              <a:r>
                <a:rPr lang="en-US" sz="1200">
                  <a:solidFill>
                    <a:srgbClr val="595959"/>
                  </a:solidFill>
                  <a:latin typeface="Aptos" panose="020B0004020202020204" pitchFamily="34" charset="0"/>
                  <a:ea typeface="Calibri Light" charset="0"/>
                  <a:cs typeface="Calibri Light" charset="0"/>
                  <a:sym typeface="Aptos" panose="020B0004020202020204" pitchFamily="34" charset="0"/>
                </a:rPr>
                <a:t>Not all risks are created equal. Focus on the findings that matter</a:t>
              </a:r>
              <a:endParaRPr lang="en-US" sz="1200">
                <a:solidFill>
                  <a:srgbClr val="595959"/>
                </a:solidFill>
                <a:latin typeface="Aptos" panose="020B0004020202020204" pitchFamily="34" charset="0"/>
                <a:sym typeface="Aptos" panose="020B0004020202020204" pitchFamily="34" charset="0"/>
              </a:endParaRPr>
            </a:p>
          </p:txBody>
        </p:sp>
        <p:sp>
          <p:nvSpPr>
            <p:cNvPr id="210" name="Oval 209">
              <a:extLst>
                <a:ext uri="{FF2B5EF4-FFF2-40B4-BE49-F238E27FC236}">
                  <a16:creationId xmlns:a16="http://schemas.microsoft.com/office/drawing/2014/main" id="{33F92AA8-E8C0-7806-9498-777C44B89163}"/>
                </a:ext>
              </a:extLst>
            </p:cNvPr>
            <p:cNvSpPr>
              <a:spLocks noChangeAspect="1"/>
            </p:cNvSpPr>
            <p:nvPr/>
          </p:nvSpPr>
          <p:spPr>
            <a:xfrm>
              <a:off x="735532" y="4203704"/>
              <a:ext cx="214621" cy="214621"/>
            </a:xfrm>
            <a:prstGeom prst="ellipse">
              <a:avLst/>
            </a:prstGeom>
            <a:solidFill>
              <a:srgbClr val="636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bg1"/>
                  </a:solidFill>
                  <a:latin typeface="Aptos" panose="020B0004020202020204" pitchFamily="34" charset="0"/>
                  <a:sym typeface="Aptos" panose="020B0004020202020204" pitchFamily="34" charset="0"/>
                </a:rPr>
                <a:t>3</a:t>
              </a:r>
            </a:p>
          </p:txBody>
        </p:sp>
      </p:grpSp>
      <p:grpSp>
        <p:nvGrpSpPr>
          <p:cNvPr id="3" name="Group 2">
            <a:extLst>
              <a:ext uri="{FF2B5EF4-FFF2-40B4-BE49-F238E27FC236}">
                <a16:creationId xmlns:a16="http://schemas.microsoft.com/office/drawing/2014/main" id="{B10BC19A-407E-E69A-43F0-2854D414694B}"/>
              </a:ext>
            </a:extLst>
          </p:cNvPr>
          <p:cNvGrpSpPr/>
          <p:nvPr/>
        </p:nvGrpSpPr>
        <p:grpSpPr>
          <a:xfrm>
            <a:off x="735532" y="5191097"/>
            <a:ext cx="5116628" cy="733534"/>
            <a:chOff x="735532" y="5191097"/>
            <a:chExt cx="5116628" cy="733534"/>
          </a:xfrm>
        </p:grpSpPr>
        <p:sp>
          <p:nvSpPr>
            <p:cNvPr id="12" name="TextBox 11">
              <a:extLst>
                <a:ext uri="{FF2B5EF4-FFF2-40B4-BE49-F238E27FC236}">
                  <a16:creationId xmlns:a16="http://schemas.microsoft.com/office/drawing/2014/main" id="{11417411-2CCE-8A01-E100-FCCE4B8C4DDE}"/>
                </a:ext>
              </a:extLst>
            </p:cNvPr>
            <p:cNvSpPr txBox="1"/>
            <p:nvPr/>
          </p:nvSpPr>
          <p:spPr>
            <a:xfrm>
              <a:off x="994088" y="5191097"/>
              <a:ext cx="4858072" cy="733534"/>
            </a:xfrm>
            <a:prstGeom prst="rect">
              <a:avLst/>
            </a:prstGeom>
            <a:noFill/>
          </p:spPr>
          <p:txBody>
            <a:bodyPr wrap="square">
              <a:spAutoFit/>
            </a:bodyPr>
            <a:lstStyle/>
            <a:p>
              <a:pPr defTabSz="480060">
                <a:lnSpc>
                  <a:spcPct val="90000"/>
                </a:lnSpc>
                <a:spcBef>
                  <a:spcPct val="0"/>
                </a:spcBef>
                <a:spcAft>
                  <a:spcPct val="35000"/>
                </a:spcAft>
              </a:pPr>
              <a:r>
                <a:rPr lang="en-US" sz="1600" b="1">
                  <a:solidFill>
                    <a:srgbClr val="060B25"/>
                  </a:solidFill>
                  <a:latin typeface="Aptos" panose="020B0004020202020204" pitchFamily="34" charset="0"/>
                  <a:sym typeface="Aptos" panose="020B0004020202020204" pitchFamily="34" charset="0"/>
                </a:rPr>
                <a:t>REMEDIATE &amp; REPORT </a:t>
              </a:r>
            </a:p>
            <a:p>
              <a:pPr defTabSz="480060">
                <a:lnSpc>
                  <a:spcPct val="90000"/>
                </a:lnSpc>
                <a:spcBef>
                  <a:spcPct val="0"/>
                </a:spcBef>
                <a:spcAft>
                  <a:spcPct val="35000"/>
                </a:spcAft>
              </a:pPr>
              <a:r>
                <a:rPr lang="en-US" sz="1200">
                  <a:solidFill>
                    <a:srgbClr val="595959"/>
                  </a:solidFill>
                  <a:latin typeface="Aptos" panose="020B0004020202020204" pitchFamily="34" charset="0"/>
                  <a:sym typeface="Aptos" panose="020B0004020202020204" pitchFamily="34" charset="0"/>
                </a:rPr>
                <a:t>Accelerate fixes, stop attacks before they happen, </a:t>
              </a:r>
              <a:r>
                <a:rPr lang="en-US" sz="1200" b="1">
                  <a:solidFill>
                    <a:srgbClr val="595959"/>
                  </a:solidFill>
                  <a:latin typeface="Aptos" panose="020B0004020202020204" pitchFamily="34" charset="0"/>
                  <a:sym typeface="Aptos" panose="020B0004020202020204" pitchFamily="34" charset="0"/>
                </a:rPr>
                <a:t>automate reporting of posture and compliance</a:t>
              </a:r>
            </a:p>
          </p:txBody>
        </p:sp>
        <p:sp>
          <p:nvSpPr>
            <p:cNvPr id="211" name="Oval 210">
              <a:extLst>
                <a:ext uri="{FF2B5EF4-FFF2-40B4-BE49-F238E27FC236}">
                  <a16:creationId xmlns:a16="http://schemas.microsoft.com/office/drawing/2014/main" id="{5BDF8DBE-6BD7-C907-EDC5-91D4C0877C6B}"/>
                </a:ext>
              </a:extLst>
            </p:cNvPr>
            <p:cNvSpPr>
              <a:spLocks noChangeAspect="1"/>
            </p:cNvSpPr>
            <p:nvPr/>
          </p:nvSpPr>
          <p:spPr>
            <a:xfrm>
              <a:off x="735532" y="5231993"/>
              <a:ext cx="214621" cy="214621"/>
            </a:xfrm>
            <a:prstGeom prst="ellipse">
              <a:avLst/>
            </a:prstGeom>
            <a:solidFill>
              <a:srgbClr val="636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bg1"/>
                  </a:solidFill>
                  <a:latin typeface="Aptos" panose="020B0004020202020204" pitchFamily="34" charset="0"/>
                  <a:sym typeface="Aptos" panose="020B0004020202020204" pitchFamily="34" charset="0"/>
                </a:rPr>
                <a:t>4</a:t>
              </a:r>
            </a:p>
          </p:txBody>
        </p:sp>
      </p:grpSp>
      <p:sp>
        <p:nvSpPr>
          <p:cNvPr id="5" name="Oval 4">
            <a:extLst>
              <a:ext uri="{FF2B5EF4-FFF2-40B4-BE49-F238E27FC236}">
                <a16:creationId xmlns:a16="http://schemas.microsoft.com/office/drawing/2014/main" id="{80BE0AC5-006A-6AC7-0088-710AFEB455E4}"/>
              </a:ext>
            </a:extLst>
          </p:cNvPr>
          <p:cNvSpPr/>
          <p:nvPr/>
        </p:nvSpPr>
        <p:spPr>
          <a:xfrm>
            <a:off x="6282340" y="1478970"/>
            <a:ext cx="4846320" cy="4846320"/>
          </a:xfrm>
          <a:prstGeom prst="ellipse">
            <a:avLst/>
          </a:prstGeom>
          <a:noFill/>
          <a:ln w="38100">
            <a:solidFill>
              <a:srgbClr val="636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2" name="object 8">
            <a:extLst>
              <a:ext uri="{FF2B5EF4-FFF2-40B4-BE49-F238E27FC236}">
                <a16:creationId xmlns:a16="http://schemas.microsoft.com/office/drawing/2014/main" id="{E169B9A5-EB07-5B41-5D6D-54E73E3C7EAD}"/>
              </a:ext>
            </a:extLst>
          </p:cNvPr>
          <p:cNvSpPr txBox="1"/>
          <p:nvPr/>
        </p:nvSpPr>
        <p:spPr>
          <a:xfrm>
            <a:off x="647998" y="1353677"/>
            <a:ext cx="5367791" cy="386430"/>
          </a:xfrm>
          <a:prstGeom prst="rect">
            <a:avLst/>
          </a:prstGeom>
        </p:spPr>
        <p:txBody>
          <a:bodyPr vert="horz" wrap="square" lIns="0" tIns="16933" rIns="0" bIns="0" rtlCol="0">
            <a:spAutoFit/>
          </a:bodyPr>
          <a:lstStyle/>
          <a:p>
            <a:pPr marL="16933" marR="6773" algn="just" defTabSz="1219170">
              <a:spcBef>
                <a:spcPts val="133"/>
              </a:spcBef>
              <a:tabLst>
                <a:tab pos="321725" algn="l"/>
                <a:tab pos="322572" algn="l"/>
              </a:tabLst>
            </a:pPr>
            <a:r>
              <a:rPr lang="en-US" sz="1200">
                <a:solidFill>
                  <a:srgbClr val="595959"/>
                </a:solidFill>
                <a:latin typeface="Aptos" panose="020B0004020202020204" pitchFamily="34" charset="0"/>
                <a:cs typeface="Poppins" panose="00000500000000000000" pitchFamily="2" charset="0"/>
                <a:sym typeface="Aptos" panose="020B0004020202020204" pitchFamily="34" charset="0"/>
              </a:rPr>
              <a:t>Unify cyber risk signals across the enterprise – delivering a smarter, faster, and far more scalable way to manage exposure</a:t>
            </a:r>
          </a:p>
        </p:txBody>
      </p:sp>
      <p:sp>
        <p:nvSpPr>
          <p:cNvPr id="7" name="object 8">
            <a:extLst>
              <a:ext uri="{FF2B5EF4-FFF2-40B4-BE49-F238E27FC236}">
                <a16:creationId xmlns:a16="http://schemas.microsoft.com/office/drawing/2014/main" id="{0731C073-4CF3-F2DB-3D2F-60B0C384C85A}"/>
              </a:ext>
            </a:extLst>
          </p:cNvPr>
          <p:cNvSpPr txBox="1"/>
          <p:nvPr/>
        </p:nvSpPr>
        <p:spPr>
          <a:xfrm>
            <a:off x="647998" y="525983"/>
            <a:ext cx="10834941" cy="461665"/>
          </a:xfrm>
          <a:prstGeom prst="rect">
            <a:avLst/>
          </a:prstGeom>
        </p:spPr>
        <p:txBody>
          <a:bodyPr vert="horz" wrap="square" lIns="0" tIns="0" rIns="0" bIns="0" rtlCol="0">
            <a:spAutoFit/>
          </a:bodyPr>
          <a:lstStyle/>
          <a:p>
            <a:pPr marL="20319" marR="0" lvl="0" indent="0" algn="l" defTabSz="1219170" eaLnBrk="1" fontAlgn="auto" latinLnBrk="0" hangingPunct="1">
              <a:spcBef>
                <a:spcPts val="0"/>
              </a:spcBef>
              <a:spcAft>
                <a:spcPts val="0"/>
              </a:spcAft>
              <a:buClrTx/>
              <a:buSzTx/>
              <a:buFontTx/>
              <a:buNone/>
              <a:tabLst/>
              <a:defRPr/>
            </a:pPr>
            <a:r>
              <a:rPr lang="en-US" sz="3000" b="1" spc="-100">
                <a:solidFill>
                  <a:srgbClr val="060B25"/>
                </a:solidFill>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AI</a:t>
            </a:r>
            <a:r>
              <a:rPr kumimoji="0" lang="en-US" sz="3000" b="1" i="0" u="none" strike="noStrike" kern="1200" cap="none" spc="-100" normalizeH="0" noProof="0">
                <a:ln>
                  <a:noFill/>
                </a:ln>
                <a:solidFill>
                  <a:srgbClr val="060B25"/>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-Driven Exposure Management for Proactive Risk Mitigation</a:t>
            </a:r>
          </a:p>
        </p:txBody>
      </p:sp>
      <p:sp>
        <p:nvSpPr>
          <p:cNvPr id="16" name="Oval 15">
            <a:extLst>
              <a:ext uri="{FF2B5EF4-FFF2-40B4-BE49-F238E27FC236}">
                <a16:creationId xmlns:a16="http://schemas.microsoft.com/office/drawing/2014/main" id="{E76CAA6F-FD8C-3AEE-C8E4-68434E43C505}"/>
              </a:ext>
            </a:extLst>
          </p:cNvPr>
          <p:cNvSpPr/>
          <p:nvPr/>
        </p:nvSpPr>
        <p:spPr>
          <a:xfrm>
            <a:off x="9112081" y="4283801"/>
            <a:ext cx="418235" cy="418235"/>
          </a:xfrm>
          <a:prstGeom prst="ellipse">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rgbClr val="060B25"/>
                </a:solidFill>
                <a:latin typeface="Aptos" panose="020B0004020202020204" pitchFamily="34" charset="0"/>
                <a:sym typeface="Aptos" panose="020B0004020202020204" pitchFamily="34" charset="0"/>
              </a:rPr>
              <a:t>3</a:t>
            </a:r>
          </a:p>
        </p:txBody>
      </p:sp>
    </p:spTree>
    <p:extLst>
      <p:ext uri="{BB962C8B-B14F-4D97-AF65-F5344CB8AC3E}">
        <p14:creationId xmlns:p14="http://schemas.microsoft.com/office/powerpoint/2010/main" val="1186780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57B17-91CD-9454-109D-88A836F2A6CD}"/>
            </a:ext>
          </a:extLst>
        </p:cNvPr>
        <p:cNvGrpSpPr/>
        <p:nvPr/>
      </p:nvGrpSpPr>
      <p:grpSpPr>
        <a:xfrm>
          <a:off x="0" y="0"/>
          <a:ext cx="0" cy="0"/>
          <a:chOff x="0" y="0"/>
          <a:chExt cx="0" cy="0"/>
        </a:xfrm>
      </p:grpSpPr>
      <p:graphicFrame>
        <p:nvGraphicFramePr>
          <p:cNvPr id="41" name="think-cell data - do not delete" hidden="1">
            <a:extLst>
              <a:ext uri="{FF2B5EF4-FFF2-40B4-BE49-F238E27FC236}">
                <a16:creationId xmlns:a16="http://schemas.microsoft.com/office/drawing/2014/main" id="{BB6F880A-FB71-2BEE-B9C5-EAC56C7E2EF6}"/>
              </a:ext>
            </a:extLst>
          </p:cNvPr>
          <p:cNvGraphicFramePr>
            <a:graphicFrameLocks noChangeAspect="1"/>
          </p:cNvGraphicFramePr>
          <p:nvPr>
            <p:custDataLst>
              <p:tags r:id="rId1"/>
            </p:custDataLst>
            <p:extLst>
              <p:ext uri="{D42A27DB-BD31-4B8C-83A1-F6EECF244321}">
                <p14:modId xmlns:p14="http://schemas.microsoft.com/office/powerpoint/2010/main" val="26490077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41" name="think-cell data - do not delete" hidden="1">
                        <a:extLst>
                          <a:ext uri="{FF2B5EF4-FFF2-40B4-BE49-F238E27FC236}">
                            <a16:creationId xmlns:a16="http://schemas.microsoft.com/office/drawing/2014/main" id="{BB6F880A-FB71-2BEE-B9C5-EAC56C7E2E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object 8">
            <a:extLst>
              <a:ext uri="{FF2B5EF4-FFF2-40B4-BE49-F238E27FC236}">
                <a16:creationId xmlns:a16="http://schemas.microsoft.com/office/drawing/2014/main" id="{FD286335-DB98-994E-9AD1-ACE57F41B9CA}"/>
              </a:ext>
            </a:extLst>
          </p:cNvPr>
          <p:cNvSpPr txBox="1"/>
          <p:nvPr/>
        </p:nvSpPr>
        <p:spPr>
          <a:xfrm>
            <a:off x="647998" y="525983"/>
            <a:ext cx="11074609" cy="743793"/>
          </a:xfrm>
          <a:prstGeom prst="rect">
            <a:avLst/>
          </a:prstGeom>
        </p:spPr>
        <p:txBody>
          <a:bodyPr vert="horz" wrap="square" lIns="0" tIns="0" rIns="0" bIns="0" rtlCol="0">
            <a:spAutoFit/>
          </a:bodyPr>
          <a:lstStyle/>
          <a:p>
            <a:pPr marL="20319" marR="0" lvl="0" indent="0" algn="l" defTabSz="1219170" eaLnBrk="1" fontAlgn="auto" latinLnBrk="0" hangingPunct="1">
              <a:lnSpc>
                <a:spcPts val="2180"/>
              </a:lnSpc>
              <a:spcBef>
                <a:spcPts val="0"/>
              </a:spcBef>
              <a:spcAft>
                <a:spcPts val="0"/>
              </a:spcAft>
              <a:buClrTx/>
              <a:buSzTx/>
              <a:buFontTx/>
              <a:buNone/>
              <a:tabLst/>
              <a:defRPr/>
            </a:pPr>
            <a:r>
              <a:rPr kumimoji="0" lang="en-US" sz="1400" i="0" u="none" strike="noStrike" kern="1200" cap="none" spc="-100" normalizeH="0" noProof="0">
                <a:ln>
                  <a:noFill/>
                </a:ln>
                <a:solidFill>
                  <a:srgbClr val="595959"/>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Exposure Management Capabilities</a:t>
            </a:r>
          </a:p>
          <a:p>
            <a:pPr marL="20319" marR="0" lvl="0" indent="0" algn="l" defTabSz="1219170" eaLnBrk="1" fontAlgn="auto" latinLnBrk="0" hangingPunct="1">
              <a:spcBef>
                <a:spcPts val="0"/>
              </a:spcBef>
              <a:spcAft>
                <a:spcPts val="0"/>
              </a:spcAft>
              <a:buClrTx/>
              <a:buSzTx/>
              <a:buFontTx/>
              <a:buNone/>
              <a:tabLst/>
              <a:defRPr/>
            </a:pPr>
            <a:r>
              <a:rPr kumimoji="0" lang="en-US" sz="3000" b="1" i="0" u="none" strike="noStrike" kern="1200" cap="none" spc="-100" normalizeH="0" noProof="0">
                <a:ln>
                  <a:noFill/>
                </a:ln>
                <a:solidFill>
                  <a:srgbClr val="060B25"/>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Integrated Platform Addressing Mission-Critical Domains</a:t>
            </a:r>
          </a:p>
        </p:txBody>
      </p:sp>
      <p:grpSp>
        <p:nvGrpSpPr>
          <p:cNvPr id="5" name="Group 4">
            <a:extLst>
              <a:ext uri="{FF2B5EF4-FFF2-40B4-BE49-F238E27FC236}">
                <a16:creationId xmlns:a16="http://schemas.microsoft.com/office/drawing/2014/main" id="{4F2FEC89-0B39-D40B-038F-6E71D026EE28}"/>
              </a:ext>
            </a:extLst>
          </p:cNvPr>
          <p:cNvGrpSpPr/>
          <p:nvPr/>
        </p:nvGrpSpPr>
        <p:grpSpPr>
          <a:xfrm>
            <a:off x="6696662" y="1742450"/>
            <a:ext cx="4695368" cy="4695368"/>
            <a:chOff x="6258084" y="1174559"/>
            <a:chExt cx="4695368" cy="4695368"/>
          </a:xfrm>
        </p:grpSpPr>
        <p:pic>
          <p:nvPicPr>
            <p:cNvPr id="36" name="Picture 35" descr="A black background with a circle&#10;&#10;Description automatically generated">
              <a:extLst>
                <a:ext uri="{FF2B5EF4-FFF2-40B4-BE49-F238E27FC236}">
                  <a16:creationId xmlns:a16="http://schemas.microsoft.com/office/drawing/2014/main" id="{336EB67C-551F-49A4-461A-1BE27D28009D}"/>
                </a:ext>
              </a:extLst>
            </p:cNvPr>
            <p:cNvPicPr>
              <a:picLocks noChangeAspect="1"/>
            </p:cNvPicPr>
            <p:nvPr/>
          </p:nvPicPr>
          <p:blipFill>
            <a:blip r:embed="rId6"/>
            <a:stretch>
              <a:fillRect/>
            </a:stretch>
          </p:blipFill>
          <p:spPr>
            <a:xfrm rot="1800000">
              <a:off x="6367414" y="1283889"/>
              <a:ext cx="4476708" cy="4476708"/>
            </a:xfrm>
            <a:prstGeom prst="rect">
              <a:avLst/>
            </a:prstGeom>
          </p:spPr>
        </p:pic>
        <p:pic>
          <p:nvPicPr>
            <p:cNvPr id="35" name="Picture 34" descr="A black circle with white lines&#10;&#10;Description automatically generated">
              <a:extLst>
                <a:ext uri="{FF2B5EF4-FFF2-40B4-BE49-F238E27FC236}">
                  <a16:creationId xmlns:a16="http://schemas.microsoft.com/office/drawing/2014/main" id="{BE8883EE-DF42-85BB-DC06-E62F7264E5FB}"/>
                </a:ext>
              </a:extLst>
            </p:cNvPr>
            <p:cNvPicPr>
              <a:picLocks noChangeAspect="1"/>
            </p:cNvPicPr>
            <p:nvPr/>
          </p:nvPicPr>
          <p:blipFill>
            <a:blip r:embed="rId7"/>
            <a:stretch>
              <a:fillRect/>
            </a:stretch>
          </p:blipFill>
          <p:spPr>
            <a:xfrm>
              <a:off x="6258084" y="1174559"/>
              <a:ext cx="4695368" cy="4695368"/>
            </a:xfrm>
            <a:prstGeom prst="rect">
              <a:avLst/>
            </a:prstGeom>
          </p:spPr>
        </p:pic>
        <p:sp>
          <p:nvSpPr>
            <p:cNvPr id="27" name="Oval 26">
              <a:extLst>
                <a:ext uri="{FF2B5EF4-FFF2-40B4-BE49-F238E27FC236}">
                  <a16:creationId xmlns:a16="http://schemas.microsoft.com/office/drawing/2014/main" id="{0E62090A-9E89-94F6-975A-7F942AAB2A4E}"/>
                </a:ext>
              </a:extLst>
            </p:cNvPr>
            <p:cNvSpPr/>
            <p:nvPr/>
          </p:nvSpPr>
          <p:spPr>
            <a:xfrm>
              <a:off x="6777800" y="2421435"/>
              <a:ext cx="1511404" cy="1511405"/>
            </a:xfrm>
            <a:prstGeom prst="ellipse">
              <a:avLst/>
            </a:prstGeom>
            <a:solidFill>
              <a:srgbClr val="87C7A7">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rgbClr val="C00000"/>
                </a:solidFill>
                <a:latin typeface="Aptos" panose="020B0004020202020204" pitchFamily="34" charset="0"/>
                <a:sym typeface="Aptos" panose="020B0004020202020204" pitchFamily="34" charset="0"/>
              </a:endParaRPr>
            </a:p>
          </p:txBody>
        </p:sp>
        <p:sp>
          <p:nvSpPr>
            <p:cNvPr id="28" name="Oval 27">
              <a:extLst>
                <a:ext uri="{FF2B5EF4-FFF2-40B4-BE49-F238E27FC236}">
                  <a16:creationId xmlns:a16="http://schemas.microsoft.com/office/drawing/2014/main" id="{A23E5A39-002D-79CA-632D-79AB8031C85D}"/>
                </a:ext>
              </a:extLst>
            </p:cNvPr>
            <p:cNvSpPr/>
            <p:nvPr/>
          </p:nvSpPr>
          <p:spPr>
            <a:xfrm>
              <a:off x="8922333" y="2421435"/>
              <a:ext cx="1511404" cy="1511405"/>
            </a:xfrm>
            <a:prstGeom prst="ellipse">
              <a:avLst/>
            </a:prstGeom>
            <a:solidFill>
              <a:srgbClr val="79D1DD">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rgbClr val="C00000"/>
                </a:solidFill>
                <a:latin typeface="Aptos" panose="020B0004020202020204" pitchFamily="34" charset="0"/>
                <a:sym typeface="Aptos" panose="020B0004020202020204" pitchFamily="34" charset="0"/>
              </a:endParaRPr>
            </a:p>
          </p:txBody>
        </p:sp>
        <p:sp>
          <p:nvSpPr>
            <p:cNvPr id="29" name="Oval 28">
              <a:extLst>
                <a:ext uri="{FF2B5EF4-FFF2-40B4-BE49-F238E27FC236}">
                  <a16:creationId xmlns:a16="http://schemas.microsoft.com/office/drawing/2014/main" id="{E9318FB8-5641-9CE1-EA00-4BA756478A54}"/>
                </a:ext>
              </a:extLst>
            </p:cNvPr>
            <p:cNvSpPr/>
            <p:nvPr/>
          </p:nvSpPr>
          <p:spPr>
            <a:xfrm>
              <a:off x="7850066" y="1555023"/>
              <a:ext cx="1511404" cy="1511405"/>
            </a:xfrm>
            <a:prstGeom prst="ellipse">
              <a:avLst/>
            </a:prstGeom>
            <a:solidFill>
              <a:srgbClr val="6360D8">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rgbClr val="C00000"/>
                </a:solidFill>
                <a:latin typeface="Aptos" panose="020B0004020202020204" pitchFamily="34" charset="0"/>
                <a:sym typeface="Aptos" panose="020B0004020202020204" pitchFamily="34" charset="0"/>
              </a:endParaRPr>
            </a:p>
          </p:txBody>
        </p:sp>
        <p:sp>
          <p:nvSpPr>
            <p:cNvPr id="30" name="Oval 29">
              <a:extLst>
                <a:ext uri="{FF2B5EF4-FFF2-40B4-BE49-F238E27FC236}">
                  <a16:creationId xmlns:a16="http://schemas.microsoft.com/office/drawing/2014/main" id="{5BFC5E96-2AEC-F159-9DB4-34DF9CA44910}"/>
                </a:ext>
              </a:extLst>
            </p:cNvPr>
            <p:cNvSpPr/>
            <p:nvPr/>
          </p:nvSpPr>
          <p:spPr>
            <a:xfrm>
              <a:off x="8530517" y="3734218"/>
              <a:ext cx="1511404" cy="1511405"/>
            </a:xfrm>
            <a:prstGeom prst="ellipse">
              <a:avLst/>
            </a:prstGeom>
            <a:solidFill>
              <a:srgbClr val="B08DE3">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rgbClr val="C00000"/>
                </a:solidFill>
                <a:latin typeface="Aptos" panose="020B0004020202020204" pitchFamily="34" charset="0"/>
                <a:sym typeface="Aptos" panose="020B0004020202020204" pitchFamily="34" charset="0"/>
              </a:endParaRPr>
            </a:p>
          </p:txBody>
        </p:sp>
        <p:sp>
          <p:nvSpPr>
            <p:cNvPr id="31" name="Oval 30">
              <a:extLst>
                <a:ext uri="{FF2B5EF4-FFF2-40B4-BE49-F238E27FC236}">
                  <a16:creationId xmlns:a16="http://schemas.microsoft.com/office/drawing/2014/main" id="{E3F7B0D5-89B1-3E09-AE58-A9ACF5284B16}"/>
                </a:ext>
              </a:extLst>
            </p:cNvPr>
            <p:cNvSpPr/>
            <p:nvPr/>
          </p:nvSpPr>
          <p:spPr>
            <a:xfrm>
              <a:off x="7169615" y="3734218"/>
              <a:ext cx="1511404" cy="1511405"/>
            </a:xfrm>
            <a:prstGeom prst="ellipse">
              <a:avLst/>
            </a:prstGeom>
            <a:solidFill>
              <a:srgbClr val="DC727C">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1"/>
                </a:solidFill>
                <a:latin typeface="Aptos" panose="020B0004020202020204" pitchFamily="34" charset="0"/>
                <a:sym typeface="Aptos" panose="020B0004020202020204" pitchFamily="34" charset="0"/>
              </a:endParaRPr>
            </a:p>
          </p:txBody>
        </p:sp>
        <p:sp>
          <p:nvSpPr>
            <p:cNvPr id="38" name="Shape 347">
              <a:extLst>
                <a:ext uri="{FF2B5EF4-FFF2-40B4-BE49-F238E27FC236}">
                  <a16:creationId xmlns:a16="http://schemas.microsoft.com/office/drawing/2014/main" id="{256A6897-DA1E-5FAF-0E72-1270D398B4E2}"/>
                </a:ext>
              </a:extLst>
            </p:cNvPr>
            <p:cNvSpPr txBox="1">
              <a:spLocks noChangeArrowheads="1"/>
            </p:cNvSpPr>
            <p:nvPr/>
          </p:nvSpPr>
          <p:spPr bwMode="auto">
            <a:xfrm>
              <a:off x="8046535" y="2158548"/>
              <a:ext cx="1118465" cy="304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2555" tIns="142555" rIns="142555" bIns="142555" anchor="ctr"/>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defTabSz="457200" fontAlgn="base">
                <a:spcBef>
                  <a:spcPct val="0"/>
                </a:spcBef>
                <a:spcAft>
                  <a:spcPct val="0"/>
                </a:spcAft>
                <a:defRPr>
                  <a:solidFill>
                    <a:schemeClr val="tx1"/>
                  </a:solidFill>
                  <a:latin typeface="Myriad Pro" panose="020B0503030403020204" pitchFamily="34" charset="0"/>
                </a:defRPr>
              </a:lvl6pPr>
              <a:lvl7pPr marL="2971800" indent="-228600" defTabSz="457200" fontAlgn="base">
                <a:spcBef>
                  <a:spcPct val="0"/>
                </a:spcBef>
                <a:spcAft>
                  <a:spcPct val="0"/>
                </a:spcAft>
                <a:defRPr>
                  <a:solidFill>
                    <a:schemeClr val="tx1"/>
                  </a:solidFill>
                  <a:latin typeface="Myriad Pro" panose="020B0503030403020204" pitchFamily="34" charset="0"/>
                </a:defRPr>
              </a:lvl7pPr>
              <a:lvl8pPr marL="3429000" indent="-228600" defTabSz="457200" fontAlgn="base">
                <a:spcBef>
                  <a:spcPct val="0"/>
                </a:spcBef>
                <a:spcAft>
                  <a:spcPct val="0"/>
                </a:spcAft>
                <a:defRPr>
                  <a:solidFill>
                    <a:schemeClr val="tx1"/>
                  </a:solidFill>
                  <a:latin typeface="Myriad Pro" panose="020B0503030403020204" pitchFamily="34" charset="0"/>
                </a:defRPr>
              </a:lvl8pPr>
              <a:lvl9pPr marL="3886200" indent="-228600" defTabSz="457200" fontAlgn="base">
                <a:spcBef>
                  <a:spcPct val="0"/>
                </a:spcBef>
                <a:spcAft>
                  <a:spcPct val="0"/>
                </a:spcAft>
                <a:defRPr>
                  <a:solidFill>
                    <a:schemeClr val="tx1"/>
                  </a:solidFill>
                  <a:latin typeface="Myriad Pro" panose="020B0503030403020204" pitchFamily="34" charset="0"/>
                </a:defRPr>
              </a:lvl9pPr>
            </a:lstStyle>
            <a:p>
              <a:pPr marL="0" marR="0" lvl="0" indent="0" algn="ctr" defTabSz="609585" eaLnBrk="1" fontAlgn="base" latinLnBrk="0" hangingPunct="1">
                <a:lnSpc>
                  <a:spcPct val="100000"/>
                </a:lnSpc>
                <a:spcBef>
                  <a:spcPts val="0"/>
                </a:spcBef>
                <a:spcAft>
                  <a:spcPts val="300"/>
                </a:spcAft>
                <a:buClrTx/>
                <a:buSzPct val="80000"/>
                <a:buFontTx/>
                <a:buNone/>
                <a:tabLst/>
                <a:defRPr/>
              </a:pPr>
              <a:r>
                <a:rPr kumimoji="0" lang="en-US" altLang="en-US" b="1" i="0" u="none" strike="noStrike" kern="1200" cap="none" spc="0" normalizeH="0" baseline="0" noProof="0">
                  <a:ln>
                    <a:noFill/>
                  </a:ln>
                  <a:solidFill>
                    <a:schemeClr val="bg1"/>
                  </a:solidFill>
                  <a:effectLst/>
                  <a:uLnTx/>
                  <a:uFillTx/>
                  <a:latin typeface="Aptos" panose="020B0004020202020204" pitchFamily="34" charset="0"/>
                  <a:ea typeface="Open Sans" panose="020B0604020202020204" charset="0"/>
                  <a:cs typeface="Segoe UI" panose="020B0502040204020203" pitchFamily="34" charset="0"/>
                  <a:sym typeface="Aptos" panose="020B0004020202020204" pitchFamily="34" charset="0"/>
                </a:rPr>
                <a:t>CAASM</a:t>
              </a:r>
            </a:p>
          </p:txBody>
        </p:sp>
        <p:sp>
          <p:nvSpPr>
            <p:cNvPr id="39" name="Shape 347">
              <a:extLst>
                <a:ext uri="{FF2B5EF4-FFF2-40B4-BE49-F238E27FC236}">
                  <a16:creationId xmlns:a16="http://schemas.microsoft.com/office/drawing/2014/main" id="{E3511F57-2AB5-5434-F756-3491E9C2A6F6}"/>
                </a:ext>
              </a:extLst>
            </p:cNvPr>
            <p:cNvSpPr txBox="1">
              <a:spLocks noChangeArrowheads="1"/>
            </p:cNvSpPr>
            <p:nvPr/>
          </p:nvSpPr>
          <p:spPr bwMode="auto">
            <a:xfrm>
              <a:off x="9118802" y="3024959"/>
              <a:ext cx="1118465" cy="304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2555" tIns="142555" rIns="142555" bIns="142555" anchor="ctr"/>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defTabSz="457200" fontAlgn="base">
                <a:spcBef>
                  <a:spcPct val="0"/>
                </a:spcBef>
                <a:spcAft>
                  <a:spcPct val="0"/>
                </a:spcAft>
                <a:defRPr>
                  <a:solidFill>
                    <a:schemeClr val="tx1"/>
                  </a:solidFill>
                  <a:latin typeface="Myriad Pro" panose="020B0503030403020204" pitchFamily="34" charset="0"/>
                </a:defRPr>
              </a:lvl6pPr>
              <a:lvl7pPr marL="2971800" indent="-228600" defTabSz="457200" fontAlgn="base">
                <a:spcBef>
                  <a:spcPct val="0"/>
                </a:spcBef>
                <a:spcAft>
                  <a:spcPct val="0"/>
                </a:spcAft>
                <a:defRPr>
                  <a:solidFill>
                    <a:schemeClr val="tx1"/>
                  </a:solidFill>
                  <a:latin typeface="Myriad Pro" panose="020B0503030403020204" pitchFamily="34" charset="0"/>
                </a:defRPr>
              </a:lvl7pPr>
              <a:lvl8pPr marL="3429000" indent="-228600" defTabSz="457200" fontAlgn="base">
                <a:spcBef>
                  <a:spcPct val="0"/>
                </a:spcBef>
                <a:spcAft>
                  <a:spcPct val="0"/>
                </a:spcAft>
                <a:defRPr>
                  <a:solidFill>
                    <a:schemeClr val="tx1"/>
                  </a:solidFill>
                  <a:latin typeface="Myriad Pro" panose="020B0503030403020204" pitchFamily="34" charset="0"/>
                </a:defRPr>
              </a:lvl8pPr>
              <a:lvl9pPr marL="3886200" indent="-228600" defTabSz="457200" fontAlgn="base">
                <a:spcBef>
                  <a:spcPct val="0"/>
                </a:spcBef>
                <a:spcAft>
                  <a:spcPct val="0"/>
                </a:spcAft>
                <a:defRPr>
                  <a:solidFill>
                    <a:schemeClr val="tx1"/>
                  </a:solidFill>
                  <a:latin typeface="Myriad Pro" panose="020B0503030403020204" pitchFamily="34" charset="0"/>
                </a:defRPr>
              </a:lvl9pPr>
            </a:lstStyle>
            <a:p>
              <a:pPr marL="0" marR="0" lvl="0" indent="0" algn="ctr" defTabSz="609585" eaLnBrk="1" fontAlgn="base" latinLnBrk="0" hangingPunct="1">
                <a:lnSpc>
                  <a:spcPct val="100000"/>
                </a:lnSpc>
                <a:spcBef>
                  <a:spcPts val="0"/>
                </a:spcBef>
                <a:spcAft>
                  <a:spcPts val="300"/>
                </a:spcAft>
                <a:buClrTx/>
                <a:buSzPct val="80000"/>
                <a:buFontTx/>
                <a:buNone/>
                <a:tabLst/>
                <a:defRPr/>
              </a:pPr>
              <a:r>
                <a:rPr kumimoji="0" lang="en-US" altLang="en-US" b="1" i="0" u="none" strike="noStrike" kern="1200" cap="none" spc="0" normalizeH="0" baseline="0" noProof="0">
                  <a:ln>
                    <a:noFill/>
                  </a:ln>
                  <a:solidFill>
                    <a:schemeClr val="bg1"/>
                  </a:solidFill>
                  <a:effectLst/>
                  <a:uLnTx/>
                  <a:uFillTx/>
                  <a:latin typeface="Aptos" panose="020B0004020202020204" pitchFamily="34" charset="0"/>
                  <a:ea typeface="Open Sans" panose="020B0604020202020204" charset="0"/>
                  <a:cs typeface="Segoe UI" panose="020B0502040204020203" pitchFamily="34" charset="0"/>
                  <a:sym typeface="Aptos" panose="020B0004020202020204" pitchFamily="34" charset="0"/>
                </a:rPr>
                <a:t>RBVM</a:t>
              </a:r>
            </a:p>
          </p:txBody>
        </p:sp>
        <p:sp>
          <p:nvSpPr>
            <p:cNvPr id="40" name="Shape 347">
              <a:extLst>
                <a:ext uri="{FF2B5EF4-FFF2-40B4-BE49-F238E27FC236}">
                  <a16:creationId xmlns:a16="http://schemas.microsoft.com/office/drawing/2014/main" id="{FFCE99C5-0452-1CDA-256F-EFC2BA3208FA}"/>
                </a:ext>
              </a:extLst>
            </p:cNvPr>
            <p:cNvSpPr txBox="1">
              <a:spLocks noChangeArrowheads="1"/>
            </p:cNvSpPr>
            <p:nvPr/>
          </p:nvSpPr>
          <p:spPr bwMode="auto">
            <a:xfrm>
              <a:off x="8726986" y="4337743"/>
              <a:ext cx="1118465" cy="304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2555" tIns="142555" rIns="142555" bIns="142555" anchor="ctr"/>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defTabSz="457200" fontAlgn="base">
                <a:spcBef>
                  <a:spcPct val="0"/>
                </a:spcBef>
                <a:spcAft>
                  <a:spcPct val="0"/>
                </a:spcAft>
                <a:defRPr>
                  <a:solidFill>
                    <a:schemeClr val="tx1"/>
                  </a:solidFill>
                  <a:latin typeface="Myriad Pro" panose="020B0503030403020204" pitchFamily="34" charset="0"/>
                </a:defRPr>
              </a:lvl6pPr>
              <a:lvl7pPr marL="2971800" indent="-228600" defTabSz="457200" fontAlgn="base">
                <a:spcBef>
                  <a:spcPct val="0"/>
                </a:spcBef>
                <a:spcAft>
                  <a:spcPct val="0"/>
                </a:spcAft>
                <a:defRPr>
                  <a:solidFill>
                    <a:schemeClr val="tx1"/>
                  </a:solidFill>
                  <a:latin typeface="Myriad Pro" panose="020B0503030403020204" pitchFamily="34" charset="0"/>
                </a:defRPr>
              </a:lvl7pPr>
              <a:lvl8pPr marL="3429000" indent="-228600" defTabSz="457200" fontAlgn="base">
                <a:spcBef>
                  <a:spcPct val="0"/>
                </a:spcBef>
                <a:spcAft>
                  <a:spcPct val="0"/>
                </a:spcAft>
                <a:defRPr>
                  <a:solidFill>
                    <a:schemeClr val="tx1"/>
                  </a:solidFill>
                  <a:latin typeface="Myriad Pro" panose="020B0503030403020204" pitchFamily="34" charset="0"/>
                </a:defRPr>
              </a:lvl8pPr>
              <a:lvl9pPr marL="3886200" indent="-228600" defTabSz="457200" fontAlgn="base">
                <a:spcBef>
                  <a:spcPct val="0"/>
                </a:spcBef>
                <a:spcAft>
                  <a:spcPct val="0"/>
                </a:spcAft>
                <a:defRPr>
                  <a:solidFill>
                    <a:schemeClr val="tx1"/>
                  </a:solidFill>
                  <a:latin typeface="Myriad Pro" panose="020B0503030403020204" pitchFamily="34" charset="0"/>
                </a:defRPr>
              </a:lvl9pPr>
            </a:lstStyle>
            <a:p>
              <a:pPr marL="0" marR="0" lvl="0" indent="0" algn="ctr" defTabSz="609585" eaLnBrk="1" fontAlgn="base" latinLnBrk="0" hangingPunct="1">
                <a:lnSpc>
                  <a:spcPct val="100000"/>
                </a:lnSpc>
                <a:spcBef>
                  <a:spcPts val="0"/>
                </a:spcBef>
                <a:spcAft>
                  <a:spcPts val="300"/>
                </a:spcAft>
                <a:buClrTx/>
                <a:buSzPct val="80000"/>
                <a:buFontTx/>
                <a:buNone/>
                <a:tabLst/>
                <a:defRPr/>
              </a:pPr>
              <a:r>
                <a:rPr kumimoji="0" lang="en-US" altLang="en-US" b="1" i="0" u="none" strike="noStrike" kern="1200" cap="none" spc="0" normalizeH="0" baseline="0" noProof="0">
                  <a:ln>
                    <a:noFill/>
                  </a:ln>
                  <a:solidFill>
                    <a:schemeClr val="bg1"/>
                  </a:solidFill>
                  <a:effectLst/>
                  <a:uLnTx/>
                  <a:uFillTx/>
                  <a:latin typeface="Aptos" panose="020B0004020202020204" pitchFamily="34" charset="0"/>
                  <a:ea typeface="Open Sans" panose="020B0604020202020204" charset="0"/>
                  <a:cs typeface="Segoe UI" panose="020B0502040204020203" pitchFamily="34" charset="0"/>
                  <a:sym typeface="Aptos" panose="020B0004020202020204" pitchFamily="34" charset="0"/>
                </a:rPr>
                <a:t>ISPM</a:t>
              </a:r>
            </a:p>
          </p:txBody>
        </p:sp>
        <p:sp>
          <p:nvSpPr>
            <p:cNvPr id="42" name="Shape 347">
              <a:extLst>
                <a:ext uri="{FF2B5EF4-FFF2-40B4-BE49-F238E27FC236}">
                  <a16:creationId xmlns:a16="http://schemas.microsoft.com/office/drawing/2014/main" id="{AE672B77-CF42-2266-EFCC-2322BC3882CF}"/>
                </a:ext>
              </a:extLst>
            </p:cNvPr>
            <p:cNvSpPr txBox="1">
              <a:spLocks noChangeArrowheads="1"/>
            </p:cNvSpPr>
            <p:nvPr/>
          </p:nvSpPr>
          <p:spPr bwMode="auto">
            <a:xfrm>
              <a:off x="7366085" y="4337743"/>
              <a:ext cx="1118465" cy="304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2555" tIns="142555" rIns="142555" bIns="142555" anchor="ctr"/>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defTabSz="457200" fontAlgn="base">
                <a:spcBef>
                  <a:spcPct val="0"/>
                </a:spcBef>
                <a:spcAft>
                  <a:spcPct val="0"/>
                </a:spcAft>
                <a:defRPr>
                  <a:solidFill>
                    <a:schemeClr val="tx1"/>
                  </a:solidFill>
                  <a:latin typeface="Myriad Pro" panose="020B0503030403020204" pitchFamily="34" charset="0"/>
                </a:defRPr>
              </a:lvl6pPr>
              <a:lvl7pPr marL="2971800" indent="-228600" defTabSz="457200" fontAlgn="base">
                <a:spcBef>
                  <a:spcPct val="0"/>
                </a:spcBef>
                <a:spcAft>
                  <a:spcPct val="0"/>
                </a:spcAft>
                <a:defRPr>
                  <a:solidFill>
                    <a:schemeClr val="tx1"/>
                  </a:solidFill>
                  <a:latin typeface="Myriad Pro" panose="020B0503030403020204" pitchFamily="34" charset="0"/>
                </a:defRPr>
              </a:lvl7pPr>
              <a:lvl8pPr marL="3429000" indent="-228600" defTabSz="457200" fontAlgn="base">
                <a:spcBef>
                  <a:spcPct val="0"/>
                </a:spcBef>
                <a:spcAft>
                  <a:spcPct val="0"/>
                </a:spcAft>
                <a:defRPr>
                  <a:solidFill>
                    <a:schemeClr val="tx1"/>
                  </a:solidFill>
                  <a:latin typeface="Myriad Pro" panose="020B0503030403020204" pitchFamily="34" charset="0"/>
                </a:defRPr>
              </a:lvl8pPr>
              <a:lvl9pPr marL="3886200" indent="-228600" defTabSz="457200" fontAlgn="base">
                <a:spcBef>
                  <a:spcPct val="0"/>
                </a:spcBef>
                <a:spcAft>
                  <a:spcPct val="0"/>
                </a:spcAft>
                <a:defRPr>
                  <a:solidFill>
                    <a:schemeClr val="tx1"/>
                  </a:solidFill>
                  <a:latin typeface="Myriad Pro" panose="020B0503030403020204" pitchFamily="34" charset="0"/>
                </a:defRPr>
              </a:lvl9pPr>
            </a:lstStyle>
            <a:p>
              <a:pPr marL="0" marR="0" lvl="0" indent="0" algn="ctr" defTabSz="609585" eaLnBrk="1" fontAlgn="base" latinLnBrk="0" hangingPunct="1">
                <a:lnSpc>
                  <a:spcPct val="100000"/>
                </a:lnSpc>
                <a:spcBef>
                  <a:spcPts val="0"/>
                </a:spcBef>
                <a:spcAft>
                  <a:spcPts val="300"/>
                </a:spcAft>
                <a:buClrTx/>
                <a:buSzPct val="80000"/>
                <a:buFontTx/>
                <a:buNone/>
                <a:tabLst/>
                <a:defRPr/>
              </a:pPr>
              <a:r>
                <a:rPr kumimoji="0" lang="en-US" altLang="en-US" b="1" i="0" u="none" strike="noStrike" kern="1200" cap="none" spc="0" normalizeH="0" baseline="0" noProof="0">
                  <a:ln>
                    <a:noFill/>
                  </a:ln>
                  <a:solidFill>
                    <a:schemeClr val="bg1"/>
                  </a:solidFill>
                  <a:effectLst/>
                  <a:uLnTx/>
                  <a:uFillTx/>
                  <a:latin typeface="Aptos" panose="020B0004020202020204" pitchFamily="34" charset="0"/>
                  <a:ea typeface="Open Sans" panose="020B0604020202020204" charset="0"/>
                  <a:cs typeface="Segoe UI" panose="020B0502040204020203" pitchFamily="34" charset="0"/>
                  <a:sym typeface="Aptos" panose="020B0004020202020204" pitchFamily="34" charset="0"/>
                </a:rPr>
                <a:t>CSPM</a:t>
              </a:r>
            </a:p>
          </p:txBody>
        </p:sp>
        <p:sp>
          <p:nvSpPr>
            <p:cNvPr id="43" name="Shape 347">
              <a:extLst>
                <a:ext uri="{FF2B5EF4-FFF2-40B4-BE49-F238E27FC236}">
                  <a16:creationId xmlns:a16="http://schemas.microsoft.com/office/drawing/2014/main" id="{81BB5622-1915-E49C-CCCD-65B70119CA11}"/>
                </a:ext>
              </a:extLst>
            </p:cNvPr>
            <p:cNvSpPr txBox="1">
              <a:spLocks noChangeArrowheads="1"/>
            </p:cNvSpPr>
            <p:nvPr/>
          </p:nvSpPr>
          <p:spPr bwMode="auto">
            <a:xfrm>
              <a:off x="6856831" y="3024959"/>
              <a:ext cx="1353343" cy="304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2555" tIns="142555" rIns="142555" bIns="142555" anchor="ctr"/>
            <a:lstStyle>
              <a:lvl1pPr>
                <a:defRPr>
                  <a:solidFill>
                    <a:schemeClr val="tx1"/>
                  </a:solidFill>
                  <a:latin typeface="Myriad Pro" panose="020B0503030403020204" pitchFamily="34" charset="0"/>
                </a:defRPr>
              </a:lvl1pPr>
              <a:lvl2pPr marL="742950" indent="-285750">
                <a:defRPr>
                  <a:solidFill>
                    <a:schemeClr val="tx1"/>
                  </a:solidFill>
                  <a:latin typeface="Myriad Pro" panose="020B0503030403020204" pitchFamily="34" charset="0"/>
                </a:defRPr>
              </a:lvl2pPr>
              <a:lvl3pPr marL="1143000" indent="-228600">
                <a:defRPr>
                  <a:solidFill>
                    <a:schemeClr val="tx1"/>
                  </a:solidFill>
                  <a:latin typeface="Myriad Pro" panose="020B0503030403020204" pitchFamily="34" charset="0"/>
                </a:defRPr>
              </a:lvl3pPr>
              <a:lvl4pPr marL="1600200" indent="-228600">
                <a:defRPr>
                  <a:solidFill>
                    <a:schemeClr val="tx1"/>
                  </a:solidFill>
                  <a:latin typeface="Myriad Pro" panose="020B0503030403020204" pitchFamily="34" charset="0"/>
                </a:defRPr>
              </a:lvl4pPr>
              <a:lvl5pPr marL="2057400" indent="-228600">
                <a:defRPr>
                  <a:solidFill>
                    <a:schemeClr val="tx1"/>
                  </a:solidFill>
                  <a:latin typeface="Myriad Pro" panose="020B0503030403020204" pitchFamily="34" charset="0"/>
                </a:defRPr>
              </a:lvl5pPr>
              <a:lvl6pPr marL="2514600" indent="-228600" defTabSz="457200" fontAlgn="base">
                <a:spcBef>
                  <a:spcPct val="0"/>
                </a:spcBef>
                <a:spcAft>
                  <a:spcPct val="0"/>
                </a:spcAft>
                <a:defRPr>
                  <a:solidFill>
                    <a:schemeClr val="tx1"/>
                  </a:solidFill>
                  <a:latin typeface="Myriad Pro" panose="020B0503030403020204" pitchFamily="34" charset="0"/>
                </a:defRPr>
              </a:lvl6pPr>
              <a:lvl7pPr marL="2971800" indent="-228600" defTabSz="457200" fontAlgn="base">
                <a:spcBef>
                  <a:spcPct val="0"/>
                </a:spcBef>
                <a:spcAft>
                  <a:spcPct val="0"/>
                </a:spcAft>
                <a:defRPr>
                  <a:solidFill>
                    <a:schemeClr val="tx1"/>
                  </a:solidFill>
                  <a:latin typeface="Myriad Pro" panose="020B0503030403020204" pitchFamily="34" charset="0"/>
                </a:defRPr>
              </a:lvl7pPr>
              <a:lvl8pPr marL="3429000" indent="-228600" defTabSz="457200" fontAlgn="base">
                <a:spcBef>
                  <a:spcPct val="0"/>
                </a:spcBef>
                <a:spcAft>
                  <a:spcPct val="0"/>
                </a:spcAft>
                <a:defRPr>
                  <a:solidFill>
                    <a:schemeClr val="tx1"/>
                  </a:solidFill>
                  <a:latin typeface="Myriad Pro" panose="020B0503030403020204" pitchFamily="34" charset="0"/>
                </a:defRPr>
              </a:lvl8pPr>
              <a:lvl9pPr marL="3886200" indent="-228600" defTabSz="457200" fontAlgn="base">
                <a:spcBef>
                  <a:spcPct val="0"/>
                </a:spcBef>
                <a:spcAft>
                  <a:spcPct val="0"/>
                </a:spcAft>
                <a:defRPr>
                  <a:solidFill>
                    <a:schemeClr val="tx1"/>
                  </a:solidFill>
                  <a:latin typeface="Myriad Pro" panose="020B0503030403020204" pitchFamily="34" charset="0"/>
                </a:defRPr>
              </a:lvl9pPr>
            </a:lstStyle>
            <a:p>
              <a:pPr marL="0" marR="0" lvl="0" indent="0" algn="ctr" defTabSz="609585" eaLnBrk="1" fontAlgn="base" latinLnBrk="0" hangingPunct="1">
                <a:lnSpc>
                  <a:spcPct val="100000"/>
                </a:lnSpc>
                <a:spcBef>
                  <a:spcPts val="0"/>
                </a:spcBef>
                <a:spcAft>
                  <a:spcPts val="300"/>
                </a:spcAft>
                <a:buClrTx/>
                <a:buSzPct val="80000"/>
                <a:buFontTx/>
                <a:buNone/>
                <a:tabLst/>
                <a:defRPr/>
              </a:pPr>
              <a:r>
                <a:rPr kumimoji="0" lang="en-US" altLang="en-US" b="1" i="0" u="none" strike="noStrike" kern="1200" cap="none" spc="0" normalizeH="0" baseline="0" noProof="0">
                  <a:ln>
                    <a:noFill/>
                  </a:ln>
                  <a:solidFill>
                    <a:schemeClr val="bg1"/>
                  </a:solidFill>
                  <a:effectLst/>
                  <a:uLnTx/>
                  <a:uFillTx/>
                  <a:latin typeface="Aptos" panose="020B0004020202020204" pitchFamily="34" charset="0"/>
                  <a:ea typeface="Open Sans" panose="020B0604020202020204" charset="0"/>
                  <a:cs typeface="Segoe UI" panose="020B0502040204020203" pitchFamily="34" charset="0"/>
                  <a:sym typeface="Aptos" panose="020B0004020202020204" pitchFamily="34" charset="0"/>
                </a:rPr>
                <a:t>CCM</a:t>
              </a:r>
            </a:p>
          </p:txBody>
        </p:sp>
      </p:grpSp>
      <p:cxnSp>
        <p:nvCxnSpPr>
          <p:cNvPr id="10" name="Straight Connector 9">
            <a:extLst>
              <a:ext uri="{FF2B5EF4-FFF2-40B4-BE49-F238E27FC236}">
                <a16:creationId xmlns:a16="http://schemas.microsoft.com/office/drawing/2014/main" id="{974BE7EA-CD39-AB2B-097D-7398B2003191}"/>
              </a:ext>
            </a:extLst>
          </p:cNvPr>
          <p:cNvCxnSpPr>
            <a:cxnSpLocks/>
          </p:cNvCxnSpPr>
          <p:nvPr/>
        </p:nvCxnSpPr>
        <p:spPr>
          <a:xfrm>
            <a:off x="779042" y="2718241"/>
            <a:ext cx="516937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9BFD601-5782-05F9-E837-3AF441FC426A}"/>
              </a:ext>
            </a:extLst>
          </p:cNvPr>
          <p:cNvCxnSpPr>
            <a:cxnSpLocks/>
          </p:cNvCxnSpPr>
          <p:nvPr/>
        </p:nvCxnSpPr>
        <p:spPr>
          <a:xfrm>
            <a:off x="779042" y="4563563"/>
            <a:ext cx="474457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B4D2D1B-A00A-FACC-A0B4-EBB41CFF4BF1}"/>
              </a:ext>
            </a:extLst>
          </p:cNvPr>
          <p:cNvCxnSpPr>
            <a:cxnSpLocks/>
          </p:cNvCxnSpPr>
          <p:nvPr/>
        </p:nvCxnSpPr>
        <p:spPr>
          <a:xfrm>
            <a:off x="779042" y="3640902"/>
            <a:ext cx="474457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2" name="object 8">
            <a:extLst>
              <a:ext uri="{FF2B5EF4-FFF2-40B4-BE49-F238E27FC236}">
                <a16:creationId xmlns:a16="http://schemas.microsoft.com/office/drawing/2014/main" id="{D895CD66-EC37-CA58-EA4D-AE1E0787B9E6}"/>
              </a:ext>
            </a:extLst>
          </p:cNvPr>
          <p:cNvSpPr txBox="1"/>
          <p:nvPr/>
        </p:nvSpPr>
        <p:spPr>
          <a:xfrm>
            <a:off x="647998" y="1353677"/>
            <a:ext cx="10998571" cy="386430"/>
          </a:xfrm>
          <a:prstGeom prst="rect">
            <a:avLst/>
          </a:prstGeom>
        </p:spPr>
        <p:txBody>
          <a:bodyPr vert="horz" wrap="square" lIns="0" tIns="16933" rIns="0" bIns="0" rtlCol="0">
            <a:spAutoFit/>
          </a:bodyPr>
          <a:lstStyle/>
          <a:p>
            <a:pPr marL="16933" marR="6773" defTabSz="1219170">
              <a:spcBef>
                <a:spcPts val="133"/>
              </a:spcBef>
              <a:tabLst>
                <a:tab pos="321725" algn="l"/>
                <a:tab pos="322572" algn="l"/>
              </a:tabLst>
            </a:pPr>
            <a:r>
              <a:rPr lang="en-US" sz="1200">
                <a:solidFill>
                  <a:srgbClr val="595959"/>
                </a:solidFill>
                <a:latin typeface="Aptos" panose="020B0004020202020204" pitchFamily="34" charset="0"/>
                <a:cs typeface="Poppins" panose="00000500000000000000" pitchFamily="2" charset="0"/>
                <a:sym typeface="Aptos" panose="020B0004020202020204" pitchFamily="34" charset="0"/>
              </a:rPr>
              <a:t>Prevalent AI’s Exposure Management offering integrates key cybersecurity use cases into a single platform, simplifying complex security landscapes and maximizing value</a:t>
            </a:r>
          </a:p>
        </p:txBody>
      </p:sp>
      <p:grpSp>
        <p:nvGrpSpPr>
          <p:cNvPr id="23" name="Group 22">
            <a:extLst>
              <a:ext uri="{FF2B5EF4-FFF2-40B4-BE49-F238E27FC236}">
                <a16:creationId xmlns:a16="http://schemas.microsoft.com/office/drawing/2014/main" id="{91FDFF72-AB22-738D-B9D4-2BA6CFA41885}"/>
              </a:ext>
            </a:extLst>
          </p:cNvPr>
          <p:cNvGrpSpPr/>
          <p:nvPr/>
        </p:nvGrpSpPr>
        <p:grpSpPr>
          <a:xfrm>
            <a:off x="768014" y="1882449"/>
            <a:ext cx="6364306" cy="723275"/>
            <a:chOff x="768014" y="1834323"/>
            <a:chExt cx="6364306" cy="723275"/>
          </a:xfrm>
        </p:grpSpPr>
        <p:sp>
          <p:nvSpPr>
            <p:cNvPr id="13" name="TextBox 12">
              <a:extLst>
                <a:ext uri="{FF2B5EF4-FFF2-40B4-BE49-F238E27FC236}">
                  <a16:creationId xmlns:a16="http://schemas.microsoft.com/office/drawing/2014/main" id="{B6E8C53E-6D6E-5ADA-D511-9679A87ED71A}"/>
                </a:ext>
              </a:extLst>
            </p:cNvPr>
            <p:cNvSpPr txBox="1"/>
            <p:nvPr/>
          </p:nvSpPr>
          <p:spPr>
            <a:xfrm>
              <a:off x="1394680" y="1834323"/>
              <a:ext cx="5737640" cy="723275"/>
            </a:xfrm>
            <a:prstGeom prst="rect">
              <a:avLst/>
            </a:prstGeom>
            <a:noFill/>
          </p:spPr>
          <p:txBody>
            <a:bodyPr wrap="square" anchor="ctr">
              <a:spAutoFit/>
            </a:bodyPr>
            <a:lstStyle/>
            <a:p>
              <a:pPr marL="0" marR="0" lvl="2" indent="0" defTabSz="914400" rtl="0" eaLnBrk="1" fontAlgn="auto" latinLnBrk="0" hangingPunct="1">
                <a:lnSpc>
                  <a:spcPct val="100000"/>
                </a:lnSpc>
                <a:spcBef>
                  <a:spcPts val="200"/>
                </a:spcBef>
                <a:spcAft>
                  <a:spcPts val="400"/>
                </a:spcAft>
                <a:buClrTx/>
                <a:buSzTx/>
                <a:buFontTx/>
                <a:buNone/>
                <a:tabLst/>
                <a:defRPr/>
              </a:pPr>
              <a:r>
                <a:rPr kumimoji="0" lang="en-US" sz="1300" b="1" i="0" u="none" strike="noStrike" kern="1200" cap="none" spc="0" normalizeH="0" baseline="0" noProof="0">
                  <a:ln>
                    <a:noFill/>
                  </a:ln>
                  <a:solidFill>
                    <a:srgbClr val="060B25"/>
                  </a:solidFill>
                  <a:effectLst/>
                  <a:uLnTx/>
                  <a:uFillTx/>
                  <a:latin typeface="Aptos" panose="020B0004020202020204" pitchFamily="34" charset="0"/>
                  <a:ea typeface="+mn-lt"/>
                  <a:cs typeface="+mn-lt"/>
                  <a:sym typeface="Aptos" panose="020B0004020202020204" pitchFamily="34" charset="0"/>
                </a:rPr>
                <a:t>Cyber Attack Surface Management (CAASM)</a:t>
              </a:r>
            </a:p>
            <a:p>
              <a:pPr marL="0" marR="0" lvl="2" indent="0" defTabSz="914400" rtl="0" eaLnBrk="1" fontAlgn="auto" latinLnBrk="0" hangingPunct="1">
                <a:lnSpc>
                  <a:spcPct val="100000"/>
                </a:lnSpc>
                <a:spcBef>
                  <a:spcPts val="200"/>
                </a:spcBef>
                <a:spcAft>
                  <a:spcPts val="400"/>
                </a:spcAft>
                <a:buClrTx/>
                <a:buSzTx/>
                <a:buFontTx/>
                <a:buNone/>
                <a:tabLst/>
                <a:defRPr/>
              </a:pPr>
              <a:r>
                <a:rPr kumimoji="0" lang="en-US" sz="1150" b="0" i="0" u="none" strike="noStrike" kern="1200" cap="none" spc="0" normalizeH="0" baseline="0" noProof="0">
                  <a:ln>
                    <a:noFill/>
                  </a:ln>
                  <a:solidFill>
                    <a:srgbClr val="595959"/>
                  </a:solidFill>
                  <a:effectLst/>
                  <a:uLnTx/>
                  <a:uFillTx/>
                  <a:latin typeface="Aptos" panose="020B0004020202020204" pitchFamily="34" charset="0"/>
                  <a:ea typeface="+mn-lt"/>
                  <a:cs typeface="+mn-lt"/>
                  <a:sym typeface="Aptos" panose="020B0004020202020204" pitchFamily="34" charset="0"/>
                </a:rPr>
                <a:t>Gain real-time visibility into digital assets, identify and mitigate vulnerabilities rapidly, and strengthen security posture to reduce cyber risk</a:t>
              </a:r>
              <a:endParaRPr kumimoji="0" lang="en-US" sz="1150" b="1" i="0" u="none" strike="noStrike" kern="1200" cap="none" spc="0" normalizeH="0" baseline="0" noProof="0">
                <a:ln>
                  <a:noFill/>
                </a:ln>
                <a:solidFill>
                  <a:srgbClr val="375E80"/>
                </a:solidFill>
                <a:effectLst/>
                <a:uLnTx/>
                <a:uFillTx/>
                <a:latin typeface="Aptos" panose="020B0004020202020204" pitchFamily="34" charset="0"/>
                <a:ea typeface="+mn-lt"/>
                <a:cs typeface="+mn-lt"/>
                <a:sym typeface="Aptos" panose="020B0004020202020204" pitchFamily="34" charset="0"/>
              </a:endParaRPr>
            </a:p>
          </p:txBody>
        </p:sp>
        <p:pic>
          <p:nvPicPr>
            <p:cNvPr id="44" name="Picture 43">
              <a:extLst>
                <a:ext uri="{FF2B5EF4-FFF2-40B4-BE49-F238E27FC236}">
                  <a16:creationId xmlns:a16="http://schemas.microsoft.com/office/drawing/2014/main" id="{8FE40A1E-E465-D4C7-3159-C4B0CC1FB3D9}"/>
                </a:ext>
              </a:extLst>
            </p:cNvPr>
            <p:cNvPicPr>
              <a:picLocks noChangeAspect="1"/>
            </p:cNvPicPr>
            <p:nvPr/>
          </p:nvPicPr>
          <p:blipFill>
            <a:blip r:embed="rId8"/>
            <a:stretch>
              <a:fillRect/>
            </a:stretch>
          </p:blipFill>
          <p:spPr>
            <a:xfrm>
              <a:off x="768014" y="1899843"/>
              <a:ext cx="592236" cy="592236"/>
            </a:xfrm>
            <a:prstGeom prst="rect">
              <a:avLst/>
            </a:prstGeom>
          </p:spPr>
        </p:pic>
      </p:grpSp>
      <p:grpSp>
        <p:nvGrpSpPr>
          <p:cNvPr id="24" name="Group 23">
            <a:extLst>
              <a:ext uri="{FF2B5EF4-FFF2-40B4-BE49-F238E27FC236}">
                <a16:creationId xmlns:a16="http://schemas.microsoft.com/office/drawing/2014/main" id="{104EFD3A-B73B-F3E6-5B8C-FAE251BD6823}"/>
              </a:ext>
            </a:extLst>
          </p:cNvPr>
          <p:cNvGrpSpPr/>
          <p:nvPr/>
        </p:nvGrpSpPr>
        <p:grpSpPr>
          <a:xfrm>
            <a:off x="841277" y="2830758"/>
            <a:ext cx="5742403" cy="697627"/>
            <a:chOff x="841277" y="3070935"/>
            <a:chExt cx="5742403" cy="697627"/>
          </a:xfrm>
        </p:grpSpPr>
        <p:sp>
          <p:nvSpPr>
            <p:cNvPr id="6" name="TextBox 5">
              <a:extLst>
                <a:ext uri="{FF2B5EF4-FFF2-40B4-BE49-F238E27FC236}">
                  <a16:creationId xmlns:a16="http://schemas.microsoft.com/office/drawing/2014/main" id="{62FEA3BC-9B4B-2D14-430C-4866139198D4}"/>
                </a:ext>
              </a:extLst>
            </p:cNvPr>
            <p:cNvSpPr txBox="1"/>
            <p:nvPr/>
          </p:nvSpPr>
          <p:spPr>
            <a:xfrm>
              <a:off x="1394680" y="3070935"/>
              <a:ext cx="5189000" cy="697627"/>
            </a:xfrm>
            <a:prstGeom prst="rect">
              <a:avLst/>
            </a:prstGeom>
            <a:noFill/>
          </p:spPr>
          <p:txBody>
            <a:bodyPr wrap="square" anchor="ctr">
              <a:spAutoFit/>
            </a:bodyPr>
            <a:lstStyle/>
            <a:p>
              <a:pPr marL="0" marR="0" lvl="2" indent="0" defTabSz="914400" rtl="0" eaLnBrk="1" fontAlgn="auto" latinLnBrk="0" hangingPunct="1">
                <a:lnSpc>
                  <a:spcPct val="100000"/>
                </a:lnSpc>
                <a:spcBef>
                  <a:spcPts val="0"/>
                </a:spcBef>
                <a:spcAft>
                  <a:spcPts val="400"/>
                </a:spcAft>
                <a:buClrTx/>
                <a:buSzTx/>
                <a:buFontTx/>
                <a:buNone/>
                <a:tabLst/>
                <a:defRPr/>
              </a:pPr>
              <a:r>
                <a:rPr lang="en-US" sz="1300" b="1">
                  <a:solidFill>
                    <a:srgbClr val="060B25"/>
                  </a:solidFill>
                  <a:latin typeface="Aptos" panose="020B0004020202020204" pitchFamily="34" charset="0"/>
                  <a:ea typeface="+mn-lt"/>
                  <a:cs typeface="+mn-lt"/>
                  <a:sym typeface="Aptos" panose="020B0004020202020204" pitchFamily="34" charset="0"/>
                </a:rPr>
                <a:t>Risk Based Vulnerability Management (RBVM)</a:t>
              </a:r>
            </a:p>
            <a:p>
              <a:pPr marL="0" marR="0" lvl="2" indent="0" defTabSz="914400" rtl="0" eaLnBrk="1" fontAlgn="auto" latinLnBrk="0" hangingPunct="1">
                <a:lnSpc>
                  <a:spcPct val="100000"/>
                </a:lnSpc>
                <a:spcBef>
                  <a:spcPts val="0"/>
                </a:spcBef>
                <a:spcAft>
                  <a:spcPts val="400"/>
                </a:spcAft>
                <a:buClrTx/>
                <a:buSzTx/>
                <a:buFontTx/>
                <a:buNone/>
                <a:tabLst/>
                <a:defRPr/>
              </a:pPr>
              <a:r>
                <a:rPr kumimoji="0" lang="en-US" sz="1150" b="0" i="0" u="none" strike="noStrike" kern="1200" cap="none" spc="0" normalizeH="0" baseline="0" noProof="0">
                  <a:ln>
                    <a:noFill/>
                  </a:ln>
                  <a:solidFill>
                    <a:srgbClr val="595959"/>
                  </a:solidFill>
                  <a:effectLst/>
                  <a:uLnTx/>
                  <a:uFillTx/>
                  <a:latin typeface="Aptos" panose="020B0004020202020204" pitchFamily="34" charset="0"/>
                  <a:ea typeface="+mn-lt"/>
                  <a:cs typeface="+mn-lt"/>
                  <a:sym typeface="Aptos" panose="020B0004020202020204" pitchFamily="34" charset="0"/>
                </a:rPr>
                <a:t>Prioritize and contextualize vulnerabilities based on potential impact and exploitability, allocating resources to address the most critical risks first</a:t>
              </a:r>
            </a:p>
          </p:txBody>
        </p:sp>
        <p:pic>
          <p:nvPicPr>
            <p:cNvPr id="62" name="Picture 61">
              <a:extLst>
                <a:ext uri="{FF2B5EF4-FFF2-40B4-BE49-F238E27FC236}">
                  <a16:creationId xmlns:a16="http://schemas.microsoft.com/office/drawing/2014/main" id="{E9E276E4-DCE1-0C8A-E559-06D88A432BD5}"/>
                </a:ext>
              </a:extLst>
            </p:cNvPr>
            <p:cNvPicPr>
              <a:picLocks noChangeAspect="1"/>
            </p:cNvPicPr>
            <p:nvPr/>
          </p:nvPicPr>
          <p:blipFill>
            <a:blip r:embed="rId9"/>
            <a:stretch>
              <a:fillRect/>
            </a:stretch>
          </p:blipFill>
          <p:spPr>
            <a:xfrm>
              <a:off x="841277" y="3196894"/>
              <a:ext cx="445711" cy="445711"/>
            </a:xfrm>
            <a:prstGeom prst="rect">
              <a:avLst/>
            </a:prstGeom>
          </p:spPr>
        </p:pic>
      </p:grpSp>
      <p:grpSp>
        <p:nvGrpSpPr>
          <p:cNvPr id="25" name="Group 24">
            <a:extLst>
              <a:ext uri="{FF2B5EF4-FFF2-40B4-BE49-F238E27FC236}">
                <a16:creationId xmlns:a16="http://schemas.microsoft.com/office/drawing/2014/main" id="{6171FFAB-79E7-D344-9261-84ADAFD2CCE6}"/>
              </a:ext>
            </a:extLst>
          </p:cNvPr>
          <p:cNvGrpSpPr/>
          <p:nvPr/>
        </p:nvGrpSpPr>
        <p:grpSpPr>
          <a:xfrm>
            <a:off x="841277" y="3753419"/>
            <a:ext cx="5684651" cy="697627"/>
            <a:chOff x="841277" y="3945016"/>
            <a:chExt cx="5684651" cy="697627"/>
          </a:xfrm>
        </p:grpSpPr>
        <p:sp>
          <p:nvSpPr>
            <p:cNvPr id="18" name="TextBox 17">
              <a:extLst>
                <a:ext uri="{FF2B5EF4-FFF2-40B4-BE49-F238E27FC236}">
                  <a16:creationId xmlns:a16="http://schemas.microsoft.com/office/drawing/2014/main" id="{EA509B33-2829-E275-7035-C8A7737DE3B4}"/>
                </a:ext>
              </a:extLst>
            </p:cNvPr>
            <p:cNvSpPr txBox="1"/>
            <p:nvPr/>
          </p:nvSpPr>
          <p:spPr>
            <a:xfrm>
              <a:off x="1394680" y="3945016"/>
              <a:ext cx="5131248" cy="697627"/>
            </a:xfrm>
            <a:prstGeom prst="rect">
              <a:avLst/>
            </a:prstGeom>
            <a:noFill/>
          </p:spPr>
          <p:txBody>
            <a:bodyPr wrap="square" anchor="ctr">
              <a:spAutoFit/>
            </a:bodyPr>
            <a:lstStyle/>
            <a:p>
              <a:pPr marL="0" marR="0" lvl="2" indent="0" defTabSz="914400" rtl="0" eaLnBrk="1" fontAlgn="auto" latinLnBrk="0" hangingPunct="1">
                <a:lnSpc>
                  <a:spcPct val="100000"/>
                </a:lnSpc>
                <a:spcBef>
                  <a:spcPts val="0"/>
                </a:spcBef>
                <a:spcAft>
                  <a:spcPts val="400"/>
                </a:spcAft>
                <a:buClrTx/>
                <a:buSzTx/>
                <a:buFontTx/>
                <a:buNone/>
                <a:tabLst/>
                <a:defRPr/>
              </a:pPr>
              <a:r>
                <a:rPr lang="en-US" sz="1300" b="1">
                  <a:solidFill>
                    <a:srgbClr val="060B25"/>
                  </a:solidFill>
                  <a:latin typeface="Aptos" panose="020B0004020202020204" pitchFamily="34" charset="0"/>
                  <a:ea typeface="+mn-lt"/>
                  <a:cs typeface="+mn-lt"/>
                  <a:sym typeface="Aptos" panose="020B0004020202020204" pitchFamily="34" charset="0"/>
                </a:rPr>
                <a:t>Identity Security Posture Management (ISPM) </a:t>
              </a:r>
            </a:p>
            <a:p>
              <a:pPr marL="0" marR="0" lvl="2" indent="0" defTabSz="914400" rtl="0" eaLnBrk="1" fontAlgn="auto" latinLnBrk="0" hangingPunct="1">
                <a:lnSpc>
                  <a:spcPct val="100000"/>
                </a:lnSpc>
                <a:spcBef>
                  <a:spcPts val="0"/>
                </a:spcBef>
                <a:spcAft>
                  <a:spcPts val="400"/>
                </a:spcAft>
                <a:buClrTx/>
                <a:buSzTx/>
                <a:buFontTx/>
                <a:buNone/>
                <a:tabLst/>
                <a:defRPr/>
              </a:pPr>
              <a:r>
                <a:rPr kumimoji="0" lang="en-US" sz="1150" b="0" i="0" u="none" strike="noStrike" kern="1200" cap="none" spc="0" normalizeH="0" baseline="0" noProof="0">
                  <a:ln>
                    <a:noFill/>
                  </a:ln>
                  <a:solidFill>
                    <a:srgbClr val="595959"/>
                  </a:solidFill>
                  <a:effectLst/>
                  <a:uLnTx/>
                  <a:uFillTx/>
                  <a:latin typeface="Aptos" panose="020B0004020202020204" pitchFamily="34" charset="0"/>
                  <a:ea typeface="+mn-lt"/>
                  <a:cs typeface="+mn-lt"/>
                  <a:sym typeface="Aptos" panose="020B0004020202020204" pitchFamily="34" charset="0"/>
                </a:rPr>
                <a:t>Monitor access, permissions, and authentication to proactively address privileges and dormant accounts, reducing the risk of identity-based attacks</a:t>
              </a:r>
            </a:p>
          </p:txBody>
        </p:sp>
        <p:pic>
          <p:nvPicPr>
            <p:cNvPr id="64" name="Picture 63">
              <a:extLst>
                <a:ext uri="{FF2B5EF4-FFF2-40B4-BE49-F238E27FC236}">
                  <a16:creationId xmlns:a16="http://schemas.microsoft.com/office/drawing/2014/main" id="{4E23D98A-D64A-3C9C-507C-9FDB7334FD1E}"/>
                </a:ext>
              </a:extLst>
            </p:cNvPr>
            <p:cNvPicPr>
              <a:picLocks noChangeAspect="1"/>
            </p:cNvPicPr>
            <p:nvPr/>
          </p:nvPicPr>
          <p:blipFill>
            <a:blip r:embed="rId10"/>
            <a:stretch>
              <a:fillRect/>
            </a:stretch>
          </p:blipFill>
          <p:spPr>
            <a:xfrm>
              <a:off x="841277" y="4070974"/>
              <a:ext cx="445711" cy="445711"/>
            </a:xfrm>
            <a:prstGeom prst="rect">
              <a:avLst/>
            </a:prstGeom>
          </p:spPr>
        </p:pic>
      </p:grpSp>
      <p:grpSp>
        <p:nvGrpSpPr>
          <p:cNvPr id="37" name="Group 36">
            <a:extLst>
              <a:ext uri="{FF2B5EF4-FFF2-40B4-BE49-F238E27FC236}">
                <a16:creationId xmlns:a16="http://schemas.microsoft.com/office/drawing/2014/main" id="{E5ACFA80-919A-62BE-82D0-51081482BB1B}"/>
              </a:ext>
            </a:extLst>
          </p:cNvPr>
          <p:cNvGrpSpPr/>
          <p:nvPr/>
        </p:nvGrpSpPr>
        <p:grpSpPr>
          <a:xfrm>
            <a:off x="818991" y="5598741"/>
            <a:ext cx="6438457" cy="697627"/>
            <a:chOff x="818991" y="5656493"/>
            <a:chExt cx="6438457" cy="697627"/>
          </a:xfrm>
        </p:grpSpPr>
        <p:sp>
          <p:nvSpPr>
            <p:cNvPr id="15" name="TextBox 14">
              <a:extLst>
                <a:ext uri="{FF2B5EF4-FFF2-40B4-BE49-F238E27FC236}">
                  <a16:creationId xmlns:a16="http://schemas.microsoft.com/office/drawing/2014/main" id="{1988C28B-B382-8E96-8BD9-94F421145B4B}"/>
                </a:ext>
              </a:extLst>
            </p:cNvPr>
            <p:cNvSpPr txBox="1"/>
            <p:nvPr/>
          </p:nvSpPr>
          <p:spPr>
            <a:xfrm>
              <a:off x="1394680" y="5656493"/>
              <a:ext cx="5862768" cy="697627"/>
            </a:xfrm>
            <a:prstGeom prst="rect">
              <a:avLst/>
            </a:prstGeom>
            <a:noFill/>
          </p:spPr>
          <p:txBody>
            <a:bodyPr wrap="square" anchor="ctr">
              <a:spAutoFit/>
            </a:bodyPr>
            <a:lstStyle/>
            <a:p>
              <a:pPr marL="0" marR="0" lvl="2" indent="0" defTabSz="914400" rtl="0" eaLnBrk="1" fontAlgn="auto" latinLnBrk="0" hangingPunct="1">
                <a:lnSpc>
                  <a:spcPct val="100000"/>
                </a:lnSpc>
                <a:spcBef>
                  <a:spcPts val="0"/>
                </a:spcBef>
                <a:spcAft>
                  <a:spcPts val="400"/>
                </a:spcAft>
                <a:buClrTx/>
                <a:buSzTx/>
                <a:buFontTx/>
                <a:buNone/>
                <a:tabLst/>
                <a:defRPr/>
              </a:pPr>
              <a:r>
                <a:rPr lang="en-US" sz="1300" b="1">
                  <a:solidFill>
                    <a:srgbClr val="060B25"/>
                  </a:solidFill>
                  <a:latin typeface="Aptos" panose="020B0004020202020204" pitchFamily="34" charset="0"/>
                  <a:ea typeface="+mn-lt"/>
                  <a:cs typeface="+mn-lt"/>
                  <a:sym typeface="Aptos" panose="020B0004020202020204" pitchFamily="34" charset="0"/>
                </a:rPr>
                <a:t>Cloud Security Posture Management (CPSM)</a:t>
              </a:r>
            </a:p>
            <a:p>
              <a:pPr marL="0" marR="0" lvl="2" indent="0" defTabSz="914400" rtl="0" eaLnBrk="1" fontAlgn="auto" latinLnBrk="0" hangingPunct="1">
                <a:lnSpc>
                  <a:spcPct val="100000"/>
                </a:lnSpc>
                <a:spcBef>
                  <a:spcPts val="0"/>
                </a:spcBef>
                <a:spcAft>
                  <a:spcPts val="400"/>
                </a:spcAft>
                <a:buClrTx/>
                <a:buSzTx/>
                <a:buFontTx/>
                <a:buNone/>
                <a:tabLst/>
                <a:defRPr/>
              </a:pPr>
              <a:r>
                <a:rPr lang="en-US" sz="1150">
                  <a:solidFill>
                    <a:srgbClr val="595959"/>
                  </a:solidFill>
                  <a:latin typeface="Aptos" panose="020B0004020202020204" pitchFamily="34" charset="0"/>
                  <a:ea typeface="+mn-lt"/>
                  <a:cs typeface="+mn-lt"/>
                  <a:sym typeface="Aptos" panose="020B0004020202020204" pitchFamily="34" charset="0"/>
                </a:rPr>
                <a:t>Gain control over multi-cloud environments, detecting misconfigurations, violations, and security gaps to remediate risks and enforce policies</a:t>
              </a:r>
              <a:endParaRPr kumimoji="0" lang="en-US" sz="1150" b="0" i="0" u="none" strike="noStrike" kern="1200" cap="none" spc="0" normalizeH="0" baseline="0" noProof="0">
                <a:ln>
                  <a:noFill/>
                </a:ln>
                <a:solidFill>
                  <a:srgbClr val="595959"/>
                </a:solidFill>
                <a:effectLst/>
                <a:uLnTx/>
                <a:uFillTx/>
                <a:latin typeface="Aptos" panose="020B0004020202020204" pitchFamily="34" charset="0"/>
                <a:ea typeface="+mn-lt"/>
                <a:cs typeface="+mn-lt"/>
                <a:sym typeface="Aptos" panose="020B0004020202020204" pitchFamily="34" charset="0"/>
              </a:endParaRPr>
            </a:p>
          </p:txBody>
        </p:sp>
        <p:pic>
          <p:nvPicPr>
            <p:cNvPr id="66" name="Picture 65">
              <a:extLst>
                <a:ext uri="{FF2B5EF4-FFF2-40B4-BE49-F238E27FC236}">
                  <a16:creationId xmlns:a16="http://schemas.microsoft.com/office/drawing/2014/main" id="{71EC3F3B-CF5A-4A85-EAF1-29BA6AA9A31C}"/>
                </a:ext>
              </a:extLst>
            </p:cNvPr>
            <p:cNvPicPr>
              <a:picLocks noChangeAspect="1"/>
            </p:cNvPicPr>
            <p:nvPr/>
          </p:nvPicPr>
          <p:blipFill>
            <a:blip r:embed="rId11"/>
            <a:stretch>
              <a:fillRect/>
            </a:stretch>
          </p:blipFill>
          <p:spPr>
            <a:xfrm>
              <a:off x="818991" y="5760166"/>
              <a:ext cx="490282" cy="490282"/>
            </a:xfrm>
            <a:prstGeom prst="rect">
              <a:avLst/>
            </a:prstGeom>
          </p:spPr>
        </p:pic>
      </p:grpSp>
      <p:grpSp>
        <p:nvGrpSpPr>
          <p:cNvPr id="26" name="Group 25">
            <a:extLst>
              <a:ext uri="{FF2B5EF4-FFF2-40B4-BE49-F238E27FC236}">
                <a16:creationId xmlns:a16="http://schemas.microsoft.com/office/drawing/2014/main" id="{ED069000-FBC1-297E-5FD1-CABC98084CFA}"/>
              </a:ext>
            </a:extLst>
          </p:cNvPr>
          <p:cNvGrpSpPr/>
          <p:nvPr/>
        </p:nvGrpSpPr>
        <p:grpSpPr>
          <a:xfrm>
            <a:off x="843719" y="4676080"/>
            <a:ext cx="6096096" cy="697627"/>
            <a:chOff x="843719" y="4817334"/>
            <a:chExt cx="6096096" cy="697627"/>
          </a:xfrm>
        </p:grpSpPr>
        <p:sp>
          <p:nvSpPr>
            <p:cNvPr id="9" name="TextBox 8">
              <a:extLst>
                <a:ext uri="{FF2B5EF4-FFF2-40B4-BE49-F238E27FC236}">
                  <a16:creationId xmlns:a16="http://schemas.microsoft.com/office/drawing/2014/main" id="{B8F39C4C-6D0A-3D5F-3B60-53806D6C327D}"/>
                </a:ext>
              </a:extLst>
            </p:cNvPr>
            <p:cNvSpPr txBox="1"/>
            <p:nvPr/>
          </p:nvSpPr>
          <p:spPr>
            <a:xfrm>
              <a:off x="1394680" y="4817334"/>
              <a:ext cx="5545135" cy="697627"/>
            </a:xfrm>
            <a:prstGeom prst="rect">
              <a:avLst/>
            </a:prstGeom>
            <a:noFill/>
          </p:spPr>
          <p:txBody>
            <a:bodyPr wrap="square" anchor="ctr">
              <a:spAutoFit/>
            </a:bodyPr>
            <a:lstStyle/>
            <a:p>
              <a:pPr marL="0" marR="0" lvl="2" indent="0" defTabSz="914400" rtl="0" eaLnBrk="1" fontAlgn="auto" latinLnBrk="0" hangingPunct="1">
                <a:lnSpc>
                  <a:spcPct val="100000"/>
                </a:lnSpc>
                <a:spcBef>
                  <a:spcPts val="0"/>
                </a:spcBef>
                <a:spcAft>
                  <a:spcPts val="400"/>
                </a:spcAft>
                <a:buClrTx/>
                <a:buSzTx/>
                <a:buFontTx/>
                <a:buNone/>
                <a:tabLst/>
                <a:defRPr/>
              </a:pPr>
              <a:r>
                <a:rPr lang="en-US" sz="1300" b="1">
                  <a:solidFill>
                    <a:srgbClr val="060B25"/>
                  </a:solidFill>
                  <a:latin typeface="Aptos" panose="020B0004020202020204" pitchFamily="34" charset="0"/>
                  <a:ea typeface="+mn-lt"/>
                  <a:cs typeface="+mn-lt"/>
                  <a:sym typeface="Aptos" panose="020B0004020202020204" pitchFamily="34" charset="0"/>
                </a:rPr>
                <a:t>Continuous Controls Monitoring (CCM)</a:t>
              </a:r>
            </a:p>
            <a:p>
              <a:pPr marL="0" marR="0" lvl="2" indent="0" defTabSz="914400" rtl="0" eaLnBrk="1" fontAlgn="auto" latinLnBrk="0" hangingPunct="1">
                <a:lnSpc>
                  <a:spcPct val="100000"/>
                </a:lnSpc>
                <a:spcBef>
                  <a:spcPts val="0"/>
                </a:spcBef>
                <a:spcAft>
                  <a:spcPts val="400"/>
                </a:spcAft>
                <a:buClrTx/>
                <a:buSzTx/>
                <a:buFontTx/>
                <a:buNone/>
                <a:tabLst/>
                <a:defRPr/>
              </a:pPr>
              <a:r>
                <a:rPr kumimoji="0" lang="en-US" sz="1150" b="0" i="0" u="none" strike="noStrike" kern="1200" cap="none" spc="0" normalizeH="0" baseline="0" noProof="0">
                  <a:ln>
                    <a:noFill/>
                  </a:ln>
                  <a:solidFill>
                    <a:srgbClr val="595959"/>
                  </a:solidFill>
                  <a:effectLst/>
                  <a:uLnTx/>
                  <a:uFillTx/>
                  <a:latin typeface="Aptos" panose="020B0004020202020204" pitchFamily="34" charset="0"/>
                  <a:ea typeface="+mn-lt"/>
                  <a:cs typeface="+mn-lt"/>
                  <a:sym typeface="Aptos" panose="020B0004020202020204" pitchFamily="34" charset="0"/>
                </a:rPr>
                <a:t>Measure control performance across infrastructure, identify gaps and risks, and make data-driven adjustments for optimal protection</a:t>
              </a:r>
            </a:p>
          </p:txBody>
        </p:sp>
        <p:pic>
          <p:nvPicPr>
            <p:cNvPr id="68" name="Picture 67">
              <a:extLst>
                <a:ext uri="{FF2B5EF4-FFF2-40B4-BE49-F238E27FC236}">
                  <a16:creationId xmlns:a16="http://schemas.microsoft.com/office/drawing/2014/main" id="{368B1AF2-109B-81B2-81AF-D3426D6D66BB}"/>
                </a:ext>
              </a:extLst>
            </p:cNvPr>
            <p:cNvPicPr>
              <a:picLocks noChangeAspect="1"/>
            </p:cNvPicPr>
            <p:nvPr/>
          </p:nvPicPr>
          <p:blipFill>
            <a:blip r:embed="rId12"/>
            <a:stretch>
              <a:fillRect/>
            </a:stretch>
          </p:blipFill>
          <p:spPr>
            <a:xfrm>
              <a:off x="843719" y="4945735"/>
              <a:ext cx="440826" cy="440826"/>
            </a:xfrm>
            <a:prstGeom prst="rect">
              <a:avLst/>
            </a:prstGeom>
          </p:spPr>
        </p:pic>
      </p:grpSp>
    </p:spTree>
    <p:extLst>
      <p:ext uri="{BB962C8B-B14F-4D97-AF65-F5344CB8AC3E}">
        <p14:creationId xmlns:p14="http://schemas.microsoft.com/office/powerpoint/2010/main" val="614289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 name="Title"/>
          <p:cNvSpPr txBox="1"/>
          <p:nvPr/>
        </p:nvSpPr>
        <p:spPr>
          <a:xfrm>
            <a:off x="673100" y="444500"/>
            <a:ext cx="11049000" cy="762000"/>
          </a:xfrm>
          <a:prstGeom prst="rect">
            <a:avLst/>
          </a:prstGeom>
          <a:noFill/>
          <a:ln>
            <a:noFill/>
          </a:ln>
        </p:spPr>
        <p:txBody>
          <a:bodyPr wrap="square" lIns="0" tIns="0" rIns="0" bIns="0" anchor="b"/>
          <a:lstStyle/>
          <a:p>
            <a:pPr>
              <a:buNone/>
            </a:pPr>
            <a:r>
              <a:rPr lang="en-US" sz="1400" spc="-100" dirty="0">
                <a:solidFill>
                  <a:srgbClr val="595959"/>
                </a:solidFill>
                <a:latin typeface="Aptos"/>
              </a:rPr>
              <a:t>Executive Summary</a:t>
            </a:r>
          </a:p>
          <a:p>
            <a:pPr>
              <a:spcBef>
                <a:spcPts val="0"/>
              </a:spcBef>
              <a:buNone/>
            </a:pPr>
            <a:r>
              <a:rPr lang="en-US" sz="3000" b="1" spc="-100" dirty="0">
                <a:solidFill>
                  <a:srgbClr val="060B25"/>
                </a:solidFill>
                <a:latin typeface="Aptos"/>
              </a:rPr>
              <a:t>The Proposal at a Glance</a:t>
            </a:r>
          </a:p>
        </p:txBody>
      </p:sp>
      <p:sp>
        <p:nvSpPr>
          <p:cNvPr id="51" name="Divider"/>
          <p:cNvSpPr/>
          <p:nvPr/>
        </p:nvSpPr>
        <p:spPr>
          <a:xfrm>
            <a:off x="673100" y="1270000"/>
            <a:ext cx="11049000" cy="12700"/>
          </a:xfrm>
          <a:prstGeom prst="rect">
            <a:avLst/>
          </a:prstGeom>
          <a:solidFill>
            <a:srgbClr val="6360D8"/>
          </a:solidFill>
          <a:ln>
            <a:noFill/>
          </a:ln>
        </p:spPr>
        <p:txBody>
          <a:bodyPr/>
          <a:lstStyle/>
          <a:p>
            <a:endParaRPr lang="en-US"/>
          </a:p>
        </p:txBody>
      </p:sp>
      <p:sp>
        <p:nvSpPr>
          <p:cNvPr id="60" name="Card0"/>
          <p:cNvSpPr/>
          <p:nvPr/>
        </p:nvSpPr>
        <p:spPr>
          <a:xfrm>
            <a:off x="673100" y="1524000"/>
            <a:ext cx="3492500" cy="2540000"/>
          </a:xfrm>
          <a:prstGeom prst="roundRect">
            <a:avLst>
              <a:gd name="adj" fmla="val 5000"/>
            </a:avLst>
          </a:prstGeom>
          <a:solidFill>
            <a:srgbClr val="F7F6FE"/>
          </a:solidFill>
          <a:ln w="6350">
            <a:solidFill>
              <a:srgbClr val="E0DDF8"/>
            </a:solidFill>
          </a:ln>
        </p:spPr>
        <p:txBody>
          <a:bodyPr/>
          <a:lstStyle/>
          <a:p>
            <a:endParaRPr lang="en-US"/>
          </a:p>
        </p:txBody>
      </p:sp>
      <p:sp>
        <p:nvSpPr>
          <p:cNvPr id="70" name="Accent0"/>
          <p:cNvSpPr/>
          <p:nvPr/>
        </p:nvSpPr>
        <p:spPr>
          <a:xfrm>
            <a:off x="774700" y="1625600"/>
            <a:ext cx="508000" cy="50800"/>
          </a:xfrm>
          <a:prstGeom prst="roundRect">
            <a:avLst>
              <a:gd name="adj" fmla="val 50000"/>
            </a:avLst>
          </a:prstGeom>
          <a:solidFill>
            <a:srgbClr val="6360D8"/>
          </a:solidFill>
          <a:ln>
            <a:noFill/>
          </a:ln>
        </p:spPr>
        <p:txBody>
          <a:bodyPr/>
          <a:lstStyle/>
          <a:p>
            <a:endParaRPr lang="en-US"/>
          </a:p>
        </p:txBody>
      </p:sp>
      <p:sp>
        <p:nvSpPr>
          <p:cNvPr id="80" name="CardText0"/>
          <p:cNvSpPr txBox="1"/>
          <p:nvPr/>
        </p:nvSpPr>
        <p:spPr>
          <a:xfrm>
            <a:off x="863600" y="1778000"/>
            <a:ext cx="3111500" cy="2159000"/>
          </a:xfrm>
          <a:prstGeom prst="rect">
            <a:avLst/>
          </a:prstGeom>
          <a:noFill/>
          <a:ln>
            <a:noFill/>
          </a:ln>
        </p:spPr>
        <p:txBody>
          <a:bodyPr wrap="square" lIns="0" tIns="0" rIns="0" bIns="0" anchor="t"/>
          <a:lstStyle/>
          <a:p>
            <a:pPr>
              <a:spcAft>
                <a:spcPts val="600"/>
              </a:spcAft>
              <a:buNone/>
            </a:pPr>
            <a:r>
              <a:rPr lang="en-US" sz="1800" b="1" dirty="0">
                <a:solidFill>
                  <a:srgbClr val="6360D8"/>
                </a:solidFill>
                <a:latin typeface="Aptos"/>
              </a:rPr>
              <a:t>The Challenge</a:t>
            </a:r>
          </a:p>
          <a:p>
            <a:pPr>
              <a:lnSpc>
                <a:spcPct val="120000"/>
              </a:lnSpc>
              <a:buNone/>
            </a:pPr>
            <a:r>
              <a:rPr lang="en-US" sz="1400" dirty="0">
                <a:solidFill>
                  <a:srgbClr val="3B3B3B"/>
                </a:solidFill>
                <a:latin typeface="Aptos"/>
              </a:rPr>
              <a:t>Fragmented tooling, poor data quality, and legacy approaches leave security teams unable to monitor, prioritize, or act effectively across the enterprise.</a:t>
            </a:r>
          </a:p>
        </p:txBody>
      </p:sp>
      <p:sp>
        <p:nvSpPr>
          <p:cNvPr id="61" name="Card1"/>
          <p:cNvSpPr/>
          <p:nvPr/>
        </p:nvSpPr>
        <p:spPr>
          <a:xfrm>
            <a:off x="4394200" y="1524000"/>
            <a:ext cx="3492500" cy="2540000"/>
          </a:xfrm>
          <a:prstGeom prst="roundRect">
            <a:avLst>
              <a:gd name="adj" fmla="val 5000"/>
            </a:avLst>
          </a:prstGeom>
          <a:solidFill>
            <a:srgbClr val="F7F6FE"/>
          </a:solidFill>
          <a:ln w="6350">
            <a:solidFill>
              <a:srgbClr val="E0DDF8"/>
            </a:solidFill>
          </a:ln>
        </p:spPr>
        <p:txBody>
          <a:bodyPr/>
          <a:lstStyle/>
          <a:p>
            <a:endParaRPr lang="en-US"/>
          </a:p>
        </p:txBody>
      </p:sp>
      <p:sp>
        <p:nvSpPr>
          <p:cNvPr id="71" name="Accent1"/>
          <p:cNvSpPr/>
          <p:nvPr/>
        </p:nvSpPr>
        <p:spPr>
          <a:xfrm>
            <a:off x="4495800" y="1625600"/>
            <a:ext cx="508000" cy="50800"/>
          </a:xfrm>
          <a:prstGeom prst="roundRect">
            <a:avLst>
              <a:gd name="adj" fmla="val 50000"/>
            </a:avLst>
          </a:prstGeom>
          <a:solidFill>
            <a:srgbClr val="2E8B57"/>
          </a:solidFill>
          <a:ln>
            <a:noFill/>
          </a:ln>
        </p:spPr>
        <p:txBody>
          <a:bodyPr/>
          <a:lstStyle/>
          <a:p>
            <a:endParaRPr lang="en-US"/>
          </a:p>
        </p:txBody>
      </p:sp>
      <p:sp>
        <p:nvSpPr>
          <p:cNvPr id="81" name="CardText1"/>
          <p:cNvSpPr txBox="1"/>
          <p:nvPr/>
        </p:nvSpPr>
        <p:spPr>
          <a:xfrm>
            <a:off x="4584700" y="1778000"/>
            <a:ext cx="3111500" cy="2159000"/>
          </a:xfrm>
          <a:prstGeom prst="rect">
            <a:avLst/>
          </a:prstGeom>
          <a:noFill/>
          <a:ln>
            <a:noFill/>
          </a:ln>
        </p:spPr>
        <p:txBody>
          <a:bodyPr wrap="square" lIns="0" tIns="0" rIns="0" bIns="0" anchor="t"/>
          <a:lstStyle/>
          <a:p>
            <a:pPr>
              <a:spcAft>
                <a:spcPts val="600"/>
              </a:spcAft>
              <a:buNone/>
            </a:pPr>
            <a:r>
              <a:rPr lang="en-US" sz="1800" b="1" dirty="0">
                <a:solidFill>
                  <a:srgbClr val="2E8B57"/>
                </a:solidFill>
                <a:latin typeface="Aptos"/>
              </a:rPr>
              <a:t>Our Approach</a:t>
            </a:r>
          </a:p>
          <a:p>
            <a:pPr>
              <a:lnSpc>
                <a:spcPct val="120000"/>
              </a:lnSpc>
              <a:buNone/>
            </a:pPr>
            <a:r>
              <a:rPr lang="en-US" sz="1400" dirty="0">
                <a:solidFill>
                  <a:srgbClr val="3B3B3B"/>
                </a:solidFill>
                <a:latin typeface="Aptos"/>
              </a:rPr>
              <a:t>Prevalent AI unifies signals through a purpose-built data fabric with entity resolution and a knowledge graph, enabling AI-powered exposure management at scale.</a:t>
            </a:r>
          </a:p>
        </p:txBody>
      </p:sp>
      <p:sp>
        <p:nvSpPr>
          <p:cNvPr id="62" name="Card2"/>
          <p:cNvSpPr/>
          <p:nvPr/>
        </p:nvSpPr>
        <p:spPr>
          <a:xfrm>
            <a:off x="8115300" y="1524000"/>
            <a:ext cx="3492500" cy="2540000"/>
          </a:xfrm>
          <a:prstGeom prst="roundRect">
            <a:avLst>
              <a:gd name="adj" fmla="val 5000"/>
            </a:avLst>
          </a:prstGeom>
          <a:solidFill>
            <a:srgbClr val="F7F6FE"/>
          </a:solidFill>
          <a:ln w="6350">
            <a:solidFill>
              <a:srgbClr val="E0DDF8"/>
            </a:solidFill>
          </a:ln>
        </p:spPr>
        <p:txBody>
          <a:bodyPr/>
          <a:lstStyle/>
          <a:p>
            <a:endParaRPr lang="en-US"/>
          </a:p>
        </p:txBody>
      </p:sp>
      <p:sp>
        <p:nvSpPr>
          <p:cNvPr id="72" name="Accent2"/>
          <p:cNvSpPr/>
          <p:nvPr/>
        </p:nvSpPr>
        <p:spPr>
          <a:xfrm>
            <a:off x="8216900" y="1625600"/>
            <a:ext cx="508000" cy="50800"/>
          </a:xfrm>
          <a:prstGeom prst="roundRect">
            <a:avLst>
              <a:gd name="adj" fmla="val 50000"/>
            </a:avLst>
          </a:prstGeom>
          <a:solidFill>
            <a:srgbClr val="3A7CA5"/>
          </a:solidFill>
          <a:ln>
            <a:noFill/>
          </a:ln>
        </p:spPr>
        <p:txBody>
          <a:bodyPr/>
          <a:lstStyle/>
          <a:p>
            <a:endParaRPr lang="en-US"/>
          </a:p>
        </p:txBody>
      </p:sp>
      <p:sp>
        <p:nvSpPr>
          <p:cNvPr id="82" name="CardText2"/>
          <p:cNvSpPr txBox="1"/>
          <p:nvPr/>
        </p:nvSpPr>
        <p:spPr>
          <a:xfrm>
            <a:off x="8305800" y="1778000"/>
            <a:ext cx="3111500" cy="2159000"/>
          </a:xfrm>
          <a:prstGeom prst="rect">
            <a:avLst/>
          </a:prstGeom>
          <a:noFill/>
          <a:ln>
            <a:noFill/>
          </a:ln>
        </p:spPr>
        <p:txBody>
          <a:bodyPr wrap="square" lIns="0" tIns="0" rIns="0" bIns="0" anchor="t"/>
          <a:lstStyle/>
          <a:p>
            <a:pPr>
              <a:spcAft>
                <a:spcPts val="600"/>
              </a:spcAft>
              <a:buNone/>
            </a:pPr>
            <a:r>
              <a:rPr lang="en-US" sz="1800" b="1" dirty="0">
                <a:solidFill>
                  <a:srgbClr val="3A7CA5"/>
                </a:solidFill>
                <a:latin typeface="Aptos"/>
              </a:rPr>
              <a:t>Proposed Engagement</a:t>
            </a:r>
          </a:p>
          <a:p>
            <a:pPr>
              <a:lnSpc>
                <a:spcPct val="120000"/>
              </a:lnSpc>
              <a:buNone/>
            </a:pPr>
            <a:r>
              <a:rPr lang="en-US" sz="1400" dirty="0">
                <a:solidFill>
                  <a:srgbClr val="3B3B3B"/>
                </a:solidFill>
                <a:latin typeface="Aptos"/>
              </a:rPr>
              <a:t>A focused pilot integrating core data sources to demonstrate asset visibility, vulnerability prioritisation, and continuous controls monitoring within 90 days.</a:t>
            </a:r>
          </a:p>
        </p:txBody>
      </p:sp>
      <p:sp>
        <p:nvSpPr>
          <p:cNvPr id="90" name="OutTitle"/>
          <p:cNvSpPr txBox="1"/>
          <p:nvPr/>
        </p:nvSpPr>
        <p:spPr>
          <a:xfrm>
            <a:off x="673100" y="4318000"/>
            <a:ext cx="11049000" cy="381000"/>
          </a:xfrm>
          <a:prstGeom prst="rect">
            <a:avLst/>
          </a:prstGeom>
          <a:noFill/>
          <a:ln>
            <a:noFill/>
          </a:ln>
        </p:spPr>
        <p:txBody>
          <a:bodyPr wrap="square" lIns="0" tIns="0" rIns="0" bIns="0" anchor="b"/>
          <a:lstStyle/>
          <a:p>
            <a:pPr>
              <a:buNone/>
            </a:pPr>
            <a:r>
              <a:rPr lang="en-US" sz="1600" b="1" dirty="0">
                <a:solidFill>
                  <a:srgbClr val="060B25"/>
                </a:solidFill>
                <a:latin typeface="Aptos"/>
              </a:rPr>
              <a:t>Key Pilot Outcomes</a:t>
            </a:r>
          </a:p>
        </p:txBody>
      </p:sp>
      <p:sp>
        <p:nvSpPr>
          <p:cNvPr id="91" name="OutBody"/>
          <p:cNvSpPr txBox="1"/>
          <p:nvPr/>
        </p:nvSpPr>
        <p:spPr>
          <a:xfrm>
            <a:off x="673100" y="4762500"/>
            <a:ext cx="11049000" cy="1778000"/>
          </a:xfrm>
          <a:prstGeom prst="rect">
            <a:avLst/>
          </a:prstGeom>
          <a:noFill/>
          <a:ln>
            <a:noFill/>
          </a:ln>
        </p:spPr>
        <p:txBody>
          <a:bodyPr wrap="square" lIns="0" tIns="0" rIns="0" bIns="0" anchor="t"/>
          <a:lstStyle/>
          <a:p>
            <a:pPr marL="228600" indent="-228600">
              <a:lnSpc>
                <a:spcPts val="2000"/>
              </a:lnSpc>
              <a:spcBef>
                <a:spcPts val="100"/>
              </a:spcBef>
              <a:buFont typeface="Wingdings" panose="05000000000000000000"/>
              <a:buChar char="ü"/>
            </a:pPr>
            <a:r>
              <a:rPr lang="en-US" sz="1400" dirty="0">
                <a:solidFill>
                  <a:srgbClr val="3B3B3B"/>
                </a:solidFill>
                <a:latin typeface="Aptos"/>
              </a:rPr>
              <a:t>Unified asset inventory across all data sources with entity resolution</a:t>
            </a:r>
          </a:p>
          <a:p>
            <a:pPr marL="228600" indent="-228600">
              <a:lnSpc>
                <a:spcPts val="2000"/>
              </a:lnSpc>
              <a:spcBef>
                <a:spcPts val="100"/>
              </a:spcBef>
              <a:buFont typeface="Wingdings" panose="05000000000000000000"/>
              <a:buChar char="ü"/>
            </a:pPr>
            <a:r>
              <a:rPr lang="en-US" sz="1400" dirty="0">
                <a:solidFill>
                  <a:srgbClr val="3B3B3B"/>
                </a:solidFill>
                <a:latin typeface="Aptos"/>
              </a:rPr>
              <a:t>Risk-based vulnerability prioritisation beyond CVSS scoring</a:t>
            </a:r>
          </a:p>
          <a:p>
            <a:pPr marL="228600" indent="-228600">
              <a:lnSpc>
                <a:spcPts val="2000"/>
              </a:lnSpc>
              <a:spcBef>
                <a:spcPts val="100"/>
              </a:spcBef>
              <a:buFont typeface="Wingdings" panose="05000000000000000000"/>
              <a:buChar char="ü"/>
            </a:pPr>
            <a:r>
              <a:rPr lang="en-US" sz="1400" dirty="0">
                <a:solidFill>
                  <a:srgbClr val="3B3B3B"/>
                </a:solidFill>
                <a:latin typeface="Aptos"/>
              </a:rPr>
              <a:t>Continuous controls monitoring with gap and drift detection</a:t>
            </a:r>
          </a:p>
          <a:p>
            <a:pPr marL="228600" indent="-228600">
              <a:lnSpc>
                <a:spcPts val="2000"/>
              </a:lnSpc>
              <a:spcBef>
                <a:spcPts val="100"/>
              </a:spcBef>
              <a:buFont typeface="Wingdings" panose="05000000000000000000"/>
              <a:buChar char="ü"/>
            </a:pPr>
            <a:r>
              <a:rPr lang="en-US" sz="1400" dirty="0">
                <a:solidFill>
                  <a:srgbClr val="3B3B3B"/>
                </a:solidFill>
                <a:latin typeface="Aptos"/>
              </a:rPr>
              <a:t>Executive dashboards showing exposure reduction over time</a:t>
            </a:r>
          </a:p>
        </p:txBody>
      </p:sp>
    </p:spTree>
    <p:extLst>
      <p:ext uri="{BB962C8B-B14F-4D97-AF65-F5344CB8AC3E}">
        <p14:creationId xmlns:p14="http://schemas.microsoft.com/office/powerpoint/2010/main" val="17096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8">
            <a:extLst>
              <a:ext uri="{FF2B5EF4-FFF2-40B4-BE49-F238E27FC236}">
                <a16:creationId xmlns:a16="http://schemas.microsoft.com/office/drawing/2014/main" id="{8BF4B3C2-4F40-F211-4385-9E36B206208E}"/>
              </a:ext>
            </a:extLst>
          </p:cNvPr>
          <p:cNvSpPr txBox="1"/>
          <p:nvPr/>
        </p:nvSpPr>
        <p:spPr>
          <a:xfrm>
            <a:off x="647998" y="525983"/>
            <a:ext cx="11074609" cy="461665"/>
          </a:xfrm>
          <a:prstGeom prst="rect">
            <a:avLst/>
          </a:prstGeom>
        </p:spPr>
        <p:txBody>
          <a:bodyPr vert="horz" wrap="square" lIns="0" tIns="0" rIns="0" bIns="0" rtlCol="0">
            <a:spAutoFit/>
          </a:bodyPr>
          <a:lstStyle/>
          <a:p>
            <a:pPr marL="20319" marR="0" lvl="0" indent="0" algn="l" defTabSz="1219170" eaLnBrk="1" fontAlgn="auto" latinLnBrk="0" hangingPunct="1">
              <a:spcBef>
                <a:spcPts val="0"/>
              </a:spcBef>
              <a:spcAft>
                <a:spcPts val="0"/>
              </a:spcAft>
              <a:buClrTx/>
              <a:buSzTx/>
              <a:buFontTx/>
              <a:buNone/>
              <a:tabLst/>
              <a:defRPr/>
            </a:pPr>
            <a:r>
              <a:rPr kumimoji="0" lang="en-US" sz="3000" b="1" i="0" u="none" strike="noStrike" kern="1200" cap="none" spc="-100" normalizeH="0" noProof="0">
                <a:ln>
                  <a:noFill/>
                </a:ln>
                <a:solidFill>
                  <a:srgbClr val="060B25"/>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Pilot to Production</a:t>
            </a:r>
          </a:p>
        </p:txBody>
      </p:sp>
      <p:grpSp>
        <p:nvGrpSpPr>
          <p:cNvPr id="3" name="Group 2">
            <a:extLst>
              <a:ext uri="{FF2B5EF4-FFF2-40B4-BE49-F238E27FC236}">
                <a16:creationId xmlns:a16="http://schemas.microsoft.com/office/drawing/2014/main" id="{F32C6760-F50C-E593-920C-32D9CC2B0EC9}"/>
              </a:ext>
            </a:extLst>
          </p:cNvPr>
          <p:cNvGrpSpPr/>
          <p:nvPr/>
        </p:nvGrpSpPr>
        <p:grpSpPr>
          <a:xfrm>
            <a:off x="627526" y="1165272"/>
            <a:ext cx="10839968" cy="3294675"/>
            <a:chOff x="577733" y="1729606"/>
            <a:chExt cx="10839968" cy="3294675"/>
          </a:xfrm>
        </p:grpSpPr>
        <p:sp>
          <p:nvSpPr>
            <p:cNvPr id="4" name="Rectangle: Rounded Corners 3">
              <a:extLst>
                <a:ext uri="{FF2B5EF4-FFF2-40B4-BE49-F238E27FC236}">
                  <a16:creationId xmlns:a16="http://schemas.microsoft.com/office/drawing/2014/main" id="{39BD74D2-593F-C77C-A1CE-7C6196F9FB63}"/>
                </a:ext>
              </a:extLst>
            </p:cNvPr>
            <p:cNvSpPr/>
            <p:nvPr/>
          </p:nvSpPr>
          <p:spPr>
            <a:xfrm>
              <a:off x="3378638" y="1729606"/>
              <a:ext cx="2534232" cy="3284686"/>
            </a:xfrm>
            <a:prstGeom prst="roundRect">
              <a:avLst/>
            </a:prstGeom>
            <a:solidFill>
              <a:srgbClr val="060B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rgbClr val="FFFFFF"/>
                </a:solidFill>
                <a:latin typeface="Aptos" panose="020B0004020202020204" pitchFamily="34" charset="0"/>
              </a:endParaRPr>
            </a:p>
          </p:txBody>
        </p:sp>
        <p:sp>
          <p:nvSpPr>
            <p:cNvPr id="5" name="Rectangle: Rounded Corners 4">
              <a:extLst>
                <a:ext uri="{FF2B5EF4-FFF2-40B4-BE49-F238E27FC236}">
                  <a16:creationId xmlns:a16="http://schemas.microsoft.com/office/drawing/2014/main" id="{5171713B-A552-38D3-0C1B-33A077FBDB22}"/>
                </a:ext>
              </a:extLst>
            </p:cNvPr>
            <p:cNvSpPr/>
            <p:nvPr/>
          </p:nvSpPr>
          <p:spPr>
            <a:xfrm>
              <a:off x="3378638" y="1878584"/>
              <a:ext cx="2534232" cy="3145696"/>
            </a:xfrm>
            <a:prstGeom prst="roundRect">
              <a:avLst/>
            </a:prstGeom>
            <a:solidFill>
              <a:srgbClr val="D7D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rgbClr val="FFFFFF"/>
                </a:solidFill>
                <a:latin typeface="Aptos" panose="020B0004020202020204" pitchFamily="34" charset="0"/>
              </a:endParaRPr>
            </a:p>
          </p:txBody>
        </p:sp>
        <p:cxnSp>
          <p:nvCxnSpPr>
            <p:cNvPr id="6" name="Straight Connector 5">
              <a:extLst>
                <a:ext uri="{FF2B5EF4-FFF2-40B4-BE49-F238E27FC236}">
                  <a16:creationId xmlns:a16="http://schemas.microsoft.com/office/drawing/2014/main" id="{F2A21C58-6B4C-D2DC-3D67-A6A9DC623C31}"/>
                </a:ext>
              </a:extLst>
            </p:cNvPr>
            <p:cNvCxnSpPr>
              <a:cxnSpLocks/>
            </p:cNvCxnSpPr>
            <p:nvPr/>
          </p:nvCxnSpPr>
          <p:spPr>
            <a:xfrm>
              <a:off x="3807086" y="2532067"/>
              <a:ext cx="1677336" cy="0"/>
            </a:xfrm>
            <a:prstGeom prst="line">
              <a:avLst/>
            </a:prstGeom>
            <a:ln w="19050">
              <a:solidFill>
                <a:srgbClr val="060B25"/>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2433968-E5C7-25C9-A1A0-2B363D86DF02}"/>
                </a:ext>
              </a:extLst>
            </p:cNvPr>
            <p:cNvSpPr txBox="1"/>
            <p:nvPr/>
          </p:nvSpPr>
          <p:spPr>
            <a:xfrm>
              <a:off x="3426676" y="2574002"/>
              <a:ext cx="2438158" cy="253916"/>
            </a:xfrm>
            <a:prstGeom prst="rect">
              <a:avLst/>
            </a:prstGeom>
            <a:noFill/>
          </p:spPr>
          <p:txBody>
            <a:bodyPr wrap="square" rtlCol="0">
              <a:spAutoFit/>
            </a:bodyPr>
            <a:lstStyle/>
            <a:p>
              <a:pPr algn="ctr">
                <a:spcAft>
                  <a:spcPts val="1200"/>
                </a:spcAft>
                <a:buSzPct val="80000"/>
                <a:defRPr/>
              </a:pPr>
              <a:r>
                <a:rPr lang="en-US" sz="1050" b="1" i="1">
                  <a:latin typeface="Aptos" panose="020B0004020202020204" pitchFamily="34" charset="0"/>
                </a:rPr>
                <a:t>Pilot Use Case (e.g. CMDB, VM)</a:t>
              </a:r>
            </a:p>
          </p:txBody>
        </p:sp>
        <p:sp>
          <p:nvSpPr>
            <p:cNvPr id="8" name="TextBox 7">
              <a:extLst>
                <a:ext uri="{FF2B5EF4-FFF2-40B4-BE49-F238E27FC236}">
                  <a16:creationId xmlns:a16="http://schemas.microsoft.com/office/drawing/2014/main" id="{064F31F8-48EF-B1B5-CFF0-B92F641D5975}"/>
                </a:ext>
              </a:extLst>
            </p:cNvPr>
            <p:cNvSpPr txBox="1"/>
            <p:nvPr/>
          </p:nvSpPr>
          <p:spPr>
            <a:xfrm>
              <a:off x="3485397" y="3065375"/>
              <a:ext cx="2320716" cy="1752429"/>
            </a:xfrm>
            <a:prstGeom prst="roundRect">
              <a:avLst/>
            </a:prstGeom>
            <a:solidFill>
              <a:srgbClr val="FFFFFF"/>
            </a:solidFill>
          </p:spPr>
          <p:txBody>
            <a:bodyPr wrap="square" lIns="36000" tIns="36000" rIns="36000" bIns="36000" rtlCol="0">
              <a:noAutofit/>
            </a:bodyPr>
            <a:lstStyle/>
            <a:p>
              <a:pPr marL="91440" algn="ctr">
                <a:spcAft>
                  <a:spcPts val="1800"/>
                </a:spcAft>
              </a:pPr>
              <a:r>
                <a:rPr lang="en-US" sz="1200" b="1" dirty="0">
                  <a:solidFill>
                    <a:srgbClr val="060B25"/>
                  </a:solidFill>
                  <a:latin typeface="Aptos" panose="020B0004020202020204" pitchFamily="34" charset="0"/>
                </a:rPr>
                <a:t>Key Activities</a:t>
              </a:r>
              <a:endParaRPr lang="en-US" sz="1000" dirty="0">
                <a:solidFill>
                  <a:srgbClr val="060B25"/>
                </a:solidFill>
                <a:latin typeface="Aptos" panose="020B0004020202020204" pitchFamily="34" charset="0"/>
              </a:endParaRPr>
            </a:p>
            <a:p>
              <a:pPr marL="171450" indent="-171450">
                <a:spcAft>
                  <a:spcPts val="2000"/>
                </a:spcAft>
                <a:buClr>
                  <a:srgbClr val="060B25"/>
                </a:buClr>
                <a:buSzPct val="115000"/>
                <a:buFont typeface="Wingdings" panose="05000000000000000000" pitchFamily="2" charset="2"/>
                <a:buChar char="ü"/>
              </a:pPr>
              <a:r>
                <a:rPr lang="en-US" sz="1000" dirty="0">
                  <a:solidFill>
                    <a:srgbClr val="595959"/>
                  </a:solidFill>
                  <a:latin typeface="Aptos" panose="020B0004020202020204" pitchFamily="34" charset="0"/>
                </a:rPr>
                <a:t>Modelling of Key Assets/Entities</a:t>
              </a:r>
            </a:p>
            <a:p>
              <a:pPr marL="171450" indent="-171450">
                <a:spcAft>
                  <a:spcPts val="2000"/>
                </a:spcAft>
                <a:buClr>
                  <a:srgbClr val="060B25"/>
                </a:buClr>
                <a:buSzPct val="115000"/>
                <a:buFont typeface="Wingdings" panose="05000000000000000000" pitchFamily="2" charset="2"/>
                <a:buChar char="ü"/>
              </a:pPr>
              <a:r>
                <a:rPr lang="en-US" sz="1000" dirty="0">
                  <a:solidFill>
                    <a:srgbClr val="595959"/>
                  </a:solidFill>
                  <a:latin typeface="Aptos" panose="020B0004020202020204" pitchFamily="34" charset="0"/>
                </a:rPr>
                <a:t>Configuration of Use Cases</a:t>
              </a:r>
            </a:p>
            <a:p>
              <a:pPr marL="171450" indent="-171450">
                <a:spcAft>
                  <a:spcPts val="2000"/>
                </a:spcAft>
                <a:buClr>
                  <a:srgbClr val="060B25"/>
                </a:buClr>
                <a:buSzPct val="115000"/>
                <a:buFont typeface="Wingdings" panose="05000000000000000000" pitchFamily="2" charset="2"/>
                <a:buChar char="ü"/>
              </a:pPr>
              <a:r>
                <a:rPr lang="en-US" sz="1000" dirty="0">
                  <a:solidFill>
                    <a:srgbClr val="595959"/>
                  </a:solidFill>
                  <a:latin typeface="Aptos" panose="020B0004020202020204" pitchFamily="34" charset="0"/>
                </a:rPr>
                <a:t>Dashboard Configuration</a:t>
              </a:r>
            </a:p>
          </p:txBody>
        </p:sp>
        <p:cxnSp>
          <p:nvCxnSpPr>
            <p:cNvPr id="9" name="Straight Connector 8">
              <a:extLst>
                <a:ext uri="{FF2B5EF4-FFF2-40B4-BE49-F238E27FC236}">
                  <a16:creationId xmlns:a16="http://schemas.microsoft.com/office/drawing/2014/main" id="{EF1E1B2B-96E0-6B99-D783-9CCAC5B8359E}"/>
                </a:ext>
              </a:extLst>
            </p:cNvPr>
            <p:cNvCxnSpPr>
              <a:cxnSpLocks/>
            </p:cNvCxnSpPr>
            <p:nvPr/>
          </p:nvCxnSpPr>
          <p:spPr>
            <a:xfrm>
              <a:off x="3732938" y="3492785"/>
              <a:ext cx="1825632" cy="0"/>
            </a:xfrm>
            <a:prstGeom prst="line">
              <a:avLst/>
            </a:prstGeom>
            <a:ln w="19050">
              <a:solidFill>
                <a:srgbClr val="060B25"/>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5A42F8A-E104-1BDB-8702-6E443306A2D1}"/>
                </a:ext>
              </a:extLst>
            </p:cNvPr>
            <p:cNvSpPr txBox="1"/>
            <p:nvPr/>
          </p:nvSpPr>
          <p:spPr>
            <a:xfrm>
              <a:off x="3602087" y="2142136"/>
              <a:ext cx="2087334" cy="215444"/>
            </a:xfrm>
            <a:prstGeom prst="rect">
              <a:avLst/>
            </a:prstGeom>
            <a:noFill/>
          </p:spPr>
          <p:txBody>
            <a:bodyPr wrap="square" lIns="0" tIns="0" rIns="0" bIns="0" rtlCol="0" anchor="ctr">
              <a:spAutoFit/>
            </a:bodyPr>
            <a:lstStyle/>
            <a:p>
              <a:pPr algn="ctr"/>
              <a:r>
                <a:rPr lang="en-US" sz="1400" b="1">
                  <a:solidFill>
                    <a:srgbClr val="060B25"/>
                  </a:solidFill>
                  <a:latin typeface="Aptos" panose="020B0004020202020204" pitchFamily="34" charset="0"/>
                </a:rPr>
                <a:t>Month 2-3</a:t>
              </a:r>
            </a:p>
          </p:txBody>
        </p:sp>
        <p:sp>
          <p:nvSpPr>
            <p:cNvPr id="11" name="Rectangle: Rounded Corners 10">
              <a:extLst>
                <a:ext uri="{FF2B5EF4-FFF2-40B4-BE49-F238E27FC236}">
                  <a16:creationId xmlns:a16="http://schemas.microsoft.com/office/drawing/2014/main" id="{227DC4C1-6DCD-80B2-D0B1-648D82AF2931}"/>
                </a:ext>
              </a:extLst>
            </p:cNvPr>
            <p:cNvSpPr/>
            <p:nvPr/>
          </p:nvSpPr>
          <p:spPr>
            <a:xfrm>
              <a:off x="577733" y="1729607"/>
              <a:ext cx="2534232" cy="3284686"/>
            </a:xfrm>
            <a:prstGeom prst="roundRect">
              <a:avLst/>
            </a:prstGeom>
            <a:solidFill>
              <a:srgbClr val="636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rgbClr val="FFFFFF"/>
                </a:solidFill>
                <a:latin typeface="Aptos" panose="020B0004020202020204" pitchFamily="34" charset="0"/>
              </a:endParaRPr>
            </a:p>
          </p:txBody>
        </p:sp>
        <p:sp>
          <p:nvSpPr>
            <p:cNvPr id="12" name="Rectangle: Rounded Corners 11">
              <a:extLst>
                <a:ext uri="{FF2B5EF4-FFF2-40B4-BE49-F238E27FC236}">
                  <a16:creationId xmlns:a16="http://schemas.microsoft.com/office/drawing/2014/main" id="{58E1E663-AD88-6DA7-E97B-B6329CA8A1EA}"/>
                </a:ext>
              </a:extLst>
            </p:cNvPr>
            <p:cNvSpPr/>
            <p:nvPr/>
          </p:nvSpPr>
          <p:spPr>
            <a:xfrm>
              <a:off x="577733" y="1878584"/>
              <a:ext cx="2534232" cy="3145697"/>
            </a:xfrm>
            <a:prstGeom prst="roundRect">
              <a:avLst/>
            </a:prstGeom>
            <a:solidFill>
              <a:srgbClr val="F1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rgbClr val="FFFFFF"/>
                </a:solidFill>
                <a:latin typeface="Aptos" panose="020B0004020202020204" pitchFamily="34" charset="0"/>
              </a:endParaRPr>
            </a:p>
          </p:txBody>
        </p:sp>
        <p:sp>
          <p:nvSpPr>
            <p:cNvPr id="13" name="TextBox 12">
              <a:extLst>
                <a:ext uri="{FF2B5EF4-FFF2-40B4-BE49-F238E27FC236}">
                  <a16:creationId xmlns:a16="http://schemas.microsoft.com/office/drawing/2014/main" id="{4A0712DB-754B-158A-1EDC-A8132FD7F2CB}"/>
                </a:ext>
              </a:extLst>
            </p:cNvPr>
            <p:cNvSpPr txBox="1"/>
            <p:nvPr/>
          </p:nvSpPr>
          <p:spPr>
            <a:xfrm>
              <a:off x="657532" y="2142136"/>
              <a:ext cx="2374635" cy="215444"/>
            </a:xfrm>
            <a:prstGeom prst="rect">
              <a:avLst/>
            </a:prstGeom>
            <a:noFill/>
          </p:spPr>
          <p:txBody>
            <a:bodyPr wrap="square" lIns="0" tIns="0" rIns="0" bIns="0" rtlCol="0" anchor="ctr">
              <a:spAutoFit/>
            </a:bodyPr>
            <a:lstStyle/>
            <a:p>
              <a:pPr algn="ctr"/>
              <a:r>
                <a:rPr lang="en-US" sz="1400" b="1">
                  <a:latin typeface="Aptos" panose="020B0004020202020204" pitchFamily="34" charset="0"/>
                </a:rPr>
                <a:t>Month 1</a:t>
              </a:r>
            </a:p>
          </p:txBody>
        </p:sp>
        <p:cxnSp>
          <p:nvCxnSpPr>
            <p:cNvPr id="14" name="Straight Connector 13">
              <a:extLst>
                <a:ext uri="{FF2B5EF4-FFF2-40B4-BE49-F238E27FC236}">
                  <a16:creationId xmlns:a16="http://schemas.microsoft.com/office/drawing/2014/main" id="{A7E83E63-846E-5524-41A7-A41453D73C2D}"/>
                </a:ext>
              </a:extLst>
            </p:cNvPr>
            <p:cNvCxnSpPr>
              <a:cxnSpLocks/>
            </p:cNvCxnSpPr>
            <p:nvPr/>
          </p:nvCxnSpPr>
          <p:spPr>
            <a:xfrm>
              <a:off x="1006181" y="2532067"/>
              <a:ext cx="1677336" cy="0"/>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10AEF66-2210-1EC1-83BB-023ABECFE4A9}"/>
                </a:ext>
              </a:extLst>
            </p:cNvPr>
            <p:cNvSpPr txBox="1"/>
            <p:nvPr/>
          </p:nvSpPr>
          <p:spPr>
            <a:xfrm>
              <a:off x="583813" y="2574000"/>
              <a:ext cx="2522585" cy="253916"/>
            </a:xfrm>
            <a:prstGeom prst="rect">
              <a:avLst/>
            </a:prstGeom>
            <a:noFill/>
          </p:spPr>
          <p:txBody>
            <a:bodyPr wrap="square" rtlCol="0">
              <a:spAutoFit/>
            </a:bodyPr>
            <a:lstStyle/>
            <a:p>
              <a:pPr algn="ctr">
                <a:spcAft>
                  <a:spcPts val="1200"/>
                </a:spcAft>
                <a:buSzPct val="80000"/>
                <a:defRPr/>
              </a:pPr>
              <a:r>
                <a:rPr lang="en-US" sz="1050" b="1" i="1">
                  <a:latin typeface="Aptos" panose="020B0004020202020204" pitchFamily="34" charset="0"/>
                </a:rPr>
                <a:t>Deployment and Data Integration</a:t>
              </a:r>
            </a:p>
          </p:txBody>
        </p:sp>
        <p:sp>
          <p:nvSpPr>
            <p:cNvPr id="16" name="TextBox 15">
              <a:extLst>
                <a:ext uri="{FF2B5EF4-FFF2-40B4-BE49-F238E27FC236}">
                  <a16:creationId xmlns:a16="http://schemas.microsoft.com/office/drawing/2014/main" id="{163C2F1A-4342-26D5-B0F0-7AFAB4A03441}"/>
                </a:ext>
              </a:extLst>
            </p:cNvPr>
            <p:cNvSpPr txBox="1"/>
            <p:nvPr/>
          </p:nvSpPr>
          <p:spPr>
            <a:xfrm>
              <a:off x="684492" y="3075206"/>
              <a:ext cx="2320716" cy="1742598"/>
            </a:xfrm>
            <a:prstGeom prst="roundRect">
              <a:avLst/>
            </a:prstGeom>
            <a:solidFill>
              <a:srgbClr val="FFFFFF"/>
            </a:solidFill>
          </p:spPr>
          <p:txBody>
            <a:bodyPr wrap="square" lIns="36000" tIns="36000" rIns="36000" bIns="36000" rtlCol="0">
              <a:noAutofit/>
            </a:bodyPr>
            <a:lstStyle/>
            <a:p>
              <a:pPr marL="91440" algn="ctr">
                <a:spcAft>
                  <a:spcPts val="1800"/>
                </a:spcAft>
              </a:pPr>
              <a:r>
                <a:rPr lang="en-US" sz="1200" b="1">
                  <a:solidFill>
                    <a:srgbClr val="000000"/>
                  </a:solidFill>
                  <a:latin typeface="Aptos" panose="020B0004020202020204" pitchFamily="34" charset="0"/>
                </a:rPr>
                <a:t>Key Activities</a:t>
              </a:r>
            </a:p>
            <a:p>
              <a:pPr marL="171450" indent="-171450">
                <a:spcAft>
                  <a:spcPts val="2000"/>
                </a:spcAft>
                <a:buClr>
                  <a:srgbClr val="000000"/>
                </a:buClr>
                <a:buSzPct val="115000"/>
                <a:buFont typeface="Wingdings" panose="05000000000000000000" pitchFamily="2" charset="2"/>
                <a:buChar char="ü"/>
              </a:pPr>
              <a:r>
                <a:rPr lang="en-US" sz="1000">
                  <a:solidFill>
                    <a:srgbClr val="595959"/>
                  </a:solidFill>
                  <a:latin typeface="Aptos" panose="020B0004020202020204" pitchFamily="34" charset="0"/>
                </a:rPr>
                <a:t>Environment Setup and Integration</a:t>
              </a:r>
            </a:p>
            <a:p>
              <a:pPr marL="171450" indent="-171450">
                <a:spcAft>
                  <a:spcPts val="2000"/>
                </a:spcAft>
                <a:buClr>
                  <a:srgbClr val="000000"/>
                </a:buClr>
                <a:buSzPct val="115000"/>
                <a:buFont typeface="Wingdings" panose="05000000000000000000" pitchFamily="2" charset="2"/>
                <a:buChar char="ü"/>
              </a:pPr>
              <a:r>
                <a:rPr lang="en-US" sz="1000">
                  <a:solidFill>
                    <a:srgbClr val="595959"/>
                  </a:solidFill>
                  <a:latin typeface="Aptos" panose="020B0004020202020204" pitchFamily="34" charset="0"/>
                </a:rPr>
                <a:t>Onboarding Pilot Data Sources</a:t>
              </a:r>
            </a:p>
            <a:p>
              <a:pPr marL="171450" indent="-171450">
                <a:spcAft>
                  <a:spcPts val="2000"/>
                </a:spcAft>
                <a:buClr>
                  <a:srgbClr val="000000"/>
                </a:buClr>
                <a:buSzPct val="115000"/>
                <a:buFont typeface="Wingdings" panose="05000000000000000000" pitchFamily="2" charset="2"/>
                <a:buChar char="ü"/>
              </a:pPr>
              <a:r>
                <a:rPr lang="en-US" sz="1000">
                  <a:solidFill>
                    <a:srgbClr val="595959"/>
                  </a:solidFill>
                  <a:latin typeface="Aptos" panose="020B0004020202020204" pitchFamily="34" charset="0"/>
                </a:rPr>
                <a:t>Exploratory Data Analysis</a:t>
              </a:r>
            </a:p>
          </p:txBody>
        </p:sp>
        <p:cxnSp>
          <p:nvCxnSpPr>
            <p:cNvPr id="17" name="Straight Connector 16">
              <a:extLst>
                <a:ext uri="{FF2B5EF4-FFF2-40B4-BE49-F238E27FC236}">
                  <a16:creationId xmlns:a16="http://schemas.microsoft.com/office/drawing/2014/main" id="{8CEC6902-57D7-CE83-25BC-2B1524AB3EA0}"/>
                </a:ext>
              </a:extLst>
            </p:cNvPr>
            <p:cNvCxnSpPr>
              <a:cxnSpLocks/>
            </p:cNvCxnSpPr>
            <p:nvPr/>
          </p:nvCxnSpPr>
          <p:spPr>
            <a:xfrm>
              <a:off x="932033" y="3502616"/>
              <a:ext cx="1825632" cy="0"/>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494856AE-503F-42AC-5C91-774F4C3C50DB}"/>
                </a:ext>
              </a:extLst>
            </p:cNvPr>
            <p:cNvSpPr/>
            <p:nvPr/>
          </p:nvSpPr>
          <p:spPr>
            <a:xfrm>
              <a:off x="6179543" y="1739595"/>
              <a:ext cx="5228374" cy="3274697"/>
            </a:xfrm>
            <a:prstGeom prst="roundRect">
              <a:avLst/>
            </a:prstGeom>
            <a:solidFill>
              <a:srgbClr val="636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rgbClr val="FFFFFF"/>
                </a:solidFill>
                <a:latin typeface="Aptos" panose="020B0004020202020204" pitchFamily="34" charset="0"/>
              </a:endParaRPr>
            </a:p>
          </p:txBody>
        </p:sp>
        <p:sp>
          <p:nvSpPr>
            <p:cNvPr id="19" name="Rectangle: Rounded Corners 18">
              <a:extLst>
                <a:ext uri="{FF2B5EF4-FFF2-40B4-BE49-F238E27FC236}">
                  <a16:creationId xmlns:a16="http://schemas.microsoft.com/office/drawing/2014/main" id="{EF04E7B7-E965-F715-F53E-BDC5ECE4B7D3}"/>
                </a:ext>
              </a:extLst>
            </p:cNvPr>
            <p:cNvSpPr/>
            <p:nvPr/>
          </p:nvSpPr>
          <p:spPr>
            <a:xfrm>
              <a:off x="6179543" y="1888573"/>
              <a:ext cx="5238158" cy="3135708"/>
            </a:xfrm>
            <a:prstGeom prst="roundRect">
              <a:avLst>
                <a:gd name="adj" fmla="val 14701"/>
              </a:avLst>
            </a:prstGeom>
            <a:solidFill>
              <a:srgbClr val="F1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rgbClr val="FFFFFF"/>
                </a:solidFill>
                <a:latin typeface="Aptos" panose="020B0004020202020204" pitchFamily="34" charset="0"/>
              </a:endParaRPr>
            </a:p>
          </p:txBody>
        </p:sp>
        <p:cxnSp>
          <p:nvCxnSpPr>
            <p:cNvPr id="20" name="Straight Connector 19">
              <a:extLst>
                <a:ext uri="{FF2B5EF4-FFF2-40B4-BE49-F238E27FC236}">
                  <a16:creationId xmlns:a16="http://schemas.microsoft.com/office/drawing/2014/main" id="{40BA88CB-B2A4-56B8-7374-16185C555648}"/>
                </a:ext>
              </a:extLst>
            </p:cNvPr>
            <p:cNvCxnSpPr>
              <a:cxnSpLocks/>
            </p:cNvCxnSpPr>
            <p:nvPr/>
          </p:nvCxnSpPr>
          <p:spPr>
            <a:xfrm>
              <a:off x="6607991" y="2532067"/>
              <a:ext cx="4315016" cy="0"/>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DD32D48-9260-9236-ED2E-CACD2133040B}"/>
                </a:ext>
              </a:extLst>
            </p:cNvPr>
            <p:cNvSpPr txBox="1"/>
            <p:nvPr/>
          </p:nvSpPr>
          <p:spPr>
            <a:xfrm>
              <a:off x="6281874" y="2583991"/>
              <a:ext cx="5006574" cy="253916"/>
            </a:xfrm>
            <a:prstGeom prst="rect">
              <a:avLst/>
            </a:prstGeom>
            <a:noFill/>
          </p:spPr>
          <p:txBody>
            <a:bodyPr wrap="square" rtlCol="0">
              <a:spAutoFit/>
            </a:bodyPr>
            <a:lstStyle/>
            <a:p>
              <a:pPr algn="ctr">
                <a:spcAft>
                  <a:spcPts val="1200"/>
                </a:spcAft>
                <a:buSzPct val="80000"/>
                <a:defRPr/>
              </a:pPr>
              <a:r>
                <a:rPr lang="en-US" sz="1050" b="1" i="1" dirty="0">
                  <a:latin typeface="Aptos" panose="020B0004020202020204" pitchFamily="34" charset="0"/>
                </a:rPr>
                <a:t>Production and Use Case Expansion</a:t>
              </a:r>
            </a:p>
          </p:txBody>
        </p:sp>
        <p:sp>
          <p:nvSpPr>
            <p:cNvPr id="22" name="TextBox 21">
              <a:extLst>
                <a:ext uri="{FF2B5EF4-FFF2-40B4-BE49-F238E27FC236}">
                  <a16:creationId xmlns:a16="http://schemas.microsoft.com/office/drawing/2014/main" id="{C81E9022-1A52-C81A-8EBE-2011142F9AC5}"/>
                </a:ext>
              </a:extLst>
            </p:cNvPr>
            <p:cNvSpPr txBox="1"/>
            <p:nvPr/>
          </p:nvSpPr>
          <p:spPr>
            <a:xfrm>
              <a:off x="6286301" y="3045709"/>
              <a:ext cx="5006575" cy="1847385"/>
            </a:xfrm>
            <a:prstGeom prst="roundRect">
              <a:avLst/>
            </a:prstGeom>
            <a:solidFill>
              <a:srgbClr val="FFFFFF"/>
            </a:solidFill>
          </p:spPr>
          <p:txBody>
            <a:bodyPr wrap="square" lIns="36000" tIns="36000" rIns="36000" bIns="36000" numCol="2" rtlCol="0">
              <a:noAutofit/>
            </a:bodyPr>
            <a:lstStyle/>
            <a:p>
              <a:pPr marL="91440" algn="ctr">
                <a:spcAft>
                  <a:spcPts val="1800"/>
                </a:spcAft>
              </a:pPr>
              <a:r>
                <a:rPr lang="en-US" sz="1200" b="1">
                  <a:solidFill>
                    <a:schemeClr val="bg1"/>
                  </a:solidFill>
                  <a:latin typeface="Aptos" panose="020B0004020202020204" pitchFamily="34" charset="0"/>
                </a:rPr>
                <a:t>Key Activities</a:t>
              </a:r>
            </a:p>
            <a:p>
              <a:pPr marL="171450" indent="-171450">
                <a:spcAft>
                  <a:spcPts val="2000"/>
                </a:spcAft>
                <a:buClr>
                  <a:srgbClr val="000000"/>
                </a:buClr>
                <a:buSzPct val="115000"/>
                <a:buFont typeface="Wingdings" panose="05000000000000000000" pitchFamily="2" charset="2"/>
                <a:buChar char="ü"/>
              </a:pPr>
              <a:r>
                <a:rPr lang="en-US" sz="1000">
                  <a:solidFill>
                    <a:srgbClr val="595959"/>
                  </a:solidFill>
                  <a:latin typeface="Aptos" panose="020B0004020202020204" pitchFamily="34" charset="0"/>
                </a:rPr>
                <a:t>Pilot Use Case Transition to Production</a:t>
              </a:r>
            </a:p>
            <a:p>
              <a:pPr marL="171450" indent="-171450">
                <a:spcAft>
                  <a:spcPts val="2000"/>
                </a:spcAft>
                <a:buClr>
                  <a:srgbClr val="000000"/>
                </a:buClr>
                <a:buSzPct val="115000"/>
                <a:buFont typeface="Wingdings" panose="05000000000000000000" pitchFamily="2" charset="2"/>
                <a:buChar char="ü"/>
              </a:pPr>
              <a:r>
                <a:rPr lang="en-US" sz="1000">
                  <a:solidFill>
                    <a:srgbClr val="595959"/>
                  </a:solidFill>
                  <a:latin typeface="Aptos" panose="020B0004020202020204" pitchFamily="34" charset="0"/>
                </a:rPr>
                <a:t>Expanded Visibility across Domains</a:t>
              </a:r>
            </a:p>
            <a:p>
              <a:pPr marL="171450" indent="-171450">
                <a:spcAft>
                  <a:spcPts val="2000"/>
                </a:spcAft>
                <a:buClr>
                  <a:srgbClr val="000000"/>
                </a:buClr>
                <a:buSzPct val="115000"/>
                <a:buFont typeface="Wingdings" panose="05000000000000000000" pitchFamily="2" charset="2"/>
                <a:buChar char="ü"/>
              </a:pPr>
              <a:r>
                <a:rPr lang="en-US" sz="1000">
                  <a:solidFill>
                    <a:srgbClr val="595959"/>
                  </a:solidFill>
                  <a:latin typeface="Aptos" panose="020B0004020202020204" pitchFamily="34" charset="0"/>
                </a:rPr>
                <a:t>Additional Use Cases</a:t>
              </a:r>
            </a:p>
            <a:p>
              <a:pPr marL="171450" indent="-171450">
                <a:spcAft>
                  <a:spcPts val="2000"/>
                </a:spcAft>
                <a:buClr>
                  <a:srgbClr val="000000"/>
                </a:buClr>
                <a:buSzPct val="115000"/>
                <a:buFont typeface="Wingdings" panose="05000000000000000000" pitchFamily="2" charset="2"/>
                <a:buChar char="ü"/>
              </a:pPr>
              <a:endParaRPr lang="en-US" sz="1000">
                <a:solidFill>
                  <a:srgbClr val="595959"/>
                </a:solidFill>
                <a:latin typeface="Aptos" panose="020B0004020202020204" pitchFamily="34" charset="0"/>
              </a:endParaRPr>
            </a:p>
            <a:p>
              <a:pPr marL="171450" indent="-171450">
                <a:spcAft>
                  <a:spcPts val="2000"/>
                </a:spcAft>
                <a:buClr>
                  <a:srgbClr val="000000"/>
                </a:buClr>
                <a:buSzPct val="115000"/>
                <a:buFont typeface="Wingdings" panose="05000000000000000000" pitchFamily="2" charset="2"/>
                <a:buChar char="ü"/>
              </a:pPr>
              <a:endParaRPr lang="en-US" sz="1000">
                <a:solidFill>
                  <a:srgbClr val="595959"/>
                </a:solidFill>
                <a:latin typeface="Aptos" panose="020B0004020202020204" pitchFamily="34" charset="0"/>
              </a:endParaRPr>
            </a:p>
            <a:p>
              <a:pPr marL="171450" indent="-171450">
                <a:spcAft>
                  <a:spcPts val="2000"/>
                </a:spcAft>
                <a:buClr>
                  <a:srgbClr val="000000"/>
                </a:buClr>
                <a:buSzPct val="115000"/>
                <a:buFont typeface="Wingdings" panose="05000000000000000000" pitchFamily="2" charset="2"/>
                <a:buChar char="ü"/>
              </a:pPr>
              <a:r>
                <a:rPr lang="en-US" sz="1000">
                  <a:solidFill>
                    <a:srgbClr val="595959"/>
                  </a:solidFill>
                  <a:latin typeface="Aptos" panose="020B0004020202020204" pitchFamily="34" charset="0"/>
                </a:rPr>
                <a:t>Additional Data Source Onboarding</a:t>
              </a:r>
            </a:p>
            <a:p>
              <a:pPr marL="171450" indent="-171450">
                <a:spcAft>
                  <a:spcPts val="2000"/>
                </a:spcAft>
                <a:buClr>
                  <a:srgbClr val="000000"/>
                </a:buClr>
                <a:buSzPct val="115000"/>
                <a:buFont typeface="Wingdings" panose="05000000000000000000" pitchFamily="2" charset="2"/>
                <a:buChar char="ü"/>
              </a:pPr>
              <a:r>
                <a:rPr lang="en-US" sz="1000">
                  <a:solidFill>
                    <a:srgbClr val="595959"/>
                  </a:solidFill>
                  <a:latin typeface="Aptos" panose="020B0004020202020204" pitchFamily="34" charset="0"/>
                </a:rPr>
                <a:t>“Downstream” tool integrations</a:t>
              </a:r>
            </a:p>
            <a:p>
              <a:pPr marL="171450" indent="-171450">
                <a:spcAft>
                  <a:spcPts val="2000"/>
                </a:spcAft>
                <a:buClr>
                  <a:srgbClr val="000000"/>
                </a:buClr>
                <a:buSzPct val="115000"/>
                <a:buFont typeface="Wingdings" panose="05000000000000000000" pitchFamily="2" charset="2"/>
                <a:buChar char="ü"/>
              </a:pPr>
              <a:r>
                <a:rPr lang="en-US" sz="1000">
                  <a:solidFill>
                    <a:srgbClr val="595959"/>
                  </a:solidFill>
                  <a:latin typeface="Aptos" panose="020B0004020202020204" pitchFamily="34" charset="0"/>
                </a:rPr>
                <a:t>Managed Services Delivery Model</a:t>
              </a:r>
            </a:p>
            <a:p>
              <a:pPr marL="171450" indent="-171450">
                <a:spcAft>
                  <a:spcPts val="2600"/>
                </a:spcAft>
                <a:buClr>
                  <a:srgbClr val="000000"/>
                </a:buClr>
                <a:buSzPct val="115000"/>
                <a:buFont typeface="Wingdings" panose="05000000000000000000" pitchFamily="2" charset="2"/>
                <a:buChar char="ü"/>
              </a:pPr>
              <a:endParaRPr lang="en-US" sz="1000">
                <a:solidFill>
                  <a:srgbClr val="595959"/>
                </a:solidFill>
                <a:latin typeface="Aptos" panose="020B0004020202020204" pitchFamily="34" charset="0"/>
              </a:endParaRPr>
            </a:p>
          </p:txBody>
        </p:sp>
        <p:cxnSp>
          <p:nvCxnSpPr>
            <p:cNvPr id="23" name="Straight Connector 22">
              <a:extLst>
                <a:ext uri="{FF2B5EF4-FFF2-40B4-BE49-F238E27FC236}">
                  <a16:creationId xmlns:a16="http://schemas.microsoft.com/office/drawing/2014/main" id="{1D132470-ACE5-8581-75C2-2E51E68482BA}"/>
                </a:ext>
              </a:extLst>
            </p:cNvPr>
            <p:cNvCxnSpPr>
              <a:cxnSpLocks/>
            </p:cNvCxnSpPr>
            <p:nvPr/>
          </p:nvCxnSpPr>
          <p:spPr>
            <a:xfrm>
              <a:off x="6533843" y="3473120"/>
              <a:ext cx="4461083" cy="29496"/>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32F6938-ACB7-A7E1-2558-19C928618315}"/>
                </a:ext>
              </a:extLst>
            </p:cNvPr>
            <p:cNvSpPr txBox="1"/>
            <p:nvPr/>
          </p:nvSpPr>
          <p:spPr>
            <a:xfrm>
              <a:off x="6259342" y="2185838"/>
              <a:ext cx="5033534" cy="215444"/>
            </a:xfrm>
            <a:prstGeom prst="rect">
              <a:avLst/>
            </a:prstGeom>
            <a:noFill/>
          </p:spPr>
          <p:txBody>
            <a:bodyPr wrap="square" lIns="0" tIns="0" rIns="0" bIns="0" rtlCol="0" anchor="ctr">
              <a:spAutoFit/>
            </a:bodyPr>
            <a:lstStyle/>
            <a:p>
              <a:pPr algn="ctr"/>
              <a:r>
                <a:rPr lang="en-US" sz="1400" b="1">
                  <a:solidFill>
                    <a:srgbClr val="000000"/>
                  </a:solidFill>
                  <a:latin typeface="Aptos" panose="020B0004020202020204" pitchFamily="34" charset="0"/>
                </a:rPr>
                <a:t>Month 4+</a:t>
              </a:r>
            </a:p>
          </p:txBody>
        </p:sp>
      </p:grpSp>
      <p:cxnSp>
        <p:nvCxnSpPr>
          <p:cNvPr id="32" name="Straight Connector 31">
            <a:extLst>
              <a:ext uri="{FF2B5EF4-FFF2-40B4-BE49-F238E27FC236}">
                <a16:creationId xmlns:a16="http://schemas.microsoft.com/office/drawing/2014/main" id="{D2950F0B-CA35-511A-93EA-E9DD347ECDAD}"/>
              </a:ext>
            </a:extLst>
          </p:cNvPr>
          <p:cNvCxnSpPr>
            <a:cxnSpLocks/>
          </p:cNvCxnSpPr>
          <p:nvPr/>
        </p:nvCxnSpPr>
        <p:spPr>
          <a:xfrm>
            <a:off x="6096000" y="1175261"/>
            <a:ext cx="0" cy="3861961"/>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F7393A14-1528-6C21-FCAE-66CB325A093D}"/>
              </a:ext>
            </a:extLst>
          </p:cNvPr>
          <p:cNvSpPr/>
          <p:nvPr/>
        </p:nvSpPr>
        <p:spPr>
          <a:xfrm>
            <a:off x="734285" y="4607276"/>
            <a:ext cx="5180341" cy="429946"/>
          </a:xfrm>
          <a:prstGeom prst="roundRect">
            <a:avLst/>
          </a:prstGeom>
          <a:solidFill>
            <a:srgbClr val="636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rgbClr val="FFFFFF"/>
                </a:solidFill>
                <a:latin typeface="Aptos" panose="020B0004020202020204" pitchFamily="34" charset="0"/>
              </a:rPr>
              <a:t>Pilot Phase – Typically PAI-Hosted</a:t>
            </a:r>
          </a:p>
        </p:txBody>
      </p:sp>
      <p:sp>
        <p:nvSpPr>
          <p:cNvPr id="35" name="Rectangle: Rounded Corners 34">
            <a:extLst>
              <a:ext uri="{FF2B5EF4-FFF2-40B4-BE49-F238E27FC236}">
                <a16:creationId xmlns:a16="http://schemas.microsoft.com/office/drawing/2014/main" id="{CC62F840-9E22-D888-B5A2-39DC40339420}"/>
              </a:ext>
            </a:extLst>
          </p:cNvPr>
          <p:cNvSpPr/>
          <p:nvPr/>
        </p:nvSpPr>
        <p:spPr>
          <a:xfrm>
            <a:off x="6219550" y="4598936"/>
            <a:ext cx="5238159" cy="429946"/>
          </a:xfrm>
          <a:prstGeom prst="roundRect">
            <a:avLst/>
          </a:prstGeom>
          <a:solidFill>
            <a:srgbClr val="636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rgbClr val="FFFFFF"/>
                </a:solidFill>
                <a:latin typeface="Aptos" panose="020B0004020202020204" pitchFamily="34" charset="0"/>
              </a:rPr>
              <a:t>Production Phase – PAI-Hosted or migrated to Client Cloud</a:t>
            </a:r>
          </a:p>
        </p:txBody>
      </p:sp>
      <p:sp>
        <p:nvSpPr>
          <p:cNvPr id="42" name="TextBox 41">
            <a:extLst>
              <a:ext uri="{FF2B5EF4-FFF2-40B4-BE49-F238E27FC236}">
                <a16:creationId xmlns:a16="http://schemas.microsoft.com/office/drawing/2014/main" id="{8437FF73-BC02-4CDA-2C6A-E1916D578431}"/>
              </a:ext>
            </a:extLst>
          </p:cNvPr>
          <p:cNvSpPr txBox="1"/>
          <p:nvPr/>
        </p:nvSpPr>
        <p:spPr>
          <a:xfrm>
            <a:off x="8227974" y="2576782"/>
            <a:ext cx="1124347" cy="461665"/>
          </a:xfrm>
          <a:prstGeom prst="rect">
            <a:avLst/>
          </a:prstGeom>
          <a:noFill/>
        </p:spPr>
        <p:txBody>
          <a:bodyPr wrap="none" rtlCol="0">
            <a:spAutoFit/>
          </a:bodyPr>
          <a:lstStyle/>
          <a:p>
            <a:r>
              <a:rPr lang="en-US" sz="1200" b="1">
                <a:solidFill>
                  <a:srgbClr val="000000"/>
                </a:solidFill>
                <a:latin typeface="Aptos" panose="020B0004020202020204" pitchFamily="34" charset="0"/>
              </a:rPr>
              <a:t>Key Activities</a:t>
            </a:r>
          </a:p>
          <a:p>
            <a:pPr algn="l"/>
            <a:endParaRPr lang="en-GB" sz="1200">
              <a:latin typeface="+mj-lt"/>
            </a:endParaRPr>
          </a:p>
        </p:txBody>
      </p:sp>
      <p:sp>
        <p:nvSpPr>
          <p:cNvPr id="25" name="Text Placeholder 2">
            <a:extLst>
              <a:ext uri="{FF2B5EF4-FFF2-40B4-BE49-F238E27FC236}">
                <a16:creationId xmlns:a16="http://schemas.microsoft.com/office/drawing/2014/main" id="{080F9B57-ADD5-7676-F596-59811C97B504}"/>
              </a:ext>
            </a:extLst>
          </p:cNvPr>
          <p:cNvSpPr txBox="1">
            <a:spLocks/>
          </p:cNvSpPr>
          <p:nvPr/>
        </p:nvSpPr>
        <p:spPr>
          <a:xfrm>
            <a:off x="670983" y="5145374"/>
            <a:ext cx="10831206" cy="1471325"/>
          </a:xfrm>
          <a:prstGeom prst="rect">
            <a:avLst/>
          </a:prstGeom>
        </p:spPr>
        <p:txBody>
          <a:bodyPr numCol="1"/>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200" b="1" dirty="0"/>
              <a:t>Dependencies and Assumptions</a:t>
            </a:r>
          </a:p>
          <a:p>
            <a:pPr marL="205740" indent="-205740"/>
            <a:r>
              <a:rPr lang="en-GB" sz="1200" dirty="0"/>
              <a:t>PAI typically host the Solution during the Pilot phase within a dedicated Cloud Tenant (to avoid Client infra lead-time and dependencies). </a:t>
            </a:r>
          </a:p>
          <a:p>
            <a:pPr marL="662940" lvl="1" indent="-205740"/>
            <a:r>
              <a:rPr lang="en-GB" sz="1200" dirty="0"/>
              <a:t>The Solution can be migrated to Client Cloud if desired post-Pilot</a:t>
            </a:r>
          </a:p>
          <a:p>
            <a:pPr marL="205740" indent="-205740"/>
            <a:r>
              <a:rPr lang="en-GB" sz="1200" dirty="0"/>
              <a:t>Client will provide access to Pilot data sources via Vendor APIs</a:t>
            </a:r>
          </a:p>
          <a:p>
            <a:pPr marL="205740" indent="-205740"/>
            <a:r>
              <a:rPr lang="en-GB" sz="1200" dirty="0"/>
              <a:t>Scope can be limited to lower-sensitivity sources and/or fields, focus on fields required for Entity Resolution, Asset Classification and Context</a:t>
            </a:r>
          </a:p>
        </p:txBody>
      </p:sp>
      <p:sp>
        <p:nvSpPr>
          <p:cNvPr id="26" name="Rectangle 25">
            <a:extLst>
              <a:ext uri="{FF2B5EF4-FFF2-40B4-BE49-F238E27FC236}">
                <a16:creationId xmlns:a16="http://schemas.microsoft.com/office/drawing/2014/main" id="{CDFF537B-0307-A2EA-D141-38552801DA1A}"/>
              </a:ext>
            </a:extLst>
          </p:cNvPr>
          <p:cNvSpPr/>
          <p:nvPr/>
        </p:nvSpPr>
        <p:spPr>
          <a:xfrm>
            <a:off x="9226551" y="-2117"/>
            <a:ext cx="2967566" cy="74506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i="1" dirty="0">
                <a:solidFill>
                  <a:srgbClr val="000000"/>
                </a:solidFill>
              </a:rPr>
              <a:t>*For Pilot to Production Proposals</a:t>
            </a:r>
          </a:p>
        </p:txBody>
      </p:sp>
    </p:spTree>
    <p:extLst>
      <p:ext uri="{BB962C8B-B14F-4D97-AF65-F5344CB8AC3E}">
        <p14:creationId xmlns:p14="http://schemas.microsoft.com/office/powerpoint/2010/main" val="1242826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7A80A-E61B-3D87-BD6F-27B057A7C273}"/>
            </a:ext>
          </a:extLst>
        </p:cNvPr>
        <p:cNvGrpSpPr/>
        <p:nvPr/>
      </p:nvGrpSpPr>
      <p:grpSpPr>
        <a:xfrm>
          <a:off x="0" y="0"/>
          <a:ext cx="0" cy="0"/>
          <a:chOff x="0" y="0"/>
          <a:chExt cx="0" cy="0"/>
        </a:xfrm>
      </p:grpSpPr>
      <p:graphicFrame>
        <p:nvGraphicFramePr>
          <p:cNvPr id="41" name="think-cell data - do not delete" hidden="1">
            <a:extLst>
              <a:ext uri="{FF2B5EF4-FFF2-40B4-BE49-F238E27FC236}">
                <a16:creationId xmlns:a16="http://schemas.microsoft.com/office/drawing/2014/main" id="{B144896F-42F3-D421-7DDE-5A33D791FC5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41" name="think-cell data - do not delete" hidden="1">
                        <a:extLst>
                          <a:ext uri="{FF2B5EF4-FFF2-40B4-BE49-F238E27FC236}">
                            <a16:creationId xmlns:a16="http://schemas.microsoft.com/office/drawing/2014/main" id="{B144896F-42F3-D421-7DDE-5A33D791FC5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object 8">
            <a:extLst>
              <a:ext uri="{FF2B5EF4-FFF2-40B4-BE49-F238E27FC236}">
                <a16:creationId xmlns:a16="http://schemas.microsoft.com/office/drawing/2014/main" id="{B79671F7-9C68-CABD-ADAA-D35DC9C37A5E}"/>
              </a:ext>
            </a:extLst>
          </p:cNvPr>
          <p:cNvSpPr txBox="1"/>
          <p:nvPr/>
        </p:nvSpPr>
        <p:spPr>
          <a:xfrm>
            <a:off x="647998" y="525983"/>
            <a:ext cx="11074609" cy="743793"/>
          </a:xfrm>
          <a:prstGeom prst="rect">
            <a:avLst/>
          </a:prstGeom>
        </p:spPr>
        <p:txBody>
          <a:bodyPr vert="horz" wrap="square" lIns="0" tIns="0" rIns="0" bIns="0" rtlCol="0">
            <a:spAutoFit/>
          </a:bodyPr>
          <a:lstStyle/>
          <a:p>
            <a:pPr marL="20319" lvl="0" defTabSz="1219170">
              <a:lnSpc>
                <a:spcPts val="2180"/>
              </a:lnSpc>
              <a:defRPr/>
            </a:pPr>
            <a:r>
              <a:rPr lang="en-US" sz="1400" spc="-100">
                <a:solidFill>
                  <a:srgbClr val="595959"/>
                </a:solidFill>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Pilot</a:t>
            </a:r>
          </a:p>
          <a:p>
            <a:pPr marL="20319" marR="0" lvl="0" indent="0" algn="l" defTabSz="1219170" eaLnBrk="1" fontAlgn="auto" latinLnBrk="0" hangingPunct="1">
              <a:spcBef>
                <a:spcPts val="0"/>
              </a:spcBef>
              <a:spcAft>
                <a:spcPts val="0"/>
              </a:spcAft>
              <a:buClrTx/>
              <a:buSzTx/>
              <a:buFontTx/>
              <a:buNone/>
              <a:tabLst/>
              <a:defRPr/>
            </a:pPr>
            <a:r>
              <a:rPr kumimoji="0" lang="en-US" sz="3000" b="1" i="0" u="none" strike="noStrike" kern="1200" cap="none" spc="-100" normalizeH="0" noProof="0">
                <a:ln>
                  <a:noFill/>
                </a:ln>
                <a:solidFill>
                  <a:srgbClr val="060B25"/>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Proposed Pilot Scope</a:t>
            </a:r>
          </a:p>
        </p:txBody>
      </p:sp>
      <p:sp>
        <p:nvSpPr>
          <p:cNvPr id="3" name="Text 1">
            <a:extLst>
              <a:ext uri="{FF2B5EF4-FFF2-40B4-BE49-F238E27FC236}">
                <a16:creationId xmlns:a16="http://schemas.microsoft.com/office/drawing/2014/main" id="{1E3D82D1-8244-225F-0B7B-8BE7C29E31D5}"/>
              </a:ext>
            </a:extLst>
          </p:cNvPr>
          <p:cNvSpPr/>
          <p:nvPr/>
        </p:nvSpPr>
        <p:spPr>
          <a:xfrm>
            <a:off x="2813213" y="5989320"/>
            <a:ext cx="3965609" cy="277207"/>
          </a:xfrm>
          <a:prstGeom prst="rect">
            <a:avLst/>
          </a:prstGeom>
          <a:noFill/>
          <a:ln/>
        </p:spPr>
        <p:txBody>
          <a:bodyPr wrap="square" rtlCol="0" anchor="ctr"/>
          <a:lstStyle/>
          <a:p>
            <a:pPr marL="0" indent="0" algn="ctr">
              <a:buNone/>
            </a:pPr>
            <a:r>
              <a:rPr lang="en-US" sz="1200">
                <a:solidFill>
                  <a:srgbClr val="6B7280"/>
                </a:solidFill>
                <a:latin typeface="Aptos" pitchFamily="34" charset="0"/>
                <a:ea typeface="Aptos" pitchFamily="34" charset="-122"/>
                <a:cs typeface="Aptos" pitchFamily="34" charset="-120"/>
              </a:rPr>
              <a:t>Legend: ● Core (foundational)  ◐ Enhances  ○ Optional</a:t>
            </a:r>
            <a:endParaRPr lang="en-US" sz="1200"/>
          </a:p>
        </p:txBody>
      </p:sp>
      <p:sp>
        <p:nvSpPr>
          <p:cNvPr id="96" name="object 8">
            <a:extLst>
              <a:ext uri="{FF2B5EF4-FFF2-40B4-BE49-F238E27FC236}">
                <a16:creationId xmlns:a16="http://schemas.microsoft.com/office/drawing/2014/main" id="{115669EA-E3D1-E09E-4DA5-BA4DE5DC8B72}"/>
              </a:ext>
            </a:extLst>
          </p:cNvPr>
          <p:cNvSpPr txBox="1"/>
          <p:nvPr/>
        </p:nvSpPr>
        <p:spPr>
          <a:xfrm>
            <a:off x="647998" y="1353677"/>
            <a:ext cx="10998571" cy="201764"/>
          </a:xfrm>
          <a:prstGeom prst="rect">
            <a:avLst/>
          </a:prstGeom>
        </p:spPr>
        <p:txBody>
          <a:bodyPr vert="horz" wrap="square" lIns="0" tIns="16933" rIns="0" bIns="0" rtlCol="0">
            <a:spAutoFit/>
          </a:bodyPr>
          <a:lstStyle/>
          <a:p>
            <a:pPr marL="16933" marR="6773" defTabSz="1219170">
              <a:spcBef>
                <a:spcPts val="133"/>
              </a:spcBef>
              <a:tabLst>
                <a:tab pos="321725" algn="l"/>
                <a:tab pos="322572" algn="l"/>
              </a:tabLst>
            </a:pPr>
            <a:r>
              <a:rPr lang="en-GB" sz="1200">
                <a:solidFill>
                  <a:srgbClr val="595959"/>
                </a:solidFill>
                <a:latin typeface="Aptos" panose="020B0004020202020204" pitchFamily="34" charset="0"/>
                <a:cs typeface="Poppins" panose="00000500000000000000" pitchFamily="2" charset="0"/>
                <a:sym typeface="Aptos" panose="020B0004020202020204" pitchFamily="34" charset="0"/>
              </a:rPr>
              <a:t>2 critical Controls (VM &amp; EDR) enable the Discovered Asset Landscape. MDM/CMDB/ITSM sources provide a device management barometer to compare against.</a:t>
            </a:r>
          </a:p>
        </p:txBody>
      </p:sp>
      <p:graphicFrame>
        <p:nvGraphicFramePr>
          <p:cNvPr id="117" name="Table 116">
            <a:extLst>
              <a:ext uri="{FF2B5EF4-FFF2-40B4-BE49-F238E27FC236}">
                <a16:creationId xmlns:a16="http://schemas.microsoft.com/office/drawing/2014/main" id="{8B86B88C-899F-9F92-2678-D2258BDDD18D}"/>
              </a:ext>
            </a:extLst>
          </p:cNvPr>
          <p:cNvGraphicFramePr>
            <a:graphicFrameLocks noGrp="1"/>
          </p:cNvGraphicFramePr>
          <p:nvPr>
            <p:extLst>
              <p:ext uri="{D42A27DB-BD31-4B8C-83A1-F6EECF244321}">
                <p14:modId xmlns:p14="http://schemas.microsoft.com/office/powerpoint/2010/main" val="1742105986"/>
              </p:ext>
            </p:extLst>
          </p:nvPr>
        </p:nvGraphicFramePr>
        <p:xfrm>
          <a:off x="647998" y="1752601"/>
          <a:ext cx="11112202" cy="3836052"/>
        </p:xfrm>
        <a:graphic>
          <a:graphicData uri="http://schemas.openxmlformats.org/drawingml/2006/table">
            <a:tbl>
              <a:tblPr>
                <a:tableStyleId>{5C22544A-7EE6-4342-B048-85BDC9FD1C3A}</a:tableStyleId>
              </a:tblPr>
              <a:tblGrid>
                <a:gridCol w="2262842">
                  <a:extLst>
                    <a:ext uri="{9D8B030D-6E8A-4147-A177-3AD203B41FA5}">
                      <a16:colId xmlns:a16="http://schemas.microsoft.com/office/drawing/2014/main" val="608459789"/>
                    </a:ext>
                  </a:extLst>
                </a:gridCol>
                <a:gridCol w="884936">
                  <a:extLst>
                    <a:ext uri="{9D8B030D-6E8A-4147-A177-3AD203B41FA5}">
                      <a16:colId xmlns:a16="http://schemas.microsoft.com/office/drawing/2014/main" val="1693895217"/>
                    </a:ext>
                  </a:extLst>
                </a:gridCol>
                <a:gridCol w="884936">
                  <a:extLst>
                    <a:ext uri="{9D8B030D-6E8A-4147-A177-3AD203B41FA5}">
                      <a16:colId xmlns:a16="http://schemas.microsoft.com/office/drawing/2014/main" val="1320895123"/>
                    </a:ext>
                  </a:extLst>
                </a:gridCol>
                <a:gridCol w="884936">
                  <a:extLst>
                    <a:ext uri="{9D8B030D-6E8A-4147-A177-3AD203B41FA5}">
                      <a16:colId xmlns:a16="http://schemas.microsoft.com/office/drawing/2014/main" val="2320702561"/>
                    </a:ext>
                  </a:extLst>
                </a:gridCol>
                <a:gridCol w="884936">
                  <a:extLst>
                    <a:ext uri="{9D8B030D-6E8A-4147-A177-3AD203B41FA5}">
                      <a16:colId xmlns:a16="http://schemas.microsoft.com/office/drawing/2014/main" val="1798204183"/>
                    </a:ext>
                  </a:extLst>
                </a:gridCol>
                <a:gridCol w="884936">
                  <a:extLst>
                    <a:ext uri="{9D8B030D-6E8A-4147-A177-3AD203B41FA5}">
                      <a16:colId xmlns:a16="http://schemas.microsoft.com/office/drawing/2014/main" val="3655792630"/>
                    </a:ext>
                  </a:extLst>
                </a:gridCol>
                <a:gridCol w="884936">
                  <a:extLst>
                    <a:ext uri="{9D8B030D-6E8A-4147-A177-3AD203B41FA5}">
                      <a16:colId xmlns:a16="http://schemas.microsoft.com/office/drawing/2014/main" val="397257348"/>
                    </a:ext>
                  </a:extLst>
                </a:gridCol>
                <a:gridCol w="884936">
                  <a:extLst>
                    <a:ext uri="{9D8B030D-6E8A-4147-A177-3AD203B41FA5}">
                      <a16:colId xmlns:a16="http://schemas.microsoft.com/office/drawing/2014/main" val="4275282199"/>
                    </a:ext>
                  </a:extLst>
                </a:gridCol>
                <a:gridCol w="884936">
                  <a:extLst>
                    <a:ext uri="{9D8B030D-6E8A-4147-A177-3AD203B41FA5}">
                      <a16:colId xmlns:a16="http://schemas.microsoft.com/office/drawing/2014/main" val="2533659359"/>
                    </a:ext>
                  </a:extLst>
                </a:gridCol>
                <a:gridCol w="884936">
                  <a:extLst>
                    <a:ext uri="{9D8B030D-6E8A-4147-A177-3AD203B41FA5}">
                      <a16:colId xmlns:a16="http://schemas.microsoft.com/office/drawing/2014/main" val="1861465662"/>
                    </a:ext>
                  </a:extLst>
                </a:gridCol>
                <a:gridCol w="884936">
                  <a:extLst>
                    <a:ext uri="{9D8B030D-6E8A-4147-A177-3AD203B41FA5}">
                      <a16:colId xmlns:a16="http://schemas.microsoft.com/office/drawing/2014/main" val="3715598657"/>
                    </a:ext>
                  </a:extLst>
                </a:gridCol>
              </a:tblGrid>
              <a:tr h="486832">
                <a:tc>
                  <a:txBody>
                    <a:bodyPr/>
                    <a:lstStyle/>
                    <a:p>
                      <a:pPr algn="ctr" fontAlgn="ctr">
                        <a:buNone/>
                      </a:pPr>
                      <a:r>
                        <a:rPr lang="en-GB" sz="1100" b="1" u="none" strike="noStrike" dirty="0">
                          <a:effectLst/>
                        </a:rPr>
                        <a:t>Domain / </a:t>
                      </a:r>
                    </a:p>
                    <a:p>
                      <a:pPr algn="ctr" fontAlgn="ctr">
                        <a:buNone/>
                      </a:pPr>
                      <a:r>
                        <a:rPr lang="en-GB" sz="1100" b="1" u="none" strike="noStrike" dirty="0">
                          <a:effectLst/>
                        </a:rPr>
                        <a:t>Use Case Set</a:t>
                      </a:r>
                      <a:endParaRPr lang="en-GB" sz="1100" b="1" i="0" u="none" strike="noStrike" dirty="0">
                        <a:solidFill>
                          <a:srgbClr val="1F2D3D"/>
                        </a:solidFill>
                        <a:effectLst/>
                        <a:latin typeface="Calibri" panose="020F0502020204030204" pitchFamily="34" charset="0"/>
                      </a:endParaRPr>
                    </a:p>
                  </a:txBody>
                  <a:tcPr marL="6350" marR="6350" marT="6350" marB="0" anchor="ctr">
                    <a:lnL w="12700" cmpd="sng">
                      <a:noFill/>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2F2F2"/>
                    </a:solidFill>
                  </a:tcPr>
                </a:tc>
                <a:tc>
                  <a:txBody>
                    <a:bodyPr/>
                    <a:lstStyle/>
                    <a:p>
                      <a:pPr algn="ctr" fontAlgn="ctr">
                        <a:buNone/>
                      </a:pPr>
                      <a:r>
                        <a:rPr lang="en-GB" sz="1100" b="1" u="none" strike="noStrike">
                          <a:effectLst/>
                        </a:rPr>
                        <a:t>Vuln</a:t>
                      </a:r>
                      <a:br>
                        <a:rPr lang="en-GB" sz="1100" b="1" u="none" strike="noStrike">
                          <a:effectLst/>
                        </a:rPr>
                      </a:br>
                      <a:r>
                        <a:rPr lang="en-GB" sz="1100" b="1" u="none" strike="noStrike">
                          <a:effectLst/>
                        </a:rPr>
                        <a:t>Scanner</a:t>
                      </a:r>
                      <a:endParaRPr lang="en-GB" sz="1100" b="1" i="0" u="none" strike="noStrike">
                        <a:solidFill>
                          <a:srgbClr val="1F2D3D"/>
                        </a:solidFill>
                        <a:effectLst/>
                        <a:latin typeface="Calibri" panose="020F050202020403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fontAlgn="ctr">
                        <a:buNone/>
                      </a:pPr>
                      <a:r>
                        <a:rPr lang="en-GB" sz="1100" b="1" u="none" strike="noStrike">
                          <a:effectLst/>
                        </a:rPr>
                        <a:t>EDR</a:t>
                      </a:r>
                      <a:endParaRPr lang="en-GB" sz="11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fontAlgn="ctr">
                        <a:buNone/>
                      </a:pPr>
                      <a:r>
                        <a:rPr lang="en-GB" sz="1100" b="1" u="none" strike="noStrike">
                          <a:effectLst/>
                        </a:rPr>
                        <a:t>MDM</a:t>
                      </a:r>
                      <a:endParaRPr lang="en-GB" sz="11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fontAlgn="ctr">
                        <a:buNone/>
                      </a:pPr>
                      <a:r>
                        <a:rPr lang="en-GB" sz="1100" b="1" u="none" strike="noStrike">
                          <a:effectLst/>
                        </a:rPr>
                        <a:t>CMDB</a:t>
                      </a:r>
                      <a:br>
                        <a:rPr lang="en-GB" sz="1100" b="1" u="none" strike="noStrike">
                          <a:effectLst/>
                        </a:rPr>
                      </a:br>
                      <a:r>
                        <a:rPr lang="en-GB" sz="1100" b="1" u="none" strike="noStrike">
                          <a:effectLst/>
                        </a:rPr>
                        <a:t>/ ITSM</a:t>
                      </a:r>
                      <a:endParaRPr lang="en-GB" sz="11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fontAlgn="ctr">
                        <a:buNone/>
                      </a:pPr>
                      <a:r>
                        <a:rPr lang="en-GB" sz="1100" b="1" u="none" strike="noStrike">
                          <a:effectLst/>
                        </a:rPr>
                        <a:t>Dir.</a:t>
                      </a:r>
                      <a:br>
                        <a:rPr lang="en-GB" sz="1100" b="1" u="none" strike="noStrike">
                          <a:effectLst/>
                        </a:rPr>
                      </a:br>
                      <a:r>
                        <a:rPr lang="en-GB" sz="1100" b="1" u="none" strike="noStrike">
                          <a:effectLst/>
                        </a:rPr>
                        <a:t>(AD/AAD)</a:t>
                      </a:r>
                      <a:endParaRPr lang="en-GB" sz="11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100" b="1" u="none" strike="noStrike">
                          <a:effectLst/>
                        </a:rPr>
                        <a:t>Cloud</a:t>
                      </a:r>
                      <a:endParaRPr lang="en-GB" sz="11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100" b="1" u="none" strike="noStrike">
                          <a:effectLst/>
                        </a:rPr>
                        <a:t>IdP/SSO</a:t>
                      </a:r>
                      <a:endParaRPr lang="en-GB" sz="11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100" b="1" u="none" strike="noStrike">
                          <a:effectLst/>
                        </a:rPr>
                        <a:t>PAM</a:t>
                      </a:r>
                      <a:endParaRPr lang="en-GB" sz="11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100" b="1" u="none" strike="noStrike">
                          <a:effectLst/>
                        </a:rPr>
                        <a:t>HR</a:t>
                      </a:r>
                      <a:endParaRPr lang="en-GB" sz="11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100" b="1" u="none" strike="noStrike">
                          <a:effectLst/>
                        </a:rPr>
                        <a:t>SIEM /</a:t>
                      </a:r>
                      <a:br>
                        <a:rPr lang="en-GB" sz="1100" b="1" u="none" strike="noStrike">
                          <a:effectLst/>
                        </a:rPr>
                      </a:br>
                      <a:r>
                        <a:rPr lang="en-GB" sz="1100" b="1" u="none" strike="noStrike">
                          <a:effectLst/>
                        </a:rPr>
                        <a:t>Logs</a:t>
                      </a:r>
                      <a:endParaRPr lang="en-GB" sz="11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484336127"/>
                  </a:ext>
                </a:extLst>
              </a:tr>
              <a:tr h="669844">
                <a:tc>
                  <a:txBody>
                    <a:bodyPr/>
                    <a:lstStyle/>
                    <a:p>
                      <a:pPr algn="l" fontAlgn="ctr">
                        <a:buNone/>
                      </a:pPr>
                      <a:r>
                        <a:rPr lang="en-GB" sz="1100" b="1" u="none" strike="noStrike" dirty="0">
                          <a:effectLst/>
                        </a:rPr>
                        <a:t>Asset Management / CAASM</a:t>
                      </a:r>
                      <a:endParaRPr lang="en-GB" sz="1100" b="1" i="0" u="none" strike="noStrike" dirty="0">
                        <a:solidFill>
                          <a:srgbClr val="1F2D3D"/>
                        </a:solidFill>
                        <a:effectLst/>
                        <a:latin typeface="Calibri" panose="020F0502020204030204" pitchFamily="34" charset="0"/>
                      </a:endParaRPr>
                    </a:p>
                  </a:txBody>
                  <a:tcPr marL="72000" marR="6350" marT="6350" marB="0" anchor="ctr">
                    <a:lnL w="12700" cmpd="sng">
                      <a:noFill/>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fontAlgn="ctr">
                        <a:buNone/>
                      </a:pPr>
                      <a:r>
                        <a:rPr lang="en-GB" sz="1800" u="none" strike="noStrike" dirty="0">
                          <a:effectLst/>
                        </a:rPr>
                        <a:t>◐</a:t>
                      </a:r>
                      <a:endParaRPr lang="en-GB" sz="1800" b="1" i="0" u="none" strike="noStrike" dirty="0">
                        <a:solidFill>
                          <a:srgbClr val="1F2D3D"/>
                        </a:solidFill>
                        <a:effectLst/>
                        <a:latin typeface="Calibri" panose="020F050202020403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56699872"/>
                  </a:ext>
                </a:extLst>
              </a:tr>
              <a:tr h="669844">
                <a:tc>
                  <a:txBody>
                    <a:bodyPr/>
                    <a:lstStyle/>
                    <a:p>
                      <a:pPr algn="l" fontAlgn="ctr">
                        <a:buNone/>
                      </a:pPr>
                      <a:r>
                        <a:rPr lang="en-GB" sz="1100" b="1" u="none" strike="noStrike" dirty="0">
                          <a:effectLst/>
                        </a:rPr>
                        <a:t>Vulnerability Management</a:t>
                      </a:r>
                      <a:endParaRPr lang="en-GB" sz="1100" b="1" i="0" u="none" strike="noStrike" dirty="0">
                        <a:solidFill>
                          <a:srgbClr val="1F2D3D"/>
                        </a:solidFill>
                        <a:effectLst/>
                        <a:latin typeface="Calibri" panose="020F0502020204030204" pitchFamily="34" charset="0"/>
                      </a:endParaRPr>
                    </a:p>
                  </a:txBody>
                  <a:tcPr marL="7200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4252872367"/>
                  </a:ext>
                </a:extLst>
              </a:tr>
              <a:tr h="669844">
                <a:tc>
                  <a:txBody>
                    <a:bodyPr/>
                    <a:lstStyle/>
                    <a:p>
                      <a:pPr algn="l" fontAlgn="ctr">
                        <a:buNone/>
                      </a:pPr>
                      <a:r>
                        <a:rPr lang="en-GB" sz="1100" b="1" u="none" strike="noStrike">
                          <a:effectLst/>
                        </a:rPr>
                        <a:t>Continuous Controls Monitoring</a:t>
                      </a:r>
                      <a:endParaRPr lang="en-GB" sz="1100" b="1" i="0" u="none" strike="noStrike">
                        <a:solidFill>
                          <a:srgbClr val="1F2D3D"/>
                        </a:solidFill>
                        <a:effectLst/>
                        <a:latin typeface="Calibri" panose="020F0502020204030204" pitchFamily="34" charset="0"/>
                      </a:endParaRPr>
                    </a:p>
                  </a:txBody>
                  <a:tcPr marL="7200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18E"/>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18E"/>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18E"/>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18E"/>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18E"/>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141175673"/>
                  </a:ext>
                </a:extLst>
              </a:tr>
              <a:tr h="669844">
                <a:tc>
                  <a:txBody>
                    <a:bodyPr/>
                    <a:lstStyle/>
                    <a:p>
                      <a:pPr algn="l" fontAlgn="ctr">
                        <a:buNone/>
                      </a:pPr>
                      <a:r>
                        <a:rPr lang="en-GB" sz="1100" b="1" u="none" strike="noStrike">
                          <a:effectLst/>
                        </a:rPr>
                        <a:t>Privileged Access &amp; Identity</a:t>
                      </a:r>
                      <a:endParaRPr lang="en-GB" sz="1100" b="1" i="0" u="none" strike="noStrike">
                        <a:solidFill>
                          <a:srgbClr val="1F2D3D"/>
                        </a:solidFill>
                        <a:effectLst/>
                        <a:latin typeface="Calibri" panose="020F0502020204030204" pitchFamily="34" charset="0"/>
                      </a:endParaRPr>
                    </a:p>
                  </a:txBody>
                  <a:tcPr marL="7200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756117010"/>
                  </a:ext>
                </a:extLst>
              </a:tr>
              <a:tr h="669844">
                <a:tc>
                  <a:txBody>
                    <a:bodyPr/>
                    <a:lstStyle/>
                    <a:p>
                      <a:pPr algn="l" fontAlgn="ctr">
                        <a:buNone/>
                      </a:pPr>
                      <a:r>
                        <a:rPr lang="en-GB" sz="1100" b="1" u="none" strike="noStrike">
                          <a:effectLst/>
                        </a:rPr>
                        <a:t>Cloud Posture &amp; Baselines</a:t>
                      </a:r>
                      <a:endParaRPr lang="en-GB" sz="1100" b="1" i="0" u="none" strike="noStrike">
                        <a:solidFill>
                          <a:srgbClr val="1F2D3D"/>
                        </a:solidFill>
                        <a:effectLst/>
                        <a:latin typeface="Calibri" panose="020F0502020204030204" pitchFamily="34" charset="0"/>
                      </a:endParaRPr>
                    </a:p>
                  </a:txBody>
                  <a:tcPr marL="7200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dirty="0">
                          <a:effectLst/>
                        </a:rPr>
                        <a:t>◐</a:t>
                      </a:r>
                      <a:endParaRPr lang="en-GB" sz="1800" b="1" i="0" u="none" strike="noStrike" dirty="0">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566591510"/>
                  </a:ext>
                </a:extLst>
              </a:tr>
            </a:tbl>
          </a:graphicData>
        </a:graphic>
      </p:graphicFrame>
      <p:sp>
        <p:nvSpPr>
          <p:cNvPr id="2" name="Text 1">
            <a:extLst>
              <a:ext uri="{FF2B5EF4-FFF2-40B4-BE49-F238E27FC236}">
                <a16:creationId xmlns:a16="http://schemas.microsoft.com/office/drawing/2014/main" id="{6FA4E966-6779-0AFF-1A35-5FF935C1E701}"/>
              </a:ext>
            </a:extLst>
          </p:cNvPr>
          <p:cNvSpPr/>
          <p:nvPr/>
        </p:nvSpPr>
        <p:spPr>
          <a:xfrm>
            <a:off x="7135906" y="5989319"/>
            <a:ext cx="2072351" cy="277208"/>
          </a:xfrm>
          <a:prstGeom prst="rect">
            <a:avLst/>
          </a:prstGeom>
          <a:solidFill>
            <a:srgbClr val="A9D18E"/>
          </a:solidFill>
          <a:ln/>
        </p:spPr>
        <p:txBody>
          <a:bodyPr wrap="square" rtlCol="0" anchor="ctr"/>
          <a:lstStyle/>
          <a:p>
            <a:pPr marL="0" indent="0" algn="ctr">
              <a:buNone/>
            </a:pPr>
            <a:r>
              <a:rPr lang="en-US" sz="1200" b="1">
                <a:latin typeface="Aptos" pitchFamily="34" charset="0"/>
                <a:ea typeface="Aptos" pitchFamily="34" charset="-122"/>
                <a:cs typeface="Aptos" pitchFamily="34" charset="-120"/>
              </a:rPr>
              <a:t>Proposed Pilot Scope </a:t>
            </a:r>
            <a:endParaRPr lang="en-US" sz="1200" b="1"/>
          </a:p>
        </p:txBody>
      </p:sp>
      <p:sp>
        <p:nvSpPr>
          <p:cNvPr id="5" name="Rectangle 4">
            <a:extLst>
              <a:ext uri="{FF2B5EF4-FFF2-40B4-BE49-F238E27FC236}">
                <a16:creationId xmlns:a16="http://schemas.microsoft.com/office/drawing/2014/main" id="{2DBCFEF8-4853-23A2-5980-304495EEDA82}"/>
              </a:ext>
            </a:extLst>
          </p:cNvPr>
          <p:cNvSpPr/>
          <p:nvPr/>
        </p:nvSpPr>
        <p:spPr>
          <a:xfrm>
            <a:off x="9226551" y="-2117"/>
            <a:ext cx="2967566" cy="74506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i="1" dirty="0">
                <a:solidFill>
                  <a:srgbClr val="000000"/>
                </a:solidFill>
              </a:rPr>
              <a:t>*For Pilot to Production Proposals</a:t>
            </a:r>
          </a:p>
        </p:txBody>
      </p:sp>
    </p:spTree>
    <p:extLst>
      <p:ext uri="{BB962C8B-B14F-4D97-AF65-F5344CB8AC3E}">
        <p14:creationId xmlns:p14="http://schemas.microsoft.com/office/powerpoint/2010/main" val="2595761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E001B-F785-397D-AC5A-BC24D5171DBE}"/>
            </a:ext>
          </a:extLst>
        </p:cNvPr>
        <p:cNvGrpSpPr/>
        <p:nvPr/>
      </p:nvGrpSpPr>
      <p:grpSpPr>
        <a:xfrm>
          <a:off x="0" y="0"/>
          <a:ext cx="0" cy="0"/>
          <a:chOff x="0" y="0"/>
          <a:chExt cx="0" cy="0"/>
        </a:xfrm>
      </p:grpSpPr>
      <p:graphicFrame>
        <p:nvGraphicFramePr>
          <p:cNvPr id="41" name="think-cell data - do not delete" hidden="1">
            <a:extLst>
              <a:ext uri="{FF2B5EF4-FFF2-40B4-BE49-F238E27FC236}">
                <a16:creationId xmlns:a16="http://schemas.microsoft.com/office/drawing/2014/main" id="{B1D11908-989A-C236-AAC5-DCC15CD82EF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41" name="think-cell data - do not delete" hidden="1">
                        <a:extLst>
                          <a:ext uri="{FF2B5EF4-FFF2-40B4-BE49-F238E27FC236}">
                            <a16:creationId xmlns:a16="http://schemas.microsoft.com/office/drawing/2014/main" id="{B1D11908-989A-C236-AAC5-DCC15CD82EF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object 8">
            <a:extLst>
              <a:ext uri="{FF2B5EF4-FFF2-40B4-BE49-F238E27FC236}">
                <a16:creationId xmlns:a16="http://schemas.microsoft.com/office/drawing/2014/main" id="{E458E851-003E-94E6-A1AD-79B152285E83}"/>
              </a:ext>
            </a:extLst>
          </p:cNvPr>
          <p:cNvSpPr txBox="1"/>
          <p:nvPr/>
        </p:nvSpPr>
        <p:spPr>
          <a:xfrm>
            <a:off x="647998" y="525983"/>
            <a:ext cx="11074609" cy="743793"/>
          </a:xfrm>
          <a:prstGeom prst="rect">
            <a:avLst/>
          </a:prstGeom>
        </p:spPr>
        <p:txBody>
          <a:bodyPr vert="horz" wrap="square" lIns="0" tIns="0" rIns="0" bIns="0" rtlCol="0">
            <a:spAutoFit/>
          </a:bodyPr>
          <a:lstStyle/>
          <a:p>
            <a:pPr marL="20319" lvl="0" defTabSz="1219170">
              <a:lnSpc>
                <a:spcPts val="2180"/>
              </a:lnSpc>
              <a:defRPr/>
            </a:pPr>
            <a:r>
              <a:rPr lang="en-US" sz="1400" spc="-100">
                <a:solidFill>
                  <a:srgbClr val="595959"/>
                </a:solidFill>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Pilot</a:t>
            </a:r>
          </a:p>
          <a:p>
            <a:pPr marL="20319" marR="0" lvl="0" indent="0" algn="l" defTabSz="1219170" eaLnBrk="1" fontAlgn="auto" latinLnBrk="0" hangingPunct="1">
              <a:spcBef>
                <a:spcPts val="0"/>
              </a:spcBef>
              <a:spcAft>
                <a:spcPts val="0"/>
              </a:spcAft>
              <a:buClrTx/>
              <a:buSzTx/>
              <a:buFontTx/>
              <a:buNone/>
              <a:tabLst/>
              <a:defRPr/>
            </a:pPr>
            <a:r>
              <a:rPr kumimoji="0" lang="en-US" sz="3000" b="1" i="0" u="none" strike="noStrike" kern="1200" cap="none" spc="-100" normalizeH="0" noProof="0">
                <a:ln>
                  <a:noFill/>
                </a:ln>
                <a:solidFill>
                  <a:srgbClr val="060B25"/>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Proposed Pilot Scope</a:t>
            </a:r>
          </a:p>
        </p:txBody>
      </p:sp>
      <p:sp>
        <p:nvSpPr>
          <p:cNvPr id="4" name="Text Placeholder 2">
            <a:extLst>
              <a:ext uri="{FF2B5EF4-FFF2-40B4-BE49-F238E27FC236}">
                <a16:creationId xmlns:a16="http://schemas.microsoft.com/office/drawing/2014/main" id="{46CFDCF1-AE1D-0678-AF0E-3E2FCBCC152C}"/>
              </a:ext>
            </a:extLst>
          </p:cNvPr>
          <p:cNvSpPr txBox="1">
            <a:spLocks/>
          </p:cNvSpPr>
          <p:nvPr/>
        </p:nvSpPr>
        <p:spPr>
          <a:xfrm>
            <a:off x="670983" y="1320801"/>
            <a:ext cx="10831206" cy="4889500"/>
          </a:xfrm>
          <a:prstGeom prst="rect">
            <a:avLst/>
          </a:prstGeom>
        </p:spPr>
        <p:txBody>
          <a:bodyPr numCol="1"/>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05740" indent="-205740"/>
            <a:r>
              <a:rPr lang="en-GB" sz="1600" dirty="0"/>
              <a:t>Stand-up an extendable Data Fabric</a:t>
            </a:r>
          </a:p>
          <a:p>
            <a:pPr marL="205740" indent="-205740"/>
            <a:r>
              <a:rPr lang="en-GB" sz="1600" dirty="0"/>
              <a:t>Implement automated daily ingestion for Pilot data sources, with lineage and data quality checks</a:t>
            </a:r>
          </a:p>
          <a:p>
            <a:pPr marL="205740" indent="-205740"/>
            <a:r>
              <a:rPr lang="en-GB" sz="1600" dirty="0"/>
              <a:t>Model and resolve Entities to create a consolidated, normalised, and trusted cross-source view; the Asset Source of Truth</a:t>
            </a:r>
          </a:p>
          <a:p>
            <a:pPr marL="205740" indent="-205740"/>
            <a:r>
              <a:rPr lang="en-GB" sz="1600" dirty="0"/>
              <a:t>Automate daily evolution of the Knowledge Graph, as a foundation for Pilot Use Cases and beyond, </a:t>
            </a:r>
            <a:r>
              <a:rPr lang="en-GB" sz="1600" dirty="0" err="1"/>
              <a:t>e.g</a:t>
            </a:r>
            <a:r>
              <a:rPr lang="en-GB" sz="1600" dirty="0"/>
              <a:t>:</a:t>
            </a:r>
          </a:p>
          <a:p>
            <a:pPr lvl="1">
              <a:lnSpc>
                <a:spcPct val="120000"/>
              </a:lnSpc>
            </a:pPr>
            <a:r>
              <a:rPr lang="en-GB" sz="1200" b="1" dirty="0"/>
              <a:t>CMDB reconciliation &amp; health improvement</a:t>
            </a:r>
            <a:r>
              <a:rPr lang="en-GB" sz="1200" dirty="0"/>
              <a:t>: gap/stale/duplicate/conflicts</a:t>
            </a:r>
          </a:p>
          <a:p>
            <a:pPr lvl="1">
              <a:lnSpc>
                <a:spcPct val="120000"/>
              </a:lnSpc>
            </a:pPr>
            <a:r>
              <a:rPr lang="en-GB" sz="1200" b="1" dirty="0"/>
              <a:t>Unmanaged / Unknown Asset</a:t>
            </a:r>
            <a:r>
              <a:rPr lang="en-GB" sz="1200" dirty="0"/>
              <a:t> </a:t>
            </a:r>
            <a:r>
              <a:rPr lang="en-GB" sz="1200" b="1" dirty="0"/>
              <a:t>Coverage &amp; Detection</a:t>
            </a:r>
            <a:r>
              <a:rPr lang="en-GB" sz="1200" dirty="0"/>
              <a:t>: </a:t>
            </a:r>
            <a:r>
              <a:rPr lang="en-GB" sz="1200" dirty="0" err="1"/>
              <a:t>e.g</a:t>
            </a:r>
            <a:r>
              <a:rPr lang="en-GB" sz="1200" dirty="0"/>
              <a:t> seen in EDR but not CMDB,  overlap (seen in 1 / 2 / 3+ sources)</a:t>
            </a:r>
          </a:p>
          <a:p>
            <a:pPr lvl="1">
              <a:lnSpc>
                <a:spcPct val="120000"/>
              </a:lnSpc>
            </a:pPr>
            <a:r>
              <a:rPr lang="en-GB" sz="1200" b="1" dirty="0"/>
              <a:t>Endpoint Posture: </a:t>
            </a:r>
            <a:r>
              <a:rPr lang="en-GB" sz="1200" dirty="0" err="1"/>
              <a:t>e.g</a:t>
            </a:r>
            <a:r>
              <a:rPr lang="en-GB" sz="1200" dirty="0"/>
              <a:t> EDR and VM coverage and configuration</a:t>
            </a:r>
          </a:p>
          <a:p>
            <a:pPr lvl="1" fontAlgn="ctr">
              <a:lnSpc>
                <a:spcPct val="120000"/>
              </a:lnSpc>
            </a:pPr>
            <a:r>
              <a:rPr lang="en-GB" sz="1200" b="1" dirty="0"/>
              <a:t>High-confidence vulnerability-to-asset association:</a:t>
            </a:r>
            <a:r>
              <a:rPr lang="en-GB" sz="1200" dirty="0"/>
              <a:t> resolve duplicates and bind scanner findings to the canonical asset record (with source lineage)</a:t>
            </a:r>
          </a:p>
          <a:p>
            <a:pPr lvl="1" fontAlgn="ctr">
              <a:lnSpc>
                <a:spcPct val="120000"/>
              </a:lnSpc>
            </a:pPr>
            <a:r>
              <a:rPr lang="en-GB" sz="1200" b="1" dirty="0"/>
              <a:t>Exploitability-weighted prioritisation:</a:t>
            </a:r>
            <a:r>
              <a:rPr lang="en-GB" sz="1200" dirty="0"/>
              <a:t> prioritise by KEV/exploit availability + EPSS-style likelihood + severity, not CVSS alone</a:t>
            </a:r>
          </a:p>
          <a:p>
            <a:pPr lvl="1" fontAlgn="ctr">
              <a:lnSpc>
                <a:spcPct val="120000"/>
              </a:lnSpc>
            </a:pPr>
            <a:r>
              <a:rPr lang="en-GB" sz="1200" b="1" dirty="0"/>
              <a:t>Exposure-aware risk scoring:</a:t>
            </a:r>
            <a:r>
              <a:rPr lang="en-GB" sz="1200" dirty="0"/>
              <a:t> boost priority for internet-facing assets, or those missing key/compensating security controls</a:t>
            </a:r>
          </a:p>
          <a:p>
            <a:pPr lvl="1" fontAlgn="ctr">
              <a:lnSpc>
                <a:spcPct val="120000"/>
              </a:lnSpc>
            </a:pPr>
            <a:r>
              <a:rPr lang="en-GB" sz="1200" b="1" dirty="0"/>
              <a:t>SLA policy &amp; tiering:</a:t>
            </a:r>
            <a:r>
              <a:rPr lang="en-GB" sz="1200" dirty="0"/>
              <a:t> different remediation SLAs by asset tier/class (workstations vs servers vs prod vs crown jewels)</a:t>
            </a:r>
          </a:p>
          <a:p>
            <a:pPr marL="205740" indent="-205740"/>
            <a:r>
              <a:rPr lang="en-GB" sz="1600" dirty="0"/>
              <a:t>Provide baseline Control Posture Dashboards for a defined subset of Controls (</a:t>
            </a:r>
            <a:r>
              <a:rPr lang="en-GB" sz="1600" dirty="0" err="1"/>
              <a:t>powerable</a:t>
            </a:r>
            <a:r>
              <a:rPr lang="en-GB" sz="1600" dirty="0"/>
              <a:t> through Pilot sources)</a:t>
            </a:r>
          </a:p>
          <a:p>
            <a:pPr marL="205740" indent="-205740"/>
            <a:r>
              <a:rPr lang="en-GB" sz="1600" dirty="0"/>
              <a:t>Enable Users to create their own Custom Interactive Dashboards</a:t>
            </a:r>
          </a:p>
        </p:txBody>
      </p:sp>
      <p:sp>
        <p:nvSpPr>
          <p:cNvPr id="3" name="Rectangle 2">
            <a:extLst>
              <a:ext uri="{FF2B5EF4-FFF2-40B4-BE49-F238E27FC236}">
                <a16:creationId xmlns:a16="http://schemas.microsoft.com/office/drawing/2014/main" id="{7C3B0512-027B-983C-13F1-DEF74EAD797F}"/>
              </a:ext>
            </a:extLst>
          </p:cNvPr>
          <p:cNvSpPr/>
          <p:nvPr/>
        </p:nvSpPr>
        <p:spPr>
          <a:xfrm>
            <a:off x="9226551" y="-2117"/>
            <a:ext cx="2967566" cy="74506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i="1" dirty="0">
                <a:solidFill>
                  <a:srgbClr val="000000"/>
                </a:solidFill>
              </a:rPr>
              <a:t>*For Pilot to Production Proposals</a:t>
            </a:r>
          </a:p>
        </p:txBody>
      </p:sp>
    </p:spTree>
    <p:extLst>
      <p:ext uri="{BB962C8B-B14F-4D97-AF65-F5344CB8AC3E}">
        <p14:creationId xmlns:p14="http://schemas.microsoft.com/office/powerpoint/2010/main" val="3856692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Panel"/>
          <p:cNvSpPr/>
          <p:nvPr/>
        </p:nvSpPr>
        <p:spPr>
          <a:xfrm>
            <a:off x="0" y="0"/>
            <a:ext cx="4584700" cy="6858000"/>
          </a:xfrm>
          <a:prstGeom prst="rect">
            <a:avLst/>
          </a:prstGeom>
          <a:solidFill>
            <a:srgbClr val="060B25"/>
          </a:solidFill>
          <a:ln>
            <a:noFill/>
          </a:ln>
        </p:spPr>
        <p:txBody>
          <a:bodyPr/>
          <a:lstStyle/>
          <a:p>
            <a:endParaRPr lang="en-US"/>
          </a:p>
        </p:txBody>
      </p:sp>
      <p:sp>
        <p:nvSpPr>
          <p:cNvPr id="51" name="LT"/>
          <p:cNvSpPr txBox="1"/>
          <p:nvPr/>
        </p:nvSpPr>
        <p:spPr>
          <a:xfrm>
            <a:off x="393700" y="1371600"/>
            <a:ext cx="3784600" cy="2540000"/>
          </a:xfrm>
          <a:prstGeom prst="rect">
            <a:avLst/>
          </a:prstGeom>
          <a:noFill/>
          <a:ln>
            <a:noFill/>
          </a:ln>
        </p:spPr>
        <p:txBody>
          <a:bodyPr wrap="square" lIns="0" tIns="0" rIns="0" bIns="0" anchor="t"/>
          <a:lstStyle/>
          <a:p>
            <a:pPr>
              <a:lnSpc>
                <a:spcPct val="120000"/>
              </a:lnSpc>
              <a:spcAft>
                <a:spcPts val="900"/>
              </a:spcAft>
            </a:pPr>
            <a:r>
              <a:rPr lang="en-US" sz="3200" b="1">
                <a:solidFill>
                  <a:srgbClr val="F1F1FF"/>
                </a:solidFill>
                <a:latin typeface="Aptos"/>
              </a:rPr>
              <a:t>Next Steps</a:t>
            </a:r>
          </a:p>
          <a:p>
            <a:pPr algn="l">
              <a:lnSpc>
                <a:spcPct val="120000"/>
              </a:lnSpc>
            </a:pPr>
            <a:r>
              <a:rPr lang="en-US" sz="1800">
                <a:solidFill>
                  <a:schemeClr val="bg1"/>
                </a:solidFill>
                <a:latin typeface="Aptos"/>
              </a:rPr>
              <a:t>We look forward to partnering with your team to transform cybersecurity operations</a:t>
            </a:r>
          </a:p>
        </p:txBody>
      </p:sp>
      <p:sp>
        <p:nvSpPr>
          <p:cNvPr id="60" name="Num0"/>
          <p:cNvSpPr/>
          <p:nvPr/>
        </p:nvSpPr>
        <p:spPr>
          <a:xfrm>
            <a:off x="5080000" y="1016000"/>
            <a:ext cx="457200" cy="457200"/>
          </a:xfrm>
          <a:prstGeom prst="ellipse">
            <a:avLst/>
          </a:prstGeom>
          <a:solidFill>
            <a:srgbClr val="6360D8"/>
          </a:solidFill>
          <a:ln>
            <a:noFill/>
          </a:ln>
        </p:spPr>
        <p:txBody>
          <a:bodyPr wrap="none" lIns="0" tIns="0" rIns="0" bIns="0" anchor="ctr"/>
          <a:lstStyle/>
          <a:p>
            <a:pPr algn="ctr">
              <a:buNone/>
            </a:pPr>
            <a:r>
              <a:rPr lang="en-US" sz="1600" b="1" dirty="0">
                <a:solidFill>
                  <a:srgbClr val="FFFFFF"/>
                </a:solidFill>
                <a:latin typeface="Aptos"/>
              </a:rPr>
              <a:t>1</a:t>
            </a:r>
          </a:p>
        </p:txBody>
      </p:sp>
      <p:sp>
        <p:nvSpPr>
          <p:cNvPr id="70" name="Step0"/>
          <p:cNvSpPr txBox="1"/>
          <p:nvPr/>
        </p:nvSpPr>
        <p:spPr>
          <a:xfrm>
            <a:off x="5689600" y="1016000"/>
            <a:ext cx="5969000" cy="1016000"/>
          </a:xfrm>
          <a:prstGeom prst="rect">
            <a:avLst/>
          </a:prstGeom>
          <a:noFill/>
          <a:ln>
            <a:noFill/>
          </a:ln>
        </p:spPr>
        <p:txBody>
          <a:bodyPr wrap="square" lIns="0" tIns="0" rIns="0" bIns="0" anchor="t"/>
          <a:lstStyle/>
          <a:p>
            <a:pPr>
              <a:buNone/>
            </a:pPr>
            <a:r>
              <a:rPr lang="en-US" sz="1800" b="1" dirty="0">
                <a:solidFill>
                  <a:srgbClr val="060B25"/>
                </a:solidFill>
                <a:latin typeface="Aptos"/>
              </a:rPr>
              <a:t>Align on Scope</a:t>
            </a:r>
          </a:p>
          <a:p>
            <a:pPr>
              <a:lnSpc>
                <a:spcPct val="120000"/>
              </a:lnSpc>
              <a:spcBef>
                <a:spcPts val="200"/>
              </a:spcBef>
              <a:buNone/>
            </a:pPr>
            <a:r>
              <a:rPr lang="en-US" sz="1400" dirty="0">
                <a:solidFill>
                  <a:srgbClr val="3B3B3B"/>
                </a:solidFill>
                <a:latin typeface="Aptos"/>
              </a:rPr>
              <a:t>Confirm pilot domains, data sources, and success criteria with key stakeholders</a:t>
            </a:r>
          </a:p>
        </p:txBody>
      </p:sp>
      <p:sp>
        <p:nvSpPr>
          <p:cNvPr id="80" name="Conn0"/>
          <p:cNvSpPr/>
          <p:nvPr/>
        </p:nvSpPr>
        <p:spPr>
          <a:xfrm>
            <a:off x="5295900" y="1498600"/>
            <a:ext cx="25400" cy="825500"/>
          </a:xfrm>
          <a:prstGeom prst="rect">
            <a:avLst/>
          </a:prstGeom>
          <a:solidFill>
            <a:srgbClr val="E0DDF8"/>
          </a:solidFill>
          <a:ln>
            <a:noFill/>
          </a:ln>
        </p:spPr>
        <p:txBody>
          <a:bodyPr/>
          <a:lstStyle/>
          <a:p>
            <a:endParaRPr lang="en-US"/>
          </a:p>
        </p:txBody>
      </p:sp>
      <p:sp>
        <p:nvSpPr>
          <p:cNvPr id="61" name="Num1"/>
          <p:cNvSpPr/>
          <p:nvPr/>
        </p:nvSpPr>
        <p:spPr>
          <a:xfrm>
            <a:off x="5080000" y="2349500"/>
            <a:ext cx="457200" cy="457200"/>
          </a:xfrm>
          <a:prstGeom prst="ellipse">
            <a:avLst/>
          </a:prstGeom>
          <a:solidFill>
            <a:srgbClr val="6360D8"/>
          </a:solidFill>
          <a:ln>
            <a:noFill/>
          </a:ln>
        </p:spPr>
        <p:txBody>
          <a:bodyPr wrap="none" lIns="0" tIns="0" rIns="0" bIns="0" anchor="ctr"/>
          <a:lstStyle/>
          <a:p>
            <a:pPr algn="ctr">
              <a:buNone/>
            </a:pPr>
            <a:r>
              <a:rPr lang="en-US" sz="1600" b="1" dirty="0">
                <a:solidFill>
                  <a:srgbClr val="FFFFFF"/>
                </a:solidFill>
                <a:latin typeface="Aptos"/>
              </a:rPr>
              <a:t>2</a:t>
            </a:r>
          </a:p>
        </p:txBody>
      </p:sp>
      <p:sp>
        <p:nvSpPr>
          <p:cNvPr id="71" name="Step1"/>
          <p:cNvSpPr txBox="1"/>
          <p:nvPr/>
        </p:nvSpPr>
        <p:spPr>
          <a:xfrm>
            <a:off x="5689600" y="2349500"/>
            <a:ext cx="5969000" cy="1016000"/>
          </a:xfrm>
          <a:prstGeom prst="rect">
            <a:avLst/>
          </a:prstGeom>
          <a:noFill/>
          <a:ln>
            <a:noFill/>
          </a:ln>
        </p:spPr>
        <p:txBody>
          <a:bodyPr wrap="square" lIns="0" tIns="0" rIns="0" bIns="0" anchor="t"/>
          <a:lstStyle/>
          <a:p>
            <a:pPr>
              <a:buNone/>
            </a:pPr>
            <a:r>
              <a:rPr lang="en-US" sz="1800" b="1" dirty="0">
                <a:solidFill>
                  <a:srgbClr val="060B25"/>
                </a:solidFill>
                <a:latin typeface="Aptos"/>
              </a:rPr>
              <a:t>Technical Onboarding</a:t>
            </a:r>
          </a:p>
          <a:p>
            <a:pPr>
              <a:lnSpc>
                <a:spcPct val="120000"/>
              </a:lnSpc>
              <a:spcBef>
                <a:spcPts val="200"/>
              </a:spcBef>
              <a:buNone/>
            </a:pPr>
            <a:r>
              <a:rPr lang="en-US" sz="1400" dirty="0">
                <a:solidFill>
                  <a:srgbClr val="3B3B3B"/>
                </a:solidFill>
                <a:latin typeface="Aptos"/>
              </a:rPr>
              <a:t>Connect data sources, configure entity resolution, and validate data quality</a:t>
            </a:r>
          </a:p>
        </p:txBody>
      </p:sp>
      <p:sp>
        <p:nvSpPr>
          <p:cNvPr id="81" name="Conn1"/>
          <p:cNvSpPr/>
          <p:nvPr/>
        </p:nvSpPr>
        <p:spPr>
          <a:xfrm>
            <a:off x="5295900" y="2832100"/>
            <a:ext cx="25400" cy="825500"/>
          </a:xfrm>
          <a:prstGeom prst="rect">
            <a:avLst/>
          </a:prstGeom>
          <a:solidFill>
            <a:srgbClr val="E0DDF8"/>
          </a:solidFill>
          <a:ln>
            <a:noFill/>
          </a:ln>
        </p:spPr>
        <p:txBody>
          <a:bodyPr/>
          <a:lstStyle/>
          <a:p>
            <a:endParaRPr lang="en-US"/>
          </a:p>
        </p:txBody>
      </p:sp>
      <p:sp>
        <p:nvSpPr>
          <p:cNvPr id="62" name="Num2"/>
          <p:cNvSpPr/>
          <p:nvPr/>
        </p:nvSpPr>
        <p:spPr>
          <a:xfrm>
            <a:off x="5080000" y="3683000"/>
            <a:ext cx="457200" cy="457200"/>
          </a:xfrm>
          <a:prstGeom prst="ellipse">
            <a:avLst/>
          </a:prstGeom>
          <a:solidFill>
            <a:srgbClr val="6360D8"/>
          </a:solidFill>
          <a:ln>
            <a:noFill/>
          </a:ln>
        </p:spPr>
        <p:txBody>
          <a:bodyPr wrap="none" lIns="0" tIns="0" rIns="0" bIns="0" anchor="ctr"/>
          <a:lstStyle/>
          <a:p>
            <a:pPr algn="ctr">
              <a:buNone/>
            </a:pPr>
            <a:r>
              <a:rPr lang="en-US" sz="1600" b="1" dirty="0">
                <a:solidFill>
                  <a:srgbClr val="FFFFFF"/>
                </a:solidFill>
                <a:latin typeface="Aptos"/>
              </a:rPr>
              <a:t>3</a:t>
            </a:r>
          </a:p>
        </p:txBody>
      </p:sp>
      <p:sp>
        <p:nvSpPr>
          <p:cNvPr id="72" name="Step2"/>
          <p:cNvSpPr txBox="1"/>
          <p:nvPr/>
        </p:nvSpPr>
        <p:spPr>
          <a:xfrm>
            <a:off x="5689600" y="3683000"/>
            <a:ext cx="5969000" cy="1016000"/>
          </a:xfrm>
          <a:prstGeom prst="rect">
            <a:avLst/>
          </a:prstGeom>
          <a:noFill/>
          <a:ln>
            <a:noFill/>
          </a:ln>
        </p:spPr>
        <p:txBody>
          <a:bodyPr wrap="square" lIns="0" tIns="0" rIns="0" bIns="0" anchor="t"/>
          <a:lstStyle/>
          <a:p>
            <a:pPr>
              <a:buNone/>
            </a:pPr>
            <a:r>
              <a:rPr lang="en-US" sz="1800" b="1" dirty="0">
                <a:solidFill>
                  <a:srgbClr val="060B25"/>
                </a:solidFill>
                <a:latin typeface="Aptos"/>
              </a:rPr>
              <a:t>Pilot Execution</a:t>
            </a:r>
          </a:p>
          <a:p>
            <a:pPr>
              <a:lnSpc>
                <a:spcPct val="120000"/>
              </a:lnSpc>
              <a:spcBef>
                <a:spcPts val="200"/>
              </a:spcBef>
              <a:buNone/>
            </a:pPr>
            <a:r>
              <a:rPr lang="en-US" sz="1400" dirty="0">
                <a:solidFill>
                  <a:srgbClr val="3B3B3B"/>
                </a:solidFill>
                <a:latin typeface="Aptos"/>
              </a:rPr>
              <a:t>Deploy core use cases, iterate on dashboards, and measure initial outcomes</a:t>
            </a:r>
          </a:p>
        </p:txBody>
      </p:sp>
      <p:sp>
        <p:nvSpPr>
          <p:cNvPr id="82" name="Conn2"/>
          <p:cNvSpPr/>
          <p:nvPr/>
        </p:nvSpPr>
        <p:spPr>
          <a:xfrm>
            <a:off x="5295900" y="4165600"/>
            <a:ext cx="25400" cy="825500"/>
          </a:xfrm>
          <a:prstGeom prst="rect">
            <a:avLst/>
          </a:prstGeom>
          <a:solidFill>
            <a:srgbClr val="E0DDF8"/>
          </a:solidFill>
          <a:ln>
            <a:noFill/>
          </a:ln>
        </p:spPr>
        <p:txBody>
          <a:bodyPr/>
          <a:lstStyle/>
          <a:p>
            <a:endParaRPr lang="en-US"/>
          </a:p>
        </p:txBody>
      </p:sp>
      <p:sp>
        <p:nvSpPr>
          <p:cNvPr id="63" name="Num3"/>
          <p:cNvSpPr/>
          <p:nvPr/>
        </p:nvSpPr>
        <p:spPr>
          <a:xfrm>
            <a:off x="5080000" y="5016500"/>
            <a:ext cx="457200" cy="457200"/>
          </a:xfrm>
          <a:prstGeom prst="ellipse">
            <a:avLst/>
          </a:prstGeom>
          <a:solidFill>
            <a:srgbClr val="6360D8"/>
          </a:solidFill>
          <a:ln>
            <a:noFill/>
          </a:ln>
        </p:spPr>
        <p:txBody>
          <a:bodyPr wrap="none" lIns="0" tIns="0" rIns="0" bIns="0" anchor="ctr"/>
          <a:lstStyle/>
          <a:p>
            <a:pPr algn="ctr">
              <a:buNone/>
            </a:pPr>
            <a:r>
              <a:rPr lang="en-US" sz="1600" b="1" dirty="0">
                <a:solidFill>
                  <a:srgbClr val="FFFFFF"/>
                </a:solidFill>
                <a:latin typeface="Aptos"/>
              </a:rPr>
              <a:t>4</a:t>
            </a:r>
          </a:p>
        </p:txBody>
      </p:sp>
      <p:sp>
        <p:nvSpPr>
          <p:cNvPr id="73" name="Step3"/>
          <p:cNvSpPr txBox="1"/>
          <p:nvPr/>
        </p:nvSpPr>
        <p:spPr>
          <a:xfrm>
            <a:off x="5689600" y="5016500"/>
            <a:ext cx="5969000" cy="1016000"/>
          </a:xfrm>
          <a:prstGeom prst="rect">
            <a:avLst/>
          </a:prstGeom>
          <a:noFill/>
          <a:ln>
            <a:noFill/>
          </a:ln>
        </p:spPr>
        <p:txBody>
          <a:bodyPr wrap="square" lIns="0" tIns="0" rIns="0" bIns="0" anchor="t"/>
          <a:lstStyle/>
          <a:p>
            <a:pPr>
              <a:buNone/>
            </a:pPr>
            <a:r>
              <a:rPr lang="en-US" sz="1800" b="1" dirty="0">
                <a:solidFill>
                  <a:srgbClr val="060B25"/>
                </a:solidFill>
                <a:latin typeface="Aptos"/>
              </a:rPr>
              <a:t>Review &amp; Expand</a:t>
            </a:r>
          </a:p>
          <a:p>
            <a:pPr>
              <a:lnSpc>
                <a:spcPct val="120000"/>
              </a:lnSpc>
              <a:spcBef>
                <a:spcPts val="200"/>
              </a:spcBef>
              <a:buNone/>
            </a:pPr>
            <a:r>
              <a:rPr lang="en-US" sz="1400" dirty="0">
                <a:solidFill>
                  <a:srgbClr val="3B3B3B"/>
                </a:solidFill>
                <a:latin typeface="Aptos"/>
              </a:rPr>
              <a:t>Present pilot results, quantify ROI, and define production roadmap</a:t>
            </a:r>
          </a:p>
        </p:txBody>
      </p:sp>
    </p:spTree>
    <p:extLst>
      <p:ext uri="{BB962C8B-B14F-4D97-AF65-F5344CB8AC3E}">
        <p14:creationId xmlns:p14="http://schemas.microsoft.com/office/powerpoint/2010/main" val="3871231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 name="T"/>
          <p:cNvSpPr txBox="1"/>
          <p:nvPr/>
        </p:nvSpPr>
        <p:spPr>
          <a:xfrm>
            <a:off x="673100" y="444500"/>
            <a:ext cx="11049000" cy="762000"/>
          </a:xfrm>
          <a:prstGeom prst="rect">
            <a:avLst/>
          </a:prstGeom>
          <a:noFill/>
          <a:ln>
            <a:noFill/>
          </a:ln>
        </p:spPr>
        <p:txBody>
          <a:bodyPr wrap="square" lIns="0" tIns="0" rIns="0" bIns="0" anchor="b"/>
          <a:lstStyle/>
          <a:p>
            <a:pPr>
              <a:buNone/>
            </a:pPr>
            <a:r>
              <a:rPr lang="en-US" sz="1400" spc="-100" dirty="0">
                <a:solidFill>
                  <a:srgbClr val="595959"/>
                </a:solidFill>
                <a:latin typeface="Aptos"/>
              </a:rPr>
              <a:t>Competitive Differentiation</a:t>
            </a:r>
          </a:p>
          <a:p>
            <a:pPr>
              <a:spcBef>
                <a:spcPts val="0"/>
              </a:spcBef>
              <a:buNone/>
            </a:pPr>
            <a:r>
              <a:rPr lang="en-US" sz="3000" b="1" spc="-100" dirty="0">
                <a:solidFill>
                  <a:srgbClr val="060B25"/>
                </a:solidFill>
                <a:latin typeface="Aptos"/>
              </a:rPr>
              <a:t>Why Prevalent AI</a:t>
            </a:r>
          </a:p>
        </p:txBody>
      </p:sp>
      <p:sp>
        <p:nvSpPr>
          <p:cNvPr id="51" name="L"/>
          <p:cNvSpPr/>
          <p:nvPr/>
        </p:nvSpPr>
        <p:spPr>
          <a:xfrm>
            <a:off x="673100" y="1270000"/>
            <a:ext cx="11049000" cy="12700"/>
          </a:xfrm>
          <a:prstGeom prst="rect">
            <a:avLst/>
          </a:prstGeom>
          <a:solidFill>
            <a:srgbClr val="6360D8"/>
          </a:solidFill>
          <a:ln>
            <a:noFill/>
          </a:ln>
        </p:spPr>
        <p:txBody>
          <a:bodyPr/>
          <a:lstStyle/>
          <a:p>
            <a:endParaRPr lang="en-US"/>
          </a:p>
        </p:txBody>
      </p:sp>
      <p:sp>
        <p:nvSpPr>
          <p:cNvPr id="60" name="B0"/>
          <p:cNvSpPr/>
          <p:nvPr/>
        </p:nvSpPr>
        <p:spPr>
          <a:xfrm>
            <a:off x="673100" y="1524000"/>
            <a:ext cx="63500" cy="2222500"/>
          </a:xfrm>
          <a:prstGeom prst="roundRect">
            <a:avLst>
              <a:gd name="adj" fmla="val 50000"/>
            </a:avLst>
          </a:prstGeom>
          <a:solidFill>
            <a:srgbClr val="6360D8"/>
          </a:solidFill>
          <a:ln>
            <a:noFill/>
          </a:ln>
        </p:spPr>
        <p:txBody>
          <a:bodyPr/>
          <a:lstStyle/>
          <a:p>
            <a:endParaRPr lang="en-US"/>
          </a:p>
        </p:txBody>
      </p:sp>
      <p:sp>
        <p:nvSpPr>
          <p:cNvPr id="70" name="C0"/>
          <p:cNvSpPr txBox="1"/>
          <p:nvPr/>
        </p:nvSpPr>
        <p:spPr>
          <a:xfrm>
            <a:off x="850900" y="1524000"/>
            <a:ext cx="5156200" cy="2222500"/>
          </a:xfrm>
          <a:prstGeom prst="rect">
            <a:avLst/>
          </a:prstGeom>
          <a:noFill/>
          <a:ln>
            <a:noFill/>
          </a:ln>
        </p:spPr>
        <p:txBody>
          <a:bodyPr wrap="square" lIns="0" tIns="0" rIns="0" bIns="0" anchor="t"/>
          <a:lstStyle/>
          <a:p>
            <a:pPr>
              <a:buNone/>
            </a:pPr>
            <a:r>
              <a:rPr lang="en-US" sz="2800" b="1" dirty="0">
                <a:solidFill>
                  <a:srgbClr val="6360D8">
                    <a:alpha val="30000"/>
                  </a:srgbClr>
                </a:solidFill>
                <a:latin typeface="Aptos"/>
              </a:rPr>
              <a:t>01</a:t>
            </a:r>
          </a:p>
          <a:p>
            <a:pPr>
              <a:spcBef>
                <a:spcPts val="0"/>
              </a:spcBef>
              <a:buNone/>
            </a:pPr>
            <a:r>
              <a:rPr lang="en-US" sz="1800" b="1" dirty="0">
                <a:solidFill>
                  <a:srgbClr val="060B25"/>
                </a:solidFill>
                <a:latin typeface="Aptos"/>
              </a:rPr>
              <a:t>Purpose-Built Data Fabric</a:t>
            </a:r>
          </a:p>
          <a:p>
            <a:pPr>
              <a:lnSpc>
                <a:spcPct val="120000"/>
              </a:lnSpc>
              <a:spcBef>
                <a:spcPts val="400"/>
              </a:spcBef>
              <a:buNone/>
            </a:pPr>
            <a:r>
              <a:rPr lang="en-US" sz="1400" dirty="0">
                <a:solidFill>
                  <a:srgbClr val="3B3B3B"/>
                </a:solidFill>
                <a:latin typeface="Aptos"/>
              </a:rPr>
              <a:t>Not a SIEM or data lake. Our data fabric with entity resolution and knowledge graph creates a true unified view of the enterprise, not just data aggregation.</a:t>
            </a:r>
          </a:p>
        </p:txBody>
      </p:sp>
      <p:sp>
        <p:nvSpPr>
          <p:cNvPr id="61" name="B1"/>
          <p:cNvSpPr/>
          <p:nvPr/>
        </p:nvSpPr>
        <p:spPr>
          <a:xfrm>
            <a:off x="6350000" y="1524000"/>
            <a:ext cx="63500" cy="2222500"/>
          </a:xfrm>
          <a:prstGeom prst="roundRect">
            <a:avLst>
              <a:gd name="adj" fmla="val 50000"/>
            </a:avLst>
          </a:prstGeom>
          <a:solidFill>
            <a:srgbClr val="2E8B57"/>
          </a:solidFill>
          <a:ln>
            <a:noFill/>
          </a:ln>
        </p:spPr>
        <p:txBody>
          <a:bodyPr/>
          <a:lstStyle/>
          <a:p>
            <a:endParaRPr lang="en-US"/>
          </a:p>
        </p:txBody>
      </p:sp>
      <p:sp>
        <p:nvSpPr>
          <p:cNvPr id="71" name="C1"/>
          <p:cNvSpPr txBox="1"/>
          <p:nvPr/>
        </p:nvSpPr>
        <p:spPr>
          <a:xfrm>
            <a:off x="6527800" y="1524000"/>
            <a:ext cx="5156200" cy="2222500"/>
          </a:xfrm>
          <a:prstGeom prst="rect">
            <a:avLst/>
          </a:prstGeom>
          <a:noFill/>
          <a:ln>
            <a:noFill/>
          </a:ln>
        </p:spPr>
        <p:txBody>
          <a:bodyPr wrap="square" lIns="0" tIns="0" rIns="0" bIns="0" anchor="t"/>
          <a:lstStyle/>
          <a:p>
            <a:pPr>
              <a:buNone/>
            </a:pPr>
            <a:r>
              <a:rPr lang="en-US" sz="2800" b="1" dirty="0">
                <a:solidFill>
                  <a:srgbClr val="2E8B57">
                    <a:alpha val="30000"/>
                  </a:srgbClr>
                </a:solidFill>
                <a:latin typeface="Aptos"/>
              </a:rPr>
              <a:t>02</a:t>
            </a:r>
          </a:p>
          <a:p>
            <a:pPr>
              <a:spcBef>
                <a:spcPts val="0"/>
              </a:spcBef>
              <a:buNone/>
            </a:pPr>
            <a:r>
              <a:rPr lang="en-US" sz="1800" b="1" dirty="0">
                <a:solidFill>
                  <a:srgbClr val="060B25"/>
                </a:solidFill>
                <a:latin typeface="Aptos"/>
              </a:rPr>
              <a:t>AI-Native Architecture</a:t>
            </a:r>
          </a:p>
          <a:p>
            <a:pPr>
              <a:lnSpc>
                <a:spcPct val="120000"/>
              </a:lnSpc>
              <a:spcBef>
                <a:spcPts val="400"/>
              </a:spcBef>
              <a:buNone/>
            </a:pPr>
            <a:r>
              <a:rPr lang="en-US" sz="1400" dirty="0">
                <a:solidFill>
                  <a:srgbClr val="3B3B3B"/>
                </a:solidFill>
                <a:latin typeface="Aptos"/>
              </a:rPr>
              <a:t>AI is embedded in the platform core, not bolted on. Machine learning powers entity resolution, risk scoring, and anomaly detection from day one.</a:t>
            </a:r>
          </a:p>
        </p:txBody>
      </p:sp>
      <p:sp>
        <p:nvSpPr>
          <p:cNvPr id="62" name="B2"/>
          <p:cNvSpPr/>
          <p:nvPr/>
        </p:nvSpPr>
        <p:spPr>
          <a:xfrm>
            <a:off x="673100" y="3937000"/>
            <a:ext cx="63500" cy="2222500"/>
          </a:xfrm>
          <a:prstGeom prst="roundRect">
            <a:avLst>
              <a:gd name="adj" fmla="val 50000"/>
            </a:avLst>
          </a:prstGeom>
          <a:solidFill>
            <a:srgbClr val="3A7CA5"/>
          </a:solidFill>
          <a:ln>
            <a:noFill/>
          </a:ln>
        </p:spPr>
        <p:txBody>
          <a:bodyPr/>
          <a:lstStyle/>
          <a:p>
            <a:endParaRPr lang="en-US"/>
          </a:p>
        </p:txBody>
      </p:sp>
      <p:sp>
        <p:nvSpPr>
          <p:cNvPr id="72" name="C2"/>
          <p:cNvSpPr txBox="1"/>
          <p:nvPr/>
        </p:nvSpPr>
        <p:spPr>
          <a:xfrm>
            <a:off x="850900" y="3937000"/>
            <a:ext cx="5156200" cy="2222500"/>
          </a:xfrm>
          <a:prstGeom prst="rect">
            <a:avLst/>
          </a:prstGeom>
          <a:noFill/>
          <a:ln>
            <a:noFill/>
          </a:ln>
        </p:spPr>
        <p:txBody>
          <a:bodyPr wrap="square" lIns="0" tIns="0" rIns="0" bIns="0" anchor="t"/>
          <a:lstStyle/>
          <a:p>
            <a:pPr>
              <a:buNone/>
            </a:pPr>
            <a:r>
              <a:rPr lang="en-US" sz="2800" b="1" dirty="0">
                <a:solidFill>
                  <a:srgbClr val="3A7CA5">
                    <a:alpha val="30000"/>
                  </a:srgbClr>
                </a:solidFill>
                <a:latin typeface="Aptos"/>
              </a:rPr>
              <a:t>03</a:t>
            </a:r>
          </a:p>
          <a:p>
            <a:pPr>
              <a:spcBef>
                <a:spcPts val="0"/>
              </a:spcBef>
              <a:buNone/>
            </a:pPr>
            <a:r>
              <a:rPr lang="en-US" sz="1800" b="1" dirty="0">
                <a:solidFill>
                  <a:srgbClr val="060B25"/>
                </a:solidFill>
                <a:latin typeface="Aptos"/>
              </a:rPr>
              <a:t>Domain Convergence</a:t>
            </a:r>
          </a:p>
          <a:p>
            <a:pPr>
              <a:lnSpc>
                <a:spcPct val="120000"/>
              </a:lnSpc>
              <a:spcBef>
                <a:spcPts val="400"/>
              </a:spcBef>
              <a:buNone/>
            </a:pPr>
            <a:r>
              <a:rPr lang="en-US" sz="1400" dirty="0">
                <a:solidFill>
                  <a:srgbClr val="3B3B3B"/>
                </a:solidFill>
                <a:latin typeface="Aptos"/>
              </a:rPr>
              <a:t>One platform spanning CAASM, RBVM, ISPM, CCM, and CSPM. Eliminates the 5+ point tools most enterprises maintain for these functions.</a:t>
            </a:r>
          </a:p>
        </p:txBody>
      </p:sp>
      <p:sp>
        <p:nvSpPr>
          <p:cNvPr id="63" name="B3"/>
          <p:cNvSpPr/>
          <p:nvPr/>
        </p:nvSpPr>
        <p:spPr>
          <a:xfrm>
            <a:off x="6350000" y="3937000"/>
            <a:ext cx="63500" cy="2222500"/>
          </a:xfrm>
          <a:prstGeom prst="roundRect">
            <a:avLst>
              <a:gd name="adj" fmla="val 50000"/>
            </a:avLst>
          </a:prstGeom>
          <a:solidFill>
            <a:srgbClr val="C45B28"/>
          </a:solidFill>
          <a:ln>
            <a:noFill/>
          </a:ln>
        </p:spPr>
        <p:txBody>
          <a:bodyPr/>
          <a:lstStyle/>
          <a:p>
            <a:endParaRPr lang="en-US"/>
          </a:p>
        </p:txBody>
      </p:sp>
      <p:sp>
        <p:nvSpPr>
          <p:cNvPr id="73" name="C3"/>
          <p:cNvSpPr txBox="1"/>
          <p:nvPr/>
        </p:nvSpPr>
        <p:spPr>
          <a:xfrm>
            <a:off x="6527800" y="3937000"/>
            <a:ext cx="5156200" cy="2222500"/>
          </a:xfrm>
          <a:prstGeom prst="rect">
            <a:avLst/>
          </a:prstGeom>
          <a:noFill/>
          <a:ln>
            <a:noFill/>
          </a:ln>
        </p:spPr>
        <p:txBody>
          <a:bodyPr wrap="square" lIns="0" tIns="0" rIns="0" bIns="0" anchor="t"/>
          <a:lstStyle/>
          <a:p>
            <a:pPr>
              <a:buNone/>
            </a:pPr>
            <a:r>
              <a:rPr lang="en-US" sz="2800" b="1" dirty="0">
                <a:solidFill>
                  <a:srgbClr val="C45B28">
                    <a:alpha val="30000"/>
                  </a:srgbClr>
                </a:solidFill>
                <a:latin typeface="Aptos"/>
              </a:rPr>
              <a:t>04</a:t>
            </a:r>
          </a:p>
          <a:p>
            <a:pPr>
              <a:spcBef>
                <a:spcPts val="0"/>
              </a:spcBef>
              <a:buNone/>
            </a:pPr>
            <a:r>
              <a:rPr lang="en-US" sz="1800" b="1" dirty="0">
                <a:solidFill>
                  <a:srgbClr val="060B25"/>
                </a:solidFill>
                <a:latin typeface="Aptos"/>
              </a:rPr>
              <a:t>Time to Value</a:t>
            </a:r>
          </a:p>
          <a:p>
            <a:pPr>
              <a:lnSpc>
                <a:spcPct val="120000"/>
              </a:lnSpc>
              <a:spcBef>
                <a:spcPts val="400"/>
              </a:spcBef>
              <a:buNone/>
            </a:pPr>
            <a:r>
              <a:rPr lang="en-US" sz="1400" dirty="0">
                <a:solidFill>
                  <a:srgbClr val="3B3B3B"/>
                </a:solidFill>
                <a:latin typeface="Aptos"/>
              </a:rPr>
              <a:t>Pre-built connectors and automated entity resolution mean pilot results in weeks, not months. No manual data mapping or custom integration required.</a:t>
            </a:r>
          </a:p>
        </p:txBody>
      </p:sp>
    </p:spTree>
    <p:extLst>
      <p:ext uri="{BB962C8B-B14F-4D97-AF65-F5344CB8AC3E}">
        <p14:creationId xmlns:p14="http://schemas.microsoft.com/office/powerpoint/2010/main" val="1487330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EE310-395A-EE7E-07CC-C91BE7237F86}"/>
            </a:ext>
          </a:extLst>
        </p:cNvPr>
        <p:cNvGrpSpPr/>
        <p:nvPr/>
      </p:nvGrpSpPr>
      <p:grpSpPr>
        <a:xfrm>
          <a:off x="0" y="0"/>
          <a:ext cx="0" cy="0"/>
          <a:chOff x="0" y="0"/>
          <a:chExt cx="0" cy="0"/>
        </a:xfrm>
      </p:grpSpPr>
      <p:graphicFrame>
        <p:nvGraphicFramePr>
          <p:cNvPr id="41" name="think-cell data - do not delete" hidden="1">
            <a:extLst>
              <a:ext uri="{FF2B5EF4-FFF2-40B4-BE49-F238E27FC236}">
                <a16:creationId xmlns:a16="http://schemas.microsoft.com/office/drawing/2014/main" id="{FFABA488-5903-48D6-AF26-6DEE32B1F02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41" name="think-cell data - do not delete" hidden="1">
                        <a:extLst>
                          <a:ext uri="{FF2B5EF4-FFF2-40B4-BE49-F238E27FC236}">
                            <a16:creationId xmlns:a16="http://schemas.microsoft.com/office/drawing/2014/main" id="{FFABA488-5903-48D6-AF26-6DEE32B1F02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object 8">
            <a:extLst>
              <a:ext uri="{FF2B5EF4-FFF2-40B4-BE49-F238E27FC236}">
                <a16:creationId xmlns:a16="http://schemas.microsoft.com/office/drawing/2014/main" id="{8F30496D-1E5C-3CDF-D1C0-C6122013595F}"/>
              </a:ext>
            </a:extLst>
          </p:cNvPr>
          <p:cNvSpPr txBox="1"/>
          <p:nvPr/>
        </p:nvSpPr>
        <p:spPr>
          <a:xfrm>
            <a:off x="647998" y="525983"/>
            <a:ext cx="11074609" cy="743793"/>
          </a:xfrm>
          <a:prstGeom prst="rect">
            <a:avLst/>
          </a:prstGeom>
        </p:spPr>
        <p:txBody>
          <a:bodyPr vert="horz" wrap="square" lIns="0" tIns="0" rIns="0" bIns="0" rtlCol="0">
            <a:spAutoFit/>
          </a:bodyPr>
          <a:lstStyle/>
          <a:p>
            <a:pPr marL="20319" lvl="0" defTabSz="1219170">
              <a:lnSpc>
                <a:spcPts val="2180"/>
              </a:lnSpc>
              <a:defRPr/>
            </a:pPr>
            <a:r>
              <a:rPr lang="en-US" sz="1400" spc="-100" dirty="0">
                <a:solidFill>
                  <a:srgbClr val="595959"/>
                </a:solidFill>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End to end Example</a:t>
            </a:r>
          </a:p>
          <a:p>
            <a:pPr marL="20319" marR="0" lvl="0" indent="0" algn="l" defTabSz="1219170" eaLnBrk="1" fontAlgn="auto" latinLnBrk="0" hangingPunct="1">
              <a:spcBef>
                <a:spcPts val="0"/>
              </a:spcBef>
              <a:spcAft>
                <a:spcPts val="0"/>
              </a:spcAft>
              <a:buClrTx/>
              <a:buSzTx/>
              <a:buFontTx/>
              <a:buNone/>
              <a:tabLst/>
              <a:defRPr/>
            </a:pPr>
            <a:r>
              <a:rPr kumimoji="0" lang="en-US" sz="3000" b="1" i="0" u="none" strike="noStrike" kern="1200" cap="none" spc="-100" normalizeH="0" noProof="0" dirty="0">
                <a:ln>
                  <a:noFill/>
                </a:ln>
                <a:solidFill>
                  <a:srgbClr val="060B25"/>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“Full-Spectrum” Use Case Example</a:t>
            </a:r>
          </a:p>
        </p:txBody>
      </p:sp>
      <p:cxnSp>
        <p:nvCxnSpPr>
          <p:cNvPr id="19" name="Straight Connector 18">
            <a:extLst>
              <a:ext uri="{FF2B5EF4-FFF2-40B4-BE49-F238E27FC236}">
                <a16:creationId xmlns:a16="http://schemas.microsoft.com/office/drawing/2014/main" id="{DD4A0D63-2894-4CDC-808C-3D9E63F8B020}"/>
              </a:ext>
            </a:extLst>
          </p:cNvPr>
          <p:cNvCxnSpPr>
            <a:cxnSpLocks/>
          </p:cNvCxnSpPr>
          <p:nvPr/>
        </p:nvCxnSpPr>
        <p:spPr>
          <a:xfrm flipV="1">
            <a:off x="647998" y="3288788"/>
            <a:ext cx="9870564" cy="849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2" name="object 8">
            <a:extLst>
              <a:ext uri="{FF2B5EF4-FFF2-40B4-BE49-F238E27FC236}">
                <a16:creationId xmlns:a16="http://schemas.microsoft.com/office/drawing/2014/main" id="{5066C57E-9E03-A56C-8C9A-63560BFCCB48}"/>
              </a:ext>
            </a:extLst>
          </p:cNvPr>
          <p:cNvSpPr txBox="1"/>
          <p:nvPr/>
        </p:nvSpPr>
        <p:spPr>
          <a:xfrm>
            <a:off x="647998" y="1353677"/>
            <a:ext cx="10998571" cy="571096"/>
          </a:xfrm>
          <a:prstGeom prst="rect">
            <a:avLst/>
          </a:prstGeom>
        </p:spPr>
        <p:txBody>
          <a:bodyPr vert="horz" wrap="square" lIns="0" tIns="16933" rIns="0" bIns="0" rtlCol="0">
            <a:spAutoFit/>
          </a:bodyPr>
          <a:lstStyle/>
          <a:p>
            <a:pPr marL="16933" marR="6773" defTabSz="1219170">
              <a:spcBef>
                <a:spcPts val="133"/>
              </a:spcBef>
              <a:tabLst>
                <a:tab pos="321725" algn="l"/>
                <a:tab pos="322572" algn="l"/>
              </a:tabLst>
            </a:pPr>
            <a:r>
              <a:rPr lang="en-US" sz="1200">
                <a:solidFill>
                  <a:srgbClr val="595959"/>
                </a:solidFill>
                <a:latin typeface="Aptos" panose="020B0004020202020204" pitchFamily="34" charset="0"/>
                <a:cs typeface="Poppins" panose="00000500000000000000" pitchFamily="2" charset="0"/>
                <a:sym typeface="Aptos" panose="020B0004020202020204" pitchFamily="34" charset="0"/>
              </a:rPr>
              <a:t>Multiple Assessments and metrics combine to provide a systemic view of Risk from either the perspective of controls, or the affected assets; we determine the impact of individual control gaps, and also consider other controls affecting the asset. We leverage an understanding of the asset’s criticality and the vulnerabilities that is has, to determine “net” Risk, taking all things into consideration</a:t>
            </a:r>
          </a:p>
        </p:txBody>
      </p:sp>
      <p:sp>
        <p:nvSpPr>
          <p:cNvPr id="3" name="TextBox 2">
            <a:extLst>
              <a:ext uri="{FF2B5EF4-FFF2-40B4-BE49-F238E27FC236}">
                <a16:creationId xmlns:a16="http://schemas.microsoft.com/office/drawing/2014/main" id="{415A2E15-F7FB-0F2A-DB29-752BE51064FF}"/>
              </a:ext>
            </a:extLst>
          </p:cNvPr>
          <p:cNvSpPr txBox="1"/>
          <p:nvPr/>
        </p:nvSpPr>
        <p:spPr>
          <a:xfrm>
            <a:off x="670512" y="5013062"/>
            <a:ext cx="9967776" cy="1415772"/>
          </a:xfrm>
          <a:prstGeom prst="rect">
            <a:avLst/>
          </a:prstGeom>
          <a:noFill/>
        </p:spPr>
        <p:txBody>
          <a:bodyPr wrap="square" rtlCol="0">
            <a:spAutoFit/>
          </a:bodyPr>
          <a:lstStyle/>
          <a:p>
            <a:r>
              <a:rPr lang="en-US" sz="1600" b="1" i="0" u="none" strike="noStrike">
                <a:solidFill>
                  <a:srgbClr val="6360D8"/>
                </a:solidFill>
                <a:effectLst/>
                <a:latin typeface="Aptos" panose="020B0004020202020204" pitchFamily="34" charset="0"/>
                <a:ea typeface="Open Sans" pitchFamily="2" charset="0"/>
                <a:cs typeface="Open Sans" pitchFamily="2" charset="0"/>
                <a:sym typeface="Aptos" panose="020B0004020202020204" pitchFamily="34" charset="0"/>
              </a:rPr>
              <a:t>Systemic Risk Analysis</a:t>
            </a:r>
          </a:p>
          <a:p>
            <a:r>
              <a:rPr lang="en-US" sz="1400">
                <a:solidFill>
                  <a:srgbClr val="595959"/>
                </a:solidFill>
                <a:latin typeface="Aptos" panose="020B0004020202020204" pitchFamily="34" charset="0"/>
                <a:ea typeface="Open Sans" pitchFamily="2" charset="0"/>
                <a:cs typeface="Open Sans" pitchFamily="2" charset="0"/>
                <a:sym typeface="Aptos" panose="020B0004020202020204" pitchFamily="34" charset="0"/>
              </a:rPr>
              <a:t>One can assess assets with only partial compliance. For example, assets being scanned for vulnerabilities, but not being patched appropriately. Which of these assets do not have EDR, thus exploitation of known-to-be vulnerable assets might go unnoticed? One can see which of these assets are used by privileged users, and thus where control weaknesses pose a greater problem. The fidelity and comprehensiveness of Control Assessments are unlimited, providing breadth and depth of coverage, and enabling an intelligent understanding of what and where the real problems are.</a:t>
            </a:r>
          </a:p>
        </p:txBody>
      </p:sp>
      <p:sp>
        <p:nvSpPr>
          <p:cNvPr id="5" name="TextBox 4">
            <a:extLst>
              <a:ext uri="{FF2B5EF4-FFF2-40B4-BE49-F238E27FC236}">
                <a16:creationId xmlns:a16="http://schemas.microsoft.com/office/drawing/2014/main" id="{B0F28BF4-95B7-5A17-B8E3-D7FB486FBC68}"/>
              </a:ext>
            </a:extLst>
          </p:cNvPr>
          <p:cNvSpPr txBox="1"/>
          <p:nvPr/>
        </p:nvSpPr>
        <p:spPr>
          <a:xfrm>
            <a:off x="647998" y="3491737"/>
            <a:ext cx="9967776" cy="1200329"/>
          </a:xfrm>
          <a:prstGeom prst="rect">
            <a:avLst/>
          </a:prstGeom>
          <a:noFill/>
        </p:spPr>
        <p:txBody>
          <a:bodyPr wrap="square" rtlCol="0">
            <a:spAutoFit/>
          </a:bodyPr>
          <a:lstStyle/>
          <a:p>
            <a:r>
              <a:rPr lang="en-US" sz="1600" b="1" i="0" u="none" strike="noStrike">
                <a:solidFill>
                  <a:srgbClr val="6360D8"/>
                </a:solidFill>
                <a:effectLst/>
                <a:latin typeface="Aptos" panose="020B0004020202020204" pitchFamily="34" charset="0"/>
                <a:ea typeface="Open Sans" pitchFamily="2" charset="0"/>
                <a:cs typeface="Open Sans" pitchFamily="2" charset="0"/>
                <a:sym typeface="Aptos" panose="020B0004020202020204" pitchFamily="34" charset="0"/>
              </a:rPr>
              <a:t>Vulnerability Management and EDR Controls</a:t>
            </a:r>
          </a:p>
          <a:p>
            <a:r>
              <a:rPr lang="en-US" sz="1400">
                <a:solidFill>
                  <a:srgbClr val="595959"/>
                </a:solidFill>
                <a:latin typeface="Aptos" panose="020B0004020202020204" pitchFamily="34" charset="0"/>
                <a:ea typeface="Open Sans" pitchFamily="2" charset="0"/>
                <a:cs typeface="Open Sans" pitchFamily="2" charset="0"/>
                <a:sym typeface="Aptos" panose="020B0004020202020204" pitchFamily="34" charset="0"/>
              </a:rPr>
              <a:t>You get coverage and performance metrics on the percentage of your estate being managed by these key controls. </a:t>
            </a:r>
          </a:p>
          <a:p>
            <a:pPr marL="285750" indent="-285750">
              <a:buFont typeface="Arial" panose="020B0604020202020204" pitchFamily="34" charset="0"/>
              <a:buChar char="•"/>
            </a:pPr>
            <a:r>
              <a:rPr lang="en-US" sz="1400">
                <a:solidFill>
                  <a:srgbClr val="595959"/>
                </a:solidFill>
                <a:latin typeface="Aptos" panose="020B0004020202020204" pitchFamily="34" charset="0"/>
                <a:ea typeface="Open Sans" pitchFamily="2" charset="0"/>
                <a:cs typeface="Open Sans" pitchFamily="2" charset="0"/>
                <a:sym typeface="Aptos" panose="020B0004020202020204" pitchFamily="34" charset="0"/>
              </a:rPr>
              <a:t>How many assets are being scanned? How many via the appropriate method, and at the required frequency? Are vulnerabilities being remediated i-line with Policy? </a:t>
            </a:r>
          </a:p>
          <a:p>
            <a:pPr marL="285750" indent="-285750">
              <a:buFont typeface="Arial" panose="020B0604020202020204" pitchFamily="34" charset="0"/>
              <a:buChar char="•"/>
            </a:pPr>
            <a:r>
              <a:rPr lang="en-US" sz="1400">
                <a:solidFill>
                  <a:srgbClr val="595959"/>
                </a:solidFill>
                <a:latin typeface="Aptos" panose="020B0004020202020204" pitchFamily="34" charset="0"/>
                <a:ea typeface="Open Sans" pitchFamily="2" charset="0"/>
                <a:cs typeface="Open Sans" pitchFamily="2" charset="0"/>
                <a:sym typeface="Aptos" panose="020B0004020202020204" pitchFamily="34" charset="0"/>
              </a:rPr>
              <a:t>How many of my assets have an EDR agent deployed? Are they configured correctly? Are they receiving signature updates? </a:t>
            </a:r>
          </a:p>
        </p:txBody>
      </p:sp>
      <p:sp>
        <p:nvSpPr>
          <p:cNvPr id="6" name="TextBox 5">
            <a:extLst>
              <a:ext uri="{FF2B5EF4-FFF2-40B4-BE49-F238E27FC236}">
                <a16:creationId xmlns:a16="http://schemas.microsoft.com/office/drawing/2014/main" id="{743925A7-3533-8922-940C-CF85FD8210C5}"/>
              </a:ext>
            </a:extLst>
          </p:cNvPr>
          <p:cNvSpPr txBox="1"/>
          <p:nvPr/>
        </p:nvSpPr>
        <p:spPr>
          <a:xfrm>
            <a:off x="647998" y="2054364"/>
            <a:ext cx="10110016" cy="1200329"/>
          </a:xfrm>
          <a:prstGeom prst="rect">
            <a:avLst/>
          </a:prstGeom>
          <a:noFill/>
        </p:spPr>
        <p:txBody>
          <a:bodyPr wrap="square" rtlCol="0">
            <a:spAutoFit/>
          </a:bodyPr>
          <a:lstStyle/>
          <a:p>
            <a:pPr>
              <a:spcBef>
                <a:spcPts val="0"/>
              </a:spcBef>
              <a:spcAft>
                <a:spcPts val="0"/>
              </a:spcAft>
            </a:pPr>
            <a:r>
              <a:rPr lang="en-US" sz="1600" b="1" i="0" u="none" strike="noStrike">
                <a:solidFill>
                  <a:srgbClr val="6360D8"/>
                </a:solidFill>
                <a:effectLst/>
                <a:latin typeface="Aptos" panose="020B0004020202020204" pitchFamily="34" charset="0"/>
                <a:ea typeface="Open Sans" pitchFamily="2" charset="0"/>
                <a:cs typeface="Open Sans" pitchFamily="2" charset="0"/>
                <a:sym typeface="Aptos" panose="020B0004020202020204" pitchFamily="34" charset="0"/>
              </a:rPr>
              <a:t>Inventorying of Software and Hardware Assets</a:t>
            </a:r>
          </a:p>
          <a:p>
            <a:pPr>
              <a:spcBef>
                <a:spcPts val="0"/>
              </a:spcBef>
              <a:spcAft>
                <a:spcPts val="0"/>
              </a:spcAft>
            </a:pPr>
            <a:r>
              <a:rPr lang="en-US" sz="1400">
                <a:solidFill>
                  <a:srgbClr val="595959"/>
                </a:solidFill>
                <a:effectLst/>
                <a:latin typeface="Aptos" panose="020B0004020202020204" pitchFamily="34" charset="0"/>
                <a:ea typeface="Open Sans" pitchFamily="2" charset="0"/>
                <a:cs typeface="Open Sans" pitchFamily="2" charset="0"/>
                <a:sym typeface="Aptos" panose="020B0004020202020204" pitchFamily="34" charset="0"/>
              </a:rPr>
              <a:t>CIS Control #1 - Knowing what you have and where it is. You get a super-set - yet normalised overview - of all assets within the estate. This is used as a baseline for a variety of additional Control Assessments. You know what you have, where it is, and how important it is. </a:t>
            </a:r>
            <a:r>
              <a:rPr lang="en-US" sz="1400">
                <a:solidFill>
                  <a:srgbClr val="595959"/>
                </a:solidFill>
                <a:latin typeface="Aptos" panose="020B0004020202020204" pitchFamily="34" charset="0"/>
                <a:ea typeface="Open Sans" pitchFamily="2" charset="0"/>
                <a:cs typeface="Open Sans" pitchFamily="2" charset="0"/>
                <a:sym typeface="Aptos" panose="020B0004020202020204" pitchFamily="34" charset="0"/>
              </a:rPr>
              <a:t>You get metrics on how many assets actually exist in your CMDBs (coverage), along with measures of how frequently and recently they have been reconciled (performance), or if the assets are dormant.</a:t>
            </a:r>
            <a:endParaRPr lang="en-US" sz="1400">
              <a:solidFill>
                <a:srgbClr val="595959"/>
              </a:solidFill>
              <a:effectLst/>
              <a:latin typeface="Aptos" panose="020B0004020202020204" pitchFamily="34" charset="0"/>
              <a:ea typeface="Open Sans" pitchFamily="2" charset="0"/>
              <a:cs typeface="Open Sans" pitchFamily="2" charset="0"/>
              <a:sym typeface="Aptos" panose="020B0004020202020204" pitchFamily="34" charset="0"/>
            </a:endParaRPr>
          </a:p>
        </p:txBody>
      </p:sp>
      <p:cxnSp>
        <p:nvCxnSpPr>
          <p:cNvPr id="8" name="Straight Connector 7">
            <a:extLst>
              <a:ext uri="{FF2B5EF4-FFF2-40B4-BE49-F238E27FC236}">
                <a16:creationId xmlns:a16="http://schemas.microsoft.com/office/drawing/2014/main" id="{5C9576F2-FEEB-8AC3-9E2B-8793E948CF1C}"/>
              </a:ext>
            </a:extLst>
          </p:cNvPr>
          <p:cNvCxnSpPr>
            <a:cxnSpLocks/>
          </p:cNvCxnSpPr>
          <p:nvPr/>
        </p:nvCxnSpPr>
        <p:spPr>
          <a:xfrm flipV="1">
            <a:off x="745210" y="4810113"/>
            <a:ext cx="9870564" cy="849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108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2AA36-95F7-950F-DFFD-8A98E3713E6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8461242-B8E7-1A28-2260-D96D0B6F76F7}"/>
              </a:ext>
            </a:extLst>
          </p:cNvPr>
          <p:cNvSpPr/>
          <p:nvPr/>
        </p:nvSpPr>
        <p:spPr>
          <a:xfrm>
            <a:off x="0" y="-2"/>
            <a:ext cx="4584190" cy="6858001"/>
          </a:xfrm>
          <a:prstGeom prst="rect">
            <a:avLst/>
          </a:prstGeom>
          <a:solidFill>
            <a:srgbClr val="060B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sym typeface="Aptos" panose="020B0004020202020204" pitchFamily="34" charset="0"/>
            </a:endParaRPr>
          </a:p>
        </p:txBody>
      </p:sp>
      <p:sp>
        <p:nvSpPr>
          <p:cNvPr id="4" name="TextBox 3">
            <a:extLst>
              <a:ext uri="{FF2B5EF4-FFF2-40B4-BE49-F238E27FC236}">
                <a16:creationId xmlns:a16="http://schemas.microsoft.com/office/drawing/2014/main" id="{E4264A64-83B9-6711-DA92-07EA8E574416}"/>
              </a:ext>
            </a:extLst>
          </p:cNvPr>
          <p:cNvSpPr txBox="1"/>
          <p:nvPr/>
        </p:nvSpPr>
        <p:spPr>
          <a:xfrm>
            <a:off x="392668" y="1371600"/>
            <a:ext cx="3784696" cy="1240148"/>
          </a:xfrm>
          <a:prstGeom prst="rect">
            <a:avLst/>
          </a:prstGeom>
          <a:noFill/>
        </p:spPr>
        <p:txBody>
          <a:bodyPr wrap="square" lIns="91440" tIns="45720" rIns="91440" bIns="45720" rtlCol="0" anchor="t">
            <a:spAutoFit/>
          </a:bodyPr>
          <a:lstStyle/>
          <a:p>
            <a:pPr>
              <a:lnSpc>
                <a:spcPct val="120000"/>
              </a:lnSpc>
              <a:spcAft>
                <a:spcPts val="900"/>
              </a:spcAft>
            </a:pPr>
            <a:r>
              <a:rPr lang="en-US" sz="3200" b="1">
                <a:solidFill>
                  <a:srgbClr val="F1F1FF"/>
                </a:solidFill>
                <a:latin typeface="Aptos" panose="020B0004020202020204" pitchFamily="34" charset="0"/>
                <a:ea typeface="Open Sans Bold" pitchFamily="2" charset="0"/>
                <a:cs typeface="Open Sans Bold" pitchFamily="2" charset="0"/>
                <a:sym typeface="Aptos" panose="020B0004020202020204" pitchFamily="34" charset="0"/>
              </a:rPr>
              <a:t>Use Case Examples</a:t>
            </a:r>
            <a:endParaRPr lang="en-US" sz="2500">
              <a:solidFill>
                <a:schemeClr val="bg1"/>
              </a:solidFill>
              <a:latin typeface="Aptos" panose="020B0004020202020204" pitchFamily="34" charset="0"/>
              <a:ea typeface="Open Sans Bold" pitchFamily="2" charset="0"/>
              <a:cs typeface="Open Sans Bold" pitchFamily="2" charset="0"/>
              <a:sym typeface="Aptos" panose="020B0004020202020204" pitchFamily="34" charset="0"/>
            </a:endParaRPr>
          </a:p>
        </p:txBody>
      </p:sp>
      <p:sp>
        <p:nvSpPr>
          <p:cNvPr id="100" name="RightBg"/>
          <p:cNvSpPr/>
          <p:nvPr/>
        </p:nvSpPr>
        <p:spPr>
          <a:xfrm>
            <a:off x="4584700" y="0"/>
            <a:ext cx="7607300" cy="6858000"/>
          </a:xfrm>
          <a:prstGeom prst="rect">
            <a:avLst/>
          </a:prstGeom>
          <a:solidFill>
            <a:srgbClr val="F0EFFE"/>
          </a:solidFill>
          <a:ln>
            <a:noFill/>
          </a:ln>
        </p:spPr>
        <p:txBody>
          <a:bodyPr/>
          <a:lstStyle/>
          <a:p>
            <a:endParaRPr lang="en-US"/>
          </a:p>
        </p:txBody>
      </p:sp>
      <p:sp>
        <p:nvSpPr>
          <p:cNvPr id="101" name="DomainList"/>
          <p:cNvSpPr txBox="1"/>
          <p:nvPr/>
        </p:nvSpPr>
        <p:spPr>
          <a:xfrm>
            <a:off x="5016500" y="1143000"/>
            <a:ext cx="6731000" cy="5334000"/>
          </a:xfrm>
          <a:prstGeom prst="rect">
            <a:avLst/>
          </a:prstGeom>
          <a:noFill/>
          <a:ln>
            <a:noFill/>
          </a:ln>
        </p:spPr>
        <p:txBody>
          <a:bodyPr wrap="square" lIns="0" tIns="0" rIns="0" bIns="0" anchor="ctr"/>
          <a:lstStyle/>
          <a:p>
            <a:pPr marL="228600" indent="-228600">
              <a:lnSpc>
                <a:spcPts val="1800"/>
              </a:lnSpc>
              <a:spcBef>
                <a:spcPts val="0"/>
              </a:spcBef>
              <a:buFont typeface="Wingdings" panose="05000000000000000000"/>
              <a:buChar char="ü"/>
            </a:pPr>
            <a:r>
              <a:rPr lang="en-US" sz="1600" b="1" dirty="0">
                <a:solidFill>
                  <a:srgbClr val="060B25"/>
                </a:solidFill>
                <a:latin typeface="Aptos"/>
              </a:rPr>
              <a:t>Asset Management / CAASM</a:t>
            </a:r>
          </a:p>
          <a:p>
            <a:pPr marL="228600">
              <a:lnSpc>
                <a:spcPts val="1600"/>
              </a:lnSpc>
              <a:spcBef>
                <a:spcPts val="0"/>
              </a:spcBef>
              <a:buNone/>
            </a:pPr>
            <a:r>
              <a:rPr lang="en-US" sz="1400" dirty="0">
                <a:solidFill>
                  <a:srgbClr val="595959"/>
                </a:solidFill>
                <a:latin typeface="Aptos"/>
              </a:rPr>
              <a:t>Unified inventory, coverage, and lifecycle</a:t>
            </a:r>
          </a:p>
          <a:p>
            <a:pPr marL="228600" indent="-228600">
              <a:lnSpc>
                <a:spcPts val="1800"/>
              </a:lnSpc>
              <a:spcBef>
                <a:spcPts val="600"/>
              </a:spcBef>
              <a:buFont typeface="Wingdings" panose="05000000000000000000"/>
              <a:buChar char="ü"/>
            </a:pPr>
            <a:r>
              <a:rPr lang="en-US" sz="1600" b="1" dirty="0">
                <a:solidFill>
                  <a:srgbClr val="060B25"/>
                </a:solidFill>
                <a:latin typeface="Aptos"/>
              </a:rPr>
              <a:t>Vulnerability Management</a:t>
            </a:r>
          </a:p>
          <a:p>
            <a:pPr marL="228600">
              <a:lnSpc>
                <a:spcPts val="1600"/>
              </a:lnSpc>
              <a:spcBef>
                <a:spcPts val="0"/>
              </a:spcBef>
              <a:buNone/>
            </a:pPr>
            <a:r>
              <a:rPr lang="en-US" sz="1400" dirty="0">
                <a:solidFill>
                  <a:srgbClr val="595959"/>
                </a:solidFill>
                <a:latin typeface="Aptos"/>
              </a:rPr>
              <a:t>Risk-based prioritisation and remediation</a:t>
            </a:r>
          </a:p>
          <a:p>
            <a:pPr marL="228600" indent="-228600">
              <a:lnSpc>
                <a:spcPts val="1800"/>
              </a:lnSpc>
              <a:spcBef>
                <a:spcPts val="600"/>
              </a:spcBef>
              <a:buFont typeface="Wingdings" panose="05000000000000000000"/>
              <a:buChar char="ü"/>
            </a:pPr>
            <a:r>
              <a:rPr lang="en-US" sz="1600" b="1" dirty="0">
                <a:solidFill>
                  <a:srgbClr val="060B25"/>
                </a:solidFill>
                <a:latin typeface="Aptos"/>
              </a:rPr>
              <a:t>Privileged Access</a:t>
            </a:r>
          </a:p>
          <a:p>
            <a:pPr marL="228600">
              <a:lnSpc>
                <a:spcPts val="1600"/>
              </a:lnSpc>
              <a:spcBef>
                <a:spcPts val="0"/>
              </a:spcBef>
              <a:buNone/>
            </a:pPr>
            <a:r>
              <a:rPr lang="en-US" sz="1400" dirty="0">
                <a:solidFill>
                  <a:srgbClr val="595959"/>
                </a:solidFill>
                <a:latin typeface="Aptos"/>
              </a:rPr>
              <a:t>Identity catalogue, creep, and governance</a:t>
            </a:r>
          </a:p>
          <a:p>
            <a:pPr marL="228600" indent="-228600">
              <a:lnSpc>
                <a:spcPts val="1800"/>
              </a:lnSpc>
              <a:spcBef>
                <a:spcPts val="600"/>
              </a:spcBef>
              <a:buFont typeface="Wingdings" panose="05000000000000000000"/>
              <a:buChar char="ü"/>
            </a:pPr>
            <a:r>
              <a:rPr lang="en-US" sz="1600" b="1" dirty="0">
                <a:solidFill>
                  <a:srgbClr val="060B25"/>
                </a:solidFill>
                <a:latin typeface="Aptos"/>
              </a:rPr>
              <a:t>Identity and User360</a:t>
            </a:r>
          </a:p>
          <a:p>
            <a:pPr marL="228600">
              <a:lnSpc>
                <a:spcPts val="1600"/>
              </a:lnSpc>
              <a:spcBef>
                <a:spcPts val="0"/>
              </a:spcBef>
              <a:buNone/>
            </a:pPr>
            <a:r>
              <a:rPr lang="en-US" sz="1400" dirty="0">
                <a:solidFill>
                  <a:srgbClr val="595959"/>
                </a:solidFill>
                <a:latin typeface="Aptos"/>
              </a:rPr>
              <a:t>Stitching, lifecycle, and posture</a:t>
            </a:r>
          </a:p>
          <a:p>
            <a:pPr marL="228600" indent="-228600">
              <a:lnSpc>
                <a:spcPts val="1800"/>
              </a:lnSpc>
              <a:spcBef>
                <a:spcPts val="600"/>
              </a:spcBef>
              <a:buFont typeface="Wingdings" panose="05000000000000000000"/>
              <a:buChar char="ü"/>
            </a:pPr>
            <a:r>
              <a:rPr lang="en-US" sz="1600" b="1" dirty="0">
                <a:solidFill>
                  <a:srgbClr val="060B25"/>
                </a:solidFill>
                <a:latin typeface="Aptos"/>
              </a:rPr>
              <a:t>Cloud Posture and Baselines</a:t>
            </a:r>
          </a:p>
          <a:p>
            <a:pPr marL="228600">
              <a:lnSpc>
                <a:spcPts val="1600"/>
              </a:lnSpc>
              <a:spcBef>
                <a:spcPts val="0"/>
              </a:spcBef>
              <a:buNone/>
            </a:pPr>
            <a:r>
              <a:rPr lang="en-US" sz="1400" dirty="0">
                <a:solidFill>
                  <a:srgbClr val="595959"/>
                </a:solidFill>
                <a:latin typeface="Aptos"/>
              </a:rPr>
              <a:t>Inventory, compliance, and drift</a:t>
            </a:r>
          </a:p>
          <a:p>
            <a:pPr marL="228600" indent="-228600">
              <a:lnSpc>
                <a:spcPts val="1800"/>
              </a:lnSpc>
              <a:spcBef>
                <a:spcPts val="600"/>
              </a:spcBef>
              <a:buFont typeface="Wingdings" panose="05000000000000000000"/>
              <a:buChar char="ü"/>
            </a:pPr>
            <a:r>
              <a:rPr lang="en-US" sz="1600" b="1" dirty="0">
                <a:solidFill>
                  <a:srgbClr val="060B25"/>
                </a:solidFill>
                <a:latin typeface="Aptos"/>
              </a:rPr>
              <a:t>Continuous Controls Monitoring</a:t>
            </a:r>
          </a:p>
          <a:p>
            <a:pPr marL="228600">
              <a:lnSpc>
                <a:spcPts val="1600"/>
              </a:lnSpc>
              <a:spcBef>
                <a:spcPts val="0"/>
              </a:spcBef>
              <a:buNone/>
            </a:pPr>
            <a:r>
              <a:rPr lang="en-US" sz="1400" dirty="0">
                <a:solidFill>
                  <a:srgbClr val="595959"/>
                </a:solidFill>
                <a:latin typeface="Aptos"/>
              </a:rPr>
              <a:t>Coverage, health, and exception governance</a:t>
            </a:r>
          </a:p>
        </p:txBody>
      </p:sp>
    </p:spTree>
    <p:extLst>
      <p:ext uri="{BB962C8B-B14F-4D97-AF65-F5344CB8AC3E}">
        <p14:creationId xmlns:p14="http://schemas.microsoft.com/office/powerpoint/2010/main" val="23437048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B4D36-0991-DB30-A427-9E3EE1E988F6}"/>
            </a:ext>
          </a:extLst>
        </p:cNvPr>
        <p:cNvGrpSpPr/>
        <p:nvPr/>
      </p:nvGrpSpPr>
      <p:grpSpPr>
        <a:xfrm>
          <a:off x="0" y="0"/>
          <a:ext cx="0" cy="0"/>
          <a:chOff x="0" y="0"/>
          <a:chExt cx="0" cy="0"/>
        </a:xfrm>
      </p:grpSpPr>
      <p:graphicFrame>
        <p:nvGraphicFramePr>
          <p:cNvPr id="41" name="think-cell data - do not delete" hidden="1">
            <a:extLst>
              <a:ext uri="{FF2B5EF4-FFF2-40B4-BE49-F238E27FC236}">
                <a16:creationId xmlns:a16="http://schemas.microsoft.com/office/drawing/2014/main" id="{1466EB20-0637-35AA-9BB9-CFEA0B998FE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41" name="think-cell data - do not delete" hidden="1">
                        <a:extLst>
                          <a:ext uri="{FF2B5EF4-FFF2-40B4-BE49-F238E27FC236}">
                            <a16:creationId xmlns:a16="http://schemas.microsoft.com/office/drawing/2014/main" id="{1466EB20-0637-35AA-9BB9-CFEA0B998FE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object 8">
            <a:extLst>
              <a:ext uri="{FF2B5EF4-FFF2-40B4-BE49-F238E27FC236}">
                <a16:creationId xmlns:a16="http://schemas.microsoft.com/office/drawing/2014/main" id="{DA53A9B8-0395-56EE-7156-DCEDCEF3A527}"/>
              </a:ext>
            </a:extLst>
          </p:cNvPr>
          <p:cNvSpPr txBox="1"/>
          <p:nvPr/>
        </p:nvSpPr>
        <p:spPr>
          <a:xfrm>
            <a:off x="647998" y="525983"/>
            <a:ext cx="11074609" cy="743793"/>
          </a:xfrm>
          <a:prstGeom prst="rect">
            <a:avLst/>
          </a:prstGeom>
        </p:spPr>
        <p:txBody>
          <a:bodyPr vert="horz" wrap="square" lIns="0" tIns="0" rIns="0" bIns="0" rtlCol="0">
            <a:spAutoFit/>
          </a:bodyPr>
          <a:lstStyle/>
          <a:p>
            <a:pPr marL="20319" lvl="0" defTabSz="1219170">
              <a:lnSpc>
                <a:spcPts val="2180"/>
              </a:lnSpc>
              <a:defRPr/>
            </a:pPr>
            <a:r>
              <a:rPr lang="en-US" sz="1400" spc="-100">
                <a:solidFill>
                  <a:srgbClr val="595959"/>
                </a:solidFill>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Use Case Examples</a:t>
            </a:r>
          </a:p>
          <a:p>
            <a:pPr marL="20319" marR="0" lvl="0" indent="0" algn="l" defTabSz="1219170" eaLnBrk="1" fontAlgn="auto" latinLnBrk="0" hangingPunct="1">
              <a:spcBef>
                <a:spcPts val="0"/>
              </a:spcBef>
              <a:spcAft>
                <a:spcPts val="0"/>
              </a:spcAft>
              <a:buClrTx/>
              <a:buSzTx/>
              <a:buFontTx/>
              <a:buNone/>
              <a:tabLst/>
              <a:defRPr/>
            </a:pPr>
            <a:r>
              <a:rPr kumimoji="0" lang="en-US" sz="3000" b="1" i="0" u="none" strike="noStrike" kern="1200" cap="none" spc="-100" normalizeH="0" noProof="0">
                <a:ln>
                  <a:noFill/>
                </a:ln>
                <a:solidFill>
                  <a:srgbClr val="060B25"/>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Use Case Alignment</a:t>
            </a:r>
          </a:p>
        </p:txBody>
      </p:sp>
      <p:sp>
        <p:nvSpPr>
          <p:cNvPr id="32" name="object 8">
            <a:extLst>
              <a:ext uri="{FF2B5EF4-FFF2-40B4-BE49-F238E27FC236}">
                <a16:creationId xmlns:a16="http://schemas.microsoft.com/office/drawing/2014/main" id="{AB0DAB4C-C84F-E79D-A7D4-3FF50051EDA8}"/>
              </a:ext>
            </a:extLst>
          </p:cNvPr>
          <p:cNvSpPr txBox="1"/>
          <p:nvPr/>
        </p:nvSpPr>
        <p:spPr>
          <a:xfrm>
            <a:off x="647998" y="1353677"/>
            <a:ext cx="10998571" cy="201764"/>
          </a:xfrm>
          <a:prstGeom prst="rect">
            <a:avLst/>
          </a:prstGeom>
        </p:spPr>
        <p:txBody>
          <a:bodyPr vert="horz" wrap="square" lIns="0" tIns="16933" rIns="0" bIns="0" rtlCol="0">
            <a:spAutoFit/>
          </a:bodyPr>
          <a:lstStyle/>
          <a:p>
            <a:pPr marL="16933" marR="6773" defTabSz="1219170">
              <a:spcBef>
                <a:spcPts val="133"/>
              </a:spcBef>
              <a:tabLst>
                <a:tab pos="321725" algn="l"/>
                <a:tab pos="322572" algn="l"/>
              </a:tabLst>
            </a:pPr>
            <a:r>
              <a:rPr lang="en-GB" sz="1200">
                <a:solidFill>
                  <a:srgbClr val="595959"/>
                </a:solidFill>
                <a:latin typeface="Aptos" panose="020B0004020202020204" pitchFamily="34" charset="0"/>
                <a:cs typeface="Poppins" panose="00000500000000000000" pitchFamily="2" charset="0"/>
                <a:sym typeface="Aptos" panose="020B0004020202020204" pitchFamily="34" charset="0"/>
              </a:rPr>
              <a:t>Use Cases could be considered as a layered concept, because the same business outcome can be expressed at different levels of granularity. </a:t>
            </a:r>
            <a:endParaRPr lang="en-US" sz="1200">
              <a:solidFill>
                <a:srgbClr val="595959"/>
              </a:solidFill>
              <a:latin typeface="Aptos" panose="020B0004020202020204" pitchFamily="34" charset="0"/>
              <a:cs typeface="Poppins" panose="00000500000000000000" pitchFamily="2" charset="0"/>
              <a:sym typeface="Aptos" panose="020B0004020202020204" pitchFamily="34" charset="0"/>
            </a:endParaRPr>
          </a:p>
        </p:txBody>
      </p:sp>
      <p:sp>
        <p:nvSpPr>
          <p:cNvPr id="300" name="Card0"/>
          <p:cNvSpPr/>
          <p:nvPr/>
        </p:nvSpPr>
        <p:spPr>
          <a:xfrm>
            <a:off x="647700" y="1752600"/>
            <a:ext cx="3492500" cy="3556000"/>
          </a:xfrm>
          <a:prstGeom prst="roundRect">
            <a:avLst>
              <a:gd name="adj" fmla="val 5000"/>
            </a:avLst>
          </a:prstGeom>
          <a:solidFill>
            <a:srgbClr val="F0EFFE"/>
          </a:solidFill>
          <a:ln>
            <a:noFill/>
          </a:ln>
        </p:spPr>
        <p:txBody>
          <a:bodyPr/>
          <a:lstStyle/>
          <a:p>
            <a:endParaRPr lang="en-US"/>
          </a:p>
        </p:txBody>
      </p:sp>
      <p:sp>
        <p:nvSpPr>
          <p:cNvPr id="301" name="Accent0"/>
          <p:cNvSpPr/>
          <p:nvPr/>
        </p:nvSpPr>
        <p:spPr>
          <a:xfrm>
            <a:off x="647700" y="1752600"/>
            <a:ext cx="3492500" cy="63500"/>
          </a:xfrm>
          <a:prstGeom prst="roundRect">
            <a:avLst>
              <a:gd name="adj" fmla="val 50000"/>
            </a:avLst>
          </a:prstGeom>
          <a:solidFill>
            <a:srgbClr val="6360D8"/>
          </a:solidFill>
          <a:ln>
            <a:noFill/>
          </a:ln>
        </p:spPr>
        <p:txBody>
          <a:bodyPr/>
          <a:lstStyle/>
          <a:p>
            <a:endParaRPr lang="en-US"/>
          </a:p>
        </p:txBody>
      </p:sp>
      <p:sp>
        <p:nvSpPr>
          <p:cNvPr id="302" name="Num0"/>
          <p:cNvSpPr/>
          <p:nvPr/>
        </p:nvSpPr>
        <p:spPr>
          <a:xfrm>
            <a:off x="850900" y="1955800"/>
            <a:ext cx="355600" cy="355600"/>
          </a:xfrm>
          <a:prstGeom prst="ellipse">
            <a:avLst/>
          </a:prstGeom>
          <a:solidFill>
            <a:srgbClr val="6360D8"/>
          </a:solidFill>
          <a:ln>
            <a:noFill/>
          </a:ln>
        </p:spPr>
        <p:txBody>
          <a:bodyPr wrap="none" lIns="0" tIns="0" rIns="0" bIns="0" anchor="ctr"/>
          <a:lstStyle/>
          <a:p>
            <a:pPr algn="ctr">
              <a:buNone/>
            </a:pPr>
            <a:r>
              <a:rPr lang="en-US" sz="1400" b="1" dirty="0">
                <a:solidFill>
                  <a:srgbClr val="FFFFFF"/>
                </a:solidFill>
                <a:latin typeface="Aptos"/>
              </a:rPr>
              <a:t>1</a:t>
            </a:r>
          </a:p>
        </p:txBody>
      </p:sp>
      <p:sp>
        <p:nvSpPr>
          <p:cNvPr id="303" name="Ttl0"/>
          <p:cNvSpPr txBox="1"/>
          <p:nvPr/>
        </p:nvSpPr>
        <p:spPr>
          <a:xfrm>
            <a:off x="1308100" y="1981200"/>
            <a:ext cx="2654300" cy="304800"/>
          </a:xfrm>
          <a:prstGeom prst="rect">
            <a:avLst/>
          </a:prstGeom>
          <a:noFill/>
          <a:ln>
            <a:noFill/>
          </a:ln>
        </p:spPr>
        <p:txBody>
          <a:bodyPr wrap="square" lIns="0" tIns="0" rIns="0" bIns="0" anchor="ctr"/>
          <a:lstStyle/>
          <a:p>
            <a:pPr>
              <a:buNone/>
            </a:pPr>
            <a:r>
              <a:rPr lang="en-US" sz="1400" b="1" dirty="0">
                <a:solidFill>
                  <a:srgbClr val="060B25"/>
                </a:solidFill>
                <a:latin typeface="Aptos"/>
              </a:rPr>
              <a:t>Solution / Domain</a:t>
            </a:r>
          </a:p>
        </p:txBody>
      </p:sp>
      <p:sp>
        <p:nvSpPr>
          <p:cNvPr id="304" name="Desc0"/>
          <p:cNvSpPr txBox="1"/>
          <p:nvPr/>
        </p:nvSpPr>
        <p:spPr>
          <a:xfrm>
            <a:off x="850900" y="2413000"/>
            <a:ext cx="3086100" cy="406400"/>
          </a:xfrm>
          <a:prstGeom prst="rect">
            <a:avLst/>
          </a:prstGeom>
          <a:noFill/>
          <a:ln>
            <a:noFill/>
          </a:ln>
        </p:spPr>
        <p:txBody>
          <a:bodyPr wrap="square" lIns="0" tIns="0" rIns="0" bIns="0" anchor="t"/>
          <a:lstStyle/>
          <a:p>
            <a:pPr>
              <a:lnSpc>
                <a:spcPct val="110000"/>
              </a:lnSpc>
              <a:buNone/>
            </a:pPr>
            <a:r>
              <a:rPr lang="en-US" sz="1000" dirty="0">
                <a:solidFill>
                  <a:srgbClr val="595959"/>
                </a:solidFill>
                <a:latin typeface="Aptos"/>
              </a:rPr>
              <a:t>Broadest alignment to a capability area or business outcome</a:t>
            </a:r>
          </a:p>
        </p:txBody>
      </p:sp>
      <p:cxnSp>
        <p:nvCxnSpPr>
          <p:cNvPr id="305" name="Div0"/>
          <p:cNvCxnSpPr/>
          <p:nvPr/>
        </p:nvCxnSpPr>
        <p:spPr>
          <a:xfrm>
            <a:off x="850900" y="2895600"/>
            <a:ext cx="3086100" cy="0"/>
          </a:xfrm>
          <a:prstGeom prst="line">
            <a:avLst/>
          </a:prstGeom>
          <a:ln w="6350">
            <a:solidFill>
              <a:srgbClr val="6360D8">
                <a:alpha val="30000"/>
              </a:srgbClr>
            </a:solidFill>
          </a:ln>
        </p:spPr>
      </p:cxnSp>
      <p:sp>
        <p:nvSpPr>
          <p:cNvPr id="306" name="Ex0"/>
          <p:cNvSpPr txBox="1"/>
          <p:nvPr/>
        </p:nvSpPr>
        <p:spPr>
          <a:xfrm>
            <a:off x="850900" y="2997200"/>
            <a:ext cx="3086100" cy="2133600"/>
          </a:xfrm>
          <a:prstGeom prst="rect">
            <a:avLst/>
          </a:prstGeom>
          <a:noFill/>
          <a:ln>
            <a:noFill/>
          </a:ln>
        </p:spPr>
        <p:txBody>
          <a:bodyPr wrap="square" lIns="0" tIns="0" rIns="0" bIns="0" anchor="t"/>
          <a:lstStyle/>
          <a:p>
            <a:pPr>
              <a:spcAft>
                <a:spcPts val="300"/>
              </a:spcAft>
              <a:buNone/>
            </a:pPr>
            <a:r>
              <a:rPr lang="en-US" sz="1000" b="1" dirty="0">
                <a:solidFill>
                  <a:srgbClr val="6360D8"/>
                </a:solidFill>
                <a:latin typeface="Aptos"/>
              </a:rPr>
              <a:t>Examples</a:t>
            </a:r>
          </a:p>
          <a:p>
            <a:pPr>
              <a:lnSpc>
                <a:spcPct val="130000"/>
              </a:lnSpc>
              <a:spcBef>
                <a:spcPts val="100"/>
              </a:spcBef>
              <a:buFont typeface="Arial"/>
              <a:buChar char="•"/>
            </a:pPr>
            <a:r>
              <a:rPr lang="en-US" sz="1000" dirty="0">
                <a:solidFill>
                  <a:srgbClr val="595959"/>
                </a:solidFill>
                <a:latin typeface="Aptos"/>
              </a:rPr>
              <a:t>CCM</a:t>
            </a:r>
          </a:p>
          <a:p>
            <a:pPr>
              <a:lnSpc>
                <a:spcPct val="130000"/>
              </a:lnSpc>
              <a:spcBef>
                <a:spcPts val="100"/>
              </a:spcBef>
              <a:buFont typeface="Arial"/>
              <a:buChar char="•"/>
            </a:pPr>
            <a:r>
              <a:rPr lang="en-US" sz="1000" dirty="0">
                <a:solidFill>
                  <a:srgbClr val="595959"/>
                </a:solidFill>
                <a:latin typeface="Aptos"/>
              </a:rPr>
              <a:t>CAASM / Asset Visibility</a:t>
            </a:r>
          </a:p>
          <a:p>
            <a:pPr>
              <a:lnSpc>
                <a:spcPct val="130000"/>
              </a:lnSpc>
              <a:spcBef>
                <a:spcPts val="100"/>
              </a:spcBef>
              <a:buFont typeface="Arial"/>
              <a:buChar char="•"/>
            </a:pPr>
            <a:r>
              <a:rPr lang="en-US" sz="1000" dirty="0">
                <a:solidFill>
                  <a:srgbClr val="595959"/>
                </a:solidFill>
                <a:latin typeface="Aptos"/>
              </a:rPr>
              <a:t>Compliance Evidence &amp; Reporting</a:t>
            </a:r>
          </a:p>
        </p:txBody>
      </p:sp>
      <p:sp>
        <p:nvSpPr>
          <p:cNvPr id="307" name="Card1"/>
          <p:cNvSpPr/>
          <p:nvPr/>
        </p:nvSpPr>
        <p:spPr>
          <a:xfrm>
            <a:off x="4318000" y="1752600"/>
            <a:ext cx="3492500" cy="3556000"/>
          </a:xfrm>
          <a:prstGeom prst="roundRect">
            <a:avLst>
              <a:gd name="adj" fmla="val 5000"/>
            </a:avLst>
          </a:prstGeom>
          <a:solidFill>
            <a:srgbClr val="EAF2F7"/>
          </a:solidFill>
          <a:ln>
            <a:noFill/>
          </a:ln>
        </p:spPr>
        <p:txBody>
          <a:bodyPr/>
          <a:lstStyle/>
          <a:p>
            <a:endParaRPr lang="en-US"/>
          </a:p>
        </p:txBody>
      </p:sp>
      <p:sp>
        <p:nvSpPr>
          <p:cNvPr id="308" name="Accent1"/>
          <p:cNvSpPr/>
          <p:nvPr/>
        </p:nvSpPr>
        <p:spPr>
          <a:xfrm>
            <a:off x="4318000" y="1752600"/>
            <a:ext cx="3492500" cy="63500"/>
          </a:xfrm>
          <a:prstGeom prst="roundRect">
            <a:avLst>
              <a:gd name="adj" fmla="val 50000"/>
            </a:avLst>
          </a:prstGeom>
          <a:solidFill>
            <a:srgbClr val="3A7CA5"/>
          </a:solidFill>
          <a:ln>
            <a:noFill/>
          </a:ln>
        </p:spPr>
        <p:txBody>
          <a:bodyPr/>
          <a:lstStyle/>
          <a:p>
            <a:endParaRPr lang="en-US"/>
          </a:p>
        </p:txBody>
      </p:sp>
      <p:sp>
        <p:nvSpPr>
          <p:cNvPr id="309" name="Num1"/>
          <p:cNvSpPr/>
          <p:nvPr/>
        </p:nvSpPr>
        <p:spPr>
          <a:xfrm>
            <a:off x="4521200" y="1955800"/>
            <a:ext cx="355600" cy="355600"/>
          </a:xfrm>
          <a:prstGeom prst="ellipse">
            <a:avLst/>
          </a:prstGeom>
          <a:solidFill>
            <a:srgbClr val="3A7CA5"/>
          </a:solidFill>
          <a:ln>
            <a:noFill/>
          </a:ln>
        </p:spPr>
        <p:txBody>
          <a:bodyPr wrap="none" lIns="0" tIns="0" rIns="0" bIns="0" anchor="ctr"/>
          <a:lstStyle/>
          <a:p>
            <a:pPr algn="ctr">
              <a:buNone/>
            </a:pPr>
            <a:r>
              <a:rPr lang="en-US" sz="1400" b="1" dirty="0">
                <a:solidFill>
                  <a:srgbClr val="FFFFFF"/>
                </a:solidFill>
                <a:latin typeface="Aptos"/>
              </a:rPr>
              <a:t>2</a:t>
            </a:r>
          </a:p>
        </p:txBody>
      </p:sp>
      <p:sp>
        <p:nvSpPr>
          <p:cNvPr id="310" name="Ttl1"/>
          <p:cNvSpPr txBox="1"/>
          <p:nvPr/>
        </p:nvSpPr>
        <p:spPr>
          <a:xfrm>
            <a:off x="4978400" y="1981200"/>
            <a:ext cx="2654300" cy="304800"/>
          </a:xfrm>
          <a:prstGeom prst="rect">
            <a:avLst/>
          </a:prstGeom>
          <a:noFill/>
          <a:ln>
            <a:noFill/>
          </a:ln>
        </p:spPr>
        <p:txBody>
          <a:bodyPr wrap="square" lIns="0" tIns="0" rIns="0" bIns="0" anchor="ctr"/>
          <a:lstStyle/>
          <a:p>
            <a:pPr>
              <a:buNone/>
            </a:pPr>
            <a:r>
              <a:rPr lang="en-US" sz="1400" b="1" dirty="0">
                <a:solidFill>
                  <a:srgbClr val="060B25"/>
                </a:solidFill>
                <a:latin typeface="Aptos"/>
              </a:rPr>
              <a:t>Functional / Capability</a:t>
            </a:r>
          </a:p>
        </p:txBody>
      </p:sp>
      <p:sp>
        <p:nvSpPr>
          <p:cNvPr id="311" name="Desc1"/>
          <p:cNvSpPr txBox="1"/>
          <p:nvPr/>
        </p:nvSpPr>
        <p:spPr>
          <a:xfrm>
            <a:off x="4521200" y="2413000"/>
            <a:ext cx="3086100" cy="406400"/>
          </a:xfrm>
          <a:prstGeom prst="rect">
            <a:avLst/>
          </a:prstGeom>
          <a:noFill/>
          <a:ln>
            <a:noFill/>
          </a:ln>
        </p:spPr>
        <p:txBody>
          <a:bodyPr wrap="square" lIns="0" tIns="0" rIns="0" bIns="0" anchor="t"/>
          <a:lstStyle/>
          <a:p>
            <a:pPr>
              <a:lnSpc>
                <a:spcPct val="110000"/>
              </a:lnSpc>
              <a:buNone/>
            </a:pPr>
            <a:r>
              <a:rPr lang="en-US" sz="1000" dirty="0">
                <a:solidFill>
                  <a:srgbClr val="595959"/>
                </a:solidFill>
                <a:latin typeface="Aptos"/>
              </a:rPr>
              <a:t>Specific functional outcomes within a domain</a:t>
            </a:r>
          </a:p>
        </p:txBody>
      </p:sp>
      <p:cxnSp>
        <p:nvCxnSpPr>
          <p:cNvPr id="312" name="Div1"/>
          <p:cNvCxnSpPr/>
          <p:nvPr/>
        </p:nvCxnSpPr>
        <p:spPr>
          <a:xfrm>
            <a:off x="4521200" y="2895600"/>
            <a:ext cx="3086100" cy="0"/>
          </a:xfrm>
          <a:prstGeom prst="line">
            <a:avLst/>
          </a:prstGeom>
          <a:ln w="6350">
            <a:solidFill>
              <a:srgbClr val="3A7CA5">
                <a:alpha val="30000"/>
              </a:srgbClr>
            </a:solidFill>
          </a:ln>
        </p:spPr>
      </p:cxnSp>
      <p:sp>
        <p:nvSpPr>
          <p:cNvPr id="313" name="Ex1"/>
          <p:cNvSpPr txBox="1"/>
          <p:nvPr/>
        </p:nvSpPr>
        <p:spPr>
          <a:xfrm>
            <a:off x="4521200" y="2997200"/>
            <a:ext cx="3086100" cy="2133600"/>
          </a:xfrm>
          <a:prstGeom prst="rect">
            <a:avLst/>
          </a:prstGeom>
          <a:noFill/>
          <a:ln>
            <a:noFill/>
          </a:ln>
        </p:spPr>
        <p:txBody>
          <a:bodyPr wrap="square" lIns="0" tIns="0" rIns="0" bIns="0" anchor="t"/>
          <a:lstStyle/>
          <a:p>
            <a:pPr>
              <a:spcAft>
                <a:spcPts val="300"/>
              </a:spcAft>
              <a:buNone/>
            </a:pPr>
            <a:r>
              <a:rPr lang="en-US" sz="1000" b="1" dirty="0">
                <a:solidFill>
                  <a:srgbClr val="3A7CA5"/>
                </a:solidFill>
                <a:latin typeface="Aptos"/>
              </a:rPr>
              <a:t>Examples (within CCM)</a:t>
            </a:r>
          </a:p>
          <a:p>
            <a:pPr>
              <a:lnSpc>
                <a:spcPct val="130000"/>
              </a:lnSpc>
              <a:spcBef>
                <a:spcPts val="100"/>
              </a:spcBef>
              <a:buFont typeface="Arial"/>
              <a:buChar char="•"/>
            </a:pPr>
            <a:r>
              <a:rPr lang="en-US" sz="1000" dirty="0">
                <a:solidFill>
                  <a:srgbClr val="595959"/>
                </a:solidFill>
                <a:latin typeface="Aptos"/>
              </a:rPr>
              <a:t>Endpoint Posture</a:t>
            </a:r>
          </a:p>
          <a:p>
            <a:pPr>
              <a:lnSpc>
                <a:spcPct val="130000"/>
              </a:lnSpc>
              <a:spcBef>
                <a:spcPts val="100"/>
              </a:spcBef>
              <a:buFont typeface="Arial"/>
              <a:buChar char="•"/>
            </a:pPr>
            <a:r>
              <a:rPr lang="en-US" sz="1000" dirty="0">
                <a:solidFill>
                  <a:srgbClr val="595959"/>
                </a:solidFill>
                <a:latin typeface="Aptos"/>
              </a:rPr>
              <a:t>Identity Hygiene</a:t>
            </a:r>
          </a:p>
          <a:p>
            <a:pPr>
              <a:lnSpc>
                <a:spcPct val="130000"/>
              </a:lnSpc>
              <a:spcBef>
                <a:spcPts val="100"/>
              </a:spcBef>
              <a:buFont typeface="Arial"/>
              <a:buChar char="•"/>
            </a:pPr>
            <a:r>
              <a:rPr lang="en-US" sz="1000" dirty="0">
                <a:solidFill>
                  <a:srgbClr val="595959"/>
                </a:solidFill>
                <a:latin typeface="Aptos"/>
              </a:rPr>
              <a:t>Cloud Baselines</a:t>
            </a:r>
          </a:p>
          <a:p>
            <a:pPr>
              <a:lnSpc>
                <a:spcPct val="130000"/>
              </a:lnSpc>
              <a:spcBef>
                <a:spcPts val="100"/>
              </a:spcBef>
              <a:buFont typeface="Arial"/>
              <a:buChar char="•"/>
            </a:pPr>
            <a:r>
              <a:rPr lang="en-US" sz="1000" dirty="0">
                <a:solidFill>
                  <a:srgbClr val="595959"/>
                </a:solidFill>
                <a:latin typeface="Aptos"/>
              </a:rPr>
              <a:t>Vuln Remediation Effectiveness</a:t>
            </a:r>
          </a:p>
        </p:txBody>
      </p:sp>
      <p:sp>
        <p:nvSpPr>
          <p:cNvPr id="314" name="Card2"/>
          <p:cNvSpPr/>
          <p:nvPr/>
        </p:nvSpPr>
        <p:spPr>
          <a:xfrm>
            <a:off x="7988300" y="1752600"/>
            <a:ext cx="3492500" cy="3556000"/>
          </a:xfrm>
          <a:prstGeom prst="roundRect">
            <a:avLst>
              <a:gd name="adj" fmla="val 5000"/>
            </a:avLst>
          </a:prstGeom>
          <a:solidFill>
            <a:srgbClr val="E8F5ED"/>
          </a:solidFill>
          <a:ln>
            <a:noFill/>
          </a:ln>
        </p:spPr>
        <p:txBody>
          <a:bodyPr/>
          <a:lstStyle/>
          <a:p>
            <a:endParaRPr lang="en-US"/>
          </a:p>
        </p:txBody>
      </p:sp>
      <p:sp>
        <p:nvSpPr>
          <p:cNvPr id="315" name="Accent2"/>
          <p:cNvSpPr/>
          <p:nvPr/>
        </p:nvSpPr>
        <p:spPr>
          <a:xfrm>
            <a:off x="7988300" y="1752600"/>
            <a:ext cx="3492500" cy="63500"/>
          </a:xfrm>
          <a:prstGeom prst="roundRect">
            <a:avLst>
              <a:gd name="adj" fmla="val 50000"/>
            </a:avLst>
          </a:prstGeom>
          <a:solidFill>
            <a:srgbClr val="2E8B57"/>
          </a:solidFill>
          <a:ln>
            <a:noFill/>
          </a:ln>
        </p:spPr>
        <p:txBody>
          <a:bodyPr/>
          <a:lstStyle/>
          <a:p>
            <a:endParaRPr lang="en-US"/>
          </a:p>
        </p:txBody>
      </p:sp>
      <p:sp>
        <p:nvSpPr>
          <p:cNvPr id="316" name="Num2"/>
          <p:cNvSpPr/>
          <p:nvPr/>
        </p:nvSpPr>
        <p:spPr>
          <a:xfrm>
            <a:off x="8191500" y="1955800"/>
            <a:ext cx="355600" cy="355600"/>
          </a:xfrm>
          <a:prstGeom prst="ellipse">
            <a:avLst/>
          </a:prstGeom>
          <a:solidFill>
            <a:srgbClr val="2E8B57"/>
          </a:solidFill>
          <a:ln>
            <a:noFill/>
          </a:ln>
        </p:spPr>
        <p:txBody>
          <a:bodyPr wrap="none" lIns="0" tIns="0" rIns="0" bIns="0" anchor="ctr"/>
          <a:lstStyle/>
          <a:p>
            <a:pPr algn="ctr">
              <a:buNone/>
            </a:pPr>
            <a:r>
              <a:rPr lang="en-US" sz="1400" b="1" dirty="0">
                <a:solidFill>
                  <a:srgbClr val="FFFFFF"/>
                </a:solidFill>
                <a:latin typeface="Aptos"/>
              </a:rPr>
              <a:t>3</a:t>
            </a:r>
          </a:p>
        </p:txBody>
      </p:sp>
      <p:sp>
        <p:nvSpPr>
          <p:cNvPr id="317" name="Ttl2"/>
          <p:cNvSpPr txBox="1"/>
          <p:nvPr/>
        </p:nvSpPr>
        <p:spPr>
          <a:xfrm>
            <a:off x="8648700" y="1981200"/>
            <a:ext cx="2654300" cy="304800"/>
          </a:xfrm>
          <a:prstGeom prst="rect">
            <a:avLst/>
          </a:prstGeom>
          <a:noFill/>
          <a:ln>
            <a:noFill/>
          </a:ln>
        </p:spPr>
        <p:txBody>
          <a:bodyPr wrap="square" lIns="0" tIns="0" rIns="0" bIns="0" anchor="ctr"/>
          <a:lstStyle/>
          <a:p>
            <a:pPr>
              <a:buNone/>
            </a:pPr>
            <a:r>
              <a:rPr lang="en-US" sz="1400" b="1" dirty="0">
                <a:solidFill>
                  <a:srgbClr val="060B25"/>
                </a:solidFill>
                <a:latin typeface="Aptos"/>
              </a:rPr>
              <a:t>Measure</a:t>
            </a:r>
          </a:p>
        </p:txBody>
      </p:sp>
      <p:sp>
        <p:nvSpPr>
          <p:cNvPr id="318" name="Desc2"/>
          <p:cNvSpPr txBox="1"/>
          <p:nvPr/>
        </p:nvSpPr>
        <p:spPr>
          <a:xfrm>
            <a:off x="8191500" y="2413000"/>
            <a:ext cx="3086100" cy="406400"/>
          </a:xfrm>
          <a:prstGeom prst="rect">
            <a:avLst/>
          </a:prstGeom>
          <a:noFill/>
          <a:ln>
            <a:noFill/>
          </a:ln>
        </p:spPr>
        <p:txBody>
          <a:bodyPr wrap="square" lIns="0" tIns="0" rIns="0" bIns="0" anchor="t"/>
          <a:lstStyle/>
          <a:p>
            <a:pPr>
              <a:lnSpc>
                <a:spcPct val="110000"/>
              </a:lnSpc>
              <a:buNone/>
            </a:pPr>
            <a:r>
              <a:rPr lang="en-US" sz="1000" dirty="0">
                <a:solidFill>
                  <a:srgbClr val="595959"/>
                </a:solidFill>
                <a:latin typeface="Aptos"/>
              </a:rPr>
              <a:t>Granular metrics and KPIs tied to a capability</a:t>
            </a:r>
          </a:p>
        </p:txBody>
      </p:sp>
      <p:cxnSp>
        <p:nvCxnSpPr>
          <p:cNvPr id="319" name="Div2"/>
          <p:cNvCxnSpPr/>
          <p:nvPr/>
        </p:nvCxnSpPr>
        <p:spPr>
          <a:xfrm>
            <a:off x="8191500" y="2895600"/>
            <a:ext cx="3086100" cy="0"/>
          </a:xfrm>
          <a:prstGeom prst="line">
            <a:avLst/>
          </a:prstGeom>
          <a:ln w="6350">
            <a:solidFill>
              <a:srgbClr val="2E8B57">
                <a:alpha val="30000"/>
              </a:srgbClr>
            </a:solidFill>
          </a:ln>
        </p:spPr>
      </p:cxnSp>
      <p:sp>
        <p:nvSpPr>
          <p:cNvPr id="320" name="Ex2"/>
          <p:cNvSpPr txBox="1"/>
          <p:nvPr/>
        </p:nvSpPr>
        <p:spPr>
          <a:xfrm>
            <a:off x="8191500" y="2997200"/>
            <a:ext cx="3086100" cy="2133600"/>
          </a:xfrm>
          <a:prstGeom prst="rect">
            <a:avLst/>
          </a:prstGeom>
          <a:noFill/>
          <a:ln>
            <a:noFill/>
          </a:ln>
        </p:spPr>
        <p:txBody>
          <a:bodyPr wrap="square" lIns="0" tIns="0" rIns="0" bIns="0" anchor="t"/>
          <a:lstStyle/>
          <a:p>
            <a:pPr>
              <a:spcAft>
                <a:spcPts val="300"/>
              </a:spcAft>
              <a:buNone/>
            </a:pPr>
            <a:r>
              <a:rPr lang="en-US" sz="1000" b="1" dirty="0">
                <a:solidFill>
                  <a:srgbClr val="2E8B57"/>
                </a:solidFill>
                <a:latin typeface="Aptos"/>
              </a:rPr>
              <a:t>Examples (within Endpoint Posture)</a:t>
            </a:r>
          </a:p>
          <a:p>
            <a:pPr>
              <a:lnSpc>
                <a:spcPct val="130000"/>
              </a:lnSpc>
              <a:spcBef>
                <a:spcPts val="100"/>
              </a:spcBef>
              <a:buFont typeface="Arial"/>
              <a:buChar char="•"/>
            </a:pPr>
            <a:r>
              <a:rPr lang="en-US" sz="1000" b="1" dirty="0">
                <a:solidFill>
                  <a:srgbClr val="060B25"/>
                </a:solidFill>
                <a:latin typeface="Aptos"/>
              </a:rPr>
              <a:t>Coverage: </a:t>
            </a:r>
            <a:r>
              <a:rPr lang="en-US" sz="900" dirty="0">
                <a:solidFill>
                  <a:srgbClr val="595959"/>
                </a:solidFill>
                <a:latin typeface="Aptos"/>
              </a:rPr>
              <a:t>EDR, Vuln Scanner, App Control</a:t>
            </a:r>
          </a:p>
          <a:p>
            <a:pPr>
              <a:lnSpc>
                <a:spcPct val="130000"/>
              </a:lnSpc>
              <a:spcBef>
                <a:spcPts val="100"/>
              </a:spcBef>
              <a:buFont typeface="Arial"/>
              <a:buChar char="•"/>
            </a:pPr>
            <a:r>
              <a:rPr lang="en-US" sz="1000" b="1" dirty="0">
                <a:solidFill>
                  <a:srgbClr val="060B25"/>
                </a:solidFill>
                <a:latin typeface="Aptos"/>
              </a:rPr>
              <a:t>Health: </a:t>
            </a:r>
            <a:r>
              <a:rPr lang="en-US" sz="900" dirty="0">
                <a:solidFill>
                  <a:srgbClr val="595959"/>
                </a:solidFill>
                <a:latin typeface="Aptos"/>
              </a:rPr>
              <a:t>EDR Health, Scan Freq., Ownership</a:t>
            </a:r>
          </a:p>
          <a:p>
            <a:pPr>
              <a:lnSpc>
                <a:spcPct val="130000"/>
              </a:lnSpc>
              <a:spcBef>
                <a:spcPts val="100"/>
              </a:spcBef>
              <a:buFont typeface="Arial"/>
              <a:buChar char="•"/>
            </a:pPr>
            <a:r>
              <a:rPr lang="en-US" sz="1000" b="1" dirty="0">
                <a:solidFill>
                  <a:srgbClr val="060B25"/>
                </a:solidFill>
                <a:latin typeface="Aptos"/>
              </a:rPr>
              <a:t>Vulnerability: </a:t>
            </a:r>
            <a:r>
              <a:rPr lang="en-US" sz="900" dirty="0">
                <a:solidFill>
                  <a:srgbClr val="595959"/>
                </a:solidFill>
                <a:latin typeface="Aptos"/>
              </a:rPr>
              <a:t>SLA Adherence, EoL OS, Passwords</a:t>
            </a:r>
          </a:p>
          <a:p>
            <a:pPr>
              <a:lnSpc>
                <a:spcPct val="130000"/>
              </a:lnSpc>
              <a:spcBef>
                <a:spcPts val="100"/>
              </a:spcBef>
              <a:buFont typeface="Arial"/>
              <a:buChar char="•"/>
            </a:pPr>
            <a:r>
              <a:rPr lang="en-US" sz="1000" b="1" dirty="0">
                <a:solidFill>
                  <a:srgbClr val="060B25"/>
                </a:solidFill>
                <a:latin typeface="Aptos"/>
              </a:rPr>
              <a:t>Config: </a:t>
            </a:r>
            <a:r>
              <a:rPr lang="en-US" sz="900" dirty="0">
                <a:solidFill>
                  <a:srgbClr val="595959"/>
                </a:solidFill>
                <a:latin typeface="Aptos"/>
              </a:rPr>
              <a:t>SCBC, Local Admin, USB Control</a:t>
            </a:r>
          </a:p>
        </p:txBody>
      </p:sp>
      <p:sp>
        <p:nvSpPr>
          <p:cNvPr id="321" name="Arrow0"/>
          <p:cNvSpPr/>
          <p:nvPr/>
        </p:nvSpPr>
        <p:spPr>
          <a:xfrm>
            <a:off x="4203700" y="2032000"/>
            <a:ext cx="228600" cy="254000"/>
          </a:xfrm>
          <a:prstGeom prst="rightArrow">
            <a:avLst>
              <a:gd name="adj1" fmla="val 50000"/>
              <a:gd name="adj2" fmla="val 50000"/>
            </a:avLst>
          </a:prstGeom>
          <a:solidFill>
            <a:srgbClr val="C0BEE8"/>
          </a:solidFill>
          <a:ln>
            <a:noFill/>
          </a:ln>
        </p:spPr>
        <p:txBody>
          <a:bodyPr/>
          <a:lstStyle/>
          <a:p>
            <a:endParaRPr lang="en-US"/>
          </a:p>
        </p:txBody>
      </p:sp>
      <p:sp>
        <p:nvSpPr>
          <p:cNvPr id="322" name="Arrow1"/>
          <p:cNvSpPr/>
          <p:nvPr/>
        </p:nvSpPr>
        <p:spPr>
          <a:xfrm>
            <a:off x="7874000" y="2032000"/>
            <a:ext cx="228600" cy="254000"/>
          </a:xfrm>
          <a:prstGeom prst="rightArrow">
            <a:avLst>
              <a:gd name="adj1" fmla="val 50000"/>
              <a:gd name="adj2" fmla="val 50000"/>
            </a:avLst>
          </a:prstGeom>
          <a:solidFill>
            <a:srgbClr val="C0BEE8"/>
          </a:solidFill>
          <a:ln>
            <a:noFill/>
          </a:ln>
        </p:spPr>
        <p:txBody>
          <a:bodyPr/>
          <a:lstStyle/>
          <a:p>
            <a:endParaRPr lang="en-US"/>
          </a:p>
        </p:txBody>
      </p:sp>
    </p:spTree>
    <p:extLst>
      <p:ext uri="{BB962C8B-B14F-4D97-AF65-F5344CB8AC3E}">
        <p14:creationId xmlns:p14="http://schemas.microsoft.com/office/powerpoint/2010/main" val="39948737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D12C5-52EA-746C-73BB-DC69FD726B8A}"/>
            </a:ext>
          </a:extLst>
        </p:cNvPr>
        <p:cNvGrpSpPr/>
        <p:nvPr/>
      </p:nvGrpSpPr>
      <p:grpSpPr>
        <a:xfrm>
          <a:off x="0" y="0"/>
          <a:ext cx="0" cy="0"/>
          <a:chOff x="0" y="0"/>
          <a:chExt cx="0" cy="0"/>
        </a:xfrm>
      </p:grpSpPr>
      <p:graphicFrame>
        <p:nvGraphicFramePr>
          <p:cNvPr id="41" name="think-cell data - do not delete" hidden="1">
            <a:extLst>
              <a:ext uri="{FF2B5EF4-FFF2-40B4-BE49-F238E27FC236}">
                <a16:creationId xmlns:a16="http://schemas.microsoft.com/office/drawing/2014/main" id="{18DFF1D5-05FA-D28E-1081-B3CA5197455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41" name="think-cell data - do not delete" hidden="1">
                        <a:extLst>
                          <a:ext uri="{FF2B5EF4-FFF2-40B4-BE49-F238E27FC236}">
                            <a16:creationId xmlns:a16="http://schemas.microsoft.com/office/drawing/2014/main" id="{18DFF1D5-05FA-D28E-1081-B3CA5197455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object 8">
            <a:extLst>
              <a:ext uri="{FF2B5EF4-FFF2-40B4-BE49-F238E27FC236}">
                <a16:creationId xmlns:a16="http://schemas.microsoft.com/office/drawing/2014/main" id="{DCF106C8-2548-08CE-A102-9D1914648161}"/>
              </a:ext>
            </a:extLst>
          </p:cNvPr>
          <p:cNvSpPr txBox="1"/>
          <p:nvPr/>
        </p:nvSpPr>
        <p:spPr>
          <a:xfrm>
            <a:off x="647998" y="525983"/>
            <a:ext cx="11074609" cy="743793"/>
          </a:xfrm>
          <a:prstGeom prst="rect">
            <a:avLst/>
          </a:prstGeom>
        </p:spPr>
        <p:txBody>
          <a:bodyPr vert="horz" wrap="square" lIns="0" tIns="0" rIns="0" bIns="0" rtlCol="0">
            <a:spAutoFit/>
          </a:bodyPr>
          <a:lstStyle/>
          <a:p>
            <a:pPr marL="20319" lvl="0" defTabSz="1219170">
              <a:lnSpc>
                <a:spcPts val="2180"/>
              </a:lnSpc>
              <a:defRPr/>
            </a:pPr>
            <a:r>
              <a:rPr lang="en-US" sz="1400" spc="-100">
                <a:solidFill>
                  <a:srgbClr val="595959"/>
                </a:solidFill>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Use Case Examples</a:t>
            </a:r>
          </a:p>
          <a:p>
            <a:pPr marL="20319" marR="0" lvl="0" indent="0" algn="l" defTabSz="1219170" eaLnBrk="1" fontAlgn="auto" latinLnBrk="0" hangingPunct="1">
              <a:spcBef>
                <a:spcPts val="0"/>
              </a:spcBef>
              <a:spcAft>
                <a:spcPts val="0"/>
              </a:spcAft>
              <a:buClrTx/>
              <a:buSzTx/>
              <a:buFontTx/>
              <a:buNone/>
              <a:tabLst/>
              <a:defRPr/>
            </a:pPr>
            <a:r>
              <a:rPr kumimoji="0" lang="en-US" sz="3000" b="1" i="0" u="none" strike="noStrike" kern="1200" cap="none" spc="-100" normalizeH="0" noProof="0">
                <a:ln>
                  <a:noFill/>
                </a:ln>
                <a:solidFill>
                  <a:srgbClr val="060B25"/>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Asset Management / CAASM</a:t>
            </a:r>
          </a:p>
        </p:txBody>
      </p:sp>
      <p:sp>
        <p:nvSpPr>
          <p:cNvPr id="200" name="Bar0"/>
          <p:cNvSpPr/>
          <p:nvPr/>
        </p:nvSpPr>
        <p:spPr>
          <a:xfrm>
            <a:off x="673100" y="1397000"/>
            <a:ext cx="63500" cy="1549400"/>
          </a:xfrm>
          <a:prstGeom prst="roundRect">
            <a:avLst>
              <a:gd name="adj" fmla="val 50000"/>
            </a:avLst>
          </a:prstGeom>
          <a:solidFill>
            <a:srgbClr val="6360D8"/>
          </a:solidFill>
          <a:ln>
            <a:noFill/>
          </a:ln>
        </p:spPr>
        <p:txBody>
          <a:bodyPr/>
          <a:lstStyle/>
          <a:p>
            <a:endParaRPr lang="en-US"/>
          </a:p>
        </p:txBody>
      </p:sp>
      <p:sp>
        <p:nvSpPr>
          <p:cNvPr id="201" name="Hdr0"/>
          <p:cNvSpPr txBox="1"/>
          <p:nvPr/>
        </p:nvSpPr>
        <p:spPr>
          <a:xfrm>
            <a:off x="850900" y="1397000"/>
            <a:ext cx="5156200" cy="330200"/>
          </a:xfrm>
          <a:prstGeom prst="rect">
            <a:avLst/>
          </a:prstGeom>
          <a:noFill/>
          <a:ln>
            <a:noFill/>
          </a:ln>
        </p:spPr>
        <p:txBody>
          <a:bodyPr wrap="square" lIns="0" tIns="0" rIns="0" bIns="0" anchor="ctr"/>
          <a:lstStyle/>
          <a:p>
            <a:pPr>
              <a:buNone/>
            </a:pPr>
            <a:r>
              <a:rPr lang="en-US" sz="1600" b="1" dirty="0">
                <a:solidFill>
                  <a:srgbClr val="6360D8"/>
                </a:solidFill>
                <a:latin typeface="Aptos"/>
              </a:rPr>
              <a:t>Discovery &amp; Normalisation</a:t>
            </a:r>
          </a:p>
        </p:txBody>
      </p:sp>
      <p:sp>
        <p:nvSpPr>
          <p:cNvPr id="202" name="Bullets0"/>
          <p:cNvSpPr txBox="1"/>
          <p:nvPr/>
        </p:nvSpPr>
        <p:spPr>
          <a:xfrm>
            <a:off x="850900" y="1727200"/>
            <a:ext cx="5156200" cy="1219200"/>
          </a:xfrm>
          <a:prstGeom prst="rect">
            <a:avLst/>
          </a:prstGeom>
          <a:noFill/>
          <a:ln>
            <a:noFill/>
          </a:ln>
        </p:spPr>
        <p:txBody>
          <a:bodyPr wrap="square" lIns="0" tIns="0" rIns="0" bIns="0" anchor="t"/>
          <a:lstStyle/>
          <a:p>
            <a:pPr marL="171450" indent="-171450">
              <a:lnSpc>
                <a:spcPts val="1800"/>
              </a:lnSpc>
              <a:spcBef>
                <a:spcPts val="100"/>
              </a:spcBef>
              <a:buFont typeface="Arial"/>
              <a:buChar char="•"/>
            </a:pPr>
            <a:r>
              <a:rPr lang="en-GB" sz="1400" b="1" dirty="0">
                <a:solidFill>
                  <a:srgbClr val="060B25"/>
                </a:solidFill>
                <a:latin typeface="Aptos"/>
              </a:rPr>
              <a:t>Multi-source asset discovery:</a:t>
            </a:r>
            <a:r>
              <a:rPr lang="en-GB" sz="1400" dirty="0">
                <a:solidFill>
                  <a:srgbClr val="3B3B3B"/>
                </a:solidFill>
                <a:latin typeface="Aptos"/>
              </a:rPr>
              <a:t> endpoints, servers, cloud, SaaS, network</a:t>
            </a:r>
          </a:p>
          <a:p>
            <a:pPr marL="171450" indent="-171450">
              <a:lnSpc>
                <a:spcPts val="1800"/>
              </a:lnSpc>
              <a:spcBef>
                <a:spcPts val="100"/>
              </a:spcBef>
              <a:buFont typeface="Arial"/>
              <a:buChar char="•"/>
            </a:pPr>
            <a:r>
              <a:rPr lang="en-GB" sz="1400" b="1" dirty="0">
                <a:solidFill>
                  <a:srgbClr val="060B25"/>
                </a:solidFill>
                <a:latin typeface="Aptos"/>
              </a:rPr>
              <a:t>Normalisation:</a:t>
            </a:r>
            <a:r>
              <a:rPr lang="en-GB" sz="1400" dirty="0">
                <a:solidFill>
                  <a:srgbClr val="3B3B3B"/>
                </a:solidFill>
                <a:latin typeface="Aptos"/>
              </a:rPr>
              <a:t> common asset model (schema + value standardisation)</a:t>
            </a:r>
          </a:p>
          <a:p>
            <a:pPr marL="171450" indent="-171450">
              <a:lnSpc>
                <a:spcPts val="1800"/>
              </a:lnSpc>
              <a:spcBef>
                <a:spcPts val="100"/>
              </a:spcBef>
              <a:buFont typeface="Arial"/>
              <a:buChar char="•"/>
            </a:pPr>
            <a:r>
              <a:rPr lang="en-GB" sz="1400" b="1" dirty="0">
                <a:solidFill>
                  <a:srgbClr val="060B25"/>
                </a:solidFill>
                <a:latin typeface="Aptos"/>
              </a:rPr>
              <a:t>Entity resolution:</a:t>
            </a:r>
            <a:r>
              <a:rPr lang="en-GB" sz="1400" dirty="0">
                <a:solidFill>
                  <a:srgbClr val="3B3B3B"/>
                </a:solidFill>
                <a:latin typeface="Aptos"/>
              </a:rPr>
              <a:t> dedupe/link with confidence + lineage</a:t>
            </a:r>
          </a:p>
          <a:p>
            <a:pPr marL="171450" indent="-171450">
              <a:lnSpc>
                <a:spcPts val="1800"/>
              </a:lnSpc>
              <a:spcBef>
                <a:spcPts val="100"/>
              </a:spcBef>
              <a:buFont typeface="Arial"/>
              <a:buChar char="•"/>
            </a:pPr>
            <a:r>
              <a:rPr lang="en-GB" sz="1400" b="1" dirty="0">
                <a:solidFill>
                  <a:srgbClr val="060B25"/>
                </a:solidFill>
                <a:latin typeface="Aptos"/>
              </a:rPr>
              <a:t>CMDB reconciliation:</a:t>
            </a:r>
            <a:r>
              <a:rPr lang="en-GB" sz="1400" dirty="0">
                <a:solidFill>
                  <a:srgbClr val="3B3B3B"/>
                </a:solidFill>
                <a:latin typeface="Aptos"/>
              </a:rPr>
              <a:t> gap/stale/duplicate/conflict detection</a:t>
            </a:r>
          </a:p>
        </p:txBody>
      </p:sp>
      <p:sp>
        <p:nvSpPr>
          <p:cNvPr id="203" name="Bar1"/>
          <p:cNvSpPr/>
          <p:nvPr/>
        </p:nvSpPr>
        <p:spPr>
          <a:xfrm>
            <a:off x="6350000" y="1397000"/>
            <a:ext cx="63500" cy="1549400"/>
          </a:xfrm>
          <a:prstGeom prst="roundRect">
            <a:avLst>
              <a:gd name="adj" fmla="val 50000"/>
            </a:avLst>
          </a:prstGeom>
          <a:solidFill>
            <a:srgbClr val="2E8B57"/>
          </a:solidFill>
          <a:ln>
            <a:noFill/>
          </a:ln>
        </p:spPr>
        <p:txBody>
          <a:bodyPr/>
          <a:lstStyle/>
          <a:p>
            <a:endParaRPr lang="en-US"/>
          </a:p>
        </p:txBody>
      </p:sp>
      <p:sp>
        <p:nvSpPr>
          <p:cNvPr id="204" name="Hdr1"/>
          <p:cNvSpPr txBox="1"/>
          <p:nvPr/>
        </p:nvSpPr>
        <p:spPr>
          <a:xfrm>
            <a:off x="6527800" y="1397000"/>
            <a:ext cx="5156200" cy="330200"/>
          </a:xfrm>
          <a:prstGeom prst="rect">
            <a:avLst/>
          </a:prstGeom>
          <a:noFill/>
          <a:ln>
            <a:noFill/>
          </a:ln>
        </p:spPr>
        <p:txBody>
          <a:bodyPr wrap="square" lIns="0" tIns="0" rIns="0" bIns="0" anchor="ctr"/>
          <a:lstStyle/>
          <a:p>
            <a:pPr>
              <a:buNone/>
            </a:pPr>
            <a:r>
              <a:rPr lang="en-US" sz="1600" b="1" dirty="0">
                <a:solidFill>
                  <a:srgbClr val="2E8B57"/>
                </a:solidFill>
                <a:latin typeface="Aptos"/>
              </a:rPr>
              <a:t>Coverage &amp; Posture</a:t>
            </a:r>
          </a:p>
        </p:txBody>
      </p:sp>
      <p:sp>
        <p:nvSpPr>
          <p:cNvPr id="205" name="Bullets1"/>
          <p:cNvSpPr txBox="1"/>
          <p:nvPr/>
        </p:nvSpPr>
        <p:spPr>
          <a:xfrm>
            <a:off x="6527800" y="1727200"/>
            <a:ext cx="5156200" cy="1219200"/>
          </a:xfrm>
          <a:prstGeom prst="rect">
            <a:avLst/>
          </a:prstGeom>
          <a:noFill/>
          <a:ln>
            <a:noFill/>
          </a:ln>
        </p:spPr>
        <p:txBody>
          <a:bodyPr wrap="square" lIns="0" tIns="0" rIns="0" bIns="0" anchor="t"/>
          <a:lstStyle/>
          <a:p>
            <a:pPr marL="171450" indent="-171450">
              <a:lnSpc>
                <a:spcPts val="1800"/>
              </a:lnSpc>
              <a:spcBef>
                <a:spcPts val="100"/>
              </a:spcBef>
              <a:buFont typeface="Arial"/>
              <a:buChar char="•"/>
            </a:pPr>
            <a:r>
              <a:rPr lang="en-GB" sz="1400" b="1" dirty="0">
                <a:solidFill>
                  <a:srgbClr val="060B25"/>
                </a:solidFill>
                <a:latin typeface="Aptos"/>
              </a:rPr>
              <a:t>Asset coverage:</a:t>
            </a:r>
            <a:r>
              <a:rPr lang="en-GB" sz="1400" dirty="0">
                <a:solidFill>
                  <a:srgbClr val="3B3B3B"/>
                </a:solidFill>
                <a:latin typeface="Aptos"/>
              </a:rPr>
              <a:t> by source + overlap (1/2/3+ sources)</a:t>
            </a:r>
          </a:p>
          <a:p>
            <a:pPr marL="171450" indent="-171450">
              <a:lnSpc>
                <a:spcPts val="1800"/>
              </a:lnSpc>
              <a:spcBef>
                <a:spcPts val="100"/>
              </a:spcBef>
              <a:buFont typeface="Arial"/>
              <a:buChar char="•"/>
            </a:pPr>
            <a:r>
              <a:rPr lang="en-GB" sz="1400" b="1" dirty="0">
                <a:solidFill>
                  <a:srgbClr val="060B25"/>
                </a:solidFill>
                <a:latin typeface="Aptos"/>
              </a:rPr>
              <a:t>Unmanaged asset detection:</a:t>
            </a:r>
            <a:r>
              <a:rPr lang="en-GB" sz="1400" dirty="0">
                <a:solidFill>
                  <a:srgbClr val="3B3B3B"/>
                </a:solidFill>
                <a:latin typeface="Aptos"/>
              </a:rPr>
              <a:t> e.g. in EDR but not CMDB</a:t>
            </a:r>
          </a:p>
          <a:p>
            <a:pPr marL="171450" indent="-171450">
              <a:lnSpc>
                <a:spcPts val="1800"/>
              </a:lnSpc>
              <a:spcBef>
                <a:spcPts val="100"/>
              </a:spcBef>
              <a:buFont typeface="Arial"/>
              <a:buChar char="•"/>
            </a:pPr>
            <a:r>
              <a:rPr lang="en-GB" sz="1400" b="1" dirty="0">
                <a:solidFill>
                  <a:srgbClr val="060B25"/>
                </a:solidFill>
                <a:latin typeface="Aptos"/>
              </a:rPr>
              <a:t>Endpoint posture:</a:t>
            </a:r>
            <a:r>
              <a:rPr lang="en-GB" sz="1400" dirty="0">
                <a:solidFill>
                  <a:srgbClr val="3B3B3B"/>
                </a:solidFill>
                <a:latin typeface="Aptos"/>
              </a:rPr>
              <a:t> EDR and VM coverage and config</a:t>
            </a:r>
          </a:p>
          <a:p>
            <a:pPr marL="171450" indent="-171450">
              <a:lnSpc>
                <a:spcPts val="1800"/>
              </a:lnSpc>
              <a:spcBef>
                <a:spcPts val="100"/>
              </a:spcBef>
              <a:buFont typeface="Arial"/>
              <a:buChar char="•"/>
            </a:pPr>
            <a:r>
              <a:rPr lang="en-GB" sz="1400" b="1" dirty="0">
                <a:solidFill>
                  <a:srgbClr val="060B25"/>
                </a:solidFill>
                <a:latin typeface="Aptos"/>
              </a:rPr>
              <a:t>Tag hygiene:</a:t>
            </a:r>
            <a:r>
              <a:rPr lang="en-GB" sz="1400" dirty="0">
                <a:solidFill>
                  <a:srgbClr val="3B3B3B"/>
                </a:solidFill>
                <a:latin typeface="Aptos"/>
              </a:rPr>
              <a:t> cloud tags: owner/env/cost</a:t>
            </a:r>
          </a:p>
        </p:txBody>
      </p:sp>
      <p:sp>
        <p:nvSpPr>
          <p:cNvPr id="206" name="Bar2"/>
          <p:cNvSpPr/>
          <p:nvPr/>
        </p:nvSpPr>
        <p:spPr>
          <a:xfrm>
            <a:off x="673100" y="4064000"/>
            <a:ext cx="63500" cy="1270000"/>
          </a:xfrm>
          <a:prstGeom prst="roundRect">
            <a:avLst>
              <a:gd name="adj" fmla="val 50000"/>
            </a:avLst>
          </a:prstGeom>
          <a:solidFill>
            <a:srgbClr val="3A7CA5"/>
          </a:solidFill>
          <a:ln>
            <a:noFill/>
          </a:ln>
        </p:spPr>
        <p:txBody>
          <a:bodyPr/>
          <a:lstStyle/>
          <a:p>
            <a:endParaRPr lang="en-US"/>
          </a:p>
        </p:txBody>
      </p:sp>
      <p:sp>
        <p:nvSpPr>
          <p:cNvPr id="207" name="Hdr2"/>
          <p:cNvSpPr txBox="1"/>
          <p:nvPr/>
        </p:nvSpPr>
        <p:spPr>
          <a:xfrm>
            <a:off x="850900" y="4064000"/>
            <a:ext cx="5156200" cy="330200"/>
          </a:xfrm>
          <a:prstGeom prst="rect">
            <a:avLst/>
          </a:prstGeom>
          <a:noFill/>
          <a:ln>
            <a:noFill/>
          </a:ln>
        </p:spPr>
        <p:txBody>
          <a:bodyPr wrap="square" lIns="0" tIns="0" rIns="0" bIns="0" anchor="ctr"/>
          <a:lstStyle/>
          <a:p>
            <a:pPr>
              <a:buNone/>
            </a:pPr>
            <a:r>
              <a:rPr lang="en-US" sz="1600" b="1" dirty="0">
                <a:solidFill>
                  <a:srgbClr val="3A7CA5"/>
                </a:solidFill>
                <a:latin typeface="Aptos"/>
              </a:rPr>
              <a:t>Context &amp; Ownership</a:t>
            </a:r>
          </a:p>
        </p:txBody>
      </p:sp>
      <p:sp>
        <p:nvSpPr>
          <p:cNvPr id="208" name="Bullets2"/>
          <p:cNvSpPr txBox="1"/>
          <p:nvPr/>
        </p:nvSpPr>
        <p:spPr>
          <a:xfrm>
            <a:off x="850900" y="4394200"/>
            <a:ext cx="5156200" cy="939800"/>
          </a:xfrm>
          <a:prstGeom prst="rect">
            <a:avLst/>
          </a:prstGeom>
          <a:noFill/>
          <a:ln>
            <a:noFill/>
          </a:ln>
        </p:spPr>
        <p:txBody>
          <a:bodyPr wrap="square" lIns="0" tIns="0" rIns="0" bIns="0" anchor="t"/>
          <a:lstStyle/>
          <a:p>
            <a:pPr marL="171450" indent="-171450">
              <a:lnSpc>
                <a:spcPts val="1800"/>
              </a:lnSpc>
              <a:spcBef>
                <a:spcPts val="100"/>
              </a:spcBef>
              <a:buFont typeface="Arial"/>
              <a:buChar char="•"/>
            </a:pPr>
            <a:r>
              <a:rPr lang="en-GB" sz="1400" b="1" dirty="0">
                <a:solidFill>
                  <a:srgbClr val="060B25"/>
                </a:solidFill>
                <a:latin typeface="Aptos"/>
              </a:rPr>
              <a:t>Ownership attribution:</a:t>
            </a:r>
            <a:r>
              <a:rPr lang="en-GB" sz="1400" dirty="0">
                <a:solidFill>
                  <a:srgbClr val="3B3B3B"/>
                </a:solidFill>
                <a:latin typeface="Aptos"/>
              </a:rPr>
              <a:t> owner/team/cost centre</a:t>
            </a:r>
          </a:p>
          <a:p>
            <a:pPr marL="171450" indent="-171450">
              <a:lnSpc>
                <a:spcPts val="1800"/>
              </a:lnSpc>
              <a:spcBef>
                <a:spcPts val="100"/>
              </a:spcBef>
              <a:buFont typeface="Arial"/>
              <a:buChar char="•"/>
            </a:pPr>
            <a:r>
              <a:rPr lang="en-GB" sz="1400" b="1" dirty="0">
                <a:solidFill>
                  <a:srgbClr val="060B25"/>
                </a:solidFill>
                <a:latin typeface="Aptos"/>
              </a:rPr>
              <a:t>Criticality scoring + tiering:</a:t>
            </a:r>
            <a:r>
              <a:rPr lang="en-GB" sz="1400" dirty="0">
                <a:solidFill>
                  <a:srgbClr val="3B3B3B"/>
                </a:solidFill>
                <a:latin typeface="Aptos"/>
              </a:rPr>
              <a:t> crown jewels / business impact</a:t>
            </a:r>
          </a:p>
          <a:p>
            <a:pPr marL="171450" indent="-171450">
              <a:lnSpc>
                <a:spcPts val="1800"/>
              </a:lnSpc>
              <a:spcBef>
                <a:spcPts val="100"/>
              </a:spcBef>
              <a:buFont typeface="Arial"/>
              <a:buChar char="•"/>
            </a:pPr>
            <a:r>
              <a:rPr lang="en-GB" sz="1400" b="1" dirty="0">
                <a:solidFill>
                  <a:srgbClr val="060B25"/>
                </a:solidFill>
                <a:latin typeface="Aptos"/>
              </a:rPr>
              <a:t>Service/application mapping:</a:t>
            </a:r>
            <a:r>
              <a:rPr lang="en-GB" sz="1400" dirty="0">
                <a:solidFill>
                  <a:srgbClr val="3B3B3B"/>
                </a:solidFill>
                <a:latin typeface="Aptos"/>
              </a:rPr>
              <a:t> asset to app/service to BU</a:t>
            </a:r>
          </a:p>
        </p:txBody>
      </p:sp>
      <p:sp>
        <p:nvSpPr>
          <p:cNvPr id="209" name="Bar3"/>
          <p:cNvSpPr/>
          <p:nvPr/>
        </p:nvSpPr>
        <p:spPr>
          <a:xfrm>
            <a:off x="6350000" y="4064000"/>
            <a:ext cx="63500" cy="1270000"/>
          </a:xfrm>
          <a:prstGeom prst="roundRect">
            <a:avLst>
              <a:gd name="adj" fmla="val 50000"/>
            </a:avLst>
          </a:prstGeom>
          <a:solidFill>
            <a:srgbClr val="C45B28"/>
          </a:solidFill>
          <a:ln>
            <a:noFill/>
          </a:ln>
        </p:spPr>
        <p:txBody>
          <a:bodyPr/>
          <a:lstStyle/>
          <a:p>
            <a:endParaRPr lang="en-US"/>
          </a:p>
        </p:txBody>
      </p:sp>
      <p:sp>
        <p:nvSpPr>
          <p:cNvPr id="210" name="Hdr3"/>
          <p:cNvSpPr txBox="1"/>
          <p:nvPr/>
        </p:nvSpPr>
        <p:spPr>
          <a:xfrm>
            <a:off x="6527800" y="4064000"/>
            <a:ext cx="5156200" cy="330200"/>
          </a:xfrm>
          <a:prstGeom prst="rect">
            <a:avLst/>
          </a:prstGeom>
          <a:noFill/>
          <a:ln>
            <a:noFill/>
          </a:ln>
        </p:spPr>
        <p:txBody>
          <a:bodyPr wrap="square" lIns="0" tIns="0" rIns="0" bIns="0" anchor="ctr"/>
          <a:lstStyle/>
          <a:p>
            <a:pPr>
              <a:buNone/>
            </a:pPr>
            <a:r>
              <a:rPr lang="en-US" sz="1600" b="1" dirty="0">
                <a:solidFill>
                  <a:srgbClr val="C45B28"/>
                </a:solidFill>
                <a:latin typeface="Aptos"/>
              </a:rPr>
              <a:t>Lifecycle Management</a:t>
            </a:r>
          </a:p>
        </p:txBody>
      </p:sp>
      <p:sp>
        <p:nvSpPr>
          <p:cNvPr id="211" name="Bullets3"/>
          <p:cNvSpPr txBox="1"/>
          <p:nvPr/>
        </p:nvSpPr>
        <p:spPr>
          <a:xfrm>
            <a:off x="6527800" y="4394200"/>
            <a:ext cx="5156200" cy="939800"/>
          </a:xfrm>
          <a:prstGeom prst="rect">
            <a:avLst/>
          </a:prstGeom>
          <a:noFill/>
          <a:ln>
            <a:noFill/>
          </a:ln>
        </p:spPr>
        <p:txBody>
          <a:bodyPr wrap="square" lIns="0" tIns="0" rIns="0" bIns="0" anchor="t"/>
          <a:lstStyle/>
          <a:p>
            <a:pPr marL="171450" indent="-171450">
              <a:lnSpc>
                <a:spcPts val="1800"/>
              </a:lnSpc>
              <a:spcBef>
                <a:spcPts val="100"/>
              </a:spcBef>
              <a:buFont typeface="Arial"/>
              <a:buChar char="•"/>
            </a:pPr>
            <a:r>
              <a:rPr lang="en-GB" sz="1400" b="1" dirty="0">
                <a:solidFill>
                  <a:srgbClr val="060B25"/>
                </a:solidFill>
                <a:latin typeface="Aptos"/>
              </a:rPr>
              <a:t>Lifecycle state management:</a:t>
            </a:r>
            <a:r>
              <a:rPr lang="en-GB" sz="1400" dirty="0">
                <a:solidFill>
                  <a:srgbClr val="3B3B3B"/>
                </a:solidFill>
                <a:latin typeface="Aptos"/>
              </a:rPr>
              <a:t> new/active/dormant/decom</a:t>
            </a:r>
          </a:p>
          <a:p>
            <a:pPr marL="171450" indent="-171450">
              <a:lnSpc>
                <a:spcPts val="1800"/>
              </a:lnSpc>
              <a:spcBef>
                <a:spcPts val="100"/>
              </a:spcBef>
              <a:buFont typeface="Arial"/>
              <a:buChar char="•"/>
            </a:pPr>
            <a:r>
              <a:rPr lang="en-GB" sz="1400" b="1" dirty="0">
                <a:solidFill>
                  <a:srgbClr val="060B25"/>
                </a:solidFill>
                <a:latin typeface="Aptos"/>
              </a:rPr>
              <a:t>Tag hygiene governance:</a:t>
            </a:r>
            <a:r>
              <a:rPr lang="en-GB" sz="1400" dirty="0">
                <a:solidFill>
                  <a:srgbClr val="3B3B3B"/>
                </a:solidFill>
                <a:latin typeface="Aptos"/>
              </a:rPr>
              <a:t> owner/env/cost tagging coverage</a:t>
            </a:r>
          </a:p>
          <a:p>
            <a:pPr marL="171450" indent="-171450">
              <a:lnSpc>
                <a:spcPts val="1800"/>
              </a:lnSpc>
              <a:spcBef>
                <a:spcPts val="100"/>
              </a:spcBef>
              <a:buFont typeface="Arial"/>
              <a:buChar char="•"/>
            </a:pPr>
            <a:r>
              <a:rPr lang="en-GB" sz="1400" b="1" dirty="0">
                <a:solidFill>
                  <a:srgbClr val="060B25"/>
                </a:solidFill>
                <a:latin typeface="Aptos"/>
              </a:rPr>
              <a:t>Custom interactive dashboards:</a:t>
            </a:r>
            <a:r>
              <a:rPr lang="en-GB" sz="1400" dirty="0">
                <a:solidFill>
                  <a:srgbClr val="3B3B3B"/>
                </a:solidFill>
                <a:latin typeface="Aptos"/>
              </a:rPr>
              <a:t> user-configurable views</a:t>
            </a:r>
          </a:p>
        </p:txBody>
      </p:sp>
    </p:spTree>
    <p:extLst>
      <p:ext uri="{BB962C8B-B14F-4D97-AF65-F5344CB8AC3E}">
        <p14:creationId xmlns:p14="http://schemas.microsoft.com/office/powerpoint/2010/main" val="6053754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9E4F2-DF1B-2148-E3C4-63FD6B0E92C3}"/>
            </a:ext>
          </a:extLst>
        </p:cNvPr>
        <p:cNvGrpSpPr/>
        <p:nvPr/>
      </p:nvGrpSpPr>
      <p:grpSpPr>
        <a:xfrm>
          <a:off x="0" y="0"/>
          <a:ext cx="0" cy="0"/>
          <a:chOff x="0" y="0"/>
          <a:chExt cx="0" cy="0"/>
        </a:xfrm>
      </p:grpSpPr>
      <p:graphicFrame>
        <p:nvGraphicFramePr>
          <p:cNvPr id="41" name="think-cell data - do not delete" hidden="1">
            <a:extLst>
              <a:ext uri="{FF2B5EF4-FFF2-40B4-BE49-F238E27FC236}">
                <a16:creationId xmlns:a16="http://schemas.microsoft.com/office/drawing/2014/main" id="{578A24EA-B4DF-63F4-9193-D9A13D57B1D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41" name="think-cell data - do not delete" hidden="1">
                        <a:extLst>
                          <a:ext uri="{FF2B5EF4-FFF2-40B4-BE49-F238E27FC236}">
                            <a16:creationId xmlns:a16="http://schemas.microsoft.com/office/drawing/2014/main" id="{578A24EA-B4DF-63F4-9193-D9A13D57B1D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object 8">
            <a:extLst>
              <a:ext uri="{FF2B5EF4-FFF2-40B4-BE49-F238E27FC236}">
                <a16:creationId xmlns:a16="http://schemas.microsoft.com/office/drawing/2014/main" id="{63AC386B-3746-1175-F872-F5E5FB0A320A}"/>
              </a:ext>
            </a:extLst>
          </p:cNvPr>
          <p:cNvSpPr txBox="1"/>
          <p:nvPr/>
        </p:nvSpPr>
        <p:spPr>
          <a:xfrm>
            <a:off x="647998" y="525983"/>
            <a:ext cx="11074609" cy="743793"/>
          </a:xfrm>
          <a:prstGeom prst="rect">
            <a:avLst/>
          </a:prstGeom>
        </p:spPr>
        <p:txBody>
          <a:bodyPr vert="horz" wrap="square" lIns="0" tIns="0" rIns="0" bIns="0" rtlCol="0">
            <a:spAutoFit/>
          </a:bodyPr>
          <a:lstStyle/>
          <a:p>
            <a:pPr marL="20319" lvl="0" defTabSz="1219170">
              <a:lnSpc>
                <a:spcPts val="2180"/>
              </a:lnSpc>
              <a:defRPr/>
            </a:pPr>
            <a:r>
              <a:rPr lang="en-US" sz="1400" spc="-100">
                <a:solidFill>
                  <a:srgbClr val="595959"/>
                </a:solidFill>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Use Case Examples</a:t>
            </a:r>
          </a:p>
          <a:p>
            <a:pPr marL="20319" marR="0" lvl="0" indent="0" algn="l" defTabSz="1219170" eaLnBrk="1" fontAlgn="auto" latinLnBrk="0" hangingPunct="1">
              <a:spcBef>
                <a:spcPts val="0"/>
              </a:spcBef>
              <a:spcAft>
                <a:spcPts val="0"/>
              </a:spcAft>
              <a:buClrTx/>
              <a:buSzTx/>
              <a:buFontTx/>
              <a:buNone/>
              <a:tabLst/>
              <a:defRPr/>
            </a:pPr>
            <a:r>
              <a:rPr kumimoji="0" lang="en-US" sz="3000" b="1" i="0" u="none" strike="noStrike" kern="1200" cap="none" spc="-100" normalizeH="0" noProof="0">
                <a:ln>
                  <a:noFill/>
                </a:ln>
                <a:solidFill>
                  <a:srgbClr val="060B25"/>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Vulnerability Management</a:t>
            </a:r>
          </a:p>
        </p:txBody>
      </p:sp>
      <p:sp>
        <p:nvSpPr>
          <p:cNvPr id="200" name="B"/>
          <p:cNvSpPr/>
          <p:nvPr/>
        </p:nvSpPr>
        <p:spPr>
          <a:xfrm>
            <a:off x="673100" y="1397000"/>
            <a:ext cx="63500" cy="1549400"/>
          </a:xfrm>
          <a:prstGeom prst="roundRect">
            <a:avLst>
              <a:gd name="adj" fmla="val 50000"/>
            </a:avLst>
          </a:prstGeom>
          <a:solidFill>
            <a:srgbClr val="6360D8"/>
          </a:solidFill>
          <a:ln>
            <a:noFill/>
          </a:ln>
        </p:spPr>
        <p:txBody>
          <a:bodyPr/>
          <a:lstStyle/>
          <a:p>
            <a:endParaRPr lang="en-US"/>
          </a:p>
        </p:txBody>
      </p:sp>
      <p:sp>
        <p:nvSpPr>
          <p:cNvPr id="201" name="H"/>
          <p:cNvSpPr txBox="1"/>
          <p:nvPr/>
        </p:nvSpPr>
        <p:spPr>
          <a:xfrm>
            <a:off x="850900" y="1397000"/>
            <a:ext cx="5156200" cy="330200"/>
          </a:xfrm>
          <a:prstGeom prst="rect">
            <a:avLst/>
          </a:prstGeom>
          <a:noFill/>
          <a:ln>
            <a:noFill/>
          </a:ln>
        </p:spPr>
        <p:txBody>
          <a:bodyPr wrap="square" lIns="0" tIns="0" rIns="0" bIns="0" anchor="ctr"/>
          <a:lstStyle/>
          <a:p>
            <a:pPr>
              <a:buNone/>
            </a:pPr>
            <a:r>
              <a:rPr lang="en-US" sz="1600" b="1" dirty="0">
                <a:solidFill>
                  <a:srgbClr val="6360D8"/>
                </a:solidFill>
                <a:latin typeface="Aptos"/>
              </a:rPr>
              <a:t>Prioritisation &amp; Scoring</a:t>
            </a:r>
          </a:p>
        </p:txBody>
      </p:sp>
      <p:sp>
        <p:nvSpPr>
          <p:cNvPr id="202" name="T"/>
          <p:cNvSpPr txBox="1"/>
          <p:nvPr/>
        </p:nvSpPr>
        <p:spPr>
          <a:xfrm>
            <a:off x="850900" y="1727200"/>
            <a:ext cx="5156200" cy="1219200"/>
          </a:xfrm>
          <a:prstGeom prst="rect">
            <a:avLst/>
          </a:prstGeom>
          <a:noFill/>
          <a:ln>
            <a:noFill/>
          </a:ln>
        </p:spPr>
        <p:txBody>
          <a:bodyPr wrap="square" lIns="0" tIns="0" rIns="0" bIns="0" anchor="t"/>
          <a:lstStyle/>
          <a:p>
            <a:pPr marL="171450" indent="-171450">
              <a:lnSpc>
                <a:spcPts val="1800"/>
              </a:lnSpc>
              <a:spcBef>
                <a:spcPts val="100"/>
              </a:spcBef>
              <a:buFont typeface="Arial"/>
              <a:buChar char="•"/>
            </a:pPr>
            <a:r>
              <a:rPr lang="en-GB" sz="1400" b="1" dirty="0">
                <a:solidFill>
                  <a:srgbClr val="060B25"/>
                </a:solidFill>
                <a:latin typeface="Aptos"/>
              </a:rPr>
              <a:t>Vuln-to-asset association:</a:t>
            </a:r>
            <a:r>
              <a:rPr lang="en-GB" sz="1400" dirty="0">
                <a:solidFill>
                  <a:srgbClr val="3B3B3B"/>
                </a:solidFill>
                <a:latin typeface="Aptos"/>
              </a:rPr>
              <a:t> resolve duplicates, bind findings to canonical asset</a:t>
            </a:r>
          </a:p>
          <a:p>
            <a:pPr marL="171450" indent="-171450">
              <a:lnSpc>
                <a:spcPts val="1800"/>
              </a:lnSpc>
              <a:spcBef>
                <a:spcPts val="100"/>
              </a:spcBef>
              <a:buFont typeface="Arial"/>
              <a:buChar char="•"/>
            </a:pPr>
            <a:r>
              <a:rPr lang="en-GB" sz="1400" b="1" dirty="0">
                <a:solidFill>
                  <a:srgbClr val="060B25"/>
                </a:solidFill>
                <a:latin typeface="Aptos"/>
              </a:rPr>
              <a:t>Exploitability-weighted prioritisation:</a:t>
            </a:r>
            <a:r>
              <a:rPr lang="en-GB" sz="1400" dirty="0">
                <a:solidFill>
                  <a:srgbClr val="3B3B3B"/>
                </a:solidFill>
                <a:latin typeface="Aptos"/>
              </a:rPr>
              <a:t> KEV + EPSS + severity, not CVSS alone</a:t>
            </a:r>
          </a:p>
          <a:p>
            <a:pPr marL="171450" indent="-171450">
              <a:lnSpc>
                <a:spcPts val="1800"/>
              </a:lnSpc>
              <a:spcBef>
                <a:spcPts val="100"/>
              </a:spcBef>
              <a:buFont typeface="Arial"/>
              <a:buChar char="•"/>
            </a:pPr>
            <a:r>
              <a:rPr lang="en-GB" sz="1400" b="1" dirty="0">
                <a:solidFill>
                  <a:srgbClr val="060B25"/>
                </a:solidFill>
                <a:latin typeface="Aptos"/>
              </a:rPr>
              <a:t>Business criticality weighting:</a:t>
            </a:r>
            <a:r>
              <a:rPr lang="en-GB" sz="1400" dirty="0">
                <a:solidFill>
                  <a:srgbClr val="3B3B3B"/>
                </a:solidFill>
                <a:latin typeface="Aptos"/>
              </a:rPr>
              <a:t> elevate on crown-jewel / regulated systems</a:t>
            </a:r>
          </a:p>
          <a:p>
            <a:pPr marL="171450" indent="-171450">
              <a:lnSpc>
                <a:spcPts val="1800"/>
              </a:lnSpc>
              <a:spcBef>
                <a:spcPts val="100"/>
              </a:spcBef>
              <a:buFont typeface="Arial"/>
              <a:buChar char="•"/>
            </a:pPr>
            <a:r>
              <a:rPr lang="en-GB" sz="1400" b="1" dirty="0">
                <a:solidFill>
                  <a:srgbClr val="060B25"/>
                </a:solidFill>
                <a:latin typeface="Aptos"/>
              </a:rPr>
              <a:t>Exposure-aware risk scoring:</a:t>
            </a:r>
            <a:r>
              <a:rPr lang="en-GB" sz="1400" dirty="0">
                <a:solidFill>
                  <a:srgbClr val="3B3B3B"/>
                </a:solidFill>
                <a:latin typeface="Aptos"/>
              </a:rPr>
              <a:t> boost for internet-facing or missing controls</a:t>
            </a:r>
          </a:p>
        </p:txBody>
      </p:sp>
      <p:sp>
        <p:nvSpPr>
          <p:cNvPr id="203" name="B"/>
          <p:cNvSpPr/>
          <p:nvPr/>
        </p:nvSpPr>
        <p:spPr>
          <a:xfrm>
            <a:off x="6350000" y="1397000"/>
            <a:ext cx="63500" cy="1270000"/>
          </a:xfrm>
          <a:prstGeom prst="roundRect">
            <a:avLst>
              <a:gd name="adj" fmla="val 50000"/>
            </a:avLst>
          </a:prstGeom>
          <a:solidFill>
            <a:srgbClr val="2E8B57"/>
          </a:solidFill>
          <a:ln>
            <a:noFill/>
          </a:ln>
        </p:spPr>
        <p:txBody>
          <a:bodyPr/>
          <a:lstStyle/>
          <a:p>
            <a:endParaRPr lang="en-US"/>
          </a:p>
        </p:txBody>
      </p:sp>
      <p:sp>
        <p:nvSpPr>
          <p:cNvPr id="204" name="H"/>
          <p:cNvSpPr txBox="1"/>
          <p:nvPr/>
        </p:nvSpPr>
        <p:spPr>
          <a:xfrm>
            <a:off x="6527800" y="1397000"/>
            <a:ext cx="5156200" cy="330200"/>
          </a:xfrm>
          <a:prstGeom prst="rect">
            <a:avLst/>
          </a:prstGeom>
          <a:noFill/>
          <a:ln>
            <a:noFill/>
          </a:ln>
        </p:spPr>
        <p:txBody>
          <a:bodyPr wrap="square" lIns="0" tIns="0" rIns="0" bIns="0" anchor="ctr"/>
          <a:lstStyle/>
          <a:p>
            <a:pPr>
              <a:buNone/>
            </a:pPr>
            <a:r>
              <a:rPr lang="en-US" sz="1600" b="1" dirty="0">
                <a:solidFill>
                  <a:srgbClr val="2E8B57"/>
                </a:solidFill>
                <a:latin typeface="Aptos"/>
              </a:rPr>
              <a:t>Remediation Workflow</a:t>
            </a:r>
          </a:p>
        </p:txBody>
      </p:sp>
      <p:sp>
        <p:nvSpPr>
          <p:cNvPr id="205" name="T"/>
          <p:cNvSpPr txBox="1"/>
          <p:nvPr/>
        </p:nvSpPr>
        <p:spPr>
          <a:xfrm>
            <a:off x="6527800" y="1727200"/>
            <a:ext cx="5156200" cy="939800"/>
          </a:xfrm>
          <a:prstGeom prst="rect">
            <a:avLst/>
          </a:prstGeom>
          <a:noFill/>
          <a:ln>
            <a:noFill/>
          </a:ln>
        </p:spPr>
        <p:txBody>
          <a:bodyPr wrap="square" lIns="0" tIns="0" rIns="0" bIns="0" anchor="t"/>
          <a:lstStyle/>
          <a:p>
            <a:pPr marL="171450" indent="-171450">
              <a:lnSpc>
                <a:spcPts val="1800"/>
              </a:lnSpc>
              <a:spcBef>
                <a:spcPts val="100"/>
              </a:spcBef>
              <a:buFont typeface="Arial"/>
              <a:buChar char="•"/>
            </a:pPr>
            <a:r>
              <a:rPr lang="en-GB" sz="1400" b="1" dirty="0">
                <a:solidFill>
                  <a:srgbClr val="060B25"/>
                </a:solidFill>
                <a:latin typeface="Aptos"/>
              </a:rPr>
              <a:t>SLA policy + tiering:</a:t>
            </a:r>
            <a:r>
              <a:rPr lang="en-GB" sz="1400" dirty="0">
                <a:solidFill>
                  <a:srgbClr val="3B3B3B"/>
                </a:solidFill>
                <a:latin typeface="Aptos"/>
              </a:rPr>
              <a:t> different SLAs by asset tier/class</a:t>
            </a:r>
          </a:p>
          <a:p>
            <a:pPr marL="171450" indent="-171450">
              <a:lnSpc>
                <a:spcPts val="1800"/>
              </a:lnSpc>
              <a:spcBef>
                <a:spcPts val="100"/>
              </a:spcBef>
              <a:buFont typeface="Arial"/>
              <a:buChar char="•"/>
            </a:pPr>
            <a:r>
              <a:rPr lang="en-GB" sz="1400" b="1" dirty="0">
                <a:solidFill>
                  <a:srgbClr val="060B25"/>
                </a:solidFill>
                <a:latin typeface="Aptos"/>
              </a:rPr>
              <a:t>Remediation ownership:</a:t>
            </a:r>
            <a:r>
              <a:rPr lang="en-GB" sz="1400" dirty="0">
                <a:solidFill>
                  <a:srgbClr val="3B3B3B"/>
                </a:solidFill>
                <a:latin typeface="Aptos"/>
              </a:rPr>
              <a:t> assign via CMDB/service mapping</a:t>
            </a:r>
          </a:p>
          <a:p>
            <a:pPr marL="171450" indent="-171450">
              <a:lnSpc>
                <a:spcPts val="1800"/>
              </a:lnSpc>
              <a:spcBef>
                <a:spcPts val="100"/>
              </a:spcBef>
              <a:buFont typeface="Arial"/>
              <a:buChar char="•"/>
            </a:pPr>
            <a:r>
              <a:rPr lang="en-GB" sz="1400" b="1" dirty="0">
                <a:solidFill>
                  <a:srgbClr val="060B25"/>
                </a:solidFill>
                <a:latin typeface="Aptos"/>
              </a:rPr>
              <a:t>Scan-to-fix-to-verify:</a:t>
            </a:r>
            <a:r>
              <a:rPr lang="en-GB" sz="1400" dirty="0">
                <a:solidFill>
                  <a:srgbClr val="3B3B3B"/>
                </a:solidFill>
                <a:latin typeface="Aptos"/>
              </a:rPr>
              <a:t> track found, triaged, ticketed, fixed, verified</a:t>
            </a:r>
          </a:p>
        </p:txBody>
      </p:sp>
      <p:sp>
        <p:nvSpPr>
          <p:cNvPr id="206" name="B"/>
          <p:cNvSpPr/>
          <p:nvPr/>
        </p:nvSpPr>
        <p:spPr>
          <a:xfrm>
            <a:off x="673100" y="4064000"/>
            <a:ext cx="63500" cy="990600"/>
          </a:xfrm>
          <a:prstGeom prst="roundRect">
            <a:avLst>
              <a:gd name="adj" fmla="val 50000"/>
            </a:avLst>
          </a:prstGeom>
          <a:solidFill>
            <a:srgbClr val="3A7CA5"/>
          </a:solidFill>
          <a:ln>
            <a:noFill/>
          </a:ln>
        </p:spPr>
        <p:txBody>
          <a:bodyPr/>
          <a:lstStyle/>
          <a:p>
            <a:endParaRPr lang="en-US"/>
          </a:p>
        </p:txBody>
      </p:sp>
      <p:sp>
        <p:nvSpPr>
          <p:cNvPr id="207" name="H"/>
          <p:cNvSpPr txBox="1"/>
          <p:nvPr/>
        </p:nvSpPr>
        <p:spPr>
          <a:xfrm>
            <a:off x="850900" y="4064000"/>
            <a:ext cx="5156200" cy="330200"/>
          </a:xfrm>
          <a:prstGeom prst="rect">
            <a:avLst/>
          </a:prstGeom>
          <a:noFill/>
          <a:ln>
            <a:noFill/>
          </a:ln>
        </p:spPr>
        <p:txBody>
          <a:bodyPr wrap="square" lIns="0" tIns="0" rIns="0" bIns="0" anchor="ctr"/>
          <a:lstStyle/>
          <a:p>
            <a:pPr>
              <a:buNone/>
            </a:pPr>
            <a:r>
              <a:rPr lang="en-US" sz="1600" b="1" dirty="0">
                <a:solidFill>
                  <a:srgbClr val="3A7CA5"/>
                </a:solidFill>
                <a:latin typeface="Aptos"/>
              </a:rPr>
              <a:t>Visibility &amp; Reporting</a:t>
            </a:r>
          </a:p>
        </p:txBody>
      </p:sp>
      <p:sp>
        <p:nvSpPr>
          <p:cNvPr id="208" name="T"/>
          <p:cNvSpPr txBox="1"/>
          <p:nvPr/>
        </p:nvSpPr>
        <p:spPr>
          <a:xfrm>
            <a:off x="850900" y="4394200"/>
            <a:ext cx="5156200" cy="660400"/>
          </a:xfrm>
          <a:prstGeom prst="rect">
            <a:avLst/>
          </a:prstGeom>
          <a:noFill/>
          <a:ln>
            <a:noFill/>
          </a:ln>
        </p:spPr>
        <p:txBody>
          <a:bodyPr wrap="square" lIns="0" tIns="0" rIns="0" bIns="0" anchor="t"/>
          <a:lstStyle/>
          <a:p>
            <a:pPr marL="171450" indent="-171450">
              <a:lnSpc>
                <a:spcPts val="1800"/>
              </a:lnSpc>
              <a:spcBef>
                <a:spcPts val="100"/>
              </a:spcBef>
              <a:buFont typeface="Arial"/>
              <a:buChar char="•"/>
            </a:pPr>
            <a:r>
              <a:rPr lang="en-GB" sz="1400" b="1" dirty="0">
                <a:solidFill>
                  <a:srgbClr val="060B25"/>
                </a:solidFill>
                <a:latin typeface="Aptos"/>
              </a:rPr>
              <a:t>Coverage bias detection:</a:t>
            </a:r>
            <a:r>
              <a:rPr lang="en-GB" sz="1400" dirty="0">
                <a:solidFill>
                  <a:srgbClr val="3B3B3B"/>
                </a:solidFill>
                <a:latin typeface="Aptos"/>
              </a:rPr>
              <a:t> report where scanning is missing/stale</a:t>
            </a:r>
          </a:p>
          <a:p>
            <a:pPr marL="171450" indent="-171450">
              <a:lnSpc>
                <a:spcPts val="1800"/>
              </a:lnSpc>
              <a:spcBef>
                <a:spcPts val="100"/>
              </a:spcBef>
              <a:buFont typeface="Arial"/>
              <a:buChar char="•"/>
            </a:pPr>
            <a:r>
              <a:rPr lang="en-GB" sz="1400" b="1" dirty="0">
                <a:solidFill>
                  <a:srgbClr val="060B25"/>
                </a:solidFill>
                <a:latin typeface="Aptos"/>
              </a:rPr>
              <a:t>Risk burn-down reporting:</a:t>
            </a:r>
            <a:r>
              <a:rPr lang="en-GB" sz="1400" dirty="0">
                <a:solidFill>
                  <a:srgbClr val="3B3B3B"/>
                </a:solidFill>
                <a:latin typeface="Aptos"/>
              </a:rPr>
              <a:t> exposure reduction over time by service/BU/owner</a:t>
            </a:r>
          </a:p>
        </p:txBody>
      </p:sp>
    </p:spTree>
    <p:extLst>
      <p:ext uri="{BB962C8B-B14F-4D97-AF65-F5344CB8AC3E}">
        <p14:creationId xmlns:p14="http://schemas.microsoft.com/office/powerpoint/2010/main" val="12880292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7B49D-8C42-758A-47E8-6B784560C04B}"/>
            </a:ext>
          </a:extLst>
        </p:cNvPr>
        <p:cNvGrpSpPr/>
        <p:nvPr/>
      </p:nvGrpSpPr>
      <p:grpSpPr>
        <a:xfrm>
          <a:off x="0" y="0"/>
          <a:ext cx="0" cy="0"/>
          <a:chOff x="0" y="0"/>
          <a:chExt cx="0" cy="0"/>
        </a:xfrm>
      </p:grpSpPr>
      <p:graphicFrame>
        <p:nvGraphicFramePr>
          <p:cNvPr id="41" name="think-cell data - do not delete" hidden="1">
            <a:extLst>
              <a:ext uri="{FF2B5EF4-FFF2-40B4-BE49-F238E27FC236}">
                <a16:creationId xmlns:a16="http://schemas.microsoft.com/office/drawing/2014/main" id="{39F95181-E1F9-3843-BEA9-EC6CA1479F9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41" name="think-cell data - do not delete" hidden="1">
                        <a:extLst>
                          <a:ext uri="{FF2B5EF4-FFF2-40B4-BE49-F238E27FC236}">
                            <a16:creationId xmlns:a16="http://schemas.microsoft.com/office/drawing/2014/main" id="{39F95181-E1F9-3843-BEA9-EC6CA1479F9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object 8">
            <a:extLst>
              <a:ext uri="{FF2B5EF4-FFF2-40B4-BE49-F238E27FC236}">
                <a16:creationId xmlns:a16="http://schemas.microsoft.com/office/drawing/2014/main" id="{975A6316-4023-7C67-4ABD-6F43D7905536}"/>
              </a:ext>
            </a:extLst>
          </p:cNvPr>
          <p:cNvSpPr txBox="1"/>
          <p:nvPr/>
        </p:nvSpPr>
        <p:spPr>
          <a:xfrm>
            <a:off x="647998" y="525983"/>
            <a:ext cx="11074609" cy="743793"/>
          </a:xfrm>
          <a:prstGeom prst="rect">
            <a:avLst/>
          </a:prstGeom>
        </p:spPr>
        <p:txBody>
          <a:bodyPr vert="horz" wrap="square" lIns="0" tIns="0" rIns="0" bIns="0" rtlCol="0">
            <a:spAutoFit/>
          </a:bodyPr>
          <a:lstStyle/>
          <a:p>
            <a:pPr marL="20319" lvl="0" defTabSz="1219170">
              <a:lnSpc>
                <a:spcPts val="2180"/>
              </a:lnSpc>
              <a:defRPr/>
            </a:pPr>
            <a:r>
              <a:rPr lang="en-US" sz="1400" spc="-100">
                <a:solidFill>
                  <a:srgbClr val="595959"/>
                </a:solidFill>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Use Case Examples</a:t>
            </a:r>
          </a:p>
          <a:p>
            <a:pPr marL="20319" lvl="0" defTabSz="1219170">
              <a:defRPr/>
            </a:pPr>
            <a:r>
              <a:rPr kumimoji="0" lang="en-US" sz="3000" b="1" i="0" u="none" strike="noStrike" kern="1200" cap="none" spc="-100" normalizeH="0" noProof="0">
                <a:ln>
                  <a:noFill/>
                </a:ln>
                <a:solidFill>
                  <a:srgbClr val="060B25"/>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Privileged Access</a:t>
            </a:r>
          </a:p>
        </p:txBody>
      </p:sp>
      <p:sp>
        <p:nvSpPr>
          <p:cNvPr id="200" name="B"/>
          <p:cNvSpPr/>
          <p:nvPr/>
        </p:nvSpPr>
        <p:spPr>
          <a:xfrm>
            <a:off x="673100" y="1397000"/>
            <a:ext cx="63500" cy="1549400"/>
          </a:xfrm>
          <a:prstGeom prst="roundRect">
            <a:avLst>
              <a:gd name="adj" fmla="val 50000"/>
            </a:avLst>
          </a:prstGeom>
          <a:solidFill>
            <a:srgbClr val="6360D8"/>
          </a:solidFill>
          <a:ln>
            <a:noFill/>
          </a:ln>
        </p:spPr>
        <p:txBody>
          <a:bodyPr/>
          <a:lstStyle/>
          <a:p>
            <a:endParaRPr lang="en-US"/>
          </a:p>
        </p:txBody>
      </p:sp>
      <p:sp>
        <p:nvSpPr>
          <p:cNvPr id="201" name="H"/>
          <p:cNvSpPr txBox="1"/>
          <p:nvPr/>
        </p:nvSpPr>
        <p:spPr>
          <a:xfrm>
            <a:off x="850900" y="1397000"/>
            <a:ext cx="5156200" cy="330200"/>
          </a:xfrm>
          <a:prstGeom prst="rect">
            <a:avLst/>
          </a:prstGeom>
          <a:noFill/>
          <a:ln>
            <a:noFill/>
          </a:ln>
        </p:spPr>
        <p:txBody>
          <a:bodyPr wrap="square" lIns="0" tIns="0" rIns="0" bIns="0" anchor="ctr"/>
          <a:lstStyle/>
          <a:p>
            <a:pPr>
              <a:buNone/>
            </a:pPr>
            <a:r>
              <a:rPr lang="en-US" sz="1600" b="1" dirty="0">
                <a:solidFill>
                  <a:srgbClr val="6360D8"/>
                </a:solidFill>
                <a:latin typeface="Aptos"/>
              </a:rPr>
              <a:t>Identity &amp; Access Catalogue</a:t>
            </a:r>
          </a:p>
        </p:txBody>
      </p:sp>
      <p:sp>
        <p:nvSpPr>
          <p:cNvPr id="202" name="T"/>
          <p:cNvSpPr txBox="1"/>
          <p:nvPr/>
        </p:nvSpPr>
        <p:spPr>
          <a:xfrm>
            <a:off x="850900" y="1727200"/>
            <a:ext cx="5156200" cy="1219200"/>
          </a:xfrm>
          <a:prstGeom prst="rect">
            <a:avLst/>
          </a:prstGeom>
          <a:noFill/>
          <a:ln>
            <a:noFill/>
          </a:ln>
        </p:spPr>
        <p:txBody>
          <a:bodyPr wrap="square" lIns="0" tIns="0" rIns="0" bIns="0" anchor="t"/>
          <a:lstStyle/>
          <a:p>
            <a:pPr marL="171450" indent="-171450">
              <a:lnSpc>
                <a:spcPts val="1800"/>
              </a:lnSpc>
              <a:spcBef>
                <a:spcPts val="100"/>
              </a:spcBef>
              <a:buFont typeface="Arial"/>
              <a:buChar char="•"/>
            </a:pPr>
            <a:r>
              <a:rPr lang="en-GB" sz="1400" b="1" dirty="0">
                <a:solidFill>
                  <a:srgbClr val="060B25"/>
                </a:solidFill>
                <a:latin typeface="Aptos"/>
              </a:rPr>
              <a:t>Privileged identity catalogue:</a:t>
            </a:r>
            <a:r>
              <a:rPr lang="en-GB" sz="1400" dirty="0">
                <a:solidFill>
                  <a:srgbClr val="3B3B3B"/>
                </a:solidFill>
                <a:latin typeface="Aptos"/>
              </a:rPr>
              <a:t> human/service/break-glass with ownership</a:t>
            </a:r>
          </a:p>
          <a:p>
            <a:pPr marL="171450" indent="-171450">
              <a:lnSpc>
                <a:spcPts val="1800"/>
              </a:lnSpc>
              <a:spcBef>
                <a:spcPts val="100"/>
              </a:spcBef>
              <a:buFont typeface="Arial"/>
              <a:buChar char="•"/>
            </a:pPr>
            <a:r>
              <a:rPr lang="en-GB" sz="1400" b="1" dirty="0">
                <a:solidFill>
                  <a:srgbClr val="060B25"/>
                </a:solidFill>
                <a:latin typeface="Aptos"/>
              </a:rPr>
              <a:t>Privilege concentration:</a:t>
            </a:r>
            <a:r>
              <a:rPr lang="en-GB" sz="1400" dirty="0">
                <a:solidFill>
                  <a:srgbClr val="3B3B3B"/>
                </a:solidFill>
                <a:latin typeface="Aptos"/>
              </a:rPr>
              <a:t> who has too much access; too many admins</a:t>
            </a:r>
          </a:p>
          <a:p>
            <a:pPr marL="171450" indent="-171450">
              <a:lnSpc>
                <a:spcPts val="1800"/>
              </a:lnSpc>
              <a:spcBef>
                <a:spcPts val="100"/>
              </a:spcBef>
              <a:buFont typeface="Arial"/>
              <a:buChar char="•"/>
            </a:pPr>
            <a:r>
              <a:rPr lang="en-GB" sz="1400" b="1" dirty="0">
                <a:solidFill>
                  <a:srgbClr val="060B25"/>
                </a:solidFill>
                <a:latin typeface="Aptos"/>
              </a:rPr>
              <a:t>% privileged with strong auth:</a:t>
            </a:r>
            <a:r>
              <a:rPr lang="en-GB" sz="1400" dirty="0">
                <a:solidFill>
                  <a:srgbClr val="3B3B3B"/>
                </a:solidFill>
                <a:latin typeface="Aptos"/>
              </a:rPr>
              <a:t> MFA/conditional access coverage</a:t>
            </a:r>
          </a:p>
          <a:p>
            <a:pPr marL="171450" indent="-171450">
              <a:lnSpc>
                <a:spcPts val="1800"/>
              </a:lnSpc>
              <a:spcBef>
                <a:spcPts val="100"/>
              </a:spcBef>
              <a:buFont typeface="Arial"/>
              <a:buChar char="•"/>
            </a:pPr>
            <a:r>
              <a:rPr lang="en-GB" sz="1400" b="1" dirty="0">
                <a:solidFill>
                  <a:srgbClr val="060B25"/>
                </a:solidFill>
                <a:latin typeface="Aptos"/>
              </a:rPr>
              <a:t>Dormant privileged accounts:</a:t>
            </a:r>
            <a:r>
              <a:rPr lang="en-GB" sz="1400" dirty="0">
                <a:solidFill>
                  <a:srgbClr val="3B3B3B"/>
                </a:solidFill>
                <a:latin typeface="Aptos"/>
              </a:rPr>
              <a:t> ageing, last activity, revalidation</a:t>
            </a:r>
          </a:p>
        </p:txBody>
      </p:sp>
      <p:sp>
        <p:nvSpPr>
          <p:cNvPr id="203" name="B"/>
          <p:cNvSpPr/>
          <p:nvPr/>
        </p:nvSpPr>
        <p:spPr>
          <a:xfrm>
            <a:off x="6350000" y="1397000"/>
            <a:ext cx="63500" cy="990600"/>
          </a:xfrm>
          <a:prstGeom prst="roundRect">
            <a:avLst>
              <a:gd name="adj" fmla="val 50000"/>
            </a:avLst>
          </a:prstGeom>
          <a:solidFill>
            <a:srgbClr val="2E8B57"/>
          </a:solidFill>
          <a:ln>
            <a:noFill/>
          </a:ln>
        </p:spPr>
        <p:txBody>
          <a:bodyPr/>
          <a:lstStyle/>
          <a:p>
            <a:endParaRPr lang="en-US"/>
          </a:p>
        </p:txBody>
      </p:sp>
      <p:sp>
        <p:nvSpPr>
          <p:cNvPr id="204" name="H"/>
          <p:cNvSpPr txBox="1"/>
          <p:nvPr/>
        </p:nvSpPr>
        <p:spPr>
          <a:xfrm>
            <a:off x="6527800" y="1397000"/>
            <a:ext cx="5156200" cy="330200"/>
          </a:xfrm>
          <a:prstGeom prst="rect">
            <a:avLst/>
          </a:prstGeom>
          <a:noFill/>
          <a:ln>
            <a:noFill/>
          </a:ln>
        </p:spPr>
        <p:txBody>
          <a:bodyPr wrap="square" lIns="0" tIns="0" rIns="0" bIns="0" anchor="ctr"/>
          <a:lstStyle/>
          <a:p>
            <a:pPr>
              <a:buNone/>
            </a:pPr>
            <a:r>
              <a:rPr lang="en-US" sz="1600" b="1" dirty="0">
                <a:solidFill>
                  <a:srgbClr val="2E8B57"/>
                </a:solidFill>
                <a:latin typeface="Aptos"/>
              </a:rPr>
              <a:t>Risk Detection</a:t>
            </a:r>
          </a:p>
        </p:txBody>
      </p:sp>
      <p:sp>
        <p:nvSpPr>
          <p:cNvPr id="205" name="T"/>
          <p:cNvSpPr txBox="1"/>
          <p:nvPr/>
        </p:nvSpPr>
        <p:spPr>
          <a:xfrm>
            <a:off x="6527800" y="1727200"/>
            <a:ext cx="5156200" cy="660400"/>
          </a:xfrm>
          <a:prstGeom prst="rect">
            <a:avLst/>
          </a:prstGeom>
          <a:noFill/>
          <a:ln>
            <a:noFill/>
          </a:ln>
        </p:spPr>
        <p:txBody>
          <a:bodyPr wrap="square" lIns="0" tIns="0" rIns="0" bIns="0" anchor="t"/>
          <a:lstStyle/>
          <a:p>
            <a:pPr marL="171450" indent="-171450">
              <a:lnSpc>
                <a:spcPts val="1800"/>
              </a:lnSpc>
              <a:spcBef>
                <a:spcPts val="100"/>
              </a:spcBef>
              <a:buFont typeface="Arial"/>
              <a:buChar char="•"/>
            </a:pPr>
            <a:r>
              <a:rPr lang="en-GB" sz="1400" b="1" dirty="0">
                <a:solidFill>
                  <a:srgbClr val="060B25"/>
                </a:solidFill>
                <a:latin typeface="Aptos"/>
              </a:rPr>
              <a:t>Privilege creep detection:</a:t>
            </a:r>
            <a:r>
              <a:rPr lang="en-GB" sz="1400" dirty="0">
                <a:solidFill>
                  <a:srgbClr val="3B3B3B"/>
                </a:solidFill>
                <a:latin typeface="Aptos"/>
              </a:rPr>
              <a:t> movers accumulating access over time</a:t>
            </a:r>
          </a:p>
          <a:p>
            <a:pPr marL="171450" indent="-171450">
              <a:lnSpc>
                <a:spcPts val="1800"/>
              </a:lnSpc>
              <a:spcBef>
                <a:spcPts val="100"/>
              </a:spcBef>
              <a:buFont typeface="Arial"/>
              <a:buChar char="•"/>
            </a:pPr>
            <a:r>
              <a:rPr lang="en-GB" sz="1400" b="1" dirty="0">
                <a:solidFill>
                  <a:srgbClr val="060B25"/>
                </a:solidFill>
                <a:latin typeface="Aptos"/>
              </a:rPr>
              <a:t>Entitlement graph:</a:t>
            </a:r>
            <a:r>
              <a:rPr lang="en-GB" sz="1400" dirty="0">
                <a:solidFill>
                  <a:srgbClr val="3B3B3B"/>
                </a:solidFill>
                <a:latin typeface="Aptos"/>
              </a:rPr>
              <a:t> groups/roles to permissions to resources (blast radius)</a:t>
            </a:r>
          </a:p>
        </p:txBody>
      </p:sp>
      <p:sp>
        <p:nvSpPr>
          <p:cNvPr id="206" name="B"/>
          <p:cNvSpPr/>
          <p:nvPr/>
        </p:nvSpPr>
        <p:spPr>
          <a:xfrm>
            <a:off x="673100" y="4064000"/>
            <a:ext cx="63500" cy="1270000"/>
          </a:xfrm>
          <a:prstGeom prst="roundRect">
            <a:avLst>
              <a:gd name="adj" fmla="val 50000"/>
            </a:avLst>
          </a:prstGeom>
          <a:solidFill>
            <a:srgbClr val="3A7CA5"/>
          </a:solidFill>
          <a:ln>
            <a:noFill/>
          </a:ln>
        </p:spPr>
        <p:txBody>
          <a:bodyPr/>
          <a:lstStyle/>
          <a:p>
            <a:endParaRPr lang="en-US"/>
          </a:p>
        </p:txBody>
      </p:sp>
      <p:sp>
        <p:nvSpPr>
          <p:cNvPr id="207" name="H"/>
          <p:cNvSpPr txBox="1"/>
          <p:nvPr/>
        </p:nvSpPr>
        <p:spPr>
          <a:xfrm>
            <a:off x="850900" y="4064000"/>
            <a:ext cx="5156200" cy="330200"/>
          </a:xfrm>
          <a:prstGeom prst="rect">
            <a:avLst/>
          </a:prstGeom>
          <a:noFill/>
          <a:ln>
            <a:noFill/>
          </a:ln>
        </p:spPr>
        <p:txBody>
          <a:bodyPr wrap="square" lIns="0" tIns="0" rIns="0" bIns="0" anchor="ctr"/>
          <a:lstStyle/>
          <a:p>
            <a:pPr>
              <a:buNone/>
            </a:pPr>
            <a:r>
              <a:rPr lang="en-US" sz="1600" b="1" dirty="0">
                <a:solidFill>
                  <a:srgbClr val="3A7CA5"/>
                </a:solidFill>
                <a:latin typeface="Aptos"/>
              </a:rPr>
              <a:t>Governance &amp; Hygiene</a:t>
            </a:r>
          </a:p>
        </p:txBody>
      </p:sp>
      <p:sp>
        <p:nvSpPr>
          <p:cNvPr id="208" name="T"/>
          <p:cNvSpPr txBox="1"/>
          <p:nvPr/>
        </p:nvSpPr>
        <p:spPr>
          <a:xfrm>
            <a:off x="850900" y="4394200"/>
            <a:ext cx="5156200" cy="939800"/>
          </a:xfrm>
          <a:prstGeom prst="rect">
            <a:avLst/>
          </a:prstGeom>
          <a:noFill/>
          <a:ln>
            <a:noFill/>
          </a:ln>
        </p:spPr>
        <p:txBody>
          <a:bodyPr wrap="square" lIns="0" tIns="0" rIns="0" bIns="0" anchor="t"/>
          <a:lstStyle/>
          <a:p>
            <a:pPr marL="171450" indent="-171450">
              <a:lnSpc>
                <a:spcPts val="1800"/>
              </a:lnSpc>
              <a:spcBef>
                <a:spcPts val="100"/>
              </a:spcBef>
              <a:buFont typeface="Arial"/>
              <a:buChar char="•"/>
            </a:pPr>
            <a:r>
              <a:rPr lang="en-GB" sz="1400" b="1" dirty="0">
                <a:solidFill>
                  <a:srgbClr val="060B25"/>
                </a:solidFill>
                <a:latin typeface="Aptos"/>
              </a:rPr>
              <a:t>Break-glass governance:</a:t>
            </a:r>
            <a:r>
              <a:rPr lang="en-GB" sz="1400" dirty="0">
                <a:solidFill>
                  <a:srgbClr val="3B3B3B"/>
                </a:solidFill>
                <a:latin typeface="Aptos"/>
              </a:rPr>
              <a:t> usage frequency + review status + expiry control</a:t>
            </a:r>
          </a:p>
          <a:p>
            <a:pPr marL="171450" indent="-171450">
              <a:lnSpc>
                <a:spcPts val="1800"/>
              </a:lnSpc>
              <a:spcBef>
                <a:spcPts val="100"/>
              </a:spcBef>
              <a:buFont typeface="Arial"/>
              <a:buChar char="•"/>
            </a:pPr>
            <a:r>
              <a:rPr lang="en-GB" sz="1400" b="1" dirty="0">
                <a:solidFill>
                  <a:srgbClr val="060B25"/>
                </a:solidFill>
                <a:latin typeface="Aptos"/>
              </a:rPr>
              <a:t>Service account hygiene:</a:t>
            </a:r>
            <a:r>
              <a:rPr lang="en-GB" sz="1400" dirty="0">
                <a:solidFill>
                  <a:srgbClr val="3B3B3B"/>
                </a:solidFill>
                <a:latin typeface="Aptos"/>
              </a:rPr>
              <a:t> ownership completeness + rotation/credential age</a:t>
            </a:r>
          </a:p>
          <a:p>
            <a:pPr marL="171450" indent="-171450">
              <a:lnSpc>
                <a:spcPts val="1800"/>
              </a:lnSpc>
              <a:spcBef>
                <a:spcPts val="100"/>
              </a:spcBef>
              <a:buFont typeface="Arial"/>
              <a:buChar char="•"/>
            </a:pPr>
            <a:r>
              <a:rPr lang="en-GB" sz="1400" b="1" dirty="0">
                <a:solidFill>
                  <a:srgbClr val="060B25"/>
                </a:solidFill>
                <a:latin typeface="Aptos"/>
              </a:rPr>
              <a:t>Privileged session governance:</a:t>
            </a:r>
            <a:r>
              <a:rPr lang="en-GB" sz="1400" dirty="0">
                <a:solidFill>
                  <a:srgbClr val="3B3B3B"/>
                </a:solidFill>
                <a:latin typeface="Aptos"/>
              </a:rPr>
              <a:t> coverage, policy compliance, and gaps</a:t>
            </a:r>
          </a:p>
        </p:txBody>
      </p:sp>
    </p:spTree>
    <p:extLst>
      <p:ext uri="{BB962C8B-B14F-4D97-AF65-F5344CB8AC3E}">
        <p14:creationId xmlns:p14="http://schemas.microsoft.com/office/powerpoint/2010/main" val="41964856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6E6F5-EBB2-347F-6AC5-0EABE785D6DE}"/>
            </a:ext>
          </a:extLst>
        </p:cNvPr>
        <p:cNvGrpSpPr/>
        <p:nvPr/>
      </p:nvGrpSpPr>
      <p:grpSpPr>
        <a:xfrm>
          <a:off x="0" y="0"/>
          <a:ext cx="0" cy="0"/>
          <a:chOff x="0" y="0"/>
          <a:chExt cx="0" cy="0"/>
        </a:xfrm>
      </p:grpSpPr>
      <p:graphicFrame>
        <p:nvGraphicFramePr>
          <p:cNvPr id="41" name="think-cell data - do not delete" hidden="1">
            <a:extLst>
              <a:ext uri="{FF2B5EF4-FFF2-40B4-BE49-F238E27FC236}">
                <a16:creationId xmlns:a16="http://schemas.microsoft.com/office/drawing/2014/main" id="{A9ED434F-16B0-8ACB-451A-149A7C91097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41" name="think-cell data - do not delete" hidden="1">
                        <a:extLst>
                          <a:ext uri="{FF2B5EF4-FFF2-40B4-BE49-F238E27FC236}">
                            <a16:creationId xmlns:a16="http://schemas.microsoft.com/office/drawing/2014/main" id="{A9ED434F-16B0-8ACB-451A-149A7C91097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object 8">
            <a:extLst>
              <a:ext uri="{FF2B5EF4-FFF2-40B4-BE49-F238E27FC236}">
                <a16:creationId xmlns:a16="http://schemas.microsoft.com/office/drawing/2014/main" id="{24F609D3-B2E4-60EF-3E9C-AC3A38A9CB34}"/>
              </a:ext>
            </a:extLst>
          </p:cNvPr>
          <p:cNvSpPr txBox="1"/>
          <p:nvPr/>
        </p:nvSpPr>
        <p:spPr>
          <a:xfrm>
            <a:off x="647998" y="525983"/>
            <a:ext cx="11074609" cy="743793"/>
          </a:xfrm>
          <a:prstGeom prst="rect">
            <a:avLst/>
          </a:prstGeom>
        </p:spPr>
        <p:txBody>
          <a:bodyPr vert="horz" wrap="square" lIns="0" tIns="0" rIns="0" bIns="0" rtlCol="0">
            <a:spAutoFit/>
          </a:bodyPr>
          <a:lstStyle/>
          <a:p>
            <a:pPr marL="20319" lvl="0" defTabSz="1219170">
              <a:lnSpc>
                <a:spcPts val="2180"/>
              </a:lnSpc>
              <a:defRPr/>
            </a:pPr>
            <a:r>
              <a:rPr lang="en-US" sz="1400" spc="-100">
                <a:solidFill>
                  <a:srgbClr val="595959"/>
                </a:solidFill>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Use Case Examples</a:t>
            </a:r>
          </a:p>
          <a:p>
            <a:pPr marL="20319" lvl="0" defTabSz="1219170">
              <a:defRPr/>
            </a:pPr>
            <a:r>
              <a:rPr kumimoji="0" lang="en-US" sz="3000" b="1" i="0" u="none" strike="noStrike" kern="1200" cap="none" spc="-100" normalizeH="0" noProof="0">
                <a:ln>
                  <a:noFill/>
                </a:ln>
                <a:solidFill>
                  <a:srgbClr val="060B25"/>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Identity and User360</a:t>
            </a:r>
          </a:p>
        </p:txBody>
      </p:sp>
      <p:sp>
        <p:nvSpPr>
          <p:cNvPr id="200" name="B"/>
          <p:cNvSpPr/>
          <p:nvPr/>
        </p:nvSpPr>
        <p:spPr>
          <a:xfrm>
            <a:off x="673100" y="1397000"/>
            <a:ext cx="63500" cy="1549400"/>
          </a:xfrm>
          <a:prstGeom prst="roundRect">
            <a:avLst>
              <a:gd name="adj" fmla="val 50000"/>
            </a:avLst>
          </a:prstGeom>
          <a:solidFill>
            <a:srgbClr val="6360D8"/>
          </a:solidFill>
          <a:ln>
            <a:noFill/>
          </a:ln>
        </p:spPr>
        <p:txBody>
          <a:bodyPr/>
          <a:lstStyle/>
          <a:p>
            <a:endParaRPr lang="en-US"/>
          </a:p>
        </p:txBody>
      </p:sp>
      <p:sp>
        <p:nvSpPr>
          <p:cNvPr id="201" name="H"/>
          <p:cNvSpPr txBox="1"/>
          <p:nvPr/>
        </p:nvSpPr>
        <p:spPr>
          <a:xfrm>
            <a:off x="850900" y="1397000"/>
            <a:ext cx="5156200" cy="330200"/>
          </a:xfrm>
          <a:prstGeom prst="rect">
            <a:avLst/>
          </a:prstGeom>
          <a:noFill/>
          <a:ln>
            <a:noFill/>
          </a:ln>
        </p:spPr>
        <p:txBody>
          <a:bodyPr wrap="square" lIns="0" tIns="0" rIns="0" bIns="0" anchor="ctr"/>
          <a:lstStyle/>
          <a:p>
            <a:pPr>
              <a:buNone/>
            </a:pPr>
            <a:r>
              <a:rPr lang="en-US" sz="1600" b="1" dirty="0">
                <a:solidFill>
                  <a:srgbClr val="6360D8"/>
                </a:solidFill>
                <a:latin typeface="Aptos"/>
              </a:rPr>
              <a:t>Identity Stitching &amp; Profiles</a:t>
            </a:r>
          </a:p>
        </p:txBody>
      </p:sp>
      <p:sp>
        <p:nvSpPr>
          <p:cNvPr id="202" name="T"/>
          <p:cNvSpPr txBox="1"/>
          <p:nvPr/>
        </p:nvSpPr>
        <p:spPr>
          <a:xfrm>
            <a:off x="850900" y="1727200"/>
            <a:ext cx="5156200" cy="1219200"/>
          </a:xfrm>
          <a:prstGeom prst="rect">
            <a:avLst/>
          </a:prstGeom>
          <a:noFill/>
          <a:ln>
            <a:noFill/>
          </a:ln>
        </p:spPr>
        <p:txBody>
          <a:bodyPr wrap="square" lIns="0" tIns="0" rIns="0" bIns="0" anchor="t"/>
          <a:lstStyle/>
          <a:p>
            <a:pPr marL="171450" indent="-171450">
              <a:lnSpc>
                <a:spcPts val="1800"/>
              </a:lnSpc>
              <a:spcBef>
                <a:spcPts val="100"/>
              </a:spcBef>
              <a:buFont typeface="Arial"/>
              <a:buChar char="•"/>
            </a:pPr>
            <a:r>
              <a:rPr lang="en-GB" sz="1400" b="1" dirty="0">
                <a:solidFill>
                  <a:srgbClr val="060B25"/>
                </a:solidFill>
                <a:latin typeface="Aptos"/>
              </a:rPr>
              <a:t>Authoritative identity stitching:</a:t>
            </a:r>
            <a:r>
              <a:rPr lang="en-GB" sz="1400" dirty="0">
                <a:solidFill>
                  <a:srgbClr val="3B3B3B"/>
                </a:solidFill>
                <a:latin typeface="Aptos"/>
              </a:rPr>
              <a:t> HR / IdP / directory alignment</a:t>
            </a:r>
          </a:p>
          <a:p>
            <a:pPr marL="171450" indent="-171450">
              <a:lnSpc>
                <a:spcPts val="1800"/>
              </a:lnSpc>
              <a:spcBef>
                <a:spcPts val="100"/>
              </a:spcBef>
              <a:buFont typeface="Arial"/>
              <a:buChar char="•"/>
            </a:pPr>
            <a:r>
              <a:rPr lang="en-GB" sz="1400" b="1" dirty="0">
                <a:solidFill>
                  <a:srgbClr val="060B25"/>
                </a:solidFill>
                <a:latin typeface="Aptos"/>
              </a:rPr>
              <a:t>User360 profile:</a:t>
            </a:r>
            <a:r>
              <a:rPr lang="en-GB" sz="1400" dirty="0">
                <a:solidFill>
                  <a:srgbClr val="3B3B3B"/>
                </a:solidFill>
                <a:latin typeface="Aptos"/>
              </a:rPr>
              <a:t> person, accounts, devices, key apps/resources</a:t>
            </a:r>
          </a:p>
          <a:p>
            <a:pPr marL="171450" indent="-171450">
              <a:lnSpc>
                <a:spcPts val="1800"/>
              </a:lnSpc>
              <a:spcBef>
                <a:spcPts val="100"/>
              </a:spcBef>
              <a:buFont typeface="Arial"/>
              <a:buChar char="•"/>
            </a:pPr>
            <a:r>
              <a:rPr lang="en-GB" sz="1400" b="1" dirty="0">
                <a:solidFill>
                  <a:srgbClr val="060B25"/>
                </a:solidFill>
                <a:latin typeface="Aptos"/>
              </a:rPr>
              <a:t>Account sprawl + orphan detection:</a:t>
            </a:r>
            <a:r>
              <a:rPr lang="en-GB" sz="1400" dirty="0">
                <a:solidFill>
                  <a:srgbClr val="3B3B3B"/>
                </a:solidFill>
                <a:latin typeface="Aptos"/>
              </a:rPr>
              <a:t> outliers with no HR-backed owner</a:t>
            </a:r>
          </a:p>
          <a:p>
            <a:pPr marL="171450" indent="-171450">
              <a:lnSpc>
                <a:spcPts val="1800"/>
              </a:lnSpc>
              <a:spcBef>
                <a:spcPts val="100"/>
              </a:spcBef>
              <a:buFont typeface="Arial"/>
              <a:buChar char="•"/>
            </a:pPr>
            <a:r>
              <a:rPr lang="en-GB" sz="1400" b="1" dirty="0">
                <a:solidFill>
                  <a:srgbClr val="060B25"/>
                </a:solidFill>
                <a:latin typeface="Aptos"/>
              </a:rPr>
              <a:t>User-to-device binding:</a:t>
            </a:r>
            <a:r>
              <a:rPr lang="en-GB" sz="1400" dirty="0">
                <a:solidFill>
                  <a:srgbClr val="3B3B3B"/>
                </a:solidFill>
                <a:latin typeface="Aptos"/>
              </a:rPr>
              <a:t> EDR/MDM login signals with conflict detection</a:t>
            </a:r>
          </a:p>
        </p:txBody>
      </p:sp>
      <p:sp>
        <p:nvSpPr>
          <p:cNvPr id="203" name="B"/>
          <p:cNvSpPr/>
          <p:nvPr/>
        </p:nvSpPr>
        <p:spPr>
          <a:xfrm>
            <a:off x="6350000" y="1397000"/>
            <a:ext cx="63500" cy="1270000"/>
          </a:xfrm>
          <a:prstGeom prst="roundRect">
            <a:avLst>
              <a:gd name="adj" fmla="val 50000"/>
            </a:avLst>
          </a:prstGeom>
          <a:solidFill>
            <a:srgbClr val="2E8B57"/>
          </a:solidFill>
          <a:ln>
            <a:noFill/>
          </a:ln>
        </p:spPr>
        <p:txBody>
          <a:bodyPr/>
          <a:lstStyle/>
          <a:p>
            <a:endParaRPr lang="en-US"/>
          </a:p>
        </p:txBody>
      </p:sp>
      <p:sp>
        <p:nvSpPr>
          <p:cNvPr id="204" name="H"/>
          <p:cNvSpPr txBox="1"/>
          <p:nvPr/>
        </p:nvSpPr>
        <p:spPr>
          <a:xfrm>
            <a:off x="6527800" y="1397000"/>
            <a:ext cx="5156200" cy="330200"/>
          </a:xfrm>
          <a:prstGeom prst="rect">
            <a:avLst/>
          </a:prstGeom>
          <a:noFill/>
          <a:ln>
            <a:noFill/>
          </a:ln>
        </p:spPr>
        <p:txBody>
          <a:bodyPr wrap="square" lIns="0" tIns="0" rIns="0" bIns="0" anchor="ctr"/>
          <a:lstStyle/>
          <a:p>
            <a:pPr>
              <a:buNone/>
            </a:pPr>
            <a:r>
              <a:rPr lang="en-US" sz="1600" b="1" dirty="0">
                <a:solidFill>
                  <a:srgbClr val="2E8B57"/>
                </a:solidFill>
                <a:latin typeface="Aptos"/>
              </a:rPr>
              <a:t>Lifecycle &amp; Governance</a:t>
            </a:r>
          </a:p>
        </p:txBody>
      </p:sp>
      <p:sp>
        <p:nvSpPr>
          <p:cNvPr id="205" name="T"/>
          <p:cNvSpPr txBox="1"/>
          <p:nvPr/>
        </p:nvSpPr>
        <p:spPr>
          <a:xfrm>
            <a:off x="6527800" y="1727200"/>
            <a:ext cx="5156200" cy="939800"/>
          </a:xfrm>
          <a:prstGeom prst="rect">
            <a:avLst/>
          </a:prstGeom>
          <a:noFill/>
          <a:ln>
            <a:noFill/>
          </a:ln>
        </p:spPr>
        <p:txBody>
          <a:bodyPr wrap="square" lIns="0" tIns="0" rIns="0" bIns="0" anchor="t"/>
          <a:lstStyle/>
          <a:p>
            <a:pPr marL="171450" indent="-171450">
              <a:lnSpc>
                <a:spcPts val="1800"/>
              </a:lnSpc>
              <a:spcBef>
                <a:spcPts val="100"/>
              </a:spcBef>
              <a:buFont typeface="Arial"/>
              <a:buChar char="•"/>
            </a:pPr>
            <a:r>
              <a:rPr lang="en-GB" sz="1400" b="1" dirty="0">
                <a:solidFill>
                  <a:srgbClr val="060B25"/>
                </a:solidFill>
                <a:latin typeface="Aptos"/>
              </a:rPr>
              <a:t>Joiners/movers/leavers assurance:</a:t>
            </a:r>
            <a:r>
              <a:rPr lang="en-GB" sz="1400" dirty="0">
                <a:solidFill>
                  <a:srgbClr val="3B3B3B"/>
                </a:solidFill>
                <a:latin typeface="Aptos"/>
              </a:rPr>
              <a:t> deprovision SLA + post-termination reporting</a:t>
            </a:r>
          </a:p>
          <a:p>
            <a:pPr marL="171450" indent="-171450">
              <a:lnSpc>
                <a:spcPts val="1800"/>
              </a:lnSpc>
              <a:spcBef>
                <a:spcPts val="100"/>
              </a:spcBef>
              <a:buFont typeface="Arial"/>
              <a:buChar char="•"/>
            </a:pPr>
            <a:r>
              <a:rPr lang="en-GB" sz="1400" b="1" dirty="0">
                <a:solidFill>
                  <a:srgbClr val="060B25"/>
                </a:solidFill>
                <a:latin typeface="Aptos"/>
              </a:rPr>
              <a:t>Dormant identity hygiene:</a:t>
            </a:r>
            <a:r>
              <a:rPr lang="en-GB" sz="1400" dirty="0">
                <a:solidFill>
                  <a:srgbClr val="3B3B3B"/>
                </a:solidFill>
                <a:latin typeface="Aptos"/>
              </a:rPr>
              <a:t> inactive users (privileged vs standard)</a:t>
            </a:r>
          </a:p>
          <a:p>
            <a:pPr marL="171450" indent="-171450">
              <a:lnSpc>
                <a:spcPts val="1800"/>
              </a:lnSpc>
              <a:spcBef>
                <a:spcPts val="100"/>
              </a:spcBef>
              <a:buFont typeface="Arial"/>
              <a:buChar char="•"/>
            </a:pPr>
            <a:r>
              <a:rPr lang="en-GB" sz="1400" b="1" dirty="0">
                <a:solidFill>
                  <a:srgbClr val="060B25"/>
                </a:solidFill>
                <a:latin typeface="Aptos"/>
              </a:rPr>
              <a:t>Guest/contractor governance:</a:t>
            </a:r>
            <a:r>
              <a:rPr lang="en-GB" sz="1400" dirty="0">
                <a:solidFill>
                  <a:srgbClr val="3B3B3B"/>
                </a:solidFill>
                <a:latin typeface="Aptos"/>
              </a:rPr>
              <a:t> sponsorship, ageing, auto-expiry checks</a:t>
            </a:r>
          </a:p>
        </p:txBody>
      </p:sp>
      <p:sp>
        <p:nvSpPr>
          <p:cNvPr id="206" name="B"/>
          <p:cNvSpPr/>
          <p:nvPr/>
        </p:nvSpPr>
        <p:spPr>
          <a:xfrm>
            <a:off x="673100" y="4191000"/>
            <a:ext cx="63500" cy="1270000"/>
          </a:xfrm>
          <a:prstGeom prst="roundRect">
            <a:avLst>
              <a:gd name="adj" fmla="val 50000"/>
            </a:avLst>
          </a:prstGeom>
          <a:solidFill>
            <a:srgbClr val="3A7CA5"/>
          </a:solidFill>
          <a:ln>
            <a:noFill/>
          </a:ln>
        </p:spPr>
        <p:txBody>
          <a:bodyPr/>
          <a:lstStyle/>
          <a:p>
            <a:endParaRPr lang="en-US"/>
          </a:p>
        </p:txBody>
      </p:sp>
      <p:sp>
        <p:nvSpPr>
          <p:cNvPr id="207" name="H"/>
          <p:cNvSpPr txBox="1"/>
          <p:nvPr/>
        </p:nvSpPr>
        <p:spPr>
          <a:xfrm>
            <a:off x="850900" y="4191000"/>
            <a:ext cx="5156200" cy="330200"/>
          </a:xfrm>
          <a:prstGeom prst="rect">
            <a:avLst/>
          </a:prstGeom>
          <a:noFill/>
          <a:ln>
            <a:noFill/>
          </a:ln>
        </p:spPr>
        <p:txBody>
          <a:bodyPr wrap="square" lIns="0" tIns="0" rIns="0" bIns="0" anchor="ctr"/>
          <a:lstStyle/>
          <a:p>
            <a:pPr>
              <a:buNone/>
            </a:pPr>
            <a:r>
              <a:rPr lang="en-US" sz="1600" b="1" dirty="0">
                <a:solidFill>
                  <a:srgbClr val="3A7CA5"/>
                </a:solidFill>
                <a:latin typeface="Aptos"/>
              </a:rPr>
              <a:t>Risk &amp; Posture</a:t>
            </a:r>
          </a:p>
        </p:txBody>
      </p:sp>
      <p:sp>
        <p:nvSpPr>
          <p:cNvPr id="208" name="T"/>
          <p:cNvSpPr txBox="1"/>
          <p:nvPr/>
        </p:nvSpPr>
        <p:spPr>
          <a:xfrm>
            <a:off x="850900" y="4521200"/>
            <a:ext cx="5156200" cy="939800"/>
          </a:xfrm>
          <a:prstGeom prst="rect">
            <a:avLst/>
          </a:prstGeom>
          <a:noFill/>
          <a:ln>
            <a:noFill/>
          </a:ln>
        </p:spPr>
        <p:txBody>
          <a:bodyPr wrap="square" lIns="0" tIns="0" rIns="0" bIns="0" anchor="t"/>
          <a:lstStyle/>
          <a:p>
            <a:pPr marL="171450" indent="-171450">
              <a:lnSpc>
                <a:spcPts val="1800"/>
              </a:lnSpc>
              <a:spcBef>
                <a:spcPts val="100"/>
              </a:spcBef>
              <a:buFont typeface="Arial"/>
              <a:buChar char="•"/>
            </a:pPr>
            <a:r>
              <a:rPr lang="en-GB" sz="1400" b="1" dirty="0">
                <a:solidFill>
                  <a:srgbClr val="060B25"/>
                </a:solidFill>
                <a:latin typeface="Aptos"/>
              </a:rPr>
              <a:t>Privilege exposure overview:</a:t>
            </a:r>
            <a:r>
              <a:rPr lang="en-GB" sz="1400" dirty="0">
                <a:solidFill>
                  <a:srgbClr val="3B3B3B"/>
                </a:solidFill>
                <a:latin typeface="Aptos"/>
              </a:rPr>
              <a:t> privileged identity catalogue + concentration</a:t>
            </a:r>
          </a:p>
          <a:p>
            <a:pPr marL="171450" indent="-171450">
              <a:lnSpc>
                <a:spcPts val="1800"/>
              </a:lnSpc>
              <a:spcBef>
                <a:spcPts val="100"/>
              </a:spcBef>
              <a:buFont typeface="Arial"/>
              <a:buChar char="•"/>
            </a:pPr>
            <a:r>
              <a:rPr lang="en-GB" sz="1400" b="1" dirty="0">
                <a:solidFill>
                  <a:srgbClr val="060B25"/>
                </a:solidFill>
                <a:latin typeface="Aptos"/>
              </a:rPr>
              <a:t>Identity posture:</a:t>
            </a:r>
            <a:r>
              <a:rPr lang="en-GB" sz="1400" dirty="0">
                <a:solidFill>
                  <a:srgbClr val="3B3B3B"/>
                </a:solidFill>
                <a:latin typeface="Aptos"/>
              </a:rPr>
              <a:t> MFA/strong-auth coverage for high-risk groups</a:t>
            </a:r>
          </a:p>
          <a:p>
            <a:pPr marL="171450" indent="-171450">
              <a:lnSpc>
                <a:spcPts val="1800"/>
              </a:lnSpc>
              <a:spcBef>
                <a:spcPts val="100"/>
              </a:spcBef>
              <a:buFont typeface="Arial"/>
              <a:buChar char="•"/>
            </a:pPr>
            <a:r>
              <a:rPr lang="en-GB" sz="1400" b="1" dirty="0">
                <a:solidFill>
                  <a:srgbClr val="060B25"/>
                </a:solidFill>
                <a:latin typeface="Aptos"/>
              </a:rPr>
              <a:t>High-risk user prioritisation:</a:t>
            </a:r>
            <a:r>
              <a:rPr lang="en-GB" sz="1400" dirty="0">
                <a:solidFill>
                  <a:srgbClr val="3B3B3B"/>
                </a:solidFill>
                <a:latin typeface="Aptos"/>
              </a:rPr>
              <a:t> weak auth + unmanaged devices + critical access</a:t>
            </a:r>
          </a:p>
        </p:txBody>
      </p:sp>
    </p:spTree>
    <p:extLst>
      <p:ext uri="{BB962C8B-B14F-4D97-AF65-F5344CB8AC3E}">
        <p14:creationId xmlns:p14="http://schemas.microsoft.com/office/powerpoint/2010/main" val="41951687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74427-274C-0752-3FA2-D8EF89A5AE01}"/>
            </a:ext>
          </a:extLst>
        </p:cNvPr>
        <p:cNvGrpSpPr/>
        <p:nvPr/>
      </p:nvGrpSpPr>
      <p:grpSpPr>
        <a:xfrm>
          <a:off x="0" y="0"/>
          <a:ext cx="0" cy="0"/>
          <a:chOff x="0" y="0"/>
          <a:chExt cx="0" cy="0"/>
        </a:xfrm>
      </p:grpSpPr>
      <p:graphicFrame>
        <p:nvGraphicFramePr>
          <p:cNvPr id="41" name="think-cell data - do not delete" hidden="1">
            <a:extLst>
              <a:ext uri="{FF2B5EF4-FFF2-40B4-BE49-F238E27FC236}">
                <a16:creationId xmlns:a16="http://schemas.microsoft.com/office/drawing/2014/main" id="{95A5B439-8666-0B15-2012-2002BFA3F4E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41" name="think-cell data - do not delete" hidden="1">
                        <a:extLst>
                          <a:ext uri="{FF2B5EF4-FFF2-40B4-BE49-F238E27FC236}">
                            <a16:creationId xmlns:a16="http://schemas.microsoft.com/office/drawing/2014/main" id="{95A5B439-8666-0B15-2012-2002BFA3F4E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object 8">
            <a:extLst>
              <a:ext uri="{FF2B5EF4-FFF2-40B4-BE49-F238E27FC236}">
                <a16:creationId xmlns:a16="http://schemas.microsoft.com/office/drawing/2014/main" id="{5D1A3CF5-2A13-9E36-D9F7-70B6B9EA80FC}"/>
              </a:ext>
            </a:extLst>
          </p:cNvPr>
          <p:cNvSpPr txBox="1"/>
          <p:nvPr/>
        </p:nvSpPr>
        <p:spPr>
          <a:xfrm>
            <a:off x="647998" y="525983"/>
            <a:ext cx="11074609" cy="743793"/>
          </a:xfrm>
          <a:prstGeom prst="rect">
            <a:avLst/>
          </a:prstGeom>
        </p:spPr>
        <p:txBody>
          <a:bodyPr vert="horz" wrap="square" lIns="0" tIns="0" rIns="0" bIns="0" rtlCol="0">
            <a:spAutoFit/>
          </a:bodyPr>
          <a:lstStyle/>
          <a:p>
            <a:pPr marL="20319" lvl="0" defTabSz="1219170">
              <a:lnSpc>
                <a:spcPts val="2180"/>
              </a:lnSpc>
              <a:defRPr/>
            </a:pPr>
            <a:r>
              <a:rPr lang="en-US" sz="1400" spc="-100">
                <a:solidFill>
                  <a:srgbClr val="595959"/>
                </a:solidFill>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Use Case Examples</a:t>
            </a:r>
          </a:p>
          <a:p>
            <a:pPr marL="20319" marR="0" lvl="0" indent="0" algn="l" defTabSz="1219170" eaLnBrk="1" fontAlgn="auto" latinLnBrk="0" hangingPunct="1">
              <a:spcBef>
                <a:spcPts val="0"/>
              </a:spcBef>
              <a:spcAft>
                <a:spcPts val="0"/>
              </a:spcAft>
              <a:buClrTx/>
              <a:buSzTx/>
              <a:buFontTx/>
              <a:buNone/>
              <a:tabLst/>
              <a:defRPr/>
            </a:pPr>
            <a:r>
              <a:rPr kumimoji="0" lang="en-US" sz="3000" b="1" i="0" u="none" strike="noStrike" kern="1200" cap="none" spc="-100" normalizeH="0" noProof="0">
                <a:ln>
                  <a:noFill/>
                </a:ln>
                <a:solidFill>
                  <a:srgbClr val="060B25"/>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Cloud Posture and Baselines</a:t>
            </a:r>
          </a:p>
        </p:txBody>
      </p:sp>
      <p:sp>
        <p:nvSpPr>
          <p:cNvPr id="200" name="B"/>
          <p:cNvSpPr/>
          <p:nvPr/>
        </p:nvSpPr>
        <p:spPr>
          <a:xfrm>
            <a:off x="673100" y="1397000"/>
            <a:ext cx="63500" cy="1549400"/>
          </a:xfrm>
          <a:prstGeom prst="roundRect">
            <a:avLst>
              <a:gd name="adj" fmla="val 50000"/>
            </a:avLst>
          </a:prstGeom>
          <a:solidFill>
            <a:srgbClr val="6360D8"/>
          </a:solidFill>
          <a:ln>
            <a:noFill/>
          </a:ln>
        </p:spPr>
        <p:txBody>
          <a:bodyPr/>
          <a:lstStyle/>
          <a:p>
            <a:endParaRPr lang="en-US"/>
          </a:p>
        </p:txBody>
      </p:sp>
      <p:sp>
        <p:nvSpPr>
          <p:cNvPr id="201" name="H"/>
          <p:cNvSpPr txBox="1"/>
          <p:nvPr/>
        </p:nvSpPr>
        <p:spPr>
          <a:xfrm>
            <a:off x="850900" y="1397000"/>
            <a:ext cx="5156200" cy="330200"/>
          </a:xfrm>
          <a:prstGeom prst="rect">
            <a:avLst/>
          </a:prstGeom>
          <a:noFill/>
          <a:ln>
            <a:noFill/>
          </a:ln>
        </p:spPr>
        <p:txBody>
          <a:bodyPr wrap="square" lIns="0" tIns="0" rIns="0" bIns="0" anchor="ctr"/>
          <a:lstStyle/>
          <a:p>
            <a:pPr>
              <a:buNone/>
            </a:pPr>
            <a:r>
              <a:rPr lang="en-US" sz="1600" b="1" dirty="0">
                <a:solidFill>
                  <a:srgbClr val="6360D8"/>
                </a:solidFill>
                <a:latin typeface="Aptos"/>
              </a:rPr>
              <a:t>Inventory &amp; Tagging</a:t>
            </a:r>
          </a:p>
        </p:txBody>
      </p:sp>
      <p:sp>
        <p:nvSpPr>
          <p:cNvPr id="202" name="T"/>
          <p:cNvSpPr txBox="1"/>
          <p:nvPr/>
        </p:nvSpPr>
        <p:spPr>
          <a:xfrm>
            <a:off x="850900" y="1727200"/>
            <a:ext cx="5156200" cy="1219200"/>
          </a:xfrm>
          <a:prstGeom prst="rect">
            <a:avLst/>
          </a:prstGeom>
          <a:noFill/>
          <a:ln>
            <a:noFill/>
          </a:ln>
        </p:spPr>
        <p:txBody>
          <a:bodyPr wrap="square" lIns="0" tIns="0" rIns="0" bIns="0" anchor="t"/>
          <a:lstStyle/>
          <a:p>
            <a:pPr marL="171450" indent="-171450">
              <a:lnSpc>
                <a:spcPts val="1800"/>
              </a:lnSpc>
              <a:spcBef>
                <a:spcPts val="100"/>
              </a:spcBef>
              <a:buFont typeface="Arial"/>
              <a:buChar char="•"/>
            </a:pPr>
            <a:r>
              <a:rPr lang="en-GB" sz="1400" b="1" dirty="0">
                <a:solidFill>
                  <a:srgbClr val="060B25"/>
                </a:solidFill>
                <a:latin typeface="Aptos"/>
              </a:rPr>
              <a:t>Cloud inventory:</a:t>
            </a:r>
            <a:r>
              <a:rPr lang="en-GB" sz="1400" dirty="0">
                <a:solidFill>
                  <a:srgbClr val="3B3B3B"/>
                </a:solidFill>
                <a:latin typeface="Aptos"/>
              </a:rPr>
              <a:t> multi-account/subscription/project with normalised model</a:t>
            </a:r>
          </a:p>
          <a:p>
            <a:pPr marL="171450" indent="-171450">
              <a:lnSpc>
                <a:spcPts val="1800"/>
              </a:lnSpc>
              <a:spcBef>
                <a:spcPts val="100"/>
              </a:spcBef>
              <a:buFont typeface="Arial"/>
              <a:buChar char="•"/>
            </a:pPr>
            <a:r>
              <a:rPr lang="en-GB" sz="1400" b="1" dirty="0">
                <a:solidFill>
                  <a:srgbClr val="060B25"/>
                </a:solidFill>
                <a:latin typeface="Aptos"/>
              </a:rPr>
              <a:t>Tag hygiene governance:</a:t>
            </a:r>
            <a:r>
              <a:rPr lang="en-GB" sz="1400" dirty="0">
                <a:solidFill>
                  <a:srgbClr val="3B3B3B"/>
                </a:solidFill>
                <a:latin typeface="Aptos"/>
              </a:rPr>
              <a:t> owner/env/cost/service tagging coverage</a:t>
            </a:r>
          </a:p>
          <a:p>
            <a:pPr marL="171450" indent="-171450">
              <a:lnSpc>
                <a:spcPts val="1800"/>
              </a:lnSpc>
              <a:spcBef>
                <a:spcPts val="100"/>
              </a:spcBef>
              <a:buFont typeface="Arial"/>
              <a:buChar char="•"/>
            </a:pPr>
            <a:r>
              <a:rPr lang="en-GB" sz="1400" b="1" dirty="0">
                <a:solidFill>
                  <a:srgbClr val="060B25"/>
                </a:solidFill>
                <a:latin typeface="Aptos"/>
              </a:rPr>
              <a:t>Orphaned resources / sprawl:</a:t>
            </a:r>
            <a:r>
              <a:rPr lang="en-GB" sz="1400" dirty="0">
                <a:solidFill>
                  <a:srgbClr val="3B3B3B"/>
                </a:solidFill>
                <a:latin typeface="Aptos"/>
              </a:rPr>
              <a:t> no owner/no activity; growth trend</a:t>
            </a:r>
          </a:p>
          <a:p>
            <a:pPr marL="171450" indent="-171450">
              <a:lnSpc>
                <a:spcPts val="1800"/>
              </a:lnSpc>
              <a:spcBef>
                <a:spcPts val="100"/>
              </a:spcBef>
              <a:buFont typeface="Arial"/>
              <a:buChar char="•"/>
            </a:pPr>
            <a:r>
              <a:rPr lang="en-GB" sz="1400" b="1" dirty="0">
                <a:solidFill>
                  <a:srgbClr val="060B25"/>
                </a:solidFill>
                <a:latin typeface="Aptos"/>
              </a:rPr>
              <a:t>Cloud-to-service mapping:</a:t>
            </a:r>
            <a:r>
              <a:rPr lang="en-GB" sz="1400" dirty="0">
                <a:solidFill>
                  <a:srgbClr val="3B3B3B"/>
                </a:solidFill>
                <a:latin typeface="Aptos"/>
              </a:rPr>
              <a:t> posture for resources supporting critical apps</a:t>
            </a:r>
          </a:p>
        </p:txBody>
      </p:sp>
      <p:sp>
        <p:nvSpPr>
          <p:cNvPr id="203" name="B"/>
          <p:cNvSpPr/>
          <p:nvPr/>
        </p:nvSpPr>
        <p:spPr>
          <a:xfrm>
            <a:off x="6350000" y="1397000"/>
            <a:ext cx="63500" cy="1270000"/>
          </a:xfrm>
          <a:prstGeom prst="roundRect">
            <a:avLst>
              <a:gd name="adj" fmla="val 50000"/>
            </a:avLst>
          </a:prstGeom>
          <a:solidFill>
            <a:srgbClr val="2E8B57"/>
          </a:solidFill>
          <a:ln>
            <a:noFill/>
          </a:ln>
        </p:spPr>
        <p:txBody>
          <a:bodyPr/>
          <a:lstStyle/>
          <a:p>
            <a:endParaRPr lang="en-US"/>
          </a:p>
        </p:txBody>
      </p:sp>
      <p:sp>
        <p:nvSpPr>
          <p:cNvPr id="204" name="H"/>
          <p:cNvSpPr txBox="1"/>
          <p:nvPr/>
        </p:nvSpPr>
        <p:spPr>
          <a:xfrm>
            <a:off x="6527800" y="1397000"/>
            <a:ext cx="5156200" cy="330200"/>
          </a:xfrm>
          <a:prstGeom prst="rect">
            <a:avLst/>
          </a:prstGeom>
          <a:noFill/>
          <a:ln>
            <a:noFill/>
          </a:ln>
        </p:spPr>
        <p:txBody>
          <a:bodyPr wrap="square" lIns="0" tIns="0" rIns="0" bIns="0" anchor="ctr"/>
          <a:lstStyle/>
          <a:p>
            <a:pPr>
              <a:buNone/>
            </a:pPr>
            <a:r>
              <a:rPr lang="en-US" sz="1600" b="1" dirty="0">
                <a:solidFill>
                  <a:srgbClr val="2E8B57"/>
                </a:solidFill>
                <a:latin typeface="Aptos"/>
              </a:rPr>
              <a:t>Compliance &amp; Baselines</a:t>
            </a:r>
          </a:p>
        </p:txBody>
      </p:sp>
      <p:sp>
        <p:nvSpPr>
          <p:cNvPr id="205" name="T"/>
          <p:cNvSpPr txBox="1"/>
          <p:nvPr/>
        </p:nvSpPr>
        <p:spPr>
          <a:xfrm>
            <a:off x="6527800" y="1727200"/>
            <a:ext cx="5156200" cy="939800"/>
          </a:xfrm>
          <a:prstGeom prst="rect">
            <a:avLst/>
          </a:prstGeom>
          <a:noFill/>
          <a:ln>
            <a:noFill/>
          </a:ln>
        </p:spPr>
        <p:txBody>
          <a:bodyPr wrap="square" lIns="0" tIns="0" rIns="0" bIns="0" anchor="t"/>
          <a:lstStyle/>
          <a:p>
            <a:pPr marL="171450" indent="-171450">
              <a:lnSpc>
                <a:spcPts val="1800"/>
              </a:lnSpc>
              <a:spcBef>
                <a:spcPts val="100"/>
              </a:spcBef>
              <a:buFont typeface="Arial"/>
              <a:buChar char="•"/>
            </a:pPr>
            <a:r>
              <a:rPr lang="en-GB" sz="1400" b="1" dirty="0">
                <a:solidFill>
                  <a:srgbClr val="060B25"/>
                </a:solidFill>
                <a:latin typeface="Aptos"/>
              </a:rPr>
              <a:t>Baseline compliance by resource type:</a:t>
            </a:r>
            <a:r>
              <a:rPr lang="en-GB" sz="1400" dirty="0">
                <a:solidFill>
                  <a:srgbClr val="3B3B3B"/>
                </a:solidFill>
                <a:latin typeface="Aptos"/>
              </a:rPr>
              <a:t> policy evaluation at scale</a:t>
            </a:r>
          </a:p>
          <a:p>
            <a:pPr marL="171450" indent="-171450">
              <a:lnSpc>
                <a:spcPts val="1800"/>
              </a:lnSpc>
              <a:spcBef>
                <a:spcPts val="100"/>
              </a:spcBef>
              <a:buFont typeface="Arial"/>
              <a:buChar char="•"/>
            </a:pPr>
            <a:r>
              <a:rPr lang="en-GB" sz="1400" b="1" dirty="0">
                <a:solidFill>
                  <a:srgbClr val="060B25"/>
                </a:solidFill>
                <a:latin typeface="Aptos"/>
              </a:rPr>
              <a:t>Public exposure indicators:</a:t>
            </a:r>
            <a:r>
              <a:rPr lang="en-GB" sz="1400" dirty="0">
                <a:solidFill>
                  <a:srgbClr val="3B3B3B"/>
                </a:solidFill>
                <a:latin typeface="Aptos"/>
              </a:rPr>
              <a:t> internet-facing endpoints/storage mapped to owners</a:t>
            </a:r>
          </a:p>
          <a:p>
            <a:pPr marL="171450" indent="-171450">
              <a:lnSpc>
                <a:spcPts val="1800"/>
              </a:lnSpc>
              <a:spcBef>
                <a:spcPts val="100"/>
              </a:spcBef>
              <a:buFont typeface="Arial"/>
              <a:buChar char="•"/>
            </a:pPr>
            <a:r>
              <a:rPr lang="en-GB" sz="1400" b="1" dirty="0">
                <a:solidFill>
                  <a:srgbClr val="060B25"/>
                </a:solidFill>
                <a:latin typeface="Aptos"/>
              </a:rPr>
              <a:t>Identity-to-cloud access risk:</a:t>
            </a:r>
            <a:r>
              <a:rPr lang="en-GB" sz="1400" dirty="0">
                <a:solidFill>
                  <a:srgbClr val="3B3B3B"/>
                </a:solidFill>
                <a:latin typeface="Aptos"/>
              </a:rPr>
              <a:t> overprivileged / broad roles</a:t>
            </a:r>
          </a:p>
        </p:txBody>
      </p:sp>
      <p:sp>
        <p:nvSpPr>
          <p:cNvPr id="206" name="B"/>
          <p:cNvSpPr/>
          <p:nvPr/>
        </p:nvSpPr>
        <p:spPr>
          <a:xfrm>
            <a:off x="673100" y="4064000"/>
            <a:ext cx="63500" cy="990600"/>
          </a:xfrm>
          <a:prstGeom prst="roundRect">
            <a:avLst>
              <a:gd name="adj" fmla="val 50000"/>
            </a:avLst>
          </a:prstGeom>
          <a:solidFill>
            <a:srgbClr val="3A7CA5"/>
          </a:solidFill>
          <a:ln>
            <a:noFill/>
          </a:ln>
        </p:spPr>
        <p:txBody>
          <a:bodyPr/>
          <a:lstStyle/>
          <a:p>
            <a:endParaRPr lang="en-US"/>
          </a:p>
        </p:txBody>
      </p:sp>
      <p:sp>
        <p:nvSpPr>
          <p:cNvPr id="207" name="H"/>
          <p:cNvSpPr txBox="1"/>
          <p:nvPr/>
        </p:nvSpPr>
        <p:spPr>
          <a:xfrm>
            <a:off x="850900" y="4064000"/>
            <a:ext cx="5156200" cy="330200"/>
          </a:xfrm>
          <a:prstGeom prst="rect">
            <a:avLst/>
          </a:prstGeom>
          <a:noFill/>
          <a:ln>
            <a:noFill/>
          </a:ln>
        </p:spPr>
        <p:txBody>
          <a:bodyPr wrap="square" lIns="0" tIns="0" rIns="0" bIns="0" anchor="ctr"/>
          <a:lstStyle/>
          <a:p>
            <a:pPr>
              <a:buNone/>
            </a:pPr>
            <a:r>
              <a:rPr lang="en-US" sz="1600" b="1" dirty="0">
                <a:solidFill>
                  <a:srgbClr val="3A7CA5"/>
                </a:solidFill>
                <a:latin typeface="Aptos"/>
              </a:rPr>
              <a:t>Drift &amp; Remediation</a:t>
            </a:r>
          </a:p>
        </p:txBody>
      </p:sp>
      <p:sp>
        <p:nvSpPr>
          <p:cNvPr id="208" name="T"/>
          <p:cNvSpPr txBox="1"/>
          <p:nvPr/>
        </p:nvSpPr>
        <p:spPr>
          <a:xfrm>
            <a:off x="850900" y="4394200"/>
            <a:ext cx="5156200" cy="660400"/>
          </a:xfrm>
          <a:prstGeom prst="rect">
            <a:avLst/>
          </a:prstGeom>
          <a:noFill/>
          <a:ln>
            <a:noFill/>
          </a:ln>
        </p:spPr>
        <p:txBody>
          <a:bodyPr wrap="square" lIns="0" tIns="0" rIns="0" bIns="0" anchor="t"/>
          <a:lstStyle/>
          <a:p>
            <a:pPr marL="171450" indent="-171450">
              <a:lnSpc>
                <a:spcPts val="1800"/>
              </a:lnSpc>
              <a:spcBef>
                <a:spcPts val="100"/>
              </a:spcBef>
              <a:buFont typeface="Arial"/>
              <a:buChar char="•"/>
            </a:pPr>
            <a:r>
              <a:rPr lang="en-GB" sz="1400" b="1" dirty="0">
                <a:solidFill>
                  <a:srgbClr val="060B25"/>
                </a:solidFill>
                <a:latin typeface="Aptos"/>
              </a:rPr>
              <a:t>Drift rate tracking:</a:t>
            </a:r>
            <a:r>
              <a:rPr lang="en-GB" sz="1400" dirty="0">
                <a:solidFill>
                  <a:srgbClr val="3B3B3B"/>
                </a:solidFill>
                <a:latin typeface="Aptos"/>
              </a:rPr>
              <a:t> new non-compliant resources per week</a:t>
            </a:r>
          </a:p>
          <a:p>
            <a:pPr marL="171450" indent="-171450">
              <a:lnSpc>
                <a:spcPts val="1800"/>
              </a:lnSpc>
              <a:spcBef>
                <a:spcPts val="100"/>
              </a:spcBef>
              <a:buFont typeface="Arial"/>
              <a:buChar char="•"/>
            </a:pPr>
            <a:r>
              <a:rPr lang="en-GB" sz="1400" b="1" dirty="0">
                <a:solidFill>
                  <a:srgbClr val="060B25"/>
                </a:solidFill>
                <a:latin typeface="Aptos"/>
              </a:rPr>
              <a:t>Time-to-fix for critical failures:</a:t>
            </a:r>
            <a:r>
              <a:rPr lang="en-GB" sz="1400" dirty="0">
                <a:solidFill>
                  <a:srgbClr val="3B3B3B"/>
                </a:solidFill>
                <a:latin typeface="Aptos"/>
              </a:rPr>
              <a:t> SLA + ageing distribution</a:t>
            </a:r>
          </a:p>
        </p:txBody>
      </p:sp>
    </p:spTree>
    <p:extLst>
      <p:ext uri="{BB962C8B-B14F-4D97-AF65-F5344CB8AC3E}">
        <p14:creationId xmlns:p14="http://schemas.microsoft.com/office/powerpoint/2010/main" val="36337899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7DBEE-7FC2-4380-F802-D243C6C6B058}"/>
            </a:ext>
          </a:extLst>
        </p:cNvPr>
        <p:cNvGrpSpPr/>
        <p:nvPr/>
      </p:nvGrpSpPr>
      <p:grpSpPr>
        <a:xfrm>
          <a:off x="0" y="0"/>
          <a:ext cx="0" cy="0"/>
          <a:chOff x="0" y="0"/>
          <a:chExt cx="0" cy="0"/>
        </a:xfrm>
      </p:grpSpPr>
      <p:graphicFrame>
        <p:nvGraphicFramePr>
          <p:cNvPr id="41" name="think-cell data - do not delete" hidden="1">
            <a:extLst>
              <a:ext uri="{FF2B5EF4-FFF2-40B4-BE49-F238E27FC236}">
                <a16:creationId xmlns:a16="http://schemas.microsoft.com/office/drawing/2014/main" id="{CB47227E-4CDD-D045-35B4-B452D52EE30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41" name="think-cell data - do not delete" hidden="1">
                        <a:extLst>
                          <a:ext uri="{FF2B5EF4-FFF2-40B4-BE49-F238E27FC236}">
                            <a16:creationId xmlns:a16="http://schemas.microsoft.com/office/drawing/2014/main" id="{CB47227E-4CDD-D045-35B4-B452D52EE30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object 8">
            <a:extLst>
              <a:ext uri="{FF2B5EF4-FFF2-40B4-BE49-F238E27FC236}">
                <a16:creationId xmlns:a16="http://schemas.microsoft.com/office/drawing/2014/main" id="{93531656-63D2-059C-9767-BEF649251471}"/>
              </a:ext>
            </a:extLst>
          </p:cNvPr>
          <p:cNvSpPr txBox="1"/>
          <p:nvPr/>
        </p:nvSpPr>
        <p:spPr>
          <a:xfrm>
            <a:off x="647998" y="525983"/>
            <a:ext cx="11074609" cy="743793"/>
          </a:xfrm>
          <a:prstGeom prst="rect">
            <a:avLst/>
          </a:prstGeom>
        </p:spPr>
        <p:txBody>
          <a:bodyPr vert="horz" wrap="square" lIns="0" tIns="0" rIns="0" bIns="0" rtlCol="0">
            <a:spAutoFit/>
          </a:bodyPr>
          <a:lstStyle/>
          <a:p>
            <a:pPr marL="20319" lvl="0" defTabSz="1219170">
              <a:lnSpc>
                <a:spcPts val="2180"/>
              </a:lnSpc>
              <a:defRPr/>
            </a:pPr>
            <a:r>
              <a:rPr lang="en-US" sz="1400" spc="-100">
                <a:solidFill>
                  <a:srgbClr val="595959"/>
                </a:solidFill>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Use Case Examples</a:t>
            </a:r>
          </a:p>
          <a:p>
            <a:pPr marL="20319" marR="0" lvl="0" indent="0" algn="l" defTabSz="1219170" eaLnBrk="1" fontAlgn="auto" latinLnBrk="0" hangingPunct="1">
              <a:spcBef>
                <a:spcPts val="0"/>
              </a:spcBef>
              <a:spcAft>
                <a:spcPts val="0"/>
              </a:spcAft>
              <a:buClrTx/>
              <a:buSzTx/>
              <a:buFontTx/>
              <a:buNone/>
              <a:tabLst/>
              <a:defRPr/>
            </a:pPr>
            <a:r>
              <a:rPr kumimoji="0" lang="en-US" sz="3000" b="1" i="0" u="none" strike="noStrike" kern="1200" cap="none" spc="-100" normalizeH="0" noProof="0">
                <a:ln>
                  <a:noFill/>
                </a:ln>
                <a:solidFill>
                  <a:srgbClr val="060B25"/>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Continuous Controls Monitoring</a:t>
            </a:r>
          </a:p>
        </p:txBody>
      </p:sp>
      <p:sp>
        <p:nvSpPr>
          <p:cNvPr id="200" name="B"/>
          <p:cNvSpPr/>
          <p:nvPr/>
        </p:nvSpPr>
        <p:spPr>
          <a:xfrm>
            <a:off x="673100" y="1397000"/>
            <a:ext cx="63500" cy="1828800"/>
          </a:xfrm>
          <a:prstGeom prst="roundRect">
            <a:avLst>
              <a:gd name="adj" fmla="val 50000"/>
            </a:avLst>
          </a:prstGeom>
          <a:solidFill>
            <a:srgbClr val="6360D8"/>
          </a:solidFill>
          <a:ln>
            <a:noFill/>
          </a:ln>
        </p:spPr>
        <p:txBody>
          <a:bodyPr/>
          <a:lstStyle/>
          <a:p>
            <a:endParaRPr lang="en-US"/>
          </a:p>
        </p:txBody>
      </p:sp>
      <p:sp>
        <p:nvSpPr>
          <p:cNvPr id="201" name="H"/>
          <p:cNvSpPr txBox="1"/>
          <p:nvPr/>
        </p:nvSpPr>
        <p:spPr>
          <a:xfrm>
            <a:off x="850900" y="1397000"/>
            <a:ext cx="5156200" cy="330200"/>
          </a:xfrm>
          <a:prstGeom prst="rect">
            <a:avLst/>
          </a:prstGeom>
          <a:noFill/>
          <a:ln>
            <a:noFill/>
          </a:ln>
        </p:spPr>
        <p:txBody>
          <a:bodyPr wrap="square" lIns="0" tIns="0" rIns="0" bIns="0" anchor="ctr"/>
          <a:lstStyle/>
          <a:p>
            <a:pPr>
              <a:buNone/>
            </a:pPr>
            <a:r>
              <a:rPr lang="en-US" sz="1600" b="1" dirty="0">
                <a:solidFill>
                  <a:srgbClr val="6360D8"/>
                </a:solidFill>
                <a:latin typeface="Aptos"/>
              </a:rPr>
              <a:t>Endpoint Controls</a:t>
            </a:r>
          </a:p>
        </p:txBody>
      </p:sp>
      <p:sp>
        <p:nvSpPr>
          <p:cNvPr id="202" name="T"/>
          <p:cNvSpPr txBox="1"/>
          <p:nvPr/>
        </p:nvSpPr>
        <p:spPr>
          <a:xfrm>
            <a:off x="850900" y="1727200"/>
            <a:ext cx="5156200" cy="1498600"/>
          </a:xfrm>
          <a:prstGeom prst="rect">
            <a:avLst/>
          </a:prstGeom>
          <a:noFill/>
          <a:ln>
            <a:noFill/>
          </a:ln>
        </p:spPr>
        <p:txBody>
          <a:bodyPr wrap="square" lIns="0" tIns="0" rIns="0" bIns="0" anchor="t"/>
          <a:lstStyle/>
          <a:p>
            <a:pPr marL="171450" indent="-171450">
              <a:lnSpc>
                <a:spcPts val="1800"/>
              </a:lnSpc>
              <a:spcBef>
                <a:spcPts val="100"/>
              </a:spcBef>
              <a:buFont typeface="Arial"/>
              <a:buChar char="•"/>
            </a:pPr>
            <a:r>
              <a:rPr lang="en-GB" sz="1400" b="1" dirty="0">
                <a:solidFill>
                  <a:srgbClr val="060B25"/>
                </a:solidFill>
                <a:latin typeface="Aptos"/>
              </a:rPr>
              <a:t>Control coverage map:</a:t>
            </a:r>
            <a:r>
              <a:rPr lang="en-GB" sz="1400" dirty="0">
                <a:solidFill>
                  <a:srgbClr val="3B3B3B"/>
                </a:solidFill>
                <a:latin typeface="Aptos"/>
              </a:rPr>
              <a:t> by asset tier (what should be present vs what is)</a:t>
            </a:r>
          </a:p>
          <a:p>
            <a:pPr marL="171450" indent="-171450">
              <a:lnSpc>
                <a:spcPts val="1800"/>
              </a:lnSpc>
              <a:spcBef>
                <a:spcPts val="100"/>
              </a:spcBef>
              <a:buFont typeface="Arial"/>
              <a:buChar char="•"/>
            </a:pPr>
            <a:r>
              <a:rPr lang="en-GB" sz="1400" b="1" dirty="0">
                <a:solidFill>
                  <a:srgbClr val="060B25"/>
                </a:solidFill>
                <a:latin typeface="Aptos"/>
              </a:rPr>
              <a:t>EDR coverage + health:</a:t>
            </a:r>
            <a:r>
              <a:rPr lang="en-GB" sz="1400" dirty="0">
                <a:solidFill>
                  <a:srgbClr val="3B3B3B"/>
                </a:solidFill>
                <a:latin typeface="Aptos"/>
              </a:rPr>
              <a:t> installed, reporting, policy applied, up-to-date</a:t>
            </a:r>
          </a:p>
          <a:p>
            <a:pPr marL="171450" indent="-171450">
              <a:lnSpc>
                <a:spcPts val="1800"/>
              </a:lnSpc>
              <a:spcBef>
                <a:spcPts val="100"/>
              </a:spcBef>
              <a:buFont typeface="Arial"/>
              <a:buChar char="•"/>
            </a:pPr>
            <a:r>
              <a:rPr lang="en-GB" sz="1400" b="1" dirty="0">
                <a:solidFill>
                  <a:srgbClr val="060B25"/>
                </a:solidFill>
                <a:latin typeface="Aptos"/>
              </a:rPr>
              <a:t>MDM coverage + compliance:</a:t>
            </a:r>
            <a:r>
              <a:rPr lang="en-GB" sz="1400" dirty="0">
                <a:solidFill>
                  <a:srgbClr val="3B3B3B"/>
                </a:solidFill>
                <a:latin typeface="Aptos"/>
              </a:rPr>
              <a:t> enrolment, encryption, device hygiene</a:t>
            </a:r>
          </a:p>
          <a:p>
            <a:pPr marL="171450" indent="-171450">
              <a:lnSpc>
                <a:spcPts val="1800"/>
              </a:lnSpc>
              <a:spcBef>
                <a:spcPts val="100"/>
              </a:spcBef>
              <a:buFont typeface="Arial"/>
              <a:buChar char="•"/>
            </a:pPr>
            <a:r>
              <a:rPr lang="en-GB" sz="1400" b="1" dirty="0">
                <a:solidFill>
                  <a:srgbClr val="060B25"/>
                </a:solidFill>
                <a:latin typeface="Aptos"/>
              </a:rPr>
              <a:t>Encryption coverage:</a:t>
            </a:r>
            <a:r>
              <a:rPr lang="en-GB" sz="1400" dirty="0">
                <a:solidFill>
                  <a:srgbClr val="3B3B3B"/>
                </a:solidFill>
                <a:latin typeface="Aptos"/>
              </a:rPr>
              <a:t> endpoints/servers where measurable + exceptions</a:t>
            </a:r>
          </a:p>
          <a:p>
            <a:pPr marL="171450" indent="-171450">
              <a:lnSpc>
                <a:spcPts val="1800"/>
              </a:lnSpc>
              <a:spcBef>
                <a:spcPts val="100"/>
              </a:spcBef>
              <a:buFont typeface="Arial"/>
              <a:buChar char="•"/>
            </a:pPr>
            <a:r>
              <a:rPr lang="en-GB" sz="1400" b="1" dirty="0">
                <a:solidFill>
                  <a:srgbClr val="060B25"/>
                </a:solidFill>
                <a:latin typeface="Aptos"/>
              </a:rPr>
              <a:t>Local admin / privilege exposure:</a:t>
            </a:r>
            <a:r>
              <a:rPr lang="en-GB" sz="1400" dirty="0">
                <a:solidFill>
                  <a:srgbClr val="3B3B3B"/>
                </a:solidFill>
                <a:latin typeface="Aptos"/>
              </a:rPr>
              <a:t> including privilege concentration</a:t>
            </a:r>
          </a:p>
        </p:txBody>
      </p:sp>
      <p:sp>
        <p:nvSpPr>
          <p:cNvPr id="203" name="B"/>
          <p:cNvSpPr/>
          <p:nvPr/>
        </p:nvSpPr>
        <p:spPr>
          <a:xfrm>
            <a:off x="6350000" y="1397000"/>
            <a:ext cx="63500" cy="1270000"/>
          </a:xfrm>
          <a:prstGeom prst="roundRect">
            <a:avLst>
              <a:gd name="adj" fmla="val 50000"/>
            </a:avLst>
          </a:prstGeom>
          <a:solidFill>
            <a:srgbClr val="2E8B57"/>
          </a:solidFill>
          <a:ln>
            <a:noFill/>
          </a:ln>
        </p:spPr>
        <p:txBody>
          <a:bodyPr/>
          <a:lstStyle/>
          <a:p>
            <a:endParaRPr lang="en-US"/>
          </a:p>
        </p:txBody>
      </p:sp>
      <p:sp>
        <p:nvSpPr>
          <p:cNvPr id="204" name="H"/>
          <p:cNvSpPr txBox="1"/>
          <p:nvPr/>
        </p:nvSpPr>
        <p:spPr>
          <a:xfrm>
            <a:off x="6527800" y="1397000"/>
            <a:ext cx="5156200" cy="330200"/>
          </a:xfrm>
          <a:prstGeom prst="rect">
            <a:avLst/>
          </a:prstGeom>
          <a:noFill/>
          <a:ln>
            <a:noFill/>
          </a:ln>
        </p:spPr>
        <p:txBody>
          <a:bodyPr wrap="square" lIns="0" tIns="0" rIns="0" bIns="0" anchor="ctr"/>
          <a:lstStyle/>
          <a:p>
            <a:pPr>
              <a:buNone/>
            </a:pPr>
            <a:r>
              <a:rPr lang="en-US" sz="1600" b="1" dirty="0">
                <a:solidFill>
                  <a:srgbClr val="2E8B57"/>
                </a:solidFill>
                <a:latin typeface="Aptos"/>
              </a:rPr>
              <a:t>Vulnerability &amp; Patch</a:t>
            </a:r>
          </a:p>
        </p:txBody>
      </p:sp>
      <p:sp>
        <p:nvSpPr>
          <p:cNvPr id="205" name="T"/>
          <p:cNvSpPr txBox="1"/>
          <p:nvPr/>
        </p:nvSpPr>
        <p:spPr>
          <a:xfrm>
            <a:off x="6527800" y="1727200"/>
            <a:ext cx="5156200" cy="939800"/>
          </a:xfrm>
          <a:prstGeom prst="rect">
            <a:avLst/>
          </a:prstGeom>
          <a:noFill/>
          <a:ln>
            <a:noFill/>
          </a:ln>
        </p:spPr>
        <p:txBody>
          <a:bodyPr wrap="square" lIns="0" tIns="0" rIns="0" bIns="0" anchor="t"/>
          <a:lstStyle/>
          <a:p>
            <a:pPr marL="171450" indent="-171450">
              <a:lnSpc>
                <a:spcPts val="1800"/>
              </a:lnSpc>
              <a:spcBef>
                <a:spcPts val="100"/>
              </a:spcBef>
              <a:buFont typeface="Arial"/>
              <a:buChar char="•"/>
            </a:pPr>
            <a:r>
              <a:rPr lang="en-GB" sz="1400" b="1" dirty="0">
                <a:solidFill>
                  <a:srgbClr val="060B25"/>
                </a:solidFill>
                <a:latin typeface="Aptos"/>
              </a:rPr>
              <a:t>Vuln scan cadence compliance:</a:t>
            </a:r>
            <a:r>
              <a:rPr lang="en-GB" sz="1400" dirty="0">
                <a:solidFill>
                  <a:srgbClr val="3B3B3B"/>
                </a:solidFill>
                <a:latin typeface="Aptos"/>
              </a:rPr>
              <a:t> % scanned within policy; gaps by BU/env</a:t>
            </a:r>
          </a:p>
          <a:p>
            <a:pPr marL="171450" indent="-171450">
              <a:lnSpc>
                <a:spcPts val="1800"/>
              </a:lnSpc>
              <a:spcBef>
                <a:spcPts val="100"/>
              </a:spcBef>
              <a:buFont typeface="Arial"/>
              <a:buChar char="•"/>
            </a:pPr>
            <a:r>
              <a:rPr lang="en-GB" sz="1400" b="1" dirty="0">
                <a:solidFill>
                  <a:srgbClr val="060B25"/>
                </a:solidFill>
                <a:latin typeface="Aptos"/>
              </a:rPr>
              <a:t>Patch SLA adherence:</a:t>
            </a:r>
            <a:r>
              <a:rPr lang="en-GB" sz="1400" dirty="0">
                <a:solidFill>
                  <a:srgbClr val="3B3B3B"/>
                </a:solidFill>
                <a:latin typeface="Aptos"/>
              </a:rPr>
              <a:t> critical/high within policy; ageing distribution</a:t>
            </a:r>
          </a:p>
          <a:p>
            <a:pPr marL="171450" indent="-171450">
              <a:lnSpc>
                <a:spcPts val="1800"/>
              </a:lnSpc>
              <a:spcBef>
                <a:spcPts val="100"/>
              </a:spcBef>
              <a:buFont typeface="Arial"/>
              <a:buChar char="•"/>
            </a:pPr>
            <a:r>
              <a:rPr lang="en-GB" sz="1400" b="1" dirty="0">
                <a:solidFill>
                  <a:srgbClr val="060B25"/>
                </a:solidFill>
                <a:latin typeface="Aptos"/>
              </a:rPr>
              <a:t>Unsupported / EoL OS coverage:</a:t>
            </a:r>
            <a:r>
              <a:rPr lang="en-GB" sz="1400" dirty="0">
                <a:solidFill>
                  <a:srgbClr val="3B3B3B"/>
                </a:solidFill>
                <a:latin typeface="Aptos"/>
              </a:rPr>
              <a:t> with remediation prioritisation</a:t>
            </a:r>
          </a:p>
        </p:txBody>
      </p:sp>
      <p:sp>
        <p:nvSpPr>
          <p:cNvPr id="206" name="B"/>
          <p:cNvSpPr/>
          <p:nvPr/>
        </p:nvSpPr>
        <p:spPr>
          <a:xfrm>
            <a:off x="673100" y="4191000"/>
            <a:ext cx="63500" cy="990600"/>
          </a:xfrm>
          <a:prstGeom prst="roundRect">
            <a:avLst>
              <a:gd name="adj" fmla="val 50000"/>
            </a:avLst>
          </a:prstGeom>
          <a:solidFill>
            <a:srgbClr val="3A7CA5"/>
          </a:solidFill>
          <a:ln>
            <a:noFill/>
          </a:ln>
        </p:spPr>
        <p:txBody>
          <a:bodyPr/>
          <a:lstStyle/>
          <a:p>
            <a:endParaRPr lang="en-US"/>
          </a:p>
        </p:txBody>
      </p:sp>
      <p:sp>
        <p:nvSpPr>
          <p:cNvPr id="207" name="H"/>
          <p:cNvSpPr txBox="1"/>
          <p:nvPr/>
        </p:nvSpPr>
        <p:spPr>
          <a:xfrm>
            <a:off x="850900" y="4191000"/>
            <a:ext cx="5156200" cy="330200"/>
          </a:xfrm>
          <a:prstGeom prst="rect">
            <a:avLst/>
          </a:prstGeom>
          <a:noFill/>
          <a:ln>
            <a:noFill/>
          </a:ln>
        </p:spPr>
        <p:txBody>
          <a:bodyPr wrap="square" lIns="0" tIns="0" rIns="0" bIns="0" anchor="ctr"/>
          <a:lstStyle/>
          <a:p>
            <a:pPr>
              <a:buNone/>
            </a:pPr>
            <a:r>
              <a:rPr lang="en-US" sz="1600" b="1" dirty="0">
                <a:solidFill>
                  <a:srgbClr val="3A7CA5"/>
                </a:solidFill>
                <a:latin typeface="Aptos"/>
              </a:rPr>
              <a:t>Drift &amp; Governance</a:t>
            </a:r>
          </a:p>
        </p:txBody>
      </p:sp>
      <p:sp>
        <p:nvSpPr>
          <p:cNvPr id="208" name="T"/>
          <p:cNvSpPr txBox="1"/>
          <p:nvPr/>
        </p:nvSpPr>
        <p:spPr>
          <a:xfrm>
            <a:off x="850900" y="4521200"/>
            <a:ext cx="5156200" cy="660400"/>
          </a:xfrm>
          <a:prstGeom prst="rect">
            <a:avLst/>
          </a:prstGeom>
          <a:noFill/>
          <a:ln>
            <a:noFill/>
          </a:ln>
        </p:spPr>
        <p:txBody>
          <a:bodyPr wrap="square" lIns="0" tIns="0" rIns="0" bIns="0" anchor="t"/>
          <a:lstStyle/>
          <a:p>
            <a:pPr marL="171450" indent="-171450">
              <a:lnSpc>
                <a:spcPts val="1800"/>
              </a:lnSpc>
              <a:spcBef>
                <a:spcPts val="100"/>
              </a:spcBef>
              <a:buFont typeface="Arial"/>
              <a:buChar char="•"/>
            </a:pPr>
            <a:r>
              <a:rPr lang="en-GB" sz="1400" b="1" dirty="0">
                <a:solidFill>
                  <a:srgbClr val="060B25"/>
                </a:solidFill>
                <a:latin typeface="Aptos"/>
              </a:rPr>
              <a:t>Drift detection:</a:t>
            </a:r>
            <a:r>
              <a:rPr lang="en-GB" sz="1400" dirty="0">
                <a:solidFill>
                  <a:srgbClr val="3B3B3B"/>
                </a:solidFill>
                <a:latin typeface="Aptos"/>
              </a:rPr>
              <a:t> new assets missing baseline controls (weekly trend)</a:t>
            </a:r>
          </a:p>
          <a:p>
            <a:pPr marL="171450" indent="-171450">
              <a:lnSpc>
                <a:spcPts val="1800"/>
              </a:lnSpc>
              <a:spcBef>
                <a:spcPts val="100"/>
              </a:spcBef>
              <a:buFont typeface="Arial"/>
              <a:buChar char="•"/>
            </a:pPr>
            <a:r>
              <a:rPr lang="en-GB" sz="1400" b="1" dirty="0">
                <a:solidFill>
                  <a:srgbClr val="060B25"/>
                </a:solidFill>
                <a:latin typeface="Aptos"/>
              </a:rPr>
              <a:t>Exception governance:</a:t>
            </a:r>
            <a:r>
              <a:rPr lang="en-GB" sz="1400" dirty="0">
                <a:solidFill>
                  <a:srgbClr val="3B3B3B"/>
                </a:solidFill>
                <a:latin typeface="Aptos"/>
              </a:rPr>
              <a:t> backlog, age, expiry proximity, repeat offenders</a:t>
            </a:r>
          </a:p>
        </p:txBody>
      </p:sp>
    </p:spTree>
    <p:extLst>
      <p:ext uri="{BB962C8B-B14F-4D97-AF65-F5344CB8AC3E}">
        <p14:creationId xmlns:p14="http://schemas.microsoft.com/office/powerpoint/2010/main" val="8683254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FA880-9064-BAE0-7950-932E7FE9FD27}"/>
            </a:ext>
          </a:extLst>
        </p:cNvPr>
        <p:cNvGrpSpPr/>
        <p:nvPr/>
      </p:nvGrpSpPr>
      <p:grpSpPr>
        <a:xfrm>
          <a:off x="0" y="0"/>
          <a:ext cx="0" cy="0"/>
          <a:chOff x="0" y="0"/>
          <a:chExt cx="0" cy="0"/>
        </a:xfrm>
      </p:grpSpPr>
      <p:graphicFrame>
        <p:nvGraphicFramePr>
          <p:cNvPr id="41" name="think-cell data - do not delete" hidden="1">
            <a:extLst>
              <a:ext uri="{FF2B5EF4-FFF2-40B4-BE49-F238E27FC236}">
                <a16:creationId xmlns:a16="http://schemas.microsoft.com/office/drawing/2014/main" id="{7A5EEA1C-EB25-88BB-3F9F-4180EA32AEF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41" name="think-cell data - do not delete" hidden="1">
                        <a:extLst>
                          <a:ext uri="{FF2B5EF4-FFF2-40B4-BE49-F238E27FC236}">
                            <a16:creationId xmlns:a16="http://schemas.microsoft.com/office/drawing/2014/main" id="{7A5EEA1C-EB25-88BB-3F9F-4180EA32AEF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object 8">
            <a:extLst>
              <a:ext uri="{FF2B5EF4-FFF2-40B4-BE49-F238E27FC236}">
                <a16:creationId xmlns:a16="http://schemas.microsoft.com/office/drawing/2014/main" id="{23962185-0D71-E853-E67A-E7F3E5356689}"/>
              </a:ext>
            </a:extLst>
          </p:cNvPr>
          <p:cNvSpPr txBox="1"/>
          <p:nvPr/>
        </p:nvSpPr>
        <p:spPr>
          <a:xfrm>
            <a:off x="647998" y="525983"/>
            <a:ext cx="11074609" cy="743793"/>
          </a:xfrm>
          <a:prstGeom prst="rect">
            <a:avLst/>
          </a:prstGeom>
        </p:spPr>
        <p:txBody>
          <a:bodyPr vert="horz" wrap="square" lIns="0" tIns="0" rIns="0" bIns="0" rtlCol="0">
            <a:spAutoFit/>
          </a:bodyPr>
          <a:lstStyle/>
          <a:p>
            <a:pPr marL="20319" lvl="0" defTabSz="1219170">
              <a:lnSpc>
                <a:spcPts val="2180"/>
              </a:lnSpc>
              <a:defRPr/>
            </a:pPr>
            <a:r>
              <a:rPr lang="en-US" sz="1400" spc="-100">
                <a:solidFill>
                  <a:srgbClr val="595959"/>
                </a:solidFill>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Use Case examples</a:t>
            </a:r>
          </a:p>
          <a:p>
            <a:pPr marL="20319" marR="0" lvl="0" indent="0" algn="l" defTabSz="1219170" eaLnBrk="1" fontAlgn="auto" latinLnBrk="0" hangingPunct="1">
              <a:spcBef>
                <a:spcPts val="0"/>
              </a:spcBef>
              <a:spcAft>
                <a:spcPts val="0"/>
              </a:spcAft>
              <a:buClrTx/>
              <a:buSzTx/>
              <a:buFontTx/>
              <a:buNone/>
              <a:tabLst/>
              <a:defRPr/>
            </a:pPr>
            <a:r>
              <a:rPr kumimoji="0" lang="en-US" sz="3000" b="1" i="0" u="none" strike="noStrike" kern="1200" cap="none" spc="-100" normalizeH="0" noProof="0">
                <a:ln>
                  <a:noFill/>
                </a:ln>
                <a:solidFill>
                  <a:srgbClr val="060B25"/>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Data Source Requirements</a:t>
            </a:r>
          </a:p>
        </p:txBody>
      </p:sp>
      <p:sp>
        <p:nvSpPr>
          <p:cNvPr id="3" name="Text 1"/>
          <p:cNvSpPr/>
          <p:nvPr/>
        </p:nvSpPr>
        <p:spPr>
          <a:xfrm>
            <a:off x="4633048" y="5989320"/>
            <a:ext cx="3965609" cy="277207"/>
          </a:xfrm>
          <a:prstGeom prst="rect">
            <a:avLst/>
          </a:prstGeom>
          <a:noFill/>
          <a:ln/>
        </p:spPr>
        <p:txBody>
          <a:bodyPr wrap="square" rtlCol="0" anchor="ctr"/>
          <a:lstStyle/>
          <a:p>
            <a:pPr marL="0" indent="0" algn="ctr">
              <a:buNone/>
            </a:pPr>
            <a:r>
              <a:rPr lang="en-US" sz="1200">
                <a:solidFill>
                  <a:srgbClr val="6B7280"/>
                </a:solidFill>
                <a:latin typeface="Aptos" pitchFamily="34" charset="0"/>
                <a:ea typeface="Aptos" pitchFamily="34" charset="-122"/>
                <a:cs typeface="Aptos" pitchFamily="34" charset="-120"/>
              </a:rPr>
              <a:t>Legend: ● Core (foundational)  ◐ Enhances  ○ Optional</a:t>
            </a:r>
            <a:endParaRPr lang="en-US" sz="1200"/>
          </a:p>
        </p:txBody>
      </p:sp>
      <p:sp>
        <p:nvSpPr>
          <p:cNvPr id="96" name="object 8">
            <a:extLst>
              <a:ext uri="{FF2B5EF4-FFF2-40B4-BE49-F238E27FC236}">
                <a16:creationId xmlns:a16="http://schemas.microsoft.com/office/drawing/2014/main" id="{7DF98B7D-AABE-A136-E537-4D1BA693D3BC}"/>
              </a:ext>
            </a:extLst>
          </p:cNvPr>
          <p:cNvSpPr txBox="1"/>
          <p:nvPr/>
        </p:nvSpPr>
        <p:spPr>
          <a:xfrm>
            <a:off x="647998" y="1353677"/>
            <a:ext cx="10998571" cy="201764"/>
          </a:xfrm>
          <a:prstGeom prst="rect">
            <a:avLst/>
          </a:prstGeom>
        </p:spPr>
        <p:txBody>
          <a:bodyPr vert="horz" wrap="square" lIns="0" tIns="16933" rIns="0" bIns="0" rtlCol="0">
            <a:spAutoFit/>
          </a:bodyPr>
          <a:lstStyle/>
          <a:p>
            <a:pPr marL="16933" marR="6773" defTabSz="1219170">
              <a:spcBef>
                <a:spcPts val="133"/>
              </a:spcBef>
              <a:tabLst>
                <a:tab pos="321725" algn="l"/>
                <a:tab pos="322572" algn="l"/>
              </a:tabLst>
            </a:pPr>
            <a:r>
              <a:rPr lang="en-GB" sz="1200">
                <a:solidFill>
                  <a:srgbClr val="595959"/>
                </a:solidFill>
                <a:latin typeface="Aptos" panose="020B0004020202020204" pitchFamily="34" charset="0"/>
                <a:cs typeface="Poppins" panose="00000500000000000000" pitchFamily="2" charset="0"/>
                <a:sym typeface="Aptos" panose="020B0004020202020204" pitchFamily="34" charset="0"/>
              </a:rPr>
              <a:t>EDR/MDM + CMDB + unlock multi-domain quick wins; add Cloud / IdP / PAM / HR over time to expand fidelity and breadth of domains</a:t>
            </a:r>
          </a:p>
        </p:txBody>
      </p:sp>
      <p:graphicFrame>
        <p:nvGraphicFramePr>
          <p:cNvPr id="118" name="Table 117">
            <a:extLst>
              <a:ext uri="{FF2B5EF4-FFF2-40B4-BE49-F238E27FC236}">
                <a16:creationId xmlns:a16="http://schemas.microsoft.com/office/drawing/2014/main" id="{331BC962-305C-8731-C913-1FDA6B82D70E}"/>
              </a:ext>
            </a:extLst>
          </p:cNvPr>
          <p:cNvGraphicFramePr>
            <a:graphicFrameLocks noGrp="1"/>
          </p:cNvGraphicFramePr>
          <p:nvPr/>
        </p:nvGraphicFramePr>
        <p:xfrm>
          <a:off x="647998" y="1752601"/>
          <a:ext cx="11112202" cy="3836052"/>
        </p:xfrm>
        <a:graphic>
          <a:graphicData uri="http://schemas.openxmlformats.org/drawingml/2006/table">
            <a:tbl>
              <a:tblPr>
                <a:tableStyleId>{5C22544A-7EE6-4342-B048-85BDC9FD1C3A}</a:tableStyleId>
              </a:tblPr>
              <a:tblGrid>
                <a:gridCol w="2262842">
                  <a:extLst>
                    <a:ext uri="{9D8B030D-6E8A-4147-A177-3AD203B41FA5}">
                      <a16:colId xmlns:a16="http://schemas.microsoft.com/office/drawing/2014/main" val="608459789"/>
                    </a:ext>
                  </a:extLst>
                </a:gridCol>
                <a:gridCol w="884936">
                  <a:extLst>
                    <a:ext uri="{9D8B030D-6E8A-4147-A177-3AD203B41FA5}">
                      <a16:colId xmlns:a16="http://schemas.microsoft.com/office/drawing/2014/main" val="1693895217"/>
                    </a:ext>
                  </a:extLst>
                </a:gridCol>
                <a:gridCol w="884936">
                  <a:extLst>
                    <a:ext uri="{9D8B030D-6E8A-4147-A177-3AD203B41FA5}">
                      <a16:colId xmlns:a16="http://schemas.microsoft.com/office/drawing/2014/main" val="1320895123"/>
                    </a:ext>
                  </a:extLst>
                </a:gridCol>
                <a:gridCol w="884936">
                  <a:extLst>
                    <a:ext uri="{9D8B030D-6E8A-4147-A177-3AD203B41FA5}">
                      <a16:colId xmlns:a16="http://schemas.microsoft.com/office/drawing/2014/main" val="2320702561"/>
                    </a:ext>
                  </a:extLst>
                </a:gridCol>
                <a:gridCol w="884936">
                  <a:extLst>
                    <a:ext uri="{9D8B030D-6E8A-4147-A177-3AD203B41FA5}">
                      <a16:colId xmlns:a16="http://schemas.microsoft.com/office/drawing/2014/main" val="1798204183"/>
                    </a:ext>
                  </a:extLst>
                </a:gridCol>
                <a:gridCol w="884936">
                  <a:extLst>
                    <a:ext uri="{9D8B030D-6E8A-4147-A177-3AD203B41FA5}">
                      <a16:colId xmlns:a16="http://schemas.microsoft.com/office/drawing/2014/main" val="3655792630"/>
                    </a:ext>
                  </a:extLst>
                </a:gridCol>
                <a:gridCol w="884936">
                  <a:extLst>
                    <a:ext uri="{9D8B030D-6E8A-4147-A177-3AD203B41FA5}">
                      <a16:colId xmlns:a16="http://schemas.microsoft.com/office/drawing/2014/main" val="397257348"/>
                    </a:ext>
                  </a:extLst>
                </a:gridCol>
                <a:gridCol w="884936">
                  <a:extLst>
                    <a:ext uri="{9D8B030D-6E8A-4147-A177-3AD203B41FA5}">
                      <a16:colId xmlns:a16="http://schemas.microsoft.com/office/drawing/2014/main" val="4275282199"/>
                    </a:ext>
                  </a:extLst>
                </a:gridCol>
                <a:gridCol w="884936">
                  <a:extLst>
                    <a:ext uri="{9D8B030D-6E8A-4147-A177-3AD203B41FA5}">
                      <a16:colId xmlns:a16="http://schemas.microsoft.com/office/drawing/2014/main" val="2533659359"/>
                    </a:ext>
                  </a:extLst>
                </a:gridCol>
                <a:gridCol w="884936">
                  <a:extLst>
                    <a:ext uri="{9D8B030D-6E8A-4147-A177-3AD203B41FA5}">
                      <a16:colId xmlns:a16="http://schemas.microsoft.com/office/drawing/2014/main" val="1861465662"/>
                    </a:ext>
                  </a:extLst>
                </a:gridCol>
                <a:gridCol w="884936">
                  <a:extLst>
                    <a:ext uri="{9D8B030D-6E8A-4147-A177-3AD203B41FA5}">
                      <a16:colId xmlns:a16="http://schemas.microsoft.com/office/drawing/2014/main" val="3715598657"/>
                    </a:ext>
                  </a:extLst>
                </a:gridCol>
              </a:tblGrid>
              <a:tr h="486832">
                <a:tc>
                  <a:txBody>
                    <a:bodyPr/>
                    <a:lstStyle/>
                    <a:p>
                      <a:pPr algn="ctr" fontAlgn="ctr">
                        <a:buNone/>
                      </a:pPr>
                      <a:r>
                        <a:rPr lang="en-GB" sz="1100" b="1" u="none" strike="noStrike">
                          <a:effectLst/>
                        </a:rPr>
                        <a:t>Domain / </a:t>
                      </a:r>
                    </a:p>
                    <a:p>
                      <a:pPr algn="ctr" fontAlgn="ctr">
                        <a:buNone/>
                      </a:pPr>
                      <a:r>
                        <a:rPr lang="en-GB" sz="1100" b="1" u="none" strike="noStrike">
                          <a:effectLst/>
                        </a:rPr>
                        <a:t>Use Case Set</a:t>
                      </a:r>
                      <a:endParaRPr lang="en-GB" sz="1100" b="1" i="0" u="none" strike="noStrike">
                        <a:solidFill>
                          <a:srgbClr val="1F2D3D"/>
                        </a:solidFill>
                        <a:effectLst/>
                        <a:latin typeface="Calibri" panose="020F0502020204030204" pitchFamily="34" charset="0"/>
                      </a:endParaRPr>
                    </a:p>
                  </a:txBody>
                  <a:tcPr marL="6350" marR="6350" marT="6350" marB="0" anchor="ctr">
                    <a:lnL w="12700" cmpd="sng">
                      <a:noFill/>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2F2F2"/>
                    </a:solidFill>
                  </a:tcPr>
                </a:tc>
                <a:tc>
                  <a:txBody>
                    <a:bodyPr/>
                    <a:lstStyle/>
                    <a:p>
                      <a:pPr algn="ctr" fontAlgn="ctr">
                        <a:buNone/>
                      </a:pPr>
                      <a:r>
                        <a:rPr lang="en-GB" sz="1100" b="1" u="none" strike="noStrike">
                          <a:effectLst/>
                        </a:rPr>
                        <a:t>Vuln</a:t>
                      </a:r>
                      <a:br>
                        <a:rPr lang="en-GB" sz="1100" b="1" u="none" strike="noStrike">
                          <a:effectLst/>
                        </a:rPr>
                      </a:br>
                      <a:r>
                        <a:rPr lang="en-GB" sz="1100" b="1" u="none" strike="noStrike">
                          <a:effectLst/>
                        </a:rPr>
                        <a:t>Scanner</a:t>
                      </a:r>
                      <a:endParaRPr lang="en-GB" sz="1100" b="1" i="0" u="none" strike="noStrike">
                        <a:solidFill>
                          <a:srgbClr val="1F2D3D"/>
                        </a:solidFill>
                        <a:effectLst/>
                        <a:latin typeface="Calibri" panose="020F050202020403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100" b="1" u="none" strike="noStrike">
                          <a:effectLst/>
                        </a:rPr>
                        <a:t>EDR</a:t>
                      </a:r>
                      <a:endParaRPr lang="en-GB" sz="11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100" b="1" u="none" strike="noStrike">
                          <a:effectLst/>
                        </a:rPr>
                        <a:t>MDM</a:t>
                      </a:r>
                      <a:endParaRPr lang="en-GB" sz="11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100" b="1" u="none" strike="noStrike">
                          <a:effectLst/>
                        </a:rPr>
                        <a:t>CMDB</a:t>
                      </a:r>
                      <a:br>
                        <a:rPr lang="en-GB" sz="1100" b="1" u="none" strike="noStrike">
                          <a:effectLst/>
                        </a:rPr>
                      </a:br>
                      <a:r>
                        <a:rPr lang="en-GB" sz="1100" b="1" u="none" strike="noStrike">
                          <a:effectLst/>
                        </a:rPr>
                        <a:t>/ ITSM</a:t>
                      </a:r>
                      <a:endParaRPr lang="en-GB" sz="11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100" b="1" u="none" strike="noStrike">
                          <a:effectLst/>
                        </a:rPr>
                        <a:t>Dir.</a:t>
                      </a:r>
                      <a:br>
                        <a:rPr lang="en-GB" sz="1100" b="1" u="none" strike="noStrike">
                          <a:effectLst/>
                        </a:rPr>
                      </a:br>
                      <a:r>
                        <a:rPr lang="en-GB" sz="1100" b="1" u="none" strike="noStrike">
                          <a:effectLst/>
                        </a:rPr>
                        <a:t>(AD/AAD)</a:t>
                      </a:r>
                      <a:endParaRPr lang="en-GB" sz="11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100" b="1" u="none" strike="noStrike">
                          <a:effectLst/>
                        </a:rPr>
                        <a:t>Cloud</a:t>
                      </a:r>
                      <a:endParaRPr lang="en-GB" sz="11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100" b="1" u="none" strike="noStrike">
                          <a:effectLst/>
                        </a:rPr>
                        <a:t>IdP/SSO</a:t>
                      </a:r>
                      <a:endParaRPr lang="en-GB" sz="11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100" b="1" u="none" strike="noStrike">
                          <a:effectLst/>
                        </a:rPr>
                        <a:t>PAM</a:t>
                      </a:r>
                      <a:endParaRPr lang="en-GB" sz="11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100" b="1" u="none" strike="noStrike">
                          <a:effectLst/>
                        </a:rPr>
                        <a:t>HR</a:t>
                      </a:r>
                      <a:endParaRPr lang="en-GB" sz="11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100" b="1" u="none" strike="noStrike">
                          <a:effectLst/>
                        </a:rPr>
                        <a:t>SIEM /</a:t>
                      </a:r>
                      <a:br>
                        <a:rPr lang="en-GB" sz="1100" b="1" u="none" strike="noStrike">
                          <a:effectLst/>
                        </a:rPr>
                      </a:br>
                      <a:r>
                        <a:rPr lang="en-GB" sz="1100" b="1" u="none" strike="noStrike">
                          <a:effectLst/>
                        </a:rPr>
                        <a:t>Logs</a:t>
                      </a:r>
                      <a:endParaRPr lang="en-GB" sz="11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484336127"/>
                  </a:ext>
                </a:extLst>
              </a:tr>
              <a:tr h="669844">
                <a:tc>
                  <a:txBody>
                    <a:bodyPr/>
                    <a:lstStyle/>
                    <a:p>
                      <a:pPr algn="l" fontAlgn="ctr">
                        <a:buNone/>
                      </a:pPr>
                      <a:r>
                        <a:rPr lang="en-GB" sz="1100" b="1" u="none" strike="noStrike">
                          <a:effectLst/>
                        </a:rPr>
                        <a:t>Asset Management / CAASM</a:t>
                      </a:r>
                      <a:endParaRPr lang="en-GB" sz="1100" b="1" i="0" u="none" strike="noStrike">
                        <a:solidFill>
                          <a:srgbClr val="1F2D3D"/>
                        </a:solidFill>
                        <a:effectLst/>
                        <a:latin typeface="Calibri" panose="020F0502020204030204" pitchFamily="34" charset="0"/>
                      </a:endParaRPr>
                    </a:p>
                  </a:txBody>
                  <a:tcPr marL="72000" marR="6350" marT="6350" marB="0" anchor="ctr">
                    <a:lnL w="12700" cmpd="sng">
                      <a:noFill/>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56699872"/>
                  </a:ext>
                </a:extLst>
              </a:tr>
              <a:tr h="669844">
                <a:tc>
                  <a:txBody>
                    <a:bodyPr/>
                    <a:lstStyle/>
                    <a:p>
                      <a:pPr algn="l" fontAlgn="ctr">
                        <a:buNone/>
                      </a:pPr>
                      <a:r>
                        <a:rPr lang="en-GB" sz="1100" b="1" u="none" strike="noStrike">
                          <a:effectLst/>
                        </a:rPr>
                        <a:t>Vulnerability Management</a:t>
                      </a:r>
                      <a:endParaRPr lang="en-GB" sz="1100" b="1" i="0" u="none" strike="noStrike">
                        <a:solidFill>
                          <a:srgbClr val="1F2D3D"/>
                        </a:solidFill>
                        <a:effectLst/>
                        <a:latin typeface="Calibri" panose="020F0502020204030204" pitchFamily="34" charset="0"/>
                      </a:endParaRPr>
                    </a:p>
                  </a:txBody>
                  <a:tcPr marL="7200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4252872367"/>
                  </a:ext>
                </a:extLst>
              </a:tr>
              <a:tr h="669844">
                <a:tc>
                  <a:txBody>
                    <a:bodyPr/>
                    <a:lstStyle/>
                    <a:p>
                      <a:pPr algn="l" fontAlgn="ctr">
                        <a:buNone/>
                      </a:pPr>
                      <a:r>
                        <a:rPr lang="en-GB" sz="1100" b="1" u="none" strike="noStrike">
                          <a:effectLst/>
                        </a:rPr>
                        <a:t>Privileged Access &amp; Identity</a:t>
                      </a:r>
                      <a:endParaRPr lang="en-GB" sz="1100" b="1" i="0" u="none" strike="noStrike">
                        <a:solidFill>
                          <a:srgbClr val="1F2D3D"/>
                        </a:solidFill>
                        <a:effectLst/>
                        <a:latin typeface="Calibri" panose="020F0502020204030204" pitchFamily="34" charset="0"/>
                      </a:endParaRPr>
                    </a:p>
                  </a:txBody>
                  <a:tcPr marL="7200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756117010"/>
                  </a:ext>
                </a:extLst>
              </a:tr>
              <a:tr h="669844">
                <a:tc>
                  <a:txBody>
                    <a:bodyPr/>
                    <a:lstStyle/>
                    <a:p>
                      <a:pPr algn="l" fontAlgn="ctr">
                        <a:buNone/>
                      </a:pPr>
                      <a:r>
                        <a:rPr lang="en-GB" sz="1100" b="1" u="none" strike="noStrike">
                          <a:effectLst/>
                        </a:rPr>
                        <a:t>Cloud Posture &amp; Baselines</a:t>
                      </a:r>
                      <a:endParaRPr lang="en-GB" sz="1100" b="1" i="0" u="none" strike="noStrike">
                        <a:solidFill>
                          <a:srgbClr val="1F2D3D"/>
                        </a:solidFill>
                        <a:effectLst/>
                        <a:latin typeface="Calibri" panose="020F0502020204030204" pitchFamily="34" charset="0"/>
                      </a:endParaRPr>
                    </a:p>
                  </a:txBody>
                  <a:tcPr marL="7200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566591510"/>
                  </a:ext>
                </a:extLst>
              </a:tr>
              <a:tr h="669844">
                <a:tc>
                  <a:txBody>
                    <a:bodyPr/>
                    <a:lstStyle/>
                    <a:p>
                      <a:pPr algn="l" fontAlgn="ctr">
                        <a:buNone/>
                      </a:pPr>
                      <a:r>
                        <a:rPr lang="en-GB" sz="1100" b="1" u="none" strike="noStrike">
                          <a:effectLst/>
                        </a:rPr>
                        <a:t>Continuous Controls Monitoring</a:t>
                      </a:r>
                      <a:endParaRPr lang="en-GB" sz="1100" b="1" i="0" u="none" strike="noStrike">
                        <a:solidFill>
                          <a:srgbClr val="1F2D3D"/>
                        </a:solidFill>
                        <a:effectLst/>
                        <a:latin typeface="Calibri" panose="020F0502020204030204" pitchFamily="34" charset="0"/>
                      </a:endParaRPr>
                    </a:p>
                  </a:txBody>
                  <a:tcPr marL="7200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pPr algn="ctr" fontAlgn="ctr">
                        <a:buNone/>
                      </a:pPr>
                      <a:r>
                        <a:rPr lang="en-GB" sz="1800" u="none" strike="noStrike">
                          <a:effectLst/>
                        </a:rPr>
                        <a:t>◐</a:t>
                      </a:r>
                      <a:endParaRPr lang="en-GB" sz="1800" b="1" i="0" u="none" strike="noStrike">
                        <a:solidFill>
                          <a:srgbClr val="1F2D3D"/>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926409396"/>
                  </a:ext>
                </a:extLst>
              </a:tr>
            </a:tbl>
          </a:graphicData>
        </a:graphic>
      </p:graphicFrame>
    </p:spTree>
    <p:extLst>
      <p:ext uri="{BB962C8B-B14F-4D97-AF65-F5344CB8AC3E}">
        <p14:creationId xmlns:p14="http://schemas.microsoft.com/office/powerpoint/2010/main" val="20153169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10AFE-3202-03CD-AD42-B0DB591B48E0}"/>
              </a:ext>
            </a:extLst>
          </p:cNvPr>
          <p:cNvSpPr>
            <a:spLocks noGrp="1"/>
          </p:cNvSpPr>
          <p:nvPr>
            <p:ph type="title"/>
          </p:nvPr>
        </p:nvSpPr>
        <p:spPr/>
        <p:txBody>
          <a:bodyPr/>
          <a:lstStyle/>
          <a:p>
            <a:r>
              <a:rPr lang="en-US"/>
              <a:t>Global Payments Company – Visibility and Automation</a:t>
            </a:r>
            <a:endParaRPr lang="en-GB"/>
          </a:p>
        </p:txBody>
      </p:sp>
      <p:sp>
        <p:nvSpPr>
          <p:cNvPr id="3" name="Text Placeholder 2">
            <a:extLst>
              <a:ext uri="{FF2B5EF4-FFF2-40B4-BE49-F238E27FC236}">
                <a16:creationId xmlns:a16="http://schemas.microsoft.com/office/drawing/2014/main" id="{33977C2A-9BB2-F4CE-028C-E195B8D77252}"/>
              </a:ext>
            </a:extLst>
          </p:cNvPr>
          <p:cNvSpPr>
            <a:spLocks noGrp="1"/>
          </p:cNvSpPr>
          <p:nvPr>
            <p:ph type="body" sz="quarter" idx="12"/>
          </p:nvPr>
        </p:nvSpPr>
        <p:spPr/>
        <p:txBody>
          <a:bodyPr/>
          <a:lstStyle/>
          <a:p>
            <a:pPr algn="l"/>
            <a:r>
              <a:rPr lang="en-GB" sz="1400" b="1">
                <a:solidFill>
                  <a:schemeClr val="tx2">
                    <a:lumMod val="85000"/>
                    <a:lumOff val="15000"/>
                  </a:schemeClr>
                </a:solidFill>
              </a:rPr>
              <a:t>Client Description: </a:t>
            </a:r>
            <a:r>
              <a:rPr lang="en-GB" sz="1400">
                <a:solidFill>
                  <a:schemeClr val="tx2">
                    <a:lumMod val="85000"/>
                    <a:lumOff val="15000"/>
                  </a:schemeClr>
                </a:solidFill>
              </a:rPr>
              <a:t>A publicly listed </a:t>
            </a:r>
            <a:r>
              <a:rPr lang="en-GB" sz="1400" b="1">
                <a:solidFill>
                  <a:schemeClr val="tx2">
                    <a:lumMod val="85000"/>
                    <a:lumOff val="15000"/>
                  </a:schemeClr>
                </a:solidFill>
              </a:rPr>
              <a:t>global payments provider </a:t>
            </a:r>
            <a:r>
              <a:rPr lang="en-GB" sz="1400">
                <a:solidFill>
                  <a:schemeClr val="tx2">
                    <a:lumMod val="85000"/>
                    <a:lumOff val="15000"/>
                  </a:schemeClr>
                </a:solidFill>
              </a:rPr>
              <a:t>offering payment processing, digital wallets, and online cash solutions for business and consumer transactions across various platforms. It has </a:t>
            </a:r>
            <a:r>
              <a:rPr lang="en-GB" sz="1400" b="1">
                <a:solidFill>
                  <a:schemeClr val="tx2">
                    <a:lumMod val="85000"/>
                    <a:lumOff val="15000"/>
                  </a:schemeClr>
                </a:solidFill>
              </a:rPr>
              <a:t>grown rapidly through acquisitions</a:t>
            </a:r>
            <a:r>
              <a:rPr lang="en-GB" sz="1400">
                <a:solidFill>
                  <a:schemeClr val="tx2">
                    <a:lumMod val="85000"/>
                    <a:lumOff val="15000"/>
                  </a:schemeClr>
                </a:solidFill>
              </a:rPr>
              <a:t>, resulting in a complex technology infrastructure.</a:t>
            </a:r>
            <a:endParaRPr lang="en-US" sz="1400">
              <a:solidFill>
                <a:schemeClr val="tx2">
                  <a:lumMod val="85000"/>
                  <a:lumOff val="15000"/>
                </a:schemeClr>
              </a:solidFill>
            </a:endParaRPr>
          </a:p>
        </p:txBody>
      </p:sp>
      <p:sp>
        <p:nvSpPr>
          <p:cNvPr id="34" name="Slide Number Placeholder 2">
            <a:extLst>
              <a:ext uri="{FF2B5EF4-FFF2-40B4-BE49-F238E27FC236}">
                <a16:creationId xmlns:a16="http://schemas.microsoft.com/office/drawing/2014/main" id="{1D2C46C5-911B-F1C5-7315-567C7465DA91}"/>
              </a:ext>
            </a:extLst>
          </p:cNvPr>
          <p:cNvSpPr>
            <a:spLocks noGrp="1"/>
          </p:cNvSpPr>
          <p:nvPr>
            <p:ph type="sldNum" sz="quarter" idx="4"/>
          </p:nvPr>
        </p:nvSpPr>
        <p:spPr/>
        <p:txBody>
          <a:bodyPr/>
          <a:lstStyle/>
          <a:p>
            <a:r>
              <a:rPr lang="en-US"/>
              <a:t>&lt;  35</a:t>
            </a:r>
          </a:p>
        </p:txBody>
      </p:sp>
      <p:sp>
        <p:nvSpPr>
          <p:cNvPr id="4" name="Rectangle 3">
            <a:extLst>
              <a:ext uri="{FF2B5EF4-FFF2-40B4-BE49-F238E27FC236}">
                <a16:creationId xmlns:a16="http://schemas.microsoft.com/office/drawing/2014/main" id="{216F71BA-A1D6-8F53-98E8-A79F27F48C03}"/>
              </a:ext>
            </a:extLst>
          </p:cNvPr>
          <p:cNvSpPr/>
          <p:nvPr/>
        </p:nvSpPr>
        <p:spPr>
          <a:xfrm>
            <a:off x="10293199" y="4962459"/>
            <a:ext cx="1276619" cy="1323821"/>
          </a:xfrm>
          <a:prstGeom prst="rect">
            <a:avLst/>
          </a:prstGeom>
          <a:solidFill>
            <a:srgbClr val="B8E2C5">
              <a:alpha val="9804"/>
            </a:srgbClr>
          </a:solidFill>
          <a:ln w="6350">
            <a:solidFill>
              <a:srgbClr val="B8E2C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pic>
        <p:nvPicPr>
          <p:cNvPr id="5" name="Picture 4" descr="Shape&#10;&#10;Description automatically generated">
            <a:extLst>
              <a:ext uri="{FF2B5EF4-FFF2-40B4-BE49-F238E27FC236}">
                <a16:creationId xmlns:a16="http://schemas.microsoft.com/office/drawing/2014/main" id="{055EA578-E6FF-53C5-652A-D98FF16355DB}"/>
              </a:ext>
            </a:extLst>
          </p:cNvPr>
          <p:cNvPicPr>
            <a:picLocks noChangeAspect="1"/>
          </p:cNvPicPr>
          <p:nvPr/>
        </p:nvPicPr>
        <p:blipFill>
          <a:blip r:embed="rId2"/>
          <a:stretch>
            <a:fillRect/>
          </a:stretch>
        </p:blipFill>
        <p:spPr>
          <a:xfrm>
            <a:off x="670584" y="1478726"/>
            <a:ext cx="116009" cy="1213714"/>
          </a:xfrm>
          <a:prstGeom prst="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p:spPr>
      </p:pic>
      <p:pic>
        <p:nvPicPr>
          <p:cNvPr id="6" name="Picture 5" descr="Shape&#10;&#10;Description automatically generated">
            <a:extLst>
              <a:ext uri="{FF2B5EF4-FFF2-40B4-BE49-F238E27FC236}">
                <a16:creationId xmlns:a16="http://schemas.microsoft.com/office/drawing/2014/main" id="{18C9AEB5-26B8-88FE-AA49-C7799A75C3D1}"/>
              </a:ext>
            </a:extLst>
          </p:cNvPr>
          <p:cNvPicPr>
            <a:picLocks noChangeAspect="1"/>
          </p:cNvPicPr>
          <p:nvPr/>
        </p:nvPicPr>
        <p:blipFill>
          <a:blip r:embed="rId2"/>
          <a:stretch>
            <a:fillRect/>
          </a:stretch>
        </p:blipFill>
        <p:spPr>
          <a:xfrm>
            <a:off x="671880" y="2828374"/>
            <a:ext cx="115300" cy="1983330"/>
          </a:xfrm>
          <a:prstGeom prst="rect">
            <a:avLst/>
          </a:prstGeom>
          <a:solidFill>
            <a:srgbClr val="EB6C15"/>
          </a:solidFill>
        </p:spPr>
      </p:pic>
      <p:sp>
        <p:nvSpPr>
          <p:cNvPr id="7" name="Rectangle 6">
            <a:extLst>
              <a:ext uri="{FF2B5EF4-FFF2-40B4-BE49-F238E27FC236}">
                <a16:creationId xmlns:a16="http://schemas.microsoft.com/office/drawing/2014/main" id="{EE4A4914-87CA-8129-6F85-0C9F37C7EA23}"/>
              </a:ext>
            </a:extLst>
          </p:cNvPr>
          <p:cNvSpPr/>
          <p:nvPr/>
        </p:nvSpPr>
        <p:spPr>
          <a:xfrm>
            <a:off x="672538" y="1478727"/>
            <a:ext cx="1685618" cy="1196976"/>
          </a:xfrm>
          <a:prstGeom prst="rect">
            <a:avLst/>
          </a:prstGeom>
          <a:noFill/>
          <a:ln w="6350">
            <a:solidFill>
              <a:srgbClr val="7B6CD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9" name="Rectangle 8">
            <a:extLst>
              <a:ext uri="{FF2B5EF4-FFF2-40B4-BE49-F238E27FC236}">
                <a16:creationId xmlns:a16="http://schemas.microsoft.com/office/drawing/2014/main" id="{7FD15378-F55A-6746-C6A0-8C0338BD233A}"/>
              </a:ext>
            </a:extLst>
          </p:cNvPr>
          <p:cNvSpPr/>
          <p:nvPr/>
        </p:nvSpPr>
        <p:spPr>
          <a:xfrm>
            <a:off x="673776" y="2826308"/>
            <a:ext cx="1683616" cy="1987352"/>
          </a:xfrm>
          <a:prstGeom prst="rect">
            <a:avLst/>
          </a:prstGeom>
          <a:noFill/>
          <a:ln w="6350">
            <a:solidFill>
              <a:srgbClr val="C1788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10" name="Rectangle 9">
            <a:extLst>
              <a:ext uri="{FF2B5EF4-FFF2-40B4-BE49-F238E27FC236}">
                <a16:creationId xmlns:a16="http://schemas.microsoft.com/office/drawing/2014/main" id="{9E6D7DF9-416D-1FAB-4CC5-2C49E9FB3F34}"/>
              </a:ext>
            </a:extLst>
          </p:cNvPr>
          <p:cNvSpPr/>
          <p:nvPr/>
        </p:nvSpPr>
        <p:spPr>
          <a:xfrm>
            <a:off x="673319" y="4970768"/>
            <a:ext cx="1684356" cy="1529217"/>
          </a:xfrm>
          <a:prstGeom prst="rect">
            <a:avLst/>
          </a:prstGeom>
          <a:noFill/>
          <a:ln w="6350">
            <a:solidFill>
              <a:srgbClr val="B8E2C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11" name="Rectangle 10">
            <a:extLst>
              <a:ext uri="{FF2B5EF4-FFF2-40B4-BE49-F238E27FC236}">
                <a16:creationId xmlns:a16="http://schemas.microsoft.com/office/drawing/2014/main" id="{EE850F78-8A1E-63D7-DF75-71E15B2955FD}"/>
              </a:ext>
            </a:extLst>
          </p:cNvPr>
          <p:cNvSpPr/>
          <p:nvPr/>
        </p:nvSpPr>
        <p:spPr>
          <a:xfrm>
            <a:off x="2459921" y="1478726"/>
            <a:ext cx="7739401" cy="1196976"/>
          </a:xfrm>
          <a:prstGeom prst="rect">
            <a:avLst/>
          </a:prstGeom>
          <a:solidFill>
            <a:srgbClr val="9373BF">
              <a:alpha val="9804"/>
            </a:srgbClr>
          </a:solidFill>
          <a:ln w="6350">
            <a:solidFill>
              <a:srgbClr val="7B6CD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12" name="Rectangle 11">
            <a:extLst>
              <a:ext uri="{FF2B5EF4-FFF2-40B4-BE49-F238E27FC236}">
                <a16:creationId xmlns:a16="http://schemas.microsoft.com/office/drawing/2014/main" id="{F830DDB6-A4D9-05B2-F2F6-63DFF6549AFA}"/>
              </a:ext>
            </a:extLst>
          </p:cNvPr>
          <p:cNvSpPr/>
          <p:nvPr/>
        </p:nvSpPr>
        <p:spPr>
          <a:xfrm>
            <a:off x="2456846" y="2827671"/>
            <a:ext cx="7730206" cy="1984497"/>
          </a:xfrm>
          <a:prstGeom prst="rect">
            <a:avLst/>
          </a:prstGeom>
          <a:solidFill>
            <a:srgbClr val="C1788E">
              <a:alpha val="9804"/>
            </a:srgbClr>
          </a:solidFill>
          <a:ln w="6350">
            <a:solidFill>
              <a:srgbClr val="C1788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13" name="Rectangle 12">
            <a:extLst>
              <a:ext uri="{FF2B5EF4-FFF2-40B4-BE49-F238E27FC236}">
                <a16:creationId xmlns:a16="http://schemas.microsoft.com/office/drawing/2014/main" id="{CE41192C-016F-CF7D-2456-6F26C50F235A}"/>
              </a:ext>
            </a:extLst>
          </p:cNvPr>
          <p:cNvSpPr/>
          <p:nvPr/>
        </p:nvSpPr>
        <p:spPr>
          <a:xfrm>
            <a:off x="2455577" y="4962459"/>
            <a:ext cx="7743745" cy="1537526"/>
          </a:xfrm>
          <a:prstGeom prst="rect">
            <a:avLst/>
          </a:prstGeom>
          <a:solidFill>
            <a:srgbClr val="B8E2C5">
              <a:alpha val="9804"/>
            </a:srgbClr>
          </a:solidFill>
          <a:ln w="6350">
            <a:solidFill>
              <a:srgbClr val="B8E2C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14" name="TextBox 13">
            <a:extLst>
              <a:ext uri="{FF2B5EF4-FFF2-40B4-BE49-F238E27FC236}">
                <a16:creationId xmlns:a16="http://schemas.microsoft.com/office/drawing/2014/main" id="{8A17293F-4FF8-E3A1-045B-438AE254931E}"/>
              </a:ext>
            </a:extLst>
          </p:cNvPr>
          <p:cNvSpPr txBox="1"/>
          <p:nvPr/>
        </p:nvSpPr>
        <p:spPr>
          <a:xfrm>
            <a:off x="1117285" y="1982961"/>
            <a:ext cx="888377"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b="1">
                <a:solidFill>
                  <a:schemeClr val="tx2">
                    <a:lumMod val="85000"/>
                    <a:lumOff val="15000"/>
                  </a:schemeClr>
                </a:solidFill>
                <a:cs typeface="Arial"/>
              </a:rPr>
              <a:t>Challenge</a:t>
            </a:r>
            <a:endParaRPr lang="en-IN" sz="1400" b="1">
              <a:solidFill>
                <a:schemeClr val="tx2">
                  <a:lumMod val="85000"/>
                  <a:lumOff val="15000"/>
                </a:schemeClr>
              </a:solidFill>
              <a:ea typeface="Calibri Light" charset="0"/>
              <a:cs typeface="Arial"/>
            </a:endParaRPr>
          </a:p>
        </p:txBody>
      </p:sp>
      <p:sp>
        <p:nvSpPr>
          <p:cNvPr id="15" name="TextBox 14">
            <a:extLst>
              <a:ext uri="{FF2B5EF4-FFF2-40B4-BE49-F238E27FC236}">
                <a16:creationId xmlns:a16="http://schemas.microsoft.com/office/drawing/2014/main" id="{500F50EB-1BA0-4D42-C5A1-5831886004ED}"/>
              </a:ext>
            </a:extLst>
          </p:cNvPr>
          <p:cNvSpPr txBox="1"/>
          <p:nvPr/>
        </p:nvSpPr>
        <p:spPr>
          <a:xfrm>
            <a:off x="1117285" y="3642007"/>
            <a:ext cx="888377"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b="1">
                <a:solidFill>
                  <a:schemeClr val="tx2">
                    <a:lumMod val="85000"/>
                    <a:lumOff val="15000"/>
                  </a:schemeClr>
                </a:solidFill>
                <a:cs typeface="Arial"/>
              </a:rPr>
              <a:t>Solution</a:t>
            </a:r>
            <a:endParaRPr lang="en-IN" sz="1400" b="1">
              <a:solidFill>
                <a:schemeClr val="tx2">
                  <a:lumMod val="85000"/>
                  <a:lumOff val="15000"/>
                </a:schemeClr>
              </a:solidFill>
              <a:ea typeface="Calibri Light" charset="0"/>
              <a:cs typeface="Arial"/>
            </a:endParaRPr>
          </a:p>
        </p:txBody>
      </p:sp>
      <p:sp>
        <p:nvSpPr>
          <p:cNvPr id="16" name="TextBox 15">
            <a:extLst>
              <a:ext uri="{FF2B5EF4-FFF2-40B4-BE49-F238E27FC236}">
                <a16:creationId xmlns:a16="http://schemas.microsoft.com/office/drawing/2014/main" id="{F4DBA480-6643-CA96-CF55-69925399C533}"/>
              </a:ext>
            </a:extLst>
          </p:cNvPr>
          <p:cNvSpPr txBox="1"/>
          <p:nvPr/>
        </p:nvSpPr>
        <p:spPr>
          <a:xfrm>
            <a:off x="1117285" y="5492743"/>
            <a:ext cx="888377"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b="1">
                <a:solidFill>
                  <a:schemeClr val="tx2">
                    <a:lumMod val="85000"/>
                    <a:lumOff val="15000"/>
                  </a:schemeClr>
                </a:solidFill>
                <a:cs typeface="Arial"/>
              </a:rPr>
              <a:t>Benefits</a:t>
            </a:r>
            <a:endParaRPr lang="en-IN" sz="1400" b="1">
              <a:solidFill>
                <a:schemeClr val="tx2">
                  <a:lumMod val="85000"/>
                  <a:lumOff val="15000"/>
                </a:schemeClr>
              </a:solidFill>
              <a:ea typeface="Calibri Light" charset="0"/>
              <a:cs typeface="Arial"/>
            </a:endParaRPr>
          </a:p>
        </p:txBody>
      </p:sp>
      <p:pic>
        <p:nvPicPr>
          <p:cNvPr id="17" name="Picture 6" descr="Shape&#10;&#10;Description automatically generated">
            <a:extLst>
              <a:ext uri="{FF2B5EF4-FFF2-40B4-BE49-F238E27FC236}">
                <a16:creationId xmlns:a16="http://schemas.microsoft.com/office/drawing/2014/main" id="{06F75CD4-DD2B-CB29-BE23-214A7EBDB78B}"/>
              </a:ext>
            </a:extLst>
          </p:cNvPr>
          <p:cNvPicPr>
            <a:picLocks noChangeAspect="1"/>
          </p:cNvPicPr>
          <p:nvPr/>
        </p:nvPicPr>
        <p:blipFill>
          <a:blip r:embed="rId3"/>
          <a:stretch>
            <a:fillRect/>
          </a:stretch>
        </p:blipFill>
        <p:spPr>
          <a:xfrm>
            <a:off x="673775" y="4972853"/>
            <a:ext cx="114263" cy="1312324"/>
          </a:xfrm>
          <a:prstGeom prst="rect">
            <a:avLst/>
          </a:prstGeom>
        </p:spPr>
      </p:pic>
      <p:sp>
        <p:nvSpPr>
          <p:cNvPr id="18" name="Rectangle 17">
            <a:extLst>
              <a:ext uri="{FF2B5EF4-FFF2-40B4-BE49-F238E27FC236}">
                <a16:creationId xmlns:a16="http://schemas.microsoft.com/office/drawing/2014/main" id="{9F0B49D9-1F51-A1F4-B689-20D066CDECBE}"/>
              </a:ext>
            </a:extLst>
          </p:cNvPr>
          <p:cNvSpPr/>
          <p:nvPr/>
        </p:nvSpPr>
        <p:spPr>
          <a:xfrm>
            <a:off x="10302212" y="1478726"/>
            <a:ext cx="1277577" cy="1196976"/>
          </a:xfrm>
          <a:prstGeom prst="rect">
            <a:avLst/>
          </a:prstGeom>
          <a:solidFill>
            <a:srgbClr val="9373BF">
              <a:alpha val="9804"/>
            </a:srgbClr>
          </a:solidFill>
          <a:ln w="6350">
            <a:solidFill>
              <a:srgbClr val="7B6CD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19" name="Rectangle 18">
            <a:extLst>
              <a:ext uri="{FF2B5EF4-FFF2-40B4-BE49-F238E27FC236}">
                <a16:creationId xmlns:a16="http://schemas.microsoft.com/office/drawing/2014/main" id="{FAB490E1-FB09-F0AF-CA7F-19934EAFC17F}"/>
              </a:ext>
            </a:extLst>
          </p:cNvPr>
          <p:cNvSpPr/>
          <p:nvPr/>
        </p:nvSpPr>
        <p:spPr>
          <a:xfrm>
            <a:off x="10291735" y="2827671"/>
            <a:ext cx="1276059" cy="1984497"/>
          </a:xfrm>
          <a:prstGeom prst="rect">
            <a:avLst/>
          </a:prstGeom>
          <a:solidFill>
            <a:srgbClr val="C1788E">
              <a:alpha val="9804"/>
            </a:srgbClr>
          </a:solidFill>
          <a:ln w="6350">
            <a:solidFill>
              <a:srgbClr val="C1788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20" name="TextBox 19">
            <a:extLst>
              <a:ext uri="{FF2B5EF4-FFF2-40B4-BE49-F238E27FC236}">
                <a16:creationId xmlns:a16="http://schemas.microsoft.com/office/drawing/2014/main" id="{C400ED56-670A-7EE6-5FFD-788737DE0502}"/>
              </a:ext>
            </a:extLst>
          </p:cNvPr>
          <p:cNvSpPr txBox="1"/>
          <p:nvPr/>
        </p:nvSpPr>
        <p:spPr>
          <a:xfrm>
            <a:off x="2469866" y="1783536"/>
            <a:ext cx="7717186" cy="600164"/>
          </a:xfrm>
          <a:prstGeom prst="rect">
            <a:avLst/>
          </a:prstGeom>
          <a:noFill/>
        </p:spPr>
        <p:txBody>
          <a:bodyPr wrap="square">
            <a:spAutoFit/>
          </a:bodyPr>
          <a:lstStyle/>
          <a:p>
            <a:pPr algn="l"/>
            <a:r>
              <a:rPr lang="en-GB" sz="1100">
                <a:solidFill>
                  <a:schemeClr val="tx2">
                    <a:lumMod val="85000"/>
                    <a:lumOff val="15000"/>
                  </a:schemeClr>
                </a:solidFill>
              </a:rPr>
              <a:t>Required a </a:t>
            </a:r>
            <a:r>
              <a:rPr lang="en-GB" sz="1100" b="1">
                <a:solidFill>
                  <a:schemeClr val="tx2">
                    <a:lumMod val="85000"/>
                    <a:lumOff val="15000"/>
                  </a:schemeClr>
                </a:solidFill>
              </a:rPr>
              <a:t>Digital Risk Platform </a:t>
            </a:r>
            <a:r>
              <a:rPr lang="en-GB" sz="1100">
                <a:solidFill>
                  <a:schemeClr val="tx2">
                    <a:lumMod val="85000"/>
                    <a:lumOff val="15000"/>
                  </a:schemeClr>
                </a:solidFill>
              </a:rPr>
              <a:t>to unify insights from a wide range of security technologies, as a foundation to identify and measure the performance and compliance of controls, proactively identify risks, improve cyber security and compliance posture, and reduce audit costs and resources. </a:t>
            </a:r>
          </a:p>
        </p:txBody>
      </p:sp>
      <p:sp>
        <p:nvSpPr>
          <p:cNvPr id="21" name="TextBox 20">
            <a:extLst>
              <a:ext uri="{FF2B5EF4-FFF2-40B4-BE49-F238E27FC236}">
                <a16:creationId xmlns:a16="http://schemas.microsoft.com/office/drawing/2014/main" id="{95546247-4C15-ED16-50EC-5516941DF5BC}"/>
              </a:ext>
            </a:extLst>
          </p:cNvPr>
          <p:cNvSpPr txBox="1"/>
          <p:nvPr/>
        </p:nvSpPr>
        <p:spPr>
          <a:xfrm>
            <a:off x="2459921" y="2857787"/>
            <a:ext cx="7727131" cy="1954381"/>
          </a:xfrm>
          <a:prstGeom prst="rect">
            <a:avLst/>
          </a:prstGeom>
          <a:noFill/>
        </p:spPr>
        <p:txBody>
          <a:bodyPr wrap="square">
            <a:spAutoFit/>
          </a:bodyPr>
          <a:lstStyle/>
          <a:p>
            <a:pPr marL="342900" indent="-342900" algn="l">
              <a:buSzPct val="110000"/>
              <a:buFont typeface="Arial" panose="020B0604020202020204" pitchFamily="34" charset="0"/>
              <a:buChar char="•"/>
            </a:pPr>
            <a:r>
              <a:rPr lang="en-GB" sz="1100" b="1">
                <a:solidFill>
                  <a:schemeClr val="tx2">
                    <a:lumMod val="85000"/>
                    <a:lumOff val="15000"/>
                  </a:schemeClr>
                </a:solidFill>
              </a:rPr>
              <a:t>Data Fabric and Knowledge Graph </a:t>
            </a:r>
            <a:r>
              <a:rPr lang="en-GB" sz="1100">
                <a:solidFill>
                  <a:schemeClr val="tx2">
                    <a:lumMod val="85000"/>
                    <a:lumOff val="15000"/>
                  </a:schemeClr>
                </a:solidFill>
              </a:rPr>
              <a:t>- establish a foundational single source of truth for assets across both on-premise and cloud environments</a:t>
            </a:r>
          </a:p>
          <a:p>
            <a:pPr marL="947700" lvl="1" indent="-342900">
              <a:buSzPct val="110000"/>
              <a:buFont typeface="Arial" panose="020B0604020202020204" pitchFamily="34" charset="0"/>
              <a:buChar char="•"/>
            </a:pPr>
            <a:r>
              <a:rPr lang="en-GB" sz="1100">
                <a:solidFill>
                  <a:schemeClr val="tx2">
                    <a:lumMod val="85000"/>
                    <a:lumOff val="15000"/>
                  </a:schemeClr>
                </a:solidFill>
              </a:rPr>
              <a:t>Consolidate data from disparate security tools and systems used globally into a single platform, enabling reconciliation across source systems</a:t>
            </a:r>
          </a:p>
          <a:p>
            <a:pPr marL="947700" lvl="1" indent="-342900">
              <a:buSzPct val="110000"/>
              <a:buFont typeface="Arial" panose="020B0604020202020204" pitchFamily="34" charset="0"/>
              <a:buChar char="•"/>
            </a:pPr>
            <a:endParaRPr lang="en-GB" sz="1100">
              <a:solidFill>
                <a:schemeClr val="tx2">
                  <a:lumMod val="85000"/>
                  <a:lumOff val="15000"/>
                </a:schemeClr>
              </a:solidFill>
            </a:endParaRPr>
          </a:p>
          <a:p>
            <a:pPr marL="947700" lvl="1" indent="-342900">
              <a:buSzPct val="110000"/>
              <a:buFont typeface="Arial" panose="020B0604020202020204" pitchFamily="34" charset="0"/>
              <a:buChar char="•"/>
            </a:pPr>
            <a:endParaRPr lang="en-GB" sz="1100">
              <a:solidFill>
                <a:schemeClr val="tx2">
                  <a:lumMod val="85000"/>
                  <a:lumOff val="15000"/>
                </a:schemeClr>
              </a:solidFill>
            </a:endParaRPr>
          </a:p>
          <a:p>
            <a:pPr marL="947700" lvl="1" indent="-342900">
              <a:buSzPct val="110000"/>
              <a:buFont typeface="Arial" panose="020B0604020202020204" pitchFamily="34" charset="0"/>
              <a:buChar char="•"/>
            </a:pPr>
            <a:endParaRPr lang="en-GB" sz="1100">
              <a:solidFill>
                <a:schemeClr val="tx2">
                  <a:lumMod val="85000"/>
                  <a:lumOff val="15000"/>
                </a:schemeClr>
              </a:solidFill>
            </a:endParaRPr>
          </a:p>
          <a:p>
            <a:pPr marL="947700" lvl="1" indent="-342900">
              <a:buSzPct val="110000"/>
              <a:buFont typeface="Arial" panose="020B0604020202020204" pitchFamily="34" charset="0"/>
              <a:buChar char="•"/>
            </a:pPr>
            <a:r>
              <a:rPr lang="en-GB" sz="1100">
                <a:solidFill>
                  <a:schemeClr val="tx2">
                    <a:lumMod val="85000"/>
                    <a:lumOff val="15000"/>
                  </a:schemeClr>
                </a:solidFill>
              </a:rPr>
              <a:t>Discover and track unique assets, enriching with context about where they are, what they do, and their importance</a:t>
            </a:r>
          </a:p>
          <a:p>
            <a:pPr marL="342900" indent="-342900">
              <a:buSzPct val="110000"/>
              <a:buFont typeface="Arial" panose="020B0604020202020204" pitchFamily="34" charset="0"/>
              <a:buChar char="•"/>
            </a:pPr>
            <a:r>
              <a:rPr lang="en-GB" sz="1100" b="1">
                <a:solidFill>
                  <a:schemeClr val="tx2">
                    <a:lumMod val="85000"/>
                    <a:lumOff val="15000"/>
                  </a:schemeClr>
                </a:solidFill>
              </a:rPr>
              <a:t>Continuous Controls Monitoring</a:t>
            </a:r>
            <a:r>
              <a:rPr lang="en-GB" sz="1100">
                <a:solidFill>
                  <a:schemeClr val="tx2">
                    <a:lumMod val="85000"/>
                    <a:lumOff val="15000"/>
                  </a:schemeClr>
                </a:solidFill>
              </a:rPr>
              <a:t> – an automated and quantitative capability to continuously identify coverage and completeness of controls, measure control performance, and report through various industry standard frameworks (</a:t>
            </a:r>
            <a:r>
              <a:rPr lang="en-GB" sz="1100" err="1">
                <a:solidFill>
                  <a:schemeClr val="tx2">
                    <a:lumMod val="85000"/>
                    <a:lumOff val="15000"/>
                  </a:schemeClr>
                </a:solidFill>
              </a:rPr>
              <a:t>e.g</a:t>
            </a:r>
            <a:r>
              <a:rPr lang="en-GB" sz="1100">
                <a:solidFill>
                  <a:schemeClr val="tx2">
                    <a:lumMod val="85000"/>
                    <a:lumOff val="15000"/>
                  </a:schemeClr>
                </a:solidFill>
              </a:rPr>
              <a:t> NIST CSF, SCF, 800-53, SOX) to demonstrate levels of compliance and maturity</a:t>
            </a:r>
          </a:p>
        </p:txBody>
      </p:sp>
      <p:pic>
        <p:nvPicPr>
          <p:cNvPr id="22" name="Graphic 21" descr="Thumbs up sign outline">
            <a:extLst>
              <a:ext uri="{FF2B5EF4-FFF2-40B4-BE49-F238E27FC236}">
                <a16:creationId xmlns:a16="http://schemas.microsoft.com/office/drawing/2014/main" id="{24879ACF-5101-FC6D-6C99-4203E16F002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84182" y="3397522"/>
            <a:ext cx="681390" cy="681390"/>
          </a:xfrm>
          <a:prstGeom prst="rect">
            <a:avLst/>
          </a:prstGeom>
        </p:spPr>
      </p:pic>
      <p:pic>
        <p:nvPicPr>
          <p:cNvPr id="23" name="Graphic 22" descr="Send outline">
            <a:extLst>
              <a:ext uri="{FF2B5EF4-FFF2-40B4-BE49-F238E27FC236}">
                <a16:creationId xmlns:a16="http://schemas.microsoft.com/office/drawing/2014/main" id="{BDBA1B10-A10D-C8FF-85BC-0DC2149120E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84182" y="5301087"/>
            <a:ext cx="614564" cy="614564"/>
          </a:xfrm>
          <a:prstGeom prst="rect">
            <a:avLst/>
          </a:prstGeom>
        </p:spPr>
      </p:pic>
      <p:sp>
        <p:nvSpPr>
          <p:cNvPr id="24" name="Google Shape;175;p19">
            <a:extLst>
              <a:ext uri="{FF2B5EF4-FFF2-40B4-BE49-F238E27FC236}">
                <a16:creationId xmlns:a16="http://schemas.microsoft.com/office/drawing/2014/main" id="{575BC613-AA76-2109-B8E6-970783B5ACC8}"/>
              </a:ext>
            </a:extLst>
          </p:cNvPr>
          <p:cNvSpPr/>
          <p:nvPr/>
        </p:nvSpPr>
        <p:spPr>
          <a:xfrm>
            <a:off x="10659289" y="1760485"/>
            <a:ext cx="245721" cy="404872"/>
          </a:xfrm>
          <a:custGeom>
            <a:avLst/>
            <a:gdLst/>
            <a:ahLst/>
            <a:cxnLst/>
            <a:rect l="l" t="t" r="r" b="b"/>
            <a:pathLst>
              <a:path w="5987" h="10241" extrusionOk="0">
                <a:moveTo>
                  <a:pt x="5073" y="946"/>
                </a:moveTo>
                <a:lnTo>
                  <a:pt x="5073" y="2647"/>
                </a:lnTo>
                <a:lnTo>
                  <a:pt x="5104" y="2647"/>
                </a:lnTo>
                <a:cubicBezTo>
                  <a:pt x="3623" y="3151"/>
                  <a:pt x="2489" y="4569"/>
                  <a:pt x="2489" y="6302"/>
                </a:cubicBezTo>
                <a:cubicBezTo>
                  <a:pt x="2489" y="6900"/>
                  <a:pt x="2647" y="7499"/>
                  <a:pt x="2867" y="8034"/>
                </a:cubicBezTo>
                <a:lnTo>
                  <a:pt x="1639" y="9263"/>
                </a:lnTo>
                <a:cubicBezTo>
                  <a:pt x="1103" y="8381"/>
                  <a:pt x="788" y="7373"/>
                  <a:pt x="788" y="6302"/>
                </a:cubicBezTo>
                <a:cubicBezTo>
                  <a:pt x="788" y="3750"/>
                  <a:pt x="2584" y="1513"/>
                  <a:pt x="5073" y="946"/>
                </a:cubicBezTo>
                <a:close/>
                <a:moveTo>
                  <a:pt x="5482" y="1"/>
                </a:moveTo>
                <a:cubicBezTo>
                  <a:pt x="2395" y="442"/>
                  <a:pt x="0" y="3088"/>
                  <a:pt x="0" y="6270"/>
                </a:cubicBezTo>
                <a:cubicBezTo>
                  <a:pt x="0" y="7688"/>
                  <a:pt x="441" y="8979"/>
                  <a:pt x="1292" y="10082"/>
                </a:cubicBezTo>
                <a:cubicBezTo>
                  <a:pt x="1377" y="10184"/>
                  <a:pt x="1500" y="10241"/>
                  <a:pt x="1624" y="10241"/>
                </a:cubicBezTo>
                <a:cubicBezTo>
                  <a:pt x="1729" y="10241"/>
                  <a:pt x="1835" y="10200"/>
                  <a:pt x="1922" y="10114"/>
                </a:cubicBezTo>
                <a:lnTo>
                  <a:pt x="3718" y="8349"/>
                </a:lnTo>
                <a:cubicBezTo>
                  <a:pt x="3812" y="8223"/>
                  <a:pt x="3844" y="8003"/>
                  <a:pt x="3781" y="7845"/>
                </a:cubicBezTo>
                <a:cubicBezTo>
                  <a:pt x="3497" y="7373"/>
                  <a:pt x="3340" y="6806"/>
                  <a:pt x="3340" y="6270"/>
                </a:cubicBezTo>
                <a:cubicBezTo>
                  <a:pt x="3340" y="4884"/>
                  <a:pt x="4285" y="3655"/>
                  <a:pt x="5671" y="3309"/>
                </a:cubicBezTo>
                <a:cubicBezTo>
                  <a:pt x="5860" y="3277"/>
                  <a:pt x="5986" y="3120"/>
                  <a:pt x="5986" y="2899"/>
                </a:cubicBezTo>
                <a:lnTo>
                  <a:pt x="5986" y="379"/>
                </a:lnTo>
                <a:cubicBezTo>
                  <a:pt x="5955" y="190"/>
                  <a:pt x="5703" y="1"/>
                  <a:pt x="5482" y="1"/>
                </a:cubicBezTo>
                <a:close/>
              </a:path>
            </a:pathLst>
          </a:custGeom>
          <a:solidFill>
            <a:schemeClr val="tx2">
              <a:lumMod val="85000"/>
              <a:lumOff val="15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5" name="Google Shape;176;p19">
            <a:extLst>
              <a:ext uri="{FF2B5EF4-FFF2-40B4-BE49-F238E27FC236}">
                <a16:creationId xmlns:a16="http://schemas.microsoft.com/office/drawing/2014/main" id="{618B83AA-F366-8D06-9266-AB2A55F21A47}"/>
              </a:ext>
            </a:extLst>
          </p:cNvPr>
          <p:cNvSpPr/>
          <p:nvPr/>
        </p:nvSpPr>
        <p:spPr>
          <a:xfrm>
            <a:off x="10754959" y="2152112"/>
            <a:ext cx="331048" cy="150784"/>
          </a:xfrm>
          <a:custGeom>
            <a:avLst/>
            <a:gdLst/>
            <a:ahLst/>
            <a:cxnLst/>
            <a:rect l="l" t="t" r="r" b="b"/>
            <a:pathLst>
              <a:path w="8066" h="3814" extrusionOk="0">
                <a:moveTo>
                  <a:pt x="5735" y="946"/>
                </a:moveTo>
                <a:lnTo>
                  <a:pt x="6963" y="2175"/>
                </a:lnTo>
                <a:cubicBezTo>
                  <a:pt x="6113" y="2710"/>
                  <a:pt x="5073" y="2994"/>
                  <a:pt x="4065" y="2994"/>
                </a:cubicBezTo>
                <a:cubicBezTo>
                  <a:pt x="3025" y="2994"/>
                  <a:pt x="2017" y="2710"/>
                  <a:pt x="1135" y="2175"/>
                </a:cubicBezTo>
                <a:lnTo>
                  <a:pt x="2364" y="946"/>
                </a:lnTo>
                <a:cubicBezTo>
                  <a:pt x="2868" y="1198"/>
                  <a:pt x="3466" y="1356"/>
                  <a:pt x="4065" y="1356"/>
                </a:cubicBezTo>
                <a:cubicBezTo>
                  <a:pt x="4600" y="1356"/>
                  <a:pt x="5199" y="1198"/>
                  <a:pt x="5735" y="946"/>
                </a:cubicBezTo>
                <a:close/>
                <a:moveTo>
                  <a:pt x="5758" y="1"/>
                </a:moveTo>
                <a:cubicBezTo>
                  <a:pt x="5693" y="1"/>
                  <a:pt x="5630" y="11"/>
                  <a:pt x="5577" y="32"/>
                </a:cubicBezTo>
                <a:cubicBezTo>
                  <a:pt x="5105" y="316"/>
                  <a:pt x="4569" y="474"/>
                  <a:pt x="4002" y="474"/>
                </a:cubicBezTo>
                <a:cubicBezTo>
                  <a:pt x="3956" y="476"/>
                  <a:pt x="3911" y="478"/>
                  <a:pt x="3865" y="478"/>
                </a:cubicBezTo>
                <a:cubicBezTo>
                  <a:pt x="3376" y="478"/>
                  <a:pt x="2890" y="326"/>
                  <a:pt x="2458" y="95"/>
                </a:cubicBezTo>
                <a:cubicBezTo>
                  <a:pt x="2389" y="54"/>
                  <a:pt x="2315" y="31"/>
                  <a:pt x="2239" y="31"/>
                </a:cubicBezTo>
                <a:cubicBezTo>
                  <a:pt x="2142" y="31"/>
                  <a:pt x="2043" y="70"/>
                  <a:pt x="1954" y="158"/>
                </a:cubicBezTo>
                <a:lnTo>
                  <a:pt x="190" y="1923"/>
                </a:lnTo>
                <a:cubicBezTo>
                  <a:pt x="1" y="2143"/>
                  <a:pt x="32" y="2395"/>
                  <a:pt x="221" y="2553"/>
                </a:cubicBezTo>
                <a:cubicBezTo>
                  <a:pt x="1324" y="3403"/>
                  <a:pt x="2616" y="3813"/>
                  <a:pt x="4002" y="3813"/>
                </a:cubicBezTo>
                <a:cubicBezTo>
                  <a:pt x="5388" y="3813"/>
                  <a:pt x="6711" y="3403"/>
                  <a:pt x="7814" y="2521"/>
                </a:cubicBezTo>
                <a:cubicBezTo>
                  <a:pt x="8035" y="2364"/>
                  <a:pt x="8066" y="2080"/>
                  <a:pt x="7877" y="1891"/>
                </a:cubicBezTo>
                <a:lnTo>
                  <a:pt x="6113" y="127"/>
                </a:lnTo>
                <a:cubicBezTo>
                  <a:pt x="6029" y="43"/>
                  <a:pt x="5889" y="1"/>
                  <a:pt x="5758" y="1"/>
                </a:cubicBezTo>
                <a:close/>
              </a:path>
            </a:pathLst>
          </a:custGeom>
          <a:solidFill>
            <a:schemeClr val="tx2">
              <a:lumMod val="85000"/>
              <a:lumOff val="15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6" name="Google Shape;177;p19">
            <a:extLst>
              <a:ext uri="{FF2B5EF4-FFF2-40B4-BE49-F238E27FC236}">
                <a16:creationId xmlns:a16="http://schemas.microsoft.com/office/drawing/2014/main" id="{7800B60A-750D-3C95-9D7B-6AE85BE0DF52}"/>
              </a:ext>
            </a:extLst>
          </p:cNvPr>
          <p:cNvSpPr/>
          <p:nvPr/>
        </p:nvSpPr>
        <p:spPr>
          <a:xfrm>
            <a:off x="10937269" y="1760345"/>
            <a:ext cx="245721" cy="405504"/>
          </a:xfrm>
          <a:custGeom>
            <a:avLst/>
            <a:gdLst/>
            <a:ahLst/>
            <a:cxnLst/>
            <a:rect l="l" t="t" r="r" b="b"/>
            <a:pathLst>
              <a:path w="5987" h="10257" extrusionOk="0">
                <a:moveTo>
                  <a:pt x="820" y="917"/>
                </a:moveTo>
                <a:cubicBezTo>
                  <a:pt x="3309" y="1453"/>
                  <a:pt x="5105" y="3690"/>
                  <a:pt x="5105" y="6273"/>
                </a:cubicBezTo>
                <a:cubicBezTo>
                  <a:pt x="5073" y="7344"/>
                  <a:pt x="4790" y="8352"/>
                  <a:pt x="4254" y="9235"/>
                </a:cubicBezTo>
                <a:lnTo>
                  <a:pt x="3025" y="8006"/>
                </a:lnTo>
                <a:cubicBezTo>
                  <a:pt x="3309" y="7502"/>
                  <a:pt x="3435" y="6903"/>
                  <a:pt x="3435" y="6305"/>
                </a:cubicBezTo>
                <a:cubicBezTo>
                  <a:pt x="3435" y="4572"/>
                  <a:pt x="2332" y="3154"/>
                  <a:pt x="820" y="2650"/>
                </a:cubicBezTo>
                <a:lnTo>
                  <a:pt x="820" y="917"/>
                </a:lnTo>
                <a:close/>
                <a:moveTo>
                  <a:pt x="419" y="0"/>
                </a:moveTo>
                <a:cubicBezTo>
                  <a:pt x="190" y="0"/>
                  <a:pt x="1" y="180"/>
                  <a:pt x="1" y="413"/>
                </a:cubicBezTo>
                <a:lnTo>
                  <a:pt x="1" y="2934"/>
                </a:lnTo>
                <a:cubicBezTo>
                  <a:pt x="1" y="3123"/>
                  <a:pt x="127" y="3280"/>
                  <a:pt x="316" y="3312"/>
                </a:cubicBezTo>
                <a:cubicBezTo>
                  <a:pt x="1639" y="3658"/>
                  <a:pt x="2647" y="4855"/>
                  <a:pt x="2647" y="6273"/>
                </a:cubicBezTo>
                <a:cubicBezTo>
                  <a:pt x="2647" y="6809"/>
                  <a:pt x="2490" y="7376"/>
                  <a:pt x="2206" y="7848"/>
                </a:cubicBezTo>
                <a:cubicBezTo>
                  <a:pt x="2080" y="8006"/>
                  <a:pt x="2112" y="8195"/>
                  <a:pt x="2269" y="8352"/>
                </a:cubicBezTo>
                <a:lnTo>
                  <a:pt x="4065" y="10117"/>
                </a:lnTo>
                <a:cubicBezTo>
                  <a:pt x="4149" y="10214"/>
                  <a:pt x="4251" y="10257"/>
                  <a:pt x="4353" y="10257"/>
                </a:cubicBezTo>
                <a:cubicBezTo>
                  <a:pt x="4481" y="10257"/>
                  <a:pt x="4608" y="10190"/>
                  <a:pt x="4695" y="10085"/>
                </a:cubicBezTo>
                <a:cubicBezTo>
                  <a:pt x="5514" y="8982"/>
                  <a:pt x="5987" y="7659"/>
                  <a:pt x="5987" y="6273"/>
                </a:cubicBezTo>
                <a:cubicBezTo>
                  <a:pt x="5892" y="3123"/>
                  <a:pt x="3529" y="445"/>
                  <a:pt x="474" y="4"/>
                </a:cubicBezTo>
                <a:cubicBezTo>
                  <a:pt x="455" y="1"/>
                  <a:pt x="437" y="0"/>
                  <a:pt x="419" y="0"/>
                </a:cubicBezTo>
                <a:close/>
              </a:path>
            </a:pathLst>
          </a:custGeom>
          <a:solidFill>
            <a:schemeClr val="tx2">
              <a:lumMod val="85000"/>
              <a:lumOff val="15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7" name="Google Shape;178;p19">
            <a:extLst>
              <a:ext uri="{FF2B5EF4-FFF2-40B4-BE49-F238E27FC236}">
                <a16:creationId xmlns:a16="http://schemas.microsoft.com/office/drawing/2014/main" id="{D8176B38-7866-5A09-568E-1BE070696A07}"/>
              </a:ext>
            </a:extLst>
          </p:cNvPr>
          <p:cNvSpPr/>
          <p:nvPr/>
        </p:nvSpPr>
        <p:spPr>
          <a:xfrm>
            <a:off x="10867456" y="1920770"/>
            <a:ext cx="103468" cy="230446"/>
          </a:xfrm>
          <a:custGeom>
            <a:avLst/>
            <a:gdLst/>
            <a:ahLst/>
            <a:cxnLst/>
            <a:rect l="l" t="t" r="r" b="b"/>
            <a:pathLst>
              <a:path w="2521" h="5829" extrusionOk="0">
                <a:moveTo>
                  <a:pt x="1261" y="0"/>
                </a:moveTo>
                <a:cubicBezTo>
                  <a:pt x="1040" y="0"/>
                  <a:pt x="820" y="189"/>
                  <a:pt x="820" y="378"/>
                </a:cubicBezTo>
                <a:lnTo>
                  <a:pt x="820" y="662"/>
                </a:lnTo>
                <a:cubicBezTo>
                  <a:pt x="347" y="819"/>
                  <a:pt x="1" y="1292"/>
                  <a:pt x="1" y="1827"/>
                </a:cubicBezTo>
                <a:cubicBezTo>
                  <a:pt x="1" y="2521"/>
                  <a:pt x="568" y="2899"/>
                  <a:pt x="977" y="3214"/>
                </a:cubicBezTo>
                <a:cubicBezTo>
                  <a:pt x="1292" y="3466"/>
                  <a:pt x="1670" y="3686"/>
                  <a:pt x="1670" y="3938"/>
                </a:cubicBezTo>
                <a:cubicBezTo>
                  <a:pt x="1670" y="4159"/>
                  <a:pt x="1450" y="4348"/>
                  <a:pt x="1261" y="4348"/>
                </a:cubicBezTo>
                <a:cubicBezTo>
                  <a:pt x="1072" y="4348"/>
                  <a:pt x="820" y="4159"/>
                  <a:pt x="820" y="3938"/>
                </a:cubicBezTo>
                <a:cubicBezTo>
                  <a:pt x="820" y="3686"/>
                  <a:pt x="631" y="3497"/>
                  <a:pt x="442" y="3497"/>
                </a:cubicBezTo>
                <a:cubicBezTo>
                  <a:pt x="253" y="3497"/>
                  <a:pt x="32" y="3686"/>
                  <a:pt x="32" y="3938"/>
                </a:cubicBezTo>
                <a:cubicBezTo>
                  <a:pt x="32" y="4474"/>
                  <a:pt x="410" y="4915"/>
                  <a:pt x="883" y="5104"/>
                </a:cubicBezTo>
                <a:lnTo>
                  <a:pt x="883" y="5387"/>
                </a:lnTo>
                <a:cubicBezTo>
                  <a:pt x="883" y="5608"/>
                  <a:pt x="1072" y="5829"/>
                  <a:pt x="1292" y="5829"/>
                </a:cubicBezTo>
                <a:cubicBezTo>
                  <a:pt x="1544" y="5829"/>
                  <a:pt x="1702" y="5608"/>
                  <a:pt x="1702" y="5387"/>
                </a:cubicBezTo>
                <a:lnTo>
                  <a:pt x="1702" y="5104"/>
                </a:lnTo>
                <a:cubicBezTo>
                  <a:pt x="2175" y="4946"/>
                  <a:pt x="2521" y="4474"/>
                  <a:pt x="2521" y="3938"/>
                </a:cubicBezTo>
                <a:cubicBezTo>
                  <a:pt x="2521" y="3245"/>
                  <a:pt x="1985" y="2867"/>
                  <a:pt x="1544" y="2552"/>
                </a:cubicBezTo>
                <a:cubicBezTo>
                  <a:pt x="1229" y="2300"/>
                  <a:pt x="883" y="2079"/>
                  <a:pt x="883" y="1827"/>
                </a:cubicBezTo>
                <a:cubicBezTo>
                  <a:pt x="883" y="1607"/>
                  <a:pt x="1072" y="1418"/>
                  <a:pt x="1292" y="1418"/>
                </a:cubicBezTo>
                <a:cubicBezTo>
                  <a:pt x="1544" y="1418"/>
                  <a:pt x="1702" y="1607"/>
                  <a:pt x="1702" y="1827"/>
                </a:cubicBezTo>
                <a:cubicBezTo>
                  <a:pt x="1702" y="2079"/>
                  <a:pt x="1891" y="2268"/>
                  <a:pt x="2143" y="2268"/>
                </a:cubicBezTo>
                <a:cubicBezTo>
                  <a:pt x="2364" y="2268"/>
                  <a:pt x="2521" y="2079"/>
                  <a:pt x="2521" y="1827"/>
                </a:cubicBezTo>
                <a:cubicBezTo>
                  <a:pt x="2521" y="1292"/>
                  <a:pt x="2175" y="851"/>
                  <a:pt x="1702" y="662"/>
                </a:cubicBezTo>
                <a:lnTo>
                  <a:pt x="1702" y="378"/>
                </a:lnTo>
                <a:cubicBezTo>
                  <a:pt x="1702" y="189"/>
                  <a:pt x="1513" y="0"/>
                  <a:pt x="1261" y="0"/>
                </a:cubicBezTo>
                <a:close/>
              </a:path>
            </a:pathLst>
          </a:custGeom>
          <a:solidFill>
            <a:schemeClr val="tx2">
              <a:lumMod val="85000"/>
              <a:lumOff val="15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3" name="TextBox 32">
            <a:extLst>
              <a:ext uri="{FF2B5EF4-FFF2-40B4-BE49-F238E27FC236}">
                <a16:creationId xmlns:a16="http://schemas.microsoft.com/office/drawing/2014/main" id="{F8D731CE-15F6-A97E-0163-D366EF36B121}"/>
              </a:ext>
            </a:extLst>
          </p:cNvPr>
          <p:cNvSpPr txBox="1"/>
          <p:nvPr/>
        </p:nvSpPr>
        <p:spPr>
          <a:xfrm>
            <a:off x="2454512" y="5009008"/>
            <a:ext cx="7683300" cy="1446550"/>
          </a:xfrm>
          <a:prstGeom prst="rect">
            <a:avLst/>
          </a:prstGeom>
          <a:noFill/>
        </p:spPr>
        <p:txBody>
          <a:bodyPr wrap="square">
            <a:spAutoFit/>
          </a:bodyPr>
          <a:lstStyle/>
          <a:p>
            <a:pPr marL="171450" indent="-171450">
              <a:buSzPct val="110000"/>
              <a:buFont typeface="Arial" panose="020B0604020202020204" pitchFamily="34" charset="0"/>
              <a:buChar char="•"/>
            </a:pPr>
            <a:r>
              <a:rPr lang="en-GB" sz="1100" b="1">
                <a:solidFill>
                  <a:schemeClr val="tx2">
                    <a:lumMod val="85000"/>
                    <a:lumOff val="15000"/>
                  </a:schemeClr>
                </a:solidFill>
                <a:latin typeface="Calibri" panose="020F0502020204030204" pitchFamily="34" charset="0"/>
                <a:cs typeface="Calibri" panose="020F0502020204030204" pitchFamily="34" charset="0"/>
              </a:rPr>
              <a:t>Visibility</a:t>
            </a:r>
            <a:r>
              <a:rPr lang="en-GB" sz="1100">
                <a:solidFill>
                  <a:schemeClr val="tx2">
                    <a:lumMod val="85000"/>
                    <a:lumOff val="15000"/>
                  </a:schemeClr>
                </a:solidFill>
                <a:latin typeface="Calibri" panose="020F0502020204030204" pitchFamily="34" charset="0"/>
                <a:cs typeface="Calibri" panose="020F0502020204030204" pitchFamily="34" charset="0"/>
              </a:rPr>
              <a:t> – Enhanced Identity visibility by &gt;70%, and improved Asset visibility by 45% through application of Entity Resolution, providing a consolidated and continuously updated rich Inventory, to support a variety of use cases and stakeholders</a:t>
            </a:r>
          </a:p>
          <a:p>
            <a:pPr marL="171450" indent="-171450">
              <a:buSzPct val="110000"/>
              <a:buFont typeface="Arial" panose="020B0604020202020204" pitchFamily="34" charset="0"/>
              <a:buChar char="•"/>
            </a:pPr>
            <a:r>
              <a:rPr lang="en-GB" sz="1100" b="1">
                <a:solidFill>
                  <a:schemeClr val="tx2">
                    <a:lumMod val="85000"/>
                    <a:lumOff val="15000"/>
                  </a:schemeClr>
                </a:solidFill>
              </a:rPr>
              <a:t>Control</a:t>
            </a:r>
            <a:r>
              <a:rPr lang="en-GB" sz="1100">
                <a:solidFill>
                  <a:schemeClr val="tx2">
                    <a:lumMod val="85000"/>
                    <a:lumOff val="15000"/>
                  </a:schemeClr>
                </a:solidFill>
              </a:rPr>
              <a:t> - Detailed exploration of assets with failing controls, to best align control improvement activities with business processes, resource availability and alignment with strategic programmes and initiatives.</a:t>
            </a:r>
            <a:endParaRPr lang="en-US" sz="1100">
              <a:solidFill>
                <a:schemeClr val="tx2">
                  <a:lumMod val="85000"/>
                  <a:lumOff val="15000"/>
                </a:schemeClr>
              </a:solidFill>
            </a:endParaRPr>
          </a:p>
          <a:p>
            <a:pPr marL="171450" indent="-171450">
              <a:buSzPct val="110000"/>
              <a:buFont typeface="Arial" panose="020B0604020202020204" pitchFamily="34" charset="0"/>
              <a:buChar char="•"/>
            </a:pPr>
            <a:r>
              <a:rPr lang="en-GB" sz="1100" b="1">
                <a:solidFill>
                  <a:schemeClr val="tx2">
                    <a:lumMod val="85000"/>
                    <a:lumOff val="15000"/>
                  </a:schemeClr>
                </a:solidFill>
              </a:rPr>
              <a:t>Reporting</a:t>
            </a:r>
            <a:r>
              <a:rPr lang="en-GB" sz="1100">
                <a:solidFill>
                  <a:schemeClr val="tx2">
                    <a:lumMod val="85000"/>
                    <a:lumOff val="15000"/>
                  </a:schemeClr>
                </a:solidFill>
              </a:rPr>
              <a:t> - Automation of 50% of controls so far, across five frameworks, replacing hundreds of hours of manual assessments. Including automation of SOX compliance checks for financial reporting systems.</a:t>
            </a:r>
          </a:p>
          <a:p>
            <a:pPr marL="171450" indent="-171450">
              <a:buSzPct val="110000"/>
              <a:buFont typeface="Arial" panose="020B0604020202020204" pitchFamily="34" charset="0"/>
              <a:buChar char="•"/>
            </a:pPr>
            <a:r>
              <a:rPr lang="en-GB" sz="1100" b="1">
                <a:solidFill>
                  <a:schemeClr val="tx2">
                    <a:lumMod val="85000"/>
                    <a:lumOff val="15000"/>
                  </a:schemeClr>
                </a:solidFill>
                <a:latin typeface="Calibri" panose="020F0502020204030204" pitchFamily="34" charset="0"/>
                <a:cs typeface="Calibri" panose="020F0502020204030204" pitchFamily="34" charset="0"/>
              </a:rPr>
              <a:t>Versatility</a:t>
            </a:r>
            <a:r>
              <a:rPr lang="en-GB" sz="1100">
                <a:solidFill>
                  <a:schemeClr val="tx2">
                    <a:lumMod val="85000"/>
                    <a:lumOff val="15000"/>
                  </a:schemeClr>
                </a:solidFill>
                <a:latin typeface="Calibri" panose="020F0502020204030204" pitchFamily="34" charset="0"/>
                <a:cs typeface="Calibri" panose="020F0502020204030204" pitchFamily="34" charset="0"/>
              </a:rPr>
              <a:t> - </a:t>
            </a:r>
            <a:r>
              <a:rPr lang="en-GB" sz="1100">
                <a:solidFill>
                  <a:schemeClr val="tx2">
                    <a:lumMod val="85000"/>
                    <a:lumOff val="15000"/>
                  </a:schemeClr>
                </a:solidFill>
              </a:rPr>
              <a:t>Instant identification and continuous measurement of areas of control improvements, in support of regulatory compliance, desire to improve security posture, and initiatives to reduce risk</a:t>
            </a:r>
          </a:p>
        </p:txBody>
      </p:sp>
      <p:pic>
        <p:nvPicPr>
          <p:cNvPr id="8" name="Picture 7">
            <a:extLst>
              <a:ext uri="{FF2B5EF4-FFF2-40B4-BE49-F238E27FC236}">
                <a16:creationId xmlns:a16="http://schemas.microsoft.com/office/drawing/2014/main" id="{A0658242-69A5-D96F-0CC6-A7AB7D7C9717}"/>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3527156" y="3622448"/>
            <a:ext cx="4973108" cy="381381"/>
          </a:xfrm>
          <a:prstGeom prst="rect">
            <a:avLst/>
          </a:prstGeom>
        </p:spPr>
      </p:pic>
    </p:spTree>
    <p:extLst>
      <p:ext uri="{BB962C8B-B14F-4D97-AF65-F5344CB8AC3E}">
        <p14:creationId xmlns:p14="http://schemas.microsoft.com/office/powerpoint/2010/main" val="3620331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2F674-1CAA-8A55-C666-3190019F3E12}"/>
            </a:ext>
          </a:extLst>
        </p:cNvPr>
        <p:cNvGrpSpPr/>
        <p:nvPr/>
      </p:nvGrpSpPr>
      <p:grpSpPr>
        <a:xfrm>
          <a:off x="0" y="0"/>
          <a:ext cx="0" cy="0"/>
          <a:chOff x="0" y="0"/>
          <a:chExt cx="0" cy="0"/>
        </a:xfrm>
      </p:grpSpPr>
      <p:sp>
        <p:nvSpPr>
          <p:cNvPr id="55" name="Rectangle 54">
            <a:extLst>
              <a:ext uri="{FF2B5EF4-FFF2-40B4-BE49-F238E27FC236}">
                <a16:creationId xmlns:a16="http://schemas.microsoft.com/office/drawing/2014/main" id="{CD04ED07-9DC2-28BA-2E4E-0A21BEC21C82}"/>
              </a:ext>
            </a:extLst>
          </p:cNvPr>
          <p:cNvSpPr/>
          <p:nvPr/>
        </p:nvSpPr>
        <p:spPr>
          <a:xfrm>
            <a:off x="10292176" y="4708074"/>
            <a:ext cx="1276619" cy="1295161"/>
          </a:xfrm>
          <a:prstGeom prst="rect">
            <a:avLst/>
          </a:prstGeom>
          <a:solidFill>
            <a:srgbClr val="B8E2C5">
              <a:alpha val="9804"/>
            </a:srgbClr>
          </a:solidFill>
          <a:ln w="6350">
            <a:solidFill>
              <a:srgbClr val="B8E2C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2" name="Title 1">
            <a:extLst>
              <a:ext uri="{FF2B5EF4-FFF2-40B4-BE49-F238E27FC236}">
                <a16:creationId xmlns:a16="http://schemas.microsoft.com/office/drawing/2014/main" id="{E32393B2-6E73-B05B-2604-FEB92800B578}"/>
              </a:ext>
            </a:extLst>
          </p:cNvPr>
          <p:cNvSpPr>
            <a:spLocks noGrp="1"/>
          </p:cNvSpPr>
          <p:nvPr>
            <p:ph type="title"/>
          </p:nvPr>
        </p:nvSpPr>
        <p:spPr/>
        <p:txBody>
          <a:bodyPr/>
          <a:lstStyle/>
          <a:p>
            <a:r>
              <a:rPr lang="en-GB" sz="1700"/>
              <a:t>Global Cosmetics and Beauty Company – Data Driven Resilience and Cost reduction</a:t>
            </a:r>
          </a:p>
        </p:txBody>
      </p:sp>
      <p:sp>
        <p:nvSpPr>
          <p:cNvPr id="4" name="Text Placeholder 3">
            <a:extLst>
              <a:ext uri="{FF2B5EF4-FFF2-40B4-BE49-F238E27FC236}">
                <a16:creationId xmlns:a16="http://schemas.microsoft.com/office/drawing/2014/main" id="{25FFE824-A44C-96AF-AA70-B3877B819B5A}"/>
              </a:ext>
            </a:extLst>
          </p:cNvPr>
          <p:cNvSpPr>
            <a:spLocks noGrp="1"/>
          </p:cNvSpPr>
          <p:nvPr>
            <p:ph type="body" sz="quarter" idx="12"/>
          </p:nvPr>
        </p:nvSpPr>
        <p:spPr/>
        <p:txBody>
          <a:bodyPr/>
          <a:lstStyle/>
          <a:p>
            <a:endParaRPr lang="en-GB"/>
          </a:p>
        </p:txBody>
      </p:sp>
      <p:sp>
        <p:nvSpPr>
          <p:cNvPr id="7" name="Slide Number Placeholder 2">
            <a:extLst>
              <a:ext uri="{FF2B5EF4-FFF2-40B4-BE49-F238E27FC236}">
                <a16:creationId xmlns:a16="http://schemas.microsoft.com/office/drawing/2014/main" id="{71B02E54-7483-E15B-38FA-D8D38B261F4A}"/>
              </a:ext>
            </a:extLst>
          </p:cNvPr>
          <p:cNvSpPr>
            <a:spLocks noGrp="1"/>
          </p:cNvSpPr>
          <p:nvPr>
            <p:ph type="sldNum" sz="quarter" idx="4"/>
          </p:nvPr>
        </p:nvSpPr>
        <p:spPr/>
        <p:txBody>
          <a:bodyPr/>
          <a:lstStyle/>
          <a:p>
            <a:r>
              <a:rPr lang="en-US"/>
              <a:t>&lt;  34</a:t>
            </a:r>
          </a:p>
        </p:txBody>
      </p:sp>
      <p:sp>
        <p:nvSpPr>
          <p:cNvPr id="36" name="TextBox 35">
            <a:extLst>
              <a:ext uri="{FF2B5EF4-FFF2-40B4-BE49-F238E27FC236}">
                <a16:creationId xmlns:a16="http://schemas.microsoft.com/office/drawing/2014/main" id="{B4A6B6B0-546A-B7D1-B610-1668059E9B72}"/>
              </a:ext>
            </a:extLst>
          </p:cNvPr>
          <p:cNvSpPr txBox="1"/>
          <p:nvPr/>
        </p:nvSpPr>
        <p:spPr>
          <a:xfrm>
            <a:off x="670977" y="958549"/>
            <a:ext cx="10985635" cy="246221"/>
          </a:xfrm>
          <a:prstGeom prst="rect">
            <a:avLst/>
          </a:prstGeom>
        </p:spPr>
        <p:txBody>
          <a:bodyPr lIns="0" tIns="0" rIns="0" bIns="0"/>
          <a:lstStyle>
            <a:lvl1pPr indent="0" defTabSz="822960">
              <a:lnSpc>
                <a:spcPct val="100000"/>
              </a:lnSpc>
              <a:spcBef>
                <a:spcPts val="0"/>
              </a:spcBef>
              <a:spcAft>
                <a:spcPts val="480"/>
              </a:spcAft>
              <a:buFont typeface="Arial" panose="020B0604020202020204" pitchFamily="34" charset="0"/>
              <a:buNone/>
              <a:defRPr sz="1400" b="1" i="0">
                <a:solidFill>
                  <a:schemeClr val="tx2">
                    <a:lumMod val="85000"/>
                    <a:lumOff val="15000"/>
                  </a:schemeClr>
                </a:solidFill>
                <a:latin typeface="Calibri Light" charset="0"/>
                <a:ea typeface="Calibri Light" charset="0"/>
                <a:cs typeface="Calibri Light" charset="0"/>
              </a:defRPr>
            </a:lvl1pPr>
            <a:lvl2pPr marL="604800" indent="-259200" defTabSz="822960">
              <a:lnSpc>
                <a:spcPct val="100000"/>
              </a:lnSpc>
              <a:spcBef>
                <a:spcPts val="0"/>
              </a:spcBef>
              <a:spcAft>
                <a:spcPts val="480"/>
              </a:spcAft>
              <a:buFont typeface="Arial" panose="020B0604020202020204" pitchFamily="34" charset="0"/>
              <a:buChar char="•"/>
              <a:defRPr sz="1260" b="0" i="0">
                <a:latin typeface="Calibri Light" charset="0"/>
                <a:ea typeface="Calibri Light" charset="0"/>
                <a:cs typeface="Calibri Light" charset="0"/>
              </a:defRPr>
            </a:lvl2pPr>
            <a:lvl3pPr marL="950400" indent="-259200" defTabSz="822960">
              <a:lnSpc>
                <a:spcPct val="100000"/>
              </a:lnSpc>
              <a:spcBef>
                <a:spcPts val="0"/>
              </a:spcBef>
              <a:spcAft>
                <a:spcPts val="480"/>
              </a:spcAft>
              <a:buFont typeface="Arial" panose="020B0604020202020204" pitchFamily="34" charset="0"/>
              <a:buChar char="•"/>
              <a:defRPr sz="1260" b="0" i="0">
                <a:latin typeface="Calibri Light" charset="0"/>
                <a:ea typeface="Calibri Light" charset="0"/>
                <a:cs typeface="Calibri Light" charset="0"/>
              </a:defRPr>
            </a:lvl3pPr>
            <a:lvl4pPr marL="1296000" indent="-259200" defTabSz="822960">
              <a:lnSpc>
                <a:spcPct val="100000"/>
              </a:lnSpc>
              <a:spcBef>
                <a:spcPts val="0"/>
              </a:spcBef>
              <a:spcAft>
                <a:spcPts val="480"/>
              </a:spcAft>
              <a:buFont typeface="Arial" panose="020B0604020202020204" pitchFamily="34" charset="0"/>
              <a:buChar char="•"/>
              <a:defRPr sz="1200" b="0" i="0">
                <a:latin typeface="Calibri Light" charset="0"/>
                <a:ea typeface="Calibri Light" charset="0"/>
                <a:cs typeface="Calibri Light" charset="0"/>
              </a:defRPr>
            </a:lvl4pPr>
            <a:lvl5pPr marL="1641600" indent="-259200" defTabSz="822960">
              <a:lnSpc>
                <a:spcPct val="100000"/>
              </a:lnSpc>
              <a:spcBef>
                <a:spcPts val="0"/>
              </a:spcBef>
              <a:spcAft>
                <a:spcPts val="480"/>
              </a:spcAft>
              <a:buFont typeface="Arial" panose="020B0604020202020204" pitchFamily="34" charset="0"/>
              <a:buChar char="•"/>
              <a:defRPr sz="1200" b="0" i="0">
                <a:latin typeface="Calibri Light" charset="0"/>
                <a:ea typeface="Calibri Light" charset="0"/>
                <a:cs typeface="Calibri Light" charset="0"/>
              </a:defRPr>
            </a:lvl5pPr>
            <a:lvl6pPr marL="2263140" indent="-205740" defTabSz="822960">
              <a:lnSpc>
                <a:spcPct val="90000"/>
              </a:lnSpc>
              <a:spcBef>
                <a:spcPts val="450"/>
              </a:spcBef>
              <a:buFont typeface="Arial" panose="020B0604020202020204" pitchFamily="34" charset="0"/>
              <a:buChar char="•"/>
              <a:defRPr sz="1620"/>
            </a:lvl6pPr>
            <a:lvl7pPr marL="2674620" indent="-205740" defTabSz="822960">
              <a:lnSpc>
                <a:spcPct val="90000"/>
              </a:lnSpc>
              <a:spcBef>
                <a:spcPts val="450"/>
              </a:spcBef>
              <a:buFont typeface="Arial" panose="020B0604020202020204" pitchFamily="34" charset="0"/>
              <a:buChar char="•"/>
              <a:defRPr sz="1620"/>
            </a:lvl7pPr>
            <a:lvl8pPr marL="3086100" indent="-205740" defTabSz="822960">
              <a:lnSpc>
                <a:spcPct val="90000"/>
              </a:lnSpc>
              <a:spcBef>
                <a:spcPts val="450"/>
              </a:spcBef>
              <a:buFont typeface="Arial" panose="020B0604020202020204" pitchFamily="34" charset="0"/>
              <a:buChar char="•"/>
              <a:defRPr sz="1620"/>
            </a:lvl8pPr>
            <a:lvl9pPr marL="3497580" indent="-205740" defTabSz="822960">
              <a:lnSpc>
                <a:spcPct val="90000"/>
              </a:lnSpc>
              <a:spcBef>
                <a:spcPts val="450"/>
              </a:spcBef>
              <a:buFont typeface="Arial" panose="020B0604020202020204" pitchFamily="34" charset="0"/>
              <a:buChar char="•"/>
              <a:defRPr sz="1620"/>
            </a:lvl9pPr>
          </a:lstStyle>
          <a:p>
            <a:r>
              <a:rPr lang="en-GB"/>
              <a:t>Client Description:  </a:t>
            </a:r>
            <a:r>
              <a:rPr lang="en-GB" b="0"/>
              <a:t>Multinational company selling cosmetics, skin care, perfume, and personal care products.  With operations in over 100 countries, the client has a wide range of regulatory and other reporting requirements that were manually intensive and increasingly costly to support.</a:t>
            </a:r>
            <a:endParaRPr lang="en-IN" b="0"/>
          </a:p>
        </p:txBody>
      </p:sp>
      <p:pic>
        <p:nvPicPr>
          <p:cNvPr id="3" name="Picture 2" descr="Shape&#10;&#10;Description automatically generated">
            <a:extLst>
              <a:ext uri="{FF2B5EF4-FFF2-40B4-BE49-F238E27FC236}">
                <a16:creationId xmlns:a16="http://schemas.microsoft.com/office/drawing/2014/main" id="{6948813A-8E91-71BA-C779-624C2B4A441C}"/>
              </a:ext>
            </a:extLst>
          </p:cNvPr>
          <p:cNvPicPr>
            <a:picLocks noChangeAspect="1"/>
          </p:cNvPicPr>
          <p:nvPr/>
        </p:nvPicPr>
        <p:blipFill>
          <a:blip r:embed="rId2"/>
          <a:stretch>
            <a:fillRect/>
          </a:stretch>
        </p:blipFill>
        <p:spPr>
          <a:xfrm>
            <a:off x="670584" y="1644882"/>
            <a:ext cx="116009" cy="1213714"/>
          </a:xfrm>
          <a:prstGeom prst="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p:spPr>
      </p:pic>
      <p:pic>
        <p:nvPicPr>
          <p:cNvPr id="5" name="Picture 4" descr="Shape&#10;&#10;Description automatically generated">
            <a:extLst>
              <a:ext uri="{FF2B5EF4-FFF2-40B4-BE49-F238E27FC236}">
                <a16:creationId xmlns:a16="http://schemas.microsoft.com/office/drawing/2014/main" id="{92ED9076-A6A3-848F-E206-4EF3987C99B6}"/>
              </a:ext>
            </a:extLst>
          </p:cNvPr>
          <p:cNvPicPr>
            <a:picLocks noChangeAspect="1"/>
          </p:cNvPicPr>
          <p:nvPr/>
        </p:nvPicPr>
        <p:blipFill>
          <a:blip r:embed="rId2"/>
          <a:stretch>
            <a:fillRect/>
          </a:stretch>
        </p:blipFill>
        <p:spPr>
          <a:xfrm>
            <a:off x="671879" y="2994530"/>
            <a:ext cx="114263" cy="1463170"/>
          </a:xfrm>
          <a:prstGeom prst="rect">
            <a:avLst/>
          </a:prstGeom>
          <a:solidFill>
            <a:srgbClr val="EB6C15"/>
          </a:solidFill>
        </p:spPr>
      </p:pic>
      <p:sp>
        <p:nvSpPr>
          <p:cNvPr id="9" name="Rectangle 8">
            <a:extLst>
              <a:ext uri="{FF2B5EF4-FFF2-40B4-BE49-F238E27FC236}">
                <a16:creationId xmlns:a16="http://schemas.microsoft.com/office/drawing/2014/main" id="{CA40EF87-6D71-49DF-2D8E-390456AEE34A}"/>
              </a:ext>
            </a:extLst>
          </p:cNvPr>
          <p:cNvSpPr/>
          <p:nvPr/>
        </p:nvSpPr>
        <p:spPr>
          <a:xfrm>
            <a:off x="672538" y="1644883"/>
            <a:ext cx="1685618" cy="1196976"/>
          </a:xfrm>
          <a:prstGeom prst="rect">
            <a:avLst/>
          </a:prstGeom>
          <a:noFill/>
          <a:ln w="6350">
            <a:solidFill>
              <a:srgbClr val="7B6CD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13" name="Rectangle 12">
            <a:extLst>
              <a:ext uri="{FF2B5EF4-FFF2-40B4-BE49-F238E27FC236}">
                <a16:creationId xmlns:a16="http://schemas.microsoft.com/office/drawing/2014/main" id="{225891AF-D9A3-7FCE-7B02-08F659DE7BBC}"/>
              </a:ext>
            </a:extLst>
          </p:cNvPr>
          <p:cNvSpPr/>
          <p:nvPr/>
        </p:nvSpPr>
        <p:spPr>
          <a:xfrm>
            <a:off x="673776" y="2992463"/>
            <a:ext cx="1683616" cy="1579271"/>
          </a:xfrm>
          <a:prstGeom prst="rect">
            <a:avLst/>
          </a:prstGeom>
          <a:noFill/>
          <a:ln w="6350">
            <a:solidFill>
              <a:srgbClr val="C1788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37" name="Rectangle 36">
            <a:extLst>
              <a:ext uri="{FF2B5EF4-FFF2-40B4-BE49-F238E27FC236}">
                <a16:creationId xmlns:a16="http://schemas.microsoft.com/office/drawing/2014/main" id="{A102C254-CD56-B2CF-AF85-B06820B85C1A}"/>
              </a:ext>
            </a:extLst>
          </p:cNvPr>
          <p:cNvSpPr/>
          <p:nvPr/>
        </p:nvSpPr>
        <p:spPr>
          <a:xfrm>
            <a:off x="672296" y="4716343"/>
            <a:ext cx="1684356" cy="1286892"/>
          </a:xfrm>
          <a:prstGeom prst="rect">
            <a:avLst/>
          </a:prstGeom>
          <a:noFill/>
          <a:ln w="6350">
            <a:solidFill>
              <a:srgbClr val="B8E2C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39" name="Rectangle 38">
            <a:extLst>
              <a:ext uri="{FF2B5EF4-FFF2-40B4-BE49-F238E27FC236}">
                <a16:creationId xmlns:a16="http://schemas.microsoft.com/office/drawing/2014/main" id="{511BCE49-8555-C55A-9A4E-EACF4AAFE28D}"/>
              </a:ext>
            </a:extLst>
          </p:cNvPr>
          <p:cNvSpPr/>
          <p:nvPr/>
        </p:nvSpPr>
        <p:spPr>
          <a:xfrm>
            <a:off x="2459921" y="1644882"/>
            <a:ext cx="7739401" cy="1196976"/>
          </a:xfrm>
          <a:prstGeom prst="rect">
            <a:avLst/>
          </a:prstGeom>
          <a:solidFill>
            <a:srgbClr val="9373BF">
              <a:alpha val="9804"/>
            </a:srgbClr>
          </a:solidFill>
          <a:ln w="6350">
            <a:solidFill>
              <a:srgbClr val="7B6CD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41" name="Rectangle 40">
            <a:extLst>
              <a:ext uri="{FF2B5EF4-FFF2-40B4-BE49-F238E27FC236}">
                <a16:creationId xmlns:a16="http://schemas.microsoft.com/office/drawing/2014/main" id="{1169EAA6-081E-58E7-D161-38420C5664B6}"/>
              </a:ext>
            </a:extLst>
          </p:cNvPr>
          <p:cNvSpPr/>
          <p:nvPr/>
        </p:nvSpPr>
        <p:spPr>
          <a:xfrm>
            <a:off x="2456846" y="2993827"/>
            <a:ext cx="7730206" cy="1577907"/>
          </a:xfrm>
          <a:prstGeom prst="rect">
            <a:avLst/>
          </a:prstGeom>
          <a:solidFill>
            <a:srgbClr val="C1788E">
              <a:alpha val="9804"/>
            </a:srgbClr>
          </a:solidFill>
          <a:ln w="6350">
            <a:solidFill>
              <a:srgbClr val="C1788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43" name="Rectangle 42">
            <a:extLst>
              <a:ext uri="{FF2B5EF4-FFF2-40B4-BE49-F238E27FC236}">
                <a16:creationId xmlns:a16="http://schemas.microsoft.com/office/drawing/2014/main" id="{861934ED-11B5-161B-30E8-701CA734A599}"/>
              </a:ext>
            </a:extLst>
          </p:cNvPr>
          <p:cNvSpPr/>
          <p:nvPr/>
        </p:nvSpPr>
        <p:spPr>
          <a:xfrm>
            <a:off x="2454554" y="4708074"/>
            <a:ext cx="7743745" cy="1295161"/>
          </a:xfrm>
          <a:prstGeom prst="rect">
            <a:avLst/>
          </a:prstGeom>
          <a:solidFill>
            <a:srgbClr val="B8E2C5">
              <a:alpha val="9804"/>
            </a:srgbClr>
          </a:solidFill>
          <a:ln w="6350">
            <a:solidFill>
              <a:srgbClr val="B8E2C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marL="285750" indent="-285750" defTabSz="713203">
              <a:lnSpc>
                <a:spcPct val="120000"/>
              </a:lnSpc>
              <a:buClr>
                <a:srgbClr val="000000"/>
              </a:buClr>
              <a:buSzPct val="110000"/>
              <a:buFont typeface="Arial" panose="020B0604020202020204" pitchFamily="34" charset="0"/>
              <a:buChar char="•"/>
              <a:defRPr/>
            </a:pPr>
            <a:endParaRPr kumimoji="0" lang="en-US" sz="1100" b="0" i="0" u="none" strike="noStrike" kern="1200" cap="none" spc="0" normalizeH="0" baseline="0" noProof="0">
              <a:ln>
                <a:noFill/>
              </a:ln>
              <a:solidFill>
                <a:srgbClr val="000000">
                  <a:lumMod val="85000"/>
                  <a:lumOff val="15000"/>
                </a:srgbClr>
              </a:solidFill>
              <a:effectLst/>
              <a:uLnTx/>
              <a:uFillTx/>
              <a:latin typeface="Calibri"/>
              <a:ea typeface="Calibri"/>
              <a:cs typeface="Calibri"/>
            </a:endParaRPr>
          </a:p>
          <a:p>
            <a:pPr marL="285750" indent="-285750" defTabSz="713203">
              <a:lnSpc>
                <a:spcPct val="120000"/>
              </a:lnSpc>
              <a:buClr>
                <a:srgbClr val="000000"/>
              </a:buClr>
              <a:buSzPct val="110000"/>
              <a:buFont typeface="Arial" panose="020B0604020202020204" pitchFamily="34" charset="0"/>
              <a:buChar char="•"/>
              <a:defRPr/>
            </a:pPr>
            <a:r>
              <a:rPr kumimoji="0" lang="en-US" sz="1100" b="0" i="0" u="none" strike="noStrike" kern="1200" cap="none" spc="0" normalizeH="0" baseline="0" noProof="0">
                <a:ln>
                  <a:noFill/>
                </a:ln>
                <a:solidFill>
                  <a:srgbClr val="000000">
                    <a:lumMod val="85000"/>
                    <a:lumOff val="15000"/>
                  </a:srgbClr>
                </a:solidFill>
                <a:effectLst/>
                <a:uLnTx/>
                <a:uFillTx/>
                <a:latin typeface="Calibri"/>
                <a:ea typeface="Calibri"/>
                <a:cs typeface="Calibri"/>
              </a:rPr>
              <a:t>Remediation of control failures now happens on a continuous basis, </a:t>
            </a:r>
            <a:r>
              <a:rPr kumimoji="0" lang="en-US" sz="1100" b="1" i="0" u="none" strike="noStrike" kern="1200" cap="none" spc="0" normalizeH="0" baseline="0" noProof="0">
                <a:ln>
                  <a:noFill/>
                </a:ln>
                <a:solidFill>
                  <a:srgbClr val="000000">
                    <a:lumMod val="85000"/>
                    <a:lumOff val="15000"/>
                  </a:srgbClr>
                </a:solidFill>
                <a:effectLst/>
                <a:uLnTx/>
                <a:uFillTx/>
                <a:latin typeface="Calibri"/>
                <a:ea typeface="Calibri"/>
                <a:cs typeface="Calibri"/>
              </a:rPr>
              <a:t>reducing time to remediate (TTR) from 90+ days</a:t>
            </a:r>
            <a:r>
              <a:rPr kumimoji="0" lang="en-US" sz="1100" b="0" i="0" u="none" strike="noStrike" kern="1200" cap="none" spc="0" normalizeH="0" baseline="0" noProof="0">
                <a:ln>
                  <a:noFill/>
                </a:ln>
                <a:solidFill>
                  <a:srgbClr val="000000">
                    <a:lumMod val="85000"/>
                    <a:lumOff val="15000"/>
                  </a:srgbClr>
                </a:solidFill>
                <a:effectLst/>
                <a:uLnTx/>
                <a:uFillTx/>
                <a:latin typeface="Calibri"/>
                <a:ea typeface="Calibri"/>
                <a:cs typeface="Calibri"/>
              </a:rPr>
              <a:t>, based on manual reports, </a:t>
            </a:r>
            <a:r>
              <a:rPr kumimoji="0" lang="en-US" sz="1100" b="1" i="0" u="none" strike="noStrike" kern="1200" cap="none" spc="0" normalizeH="0" baseline="0" noProof="0">
                <a:ln>
                  <a:noFill/>
                </a:ln>
                <a:solidFill>
                  <a:srgbClr val="000000">
                    <a:lumMod val="85000"/>
                    <a:lumOff val="15000"/>
                  </a:srgbClr>
                </a:solidFill>
                <a:effectLst/>
                <a:uLnTx/>
                <a:uFillTx/>
                <a:latin typeface="Calibri"/>
                <a:ea typeface="Calibri"/>
                <a:cs typeface="Calibri"/>
              </a:rPr>
              <a:t>to </a:t>
            </a:r>
            <a:r>
              <a:rPr lang="en-US" sz="1100" b="1">
                <a:solidFill>
                  <a:srgbClr val="000000">
                    <a:lumMod val="85000"/>
                    <a:lumOff val="15000"/>
                  </a:srgbClr>
                </a:solidFill>
                <a:latin typeface="Calibri"/>
                <a:ea typeface="Calibri"/>
                <a:cs typeface="Calibri"/>
              </a:rPr>
              <a:t>7 </a:t>
            </a:r>
            <a:r>
              <a:rPr kumimoji="0" lang="en-US" sz="1100" b="1" i="0" u="none" strike="noStrike" kern="1200" cap="none" spc="0" normalizeH="0" baseline="0" noProof="0">
                <a:ln>
                  <a:noFill/>
                </a:ln>
                <a:solidFill>
                  <a:srgbClr val="000000">
                    <a:lumMod val="85000"/>
                    <a:lumOff val="15000"/>
                  </a:srgbClr>
                </a:solidFill>
                <a:effectLst/>
                <a:uLnTx/>
                <a:uFillTx/>
                <a:latin typeface="Calibri"/>
                <a:ea typeface="Calibri"/>
                <a:cs typeface="Calibri"/>
              </a:rPr>
              <a:t>days </a:t>
            </a:r>
            <a:r>
              <a:rPr kumimoji="0" lang="en-US" sz="1100" b="0" i="0" u="none" strike="noStrike" kern="1200" cap="none" spc="0" normalizeH="0" baseline="0" noProof="0">
                <a:ln>
                  <a:noFill/>
                </a:ln>
                <a:solidFill>
                  <a:srgbClr val="000000">
                    <a:lumMod val="85000"/>
                    <a:lumOff val="15000"/>
                  </a:srgbClr>
                </a:solidFill>
                <a:effectLst/>
                <a:uLnTx/>
                <a:uFillTx/>
                <a:latin typeface="Calibri"/>
                <a:ea typeface="Calibri"/>
                <a:cs typeface="Calibri"/>
              </a:rPr>
              <a:t>through near real-time monitoring and reporting, leading to significantly improved cyber resilience.</a:t>
            </a:r>
            <a:endParaRPr kumimoji="0" lang="en-US" sz="1100" b="0" i="0" u="none" strike="noStrike" kern="1200" cap="none" spc="0" normalizeH="0" baseline="0" noProof="0">
              <a:ln>
                <a:noFill/>
              </a:ln>
              <a:solidFill>
                <a:srgbClr val="000000">
                  <a:lumMod val="85000"/>
                  <a:lumOff val="15000"/>
                </a:srgbClr>
              </a:solidFill>
              <a:effectLst/>
              <a:highlight>
                <a:srgbClr val="FFFF00"/>
              </a:highlight>
              <a:uLnTx/>
              <a:uFillTx/>
              <a:latin typeface="Calibri"/>
              <a:ea typeface="Calibri"/>
              <a:cs typeface="Calibri"/>
            </a:endParaRPr>
          </a:p>
          <a:p>
            <a:pPr marL="269875" indent="-269875" defTabSz="713203">
              <a:lnSpc>
                <a:spcPct val="120000"/>
              </a:lnSpc>
              <a:buClr>
                <a:srgbClr val="000000"/>
              </a:buClr>
              <a:buSzPct val="110000"/>
              <a:buFont typeface="Arial" panose="020B0604020202020204" pitchFamily="34" charset="0"/>
              <a:buChar char="•"/>
              <a:defRPr/>
            </a:pPr>
            <a:r>
              <a:rPr kumimoji="0" lang="en-US" sz="1100" b="1" i="0" u="none" strike="noStrike" kern="1200" cap="none" spc="0" normalizeH="0" baseline="0" noProof="0">
                <a:ln>
                  <a:noFill/>
                </a:ln>
                <a:solidFill>
                  <a:srgbClr val="000000">
                    <a:lumMod val="85000"/>
                    <a:lumOff val="15000"/>
                  </a:srgbClr>
                </a:solidFill>
                <a:effectLst/>
                <a:uLnTx/>
                <a:uFillTx/>
                <a:latin typeface="Calibri"/>
                <a:ea typeface="Calibri"/>
                <a:cs typeface="Calibri"/>
              </a:rPr>
              <a:t>Automated, continuous, data-driven reporting </a:t>
            </a:r>
            <a:r>
              <a:rPr kumimoji="0" lang="en-US" sz="1100" i="0" u="none" strike="noStrike" kern="1200" cap="none" spc="0" normalizeH="0" baseline="0" noProof="0">
                <a:ln>
                  <a:noFill/>
                </a:ln>
                <a:solidFill>
                  <a:srgbClr val="000000">
                    <a:lumMod val="85000"/>
                    <a:lumOff val="15000"/>
                  </a:srgbClr>
                </a:solidFill>
                <a:effectLst/>
                <a:uLnTx/>
                <a:uFillTx/>
                <a:latin typeface="Calibri"/>
                <a:ea typeface="Calibri"/>
                <a:cs typeface="Calibri"/>
              </a:rPr>
              <a:t>has replaced point-in-time, interview based NIST maturity assessments conducted by a third-party consulting firm, removing supplier cost (saving &gt;1m per annum)</a:t>
            </a:r>
            <a:endParaRPr kumimoji="0" lang="en-US" sz="1100" b="1" i="0" u="none" strike="noStrike" kern="1200" cap="none" spc="0" normalizeH="0" baseline="0" noProof="0">
              <a:ln>
                <a:noFill/>
              </a:ln>
              <a:solidFill>
                <a:srgbClr val="000000">
                  <a:lumMod val="85000"/>
                  <a:lumOff val="15000"/>
                </a:srgbClr>
              </a:solidFill>
              <a:effectLst/>
              <a:uLnTx/>
              <a:uFillTx/>
              <a:latin typeface="Calibri"/>
              <a:ea typeface="Calibri"/>
              <a:cs typeface="Calibri"/>
            </a:endParaRPr>
          </a:p>
          <a:p>
            <a:pPr marL="269875" indent="-269875" defTabSz="713203">
              <a:lnSpc>
                <a:spcPct val="120000"/>
              </a:lnSpc>
              <a:buClr>
                <a:srgbClr val="000000"/>
              </a:buClr>
              <a:buSzPct val="110000"/>
              <a:buFont typeface="Arial" panose="020B0604020202020204" pitchFamily="34" charset="0"/>
              <a:buChar char="•"/>
              <a:defRPr/>
            </a:pPr>
            <a:r>
              <a:rPr kumimoji="0" lang="en-US" sz="1100" b="1" i="0" u="none" strike="noStrike" kern="1200" cap="none" spc="0" normalizeH="0" baseline="0" noProof="0">
                <a:ln>
                  <a:noFill/>
                </a:ln>
                <a:solidFill>
                  <a:srgbClr val="000000">
                    <a:lumMod val="85000"/>
                    <a:lumOff val="15000"/>
                  </a:srgbClr>
                </a:solidFill>
                <a:effectLst/>
                <a:uLnTx/>
                <a:uFillTx/>
                <a:latin typeface="Calibri"/>
                <a:ea typeface="Calibri"/>
                <a:cs typeface="Calibri"/>
              </a:rPr>
              <a:t>Significantly reduced manual effort, </a:t>
            </a:r>
            <a:r>
              <a:rPr kumimoji="0" lang="en-US" sz="1100" i="0" u="none" strike="noStrike" kern="1200" cap="none" spc="0" normalizeH="0" baseline="0" noProof="0">
                <a:ln>
                  <a:noFill/>
                </a:ln>
                <a:solidFill>
                  <a:srgbClr val="000000">
                    <a:lumMod val="85000"/>
                    <a:lumOff val="15000"/>
                  </a:srgbClr>
                </a:solidFill>
                <a:effectLst/>
                <a:uLnTx/>
                <a:uFillTx/>
                <a:latin typeface="Calibri"/>
                <a:ea typeface="Calibri"/>
                <a:cs typeface="Calibri"/>
              </a:rPr>
              <a:t>from manual control validations via people heavy audit model,</a:t>
            </a:r>
            <a:r>
              <a:rPr kumimoji="0" lang="en-US" sz="1100" b="1" i="0" u="none" strike="noStrike" kern="1200" cap="none" spc="0" normalizeH="0" baseline="0" noProof="0">
                <a:ln>
                  <a:noFill/>
                </a:ln>
                <a:solidFill>
                  <a:srgbClr val="000000">
                    <a:lumMod val="85000"/>
                    <a:lumOff val="15000"/>
                  </a:srgbClr>
                </a:solidFill>
                <a:effectLst/>
                <a:uLnTx/>
                <a:uFillTx/>
                <a:latin typeface="Calibri"/>
                <a:ea typeface="Calibri"/>
                <a:cs typeface="Calibri"/>
              </a:rPr>
              <a:t> </a:t>
            </a:r>
            <a:r>
              <a:rPr kumimoji="0" lang="en-US" sz="1100" i="0" u="none" strike="noStrike" kern="1200" cap="none" spc="0" normalizeH="0" baseline="0" noProof="0">
                <a:ln>
                  <a:noFill/>
                </a:ln>
                <a:solidFill>
                  <a:srgbClr val="000000">
                    <a:lumMod val="85000"/>
                    <a:lumOff val="15000"/>
                  </a:srgbClr>
                </a:solidFill>
                <a:effectLst/>
                <a:uLnTx/>
                <a:uFillTx/>
                <a:latin typeface="Calibri"/>
                <a:ea typeface="Calibri"/>
                <a:cs typeface="Calibri"/>
              </a:rPr>
              <a:t>to</a:t>
            </a:r>
            <a:r>
              <a:rPr kumimoji="0" lang="en-US" sz="1100" b="1" i="0" u="none" strike="noStrike" kern="1200" cap="none" spc="0" normalizeH="0" baseline="0" noProof="0">
                <a:ln>
                  <a:noFill/>
                </a:ln>
                <a:solidFill>
                  <a:srgbClr val="000000">
                    <a:lumMod val="85000"/>
                    <a:lumOff val="15000"/>
                  </a:srgbClr>
                </a:solidFill>
                <a:effectLst/>
                <a:uLnTx/>
                <a:uFillTx/>
                <a:latin typeface="Calibri"/>
                <a:ea typeface="Calibri"/>
                <a:cs typeface="Calibri"/>
              </a:rPr>
              <a:t> </a:t>
            </a:r>
            <a:r>
              <a:rPr kumimoji="0" lang="en-US" sz="1100" b="0" i="0" u="none" strike="noStrike" kern="1200" cap="none" spc="0" normalizeH="0" baseline="0" noProof="0">
                <a:ln>
                  <a:noFill/>
                </a:ln>
                <a:solidFill>
                  <a:srgbClr val="000000">
                    <a:lumMod val="85000"/>
                    <a:lumOff val="15000"/>
                  </a:srgbClr>
                </a:solidFill>
                <a:effectLst/>
                <a:uLnTx/>
                <a:uFillTx/>
                <a:latin typeface="Calibri"/>
                <a:ea typeface="Calibri"/>
                <a:cs typeface="Calibri"/>
              </a:rPr>
              <a:t>data driven, automated and continuous monitoring, freeing up </a:t>
            </a:r>
            <a:r>
              <a:rPr kumimoji="0" lang="en-US" sz="1100" b="0" i="0" u="none" strike="noStrike" kern="1200" cap="none" spc="0" normalizeH="0" baseline="0" noProof="0" err="1">
                <a:ln>
                  <a:noFill/>
                </a:ln>
                <a:solidFill>
                  <a:srgbClr val="000000">
                    <a:lumMod val="85000"/>
                    <a:lumOff val="15000"/>
                  </a:srgbClr>
                </a:solidFill>
                <a:effectLst/>
                <a:uLnTx/>
                <a:uFillTx/>
                <a:latin typeface="Calibri"/>
                <a:ea typeface="Calibri"/>
                <a:cs typeface="Calibri"/>
              </a:rPr>
              <a:t>audi</a:t>
            </a:r>
            <a:r>
              <a:rPr lang="en-US" sz="1100">
                <a:solidFill>
                  <a:srgbClr val="000000">
                    <a:lumMod val="85000"/>
                    <a:lumOff val="15000"/>
                  </a:srgbClr>
                </a:solidFill>
                <a:latin typeface="Calibri"/>
                <a:ea typeface="Calibri"/>
                <a:cs typeface="Calibri"/>
              </a:rPr>
              <a:t>t, risk and compliance staff</a:t>
            </a:r>
            <a:endParaRPr kumimoji="0" lang="en-US" sz="1100" b="0" i="0" u="none" strike="noStrike" kern="1200" cap="none" spc="0" normalizeH="0" baseline="0" noProof="0">
              <a:ln>
                <a:noFill/>
              </a:ln>
              <a:solidFill>
                <a:srgbClr val="000000">
                  <a:lumMod val="85000"/>
                  <a:lumOff val="15000"/>
                </a:srgbClr>
              </a:solidFill>
              <a:effectLst/>
              <a:uLnTx/>
              <a:uFillTx/>
              <a:latin typeface="Calibri"/>
              <a:ea typeface="Calibri"/>
              <a:cs typeface="Calibri"/>
            </a:endParaRPr>
          </a:p>
          <a:p>
            <a:pPr algn="ctr"/>
            <a:endParaRPr lang="en-US" sz="1560"/>
          </a:p>
        </p:txBody>
      </p:sp>
      <p:sp>
        <p:nvSpPr>
          <p:cNvPr id="47" name="TextBox 46">
            <a:extLst>
              <a:ext uri="{FF2B5EF4-FFF2-40B4-BE49-F238E27FC236}">
                <a16:creationId xmlns:a16="http://schemas.microsoft.com/office/drawing/2014/main" id="{C1D613B8-133F-03CD-0441-9285FA094F44}"/>
              </a:ext>
            </a:extLst>
          </p:cNvPr>
          <p:cNvSpPr txBox="1"/>
          <p:nvPr/>
        </p:nvSpPr>
        <p:spPr>
          <a:xfrm>
            <a:off x="1117285" y="2149117"/>
            <a:ext cx="888377"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b="1">
                <a:solidFill>
                  <a:schemeClr val="tx2">
                    <a:lumMod val="85000"/>
                    <a:lumOff val="15000"/>
                  </a:schemeClr>
                </a:solidFill>
                <a:cs typeface="Arial"/>
              </a:rPr>
              <a:t>Challenge</a:t>
            </a:r>
            <a:endParaRPr lang="en-IN" sz="1400" b="1">
              <a:solidFill>
                <a:schemeClr val="tx2">
                  <a:lumMod val="85000"/>
                  <a:lumOff val="15000"/>
                </a:schemeClr>
              </a:solidFill>
              <a:ea typeface="Calibri Light" charset="0"/>
              <a:cs typeface="Arial"/>
            </a:endParaRPr>
          </a:p>
        </p:txBody>
      </p:sp>
      <p:sp>
        <p:nvSpPr>
          <p:cNvPr id="48" name="TextBox 47">
            <a:extLst>
              <a:ext uri="{FF2B5EF4-FFF2-40B4-BE49-F238E27FC236}">
                <a16:creationId xmlns:a16="http://schemas.microsoft.com/office/drawing/2014/main" id="{52A9187B-25CE-EC4A-8BCB-B004AD64D9AB}"/>
              </a:ext>
            </a:extLst>
          </p:cNvPr>
          <p:cNvSpPr txBox="1"/>
          <p:nvPr/>
        </p:nvSpPr>
        <p:spPr>
          <a:xfrm>
            <a:off x="1117285" y="3476985"/>
            <a:ext cx="888377"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b="1">
                <a:solidFill>
                  <a:schemeClr val="tx2">
                    <a:lumMod val="85000"/>
                    <a:lumOff val="15000"/>
                  </a:schemeClr>
                </a:solidFill>
                <a:cs typeface="Arial"/>
              </a:rPr>
              <a:t>Solution</a:t>
            </a:r>
            <a:endParaRPr lang="en-IN" sz="1400" b="1">
              <a:solidFill>
                <a:schemeClr val="tx2">
                  <a:lumMod val="85000"/>
                  <a:lumOff val="15000"/>
                </a:schemeClr>
              </a:solidFill>
              <a:ea typeface="Calibri Light" charset="0"/>
              <a:cs typeface="Arial"/>
            </a:endParaRPr>
          </a:p>
        </p:txBody>
      </p:sp>
      <p:sp>
        <p:nvSpPr>
          <p:cNvPr id="49" name="TextBox 48">
            <a:extLst>
              <a:ext uri="{FF2B5EF4-FFF2-40B4-BE49-F238E27FC236}">
                <a16:creationId xmlns:a16="http://schemas.microsoft.com/office/drawing/2014/main" id="{1E40DA17-E51A-084E-7A28-10BC3EA74713}"/>
              </a:ext>
            </a:extLst>
          </p:cNvPr>
          <p:cNvSpPr txBox="1"/>
          <p:nvPr/>
        </p:nvSpPr>
        <p:spPr>
          <a:xfrm>
            <a:off x="1116262" y="5187403"/>
            <a:ext cx="888377"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b="1">
                <a:solidFill>
                  <a:schemeClr val="tx2">
                    <a:lumMod val="85000"/>
                    <a:lumOff val="15000"/>
                  </a:schemeClr>
                </a:solidFill>
                <a:cs typeface="Arial"/>
              </a:rPr>
              <a:t>Benefits</a:t>
            </a:r>
            <a:endParaRPr lang="en-IN" sz="1400" b="1">
              <a:solidFill>
                <a:schemeClr val="tx2">
                  <a:lumMod val="85000"/>
                  <a:lumOff val="15000"/>
                </a:schemeClr>
              </a:solidFill>
              <a:ea typeface="Calibri Light" charset="0"/>
              <a:cs typeface="Arial"/>
            </a:endParaRPr>
          </a:p>
        </p:txBody>
      </p:sp>
      <p:pic>
        <p:nvPicPr>
          <p:cNvPr id="50" name="Picture 6" descr="Shape&#10;&#10;Description automatically generated">
            <a:extLst>
              <a:ext uri="{FF2B5EF4-FFF2-40B4-BE49-F238E27FC236}">
                <a16:creationId xmlns:a16="http://schemas.microsoft.com/office/drawing/2014/main" id="{BA41213F-1E8A-3ED6-95DB-71E2D2B560C4}"/>
              </a:ext>
            </a:extLst>
          </p:cNvPr>
          <p:cNvPicPr>
            <a:picLocks noChangeAspect="1"/>
          </p:cNvPicPr>
          <p:nvPr/>
        </p:nvPicPr>
        <p:blipFill>
          <a:blip r:embed="rId3"/>
          <a:stretch>
            <a:fillRect/>
          </a:stretch>
        </p:blipFill>
        <p:spPr>
          <a:xfrm>
            <a:off x="672752" y="4718407"/>
            <a:ext cx="114263" cy="1179577"/>
          </a:xfrm>
          <a:prstGeom prst="rect">
            <a:avLst/>
          </a:prstGeom>
        </p:spPr>
      </p:pic>
      <p:sp>
        <p:nvSpPr>
          <p:cNvPr id="53" name="Rectangle 52">
            <a:extLst>
              <a:ext uri="{FF2B5EF4-FFF2-40B4-BE49-F238E27FC236}">
                <a16:creationId xmlns:a16="http://schemas.microsoft.com/office/drawing/2014/main" id="{48FC0480-95F9-11D9-6D43-04EF89F0BF66}"/>
              </a:ext>
            </a:extLst>
          </p:cNvPr>
          <p:cNvSpPr/>
          <p:nvPr/>
        </p:nvSpPr>
        <p:spPr>
          <a:xfrm>
            <a:off x="10302212" y="1644882"/>
            <a:ext cx="1277577" cy="1196976"/>
          </a:xfrm>
          <a:prstGeom prst="rect">
            <a:avLst/>
          </a:prstGeom>
          <a:solidFill>
            <a:srgbClr val="9373BF">
              <a:alpha val="9804"/>
            </a:srgbClr>
          </a:solidFill>
          <a:ln w="6350">
            <a:solidFill>
              <a:srgbClr val="7B6CD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54" name="Rectangle 53">
            <a:extLst>
              <a:ext uri="{FF2B5EF4-FFF2-40B4-BE49-F238E27FC236}">
                <a16:creationId xmlns:a16="http://schemas.microsoft.com/office/drawing/2014/main" id="{697D12B5-773F-E890-928D-C1B0FFE13D88}"/>
              </a:ext>
            </a:extLst>
          </p:cNvPr>
          <p:cNvSpPr/>
          <p:nvPr/>
        </p:nvSpPr>
        <p:spPr>
          <a:xfrm>
            <a:off x="10291735" y="2993827"/>
            <a:ext cx="1276059" cy="1577907"/>
          </a:xfrm>
          <a:prstGeom prst="rect">
            <a:avLst/>
          </a:prstGeom>
          <a:solidFill>
            <a:srgbClr val="C1788E">
              <a:alpha val="9804"/>
            </a:srgbClr>
          </a:solidFill>
          <a:ln w="6350">
            <a:solidFill>
              <a:srgbClr val="C1788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57" name="TextBox 56">
            <a:extLst>
              <a:ext uri="{FF2B5EF4-FFF2-40B4-BE49-F238E27FC236}">
                <a16:creationId xmlns:a16="http://schemas.microsoft.com/office/drawing/2014/main" id="{C3FC9D8C-B15C-CACC-9BBF-2BA7FAF319AC}"/>
              </a:ext>
            </a:extLst>
          </p:cNvPr>
          <p:cNvSpPr txBox="1"/>
          <p:nvPr/>
        </p:nvSpPr>
        <p:spPr>
          <a:xfrm>
            <a:off x="2469866" y="1615758"/>
            <a:ext cx="7717186" cy="1297599"/>
          </a:xfrm>
          <a:prstGeom prst="rect">
            <a:avLst/>
          </a:prstGeom>
          <a:noFill/>
        </p:spPr>
        <p:txBody>
          <a:bodyPr wrap="square">
            <a:spAutoFit/>
          </a:bodyPr>
          <a:lstStyle/>
          <a:p>
            <a:pPr>
              <a:lnSpc>
                <a:spcPct val="120000"/>
              </a:lnSpc>
              <a:buClr>
                <a:schemeClr val="tx2"/>
              </a:buClr>
              <a:buSzPct val="110000"/>
            </a:pPr>
            <a:r>
              <a:rPr lang="en-US" sz="1100">
                <a:solidFill>
                  <a:schemeClr val="tx2">
                    <a:lumMod val="85000"/>
                    <a:lumOff val="15000"/>
                  </a:schemeClr>
                </a:solidFill>
                <a:latin typeface="Calibri"/>
                <a:ea typeface="Calibri"/>
                <a:cs typeface="Calibri"/>
              </a:rPr>
              <a:t>The client wished to </a:t>
            </a:r>
            <a:r>
              <a:rPr lang="en-US" sz="1100" b="1">
                <a:solidFill>
                  <a:schemeClr val="tx2">
                    <a:lumMod val="85000"/>
                    <a:lumOff val="15000"/>
                  </a:schemeClr>
                </a:solidFill>
                <a:latin typeface="Calibri"/>
                <a:ea typeface="Calibri"/>
                <a:cs typeface="Calibri"/>
              </a:rPr>
              <a:t>automate </a:t>
            </a:r>
            <a:r>
              <a:rPr lang="en-US" sz="1100">
                <a:solidFill>
                  <a:schemeClr val="tx2">
                    <a:lumMod val="85000"/>
                    <a:lumOff val="15000"/>
                  </a:schemeClr>
                </a:solidFill>
                <a:latin typeface="Calibri"/>
                <a:ea typeface="Calibri"/>
                <a:cs typeface="Calibri"/>
              </a:rPr>
              <a:t>the</a:t>
            </a:r>
            <a:r>
              <a:rPr lang="en-US" sz="1100" b="1">
                <a:solidFill>
                  <a:schemeClr val="tx2">
                    <a:lumMod val="85000"/>
                    <a:lumOff val="15000"/>
                  </a:schemeClr>
                </a:solidFill>
                <a:latin typeface="Calibri"/>
                <a:ea typeface="Calibri"/>
                <a:cs typeface="Calibri"/>
              </a:rPr>
              <a:t> </a:t>
            </a:r>
            <a:r>
              <a:rPr lang="en-US" sz="1100">
                <a:solidFill>
                  <a:schemeClr val="tx2">
                    <a:lumMod val="85000"/>
                    <a:lumOff val="15000"/>
                  </a:schemeClr>
                </a:solidFill>
                <a:latin typeface="Calibri"/>
                <a:ea typeface="Calibri"/>
                <a:cs typeface="Calibri"/>
              </a:rPr>
              <a:t>measurement and reporting of controls, with the objectives of </a:t>
            </a:r>
          </a:p>
          <a:p>
            <a:pPr marL="285750" indent="-285750">
              <a:lnSpc>
                <a:spcPct val="120000"/>
              </a:lnSpc>
              <a:buClr>
                <a:schemeClr val="tx2"/>
              </a:buClr>
              <a:buSzPct val="110000"/>
              <a:buFont typeface="Arial" panose="020B0604020202020204" pitchFamily="34" charset="0"/>
              <a:buChar char="•"/>
            </a:pPr>
            <a:r>
              <a:rPr lang="en-US" sz="1100" b="1">
                <a:solidFill>
                  <a:schemeClr val="tx2">
                    <a:lumMod val="85000"/>
                    <a:lumOff val="15000"/>
                  </a:schemeClr>
                </a:solidFill>
                <a:latin typeface="Calibri"/>
                <a:ea typeface="Calibri"/>
                <a:cs typeface="Calibri"/>
              </a:rPr>
              <a:t>improving cyber resilience</a:t>
            </a:r>
            <a:r>
              <a:rPr lang="en-US" sz="1100">
                <a:solidFill>
                  <a:schemeClr val="tx2">
                    <a:lumMod val="85000"/>
                    <a:lumOff val="15000"/>
                  </a:schemeClr>
                </a:solidFill>
                <a:latin typeface="Calibri"/>
                <a:ea typeface="Calibri"/>
                <a:cs typeface="Calibri"/>
              </a:rPr>
              <a:t> by moving away from periodic, manual audits for identifying control weaknesses</a:t>
            </a:r>
          </a:p>
          <a:p>
            <a:pPr marL="285750" indent="-285750">
              <a:lnSpc>
                <a:spcPct val="120000"/>
              </a:lnSpc>
              <a:buClr>
                <a:schemeClr val="tx2"/>
              </a:buClr>
              <a:buSzPct val="110000"/>
              <a:buFont typeface="Arial" panose="020B0604020202020204" pitchFamily="34" charset="0"/>
              <a:buChar char="•"/>
            </a:pPr>
            <a:r>
              <a:rPr lang="en-US" sz="1100" b="1">
                <a:solidFill>
                  <a:schemeClr val="tx2">
                    <a:lumMod val="85000"/>
                    <a:lumOff val="15000"/>
                  </a:schemeClr>
                </a:solidFill>
                <a:latin typeface="Calibri"/>
                <a:ea typeface="Calibri"/>
                <a:cs typeface="Calibri"/>
              </a:rPr>
              <a:t>more accurate, real-time, automated reporting</a:t>
            </a:r>
            <a:r>
              <a:rPr lang="en-US" sz="1100">
                <a:solidFill>
                  <a:schemeClr val="tx2">
                    <a:lumMod val="85000"/>
                    <a:lumOff val="15000"/>
                  </a:schemeClr>
                </a:solidFill>
                <a:latin typeface="Calibri"/>
                <a:ea typeface="Calibri"/>
                <a:cs typeface="Calibri"/>
              </a:rPr>
              <a:t>, rather than existing process of monthly reports, manually curated each time, that are out of date as soon as they are created</a:t>
            </a:r>
            <a:endParaRPr lang="en-US" sz="1100" b="1">
              <a:solidFill>
                <a:schemeClr val="tx2">
                  <a:lumMod val="85000"/>
                  <a:lumOff val="15000"/>
                </a:schemeClr>
              </a:solidFill>
              <a:latin typeface="Calibri"/>
              <a:ea typeface="Calibri"/>
              <a:cs typeface="Calibri"/>
            </a:endParaRPr>
          </a:p>
          <a:p>
            <a:pPr marL="285750" indent="-285750">
              <a:lnSpc>
                <a:spcPct val="120000"/>
              </a:lnSpc>
              <a:buClr>
                <a:schemeClr val="tx2"/>
              </a:buClr>
              <a:buSzPct val="110000"/>
              <a:buFont typeface="Arial" panose="020B0604020202020204" pitchFamily="34" charset="0"/>
              <a:buChar char="•"/>
            </a:pPr>
            <a:r>
              <a:rPr lang="en-US" sz="1100" b="1">
                <a:solidFill>
                  <a:schemeClr val="tx2">
                    <a:lumMod val="85000"/>
                    <a:lumOff val="15000"/>
                  </a:schemeClr>
                </a:solidFill>
                <a:latin typeface="Calibri"/>
                <a:ea typeface="Calibri"/>
                <a:cs typeface="Calibri"/>
              </a:rPr>
              <a:t>reducing cost</a:t>
            </a:r>
            <a:r>
              <a:rPr lang="en-US" sz="1100">
                <a:solidFill>
                  <a:schemeClr val="tx2">
                    <a:lumMod val="85000"/>
                    <a:lumOff val="15000"/>
                  </a:schemeClr>
                </a:solidFill>
                <a:latin typeface="Calibri"/>
                <a:ea typeface="Calibri"/>
                <a:cs typeface="Calibri"/>
              </a:rPr>
              <a:t> by moving from a manual, people heavy audit model, to a data driven, automated and continuous process that frees risk and compliance staff to focus on higher value tasks</a:t>
            </a:r>
          </a:p>
        </p:txBody>
      </p:sp>
      <p:sp>
        <p:nvSpPr>
          <p:cNvPr id="58" name="TextBox 57">
            <a:extLst>
              <a:ext uri="{FF2B5EF4-FFF2-40B4-BE49-F238E27FC236}">
                <a16:creationId xmlns:a16="http://schemas.microsoft.com/office/drawing/2014/main" id="{E4850186-B29B-E328-E89B-17F60C75930A}"/>
              </a:ext>
            </a:extLst>
          </p:cNvPr>
          <p:cNvSpPr txBox="1"/>
          <p:nvPr/>
        </p:nvSpPr>
        <p:spPr>
          <a:xfrm>
            <a:off x="2459921" y="3071003"/>
            <a:ext cx="7743745" cy="1500732"/>
          </a:xfrm>
          <a:prstGeom prst="rect">
            <a:avLst/>
          </a:prstGeom>
          <a:noFill/>
        </p:spPr>
        <p:txBody>
          <a:bodyPr wrap="square">
            <a:spAutoFit/>
          </a:bodyPr>
          <a:lstStyle/>
          <a:p>
            <a:pPr>
              <a:lnSpc>
                <a:spcPct val="120000"/>
              </a:lnSpc>
              <a:buClr>
                <a:schemeClr val="tx2"/>
              </a:buClr>
              <a:buSzPct val="110000"/>
            </a:pPr>
            <a:r>
              <a:rPr lang="en-US" sz="1100">
                <a:solidFill>
                  <a:schemeClr val="tx2">
                    <a:lumMod val="85000"/>
                    <a:lumOff val="15000"/>
                  </a:schemeClr>
                </a:solidFill>
                <a:latin typeface="Calibri"/>
                <a:ea typeface="Calibri"/>
                <a:cs typeface="Calibri"/>
              </a:rPr>
              <a:t>Data Fabric Platform was deployed, integrating tens of data sources, alongside Continuous Controls Monitoring enabling:</a:t>
            </a:r>
          </a:p>
          <a:p>
            <a:pPr marL="285750" indent="-285750">
              <a:lnSpc>
                <a:spcPct val="120000"/>
              </a:lnSpc>
              <a:buClr>
                <a:schemeClr val="tx2"/>
              </a:buClr>
              <a:buSzPct val="110000"/>
              <a:buFont typeface="Arial" panose="020B0604020202020204" pitchFamily="34" charset="0"/>
              <a:buChar char="•"/>
            </a:pPr>
            <a:r>
              <a:rPr lang="en-US" sz="1100">
                <a:solidFill>
                  <a:schemeClr val="tx2">
                    <a:lumMod val="85000"/>
                    <a:lumOff val="15000"/>
                  </a:schemeClr>
                </a:solidFill>
                <a:latin typeface="Calibri"/>
                <a:ea typeface="Calibri"/>
                <a:cs typeface="Calibri"/>
              </a:rPr>
              <a:t>improved cyber resilience through continuously monitoring the hundreds of cyber controls,</a:t>
            </a:r>
            <a:r>
              <a:rPr lang="en-US" sz="1100" b="1">
                <a:solidFill>
                  <a:schemeClr val="tx2">
                    <a:lumMod val="85000"/>
                    <a:lumOff val="15000"/>
                  </a:schemeClr>
                </a:solidFill>
                <a:latin typeface="Calibri"/>
                <a:ea typeface="Calibri"/>
                <a:cs typeface="Calibri"/>
              </a:rPr>
              <a:t> to proactively identify control weaknesses </a:t>
            </a:r>
            <a:r>
              <a:rPr lang="en-US" sz="1100">
                <a:solidFill>
                  <a:schemeClr val="tx2">
                    <a:lumMod val="85000"/>
                    <a:lumOff val="15000"/>
                  </a:schemeClr>
                </a:solidFill>
                <a:latin typeface="Calibri"/>
                <a:ea typeface="Calibri"/>
                <a:cs typeface="Calibri"/>
              </a:rPr>
              <a:t>before they are exploited by attackers </a:t>
            </a:r>
          </a:p>
          <a:p>
            <a:pPr marL="285750" indent="-285750">
              <a:lnSpc>
                <a:spcPct val="120000"/>
              </a:lnSpc>
              <a:buClr>
                <a:schemeClr val="tx2"/>
              </a:buClr>
              <a:buSzPct val="110000"/>
              <a:buFont typeface="Arial" panose="020B0604020202020204" pitchFamily="34" charset="0"/>
              <a:buChar char="•"/>
            </a:pPr>
            <a:r>
              <a:rPr lang="en-US" sz="1100" b="1">
                <a:solidFill>
                  <a:schemeClr val="tx2">
                    <a:lumMod val="85000"/>
                    <a:lumOff val="15000"/>
                  </a:schemeClr>
                </a:solidFill>
                <a:latin typeface="Calibri"/>
                <a:ea typeface="Calibri"/>
                <a:cs typeface="Calibri"/>
              </a:rPr>
              <a:t>automated, data-driven risk reporting </a:t>
            </a:r>
            <a:r>
              <a:rPr lang="en-US" sz="1100">
                <a:solidFill>
                  <a:schemeClr val="tx2">
                    <a:lumMod val="85000"/>
                    <a:lumOff val="15000"/>
                  </a:schemeClr>
                </a:solidFill>
                <a:latin typeface="Calibri"/>
                <a:ea typeface="Calibri"/>
                <a:cs typeface="Calibri"/>
              </a:rPr>
              <a:t>to the board through alignment with their risk framework and the creation of custom dashboards</a:t>
            </a:r>
          </a:p>
          <a:p>
            <a:pPr marL="285750" indent="-285750">
              <a:lnSpc>
                <a:spcPct val="120000"/>
              </a:lnSpc>
              <a:buClr>
                <a:schemeClr val="tx2"/>
              </a:buClr>
              <a:buSzPct val="110000"/>
              <a:buFont typeface="Arial" panose="020B0604020202020204" pitchFamily="34" charset="0"/>
              <a:buChar char="•"/>
            </a:pPr>
            <a:r>
              <a:rPr lang="en-US" sz="1100" b="1">
                <a:solidFill>
                  <a:schemeClr val="tx2">
                    <a:lumMod val="85000"/>
                    <a:lumOff val="15000"/>
                  </a:schemeClr>
                </a:solidFill>
                <a:latin typeface="Calibri"/>
                <a:ea typeface="Calibri"/>
                <a:cs typeface="Calibri"/>
              </a:rPr>
              <a:t>continuous compliance status reporting, </a:t>
            </a:r>
            <a:r>
              <a:rPr lang="en-US" sz="1100">
                <a:solidFill>
                  <a:schemeClr val="tx2">
                    <a:lumMod val="85000"/>
                    <a:lumOff val="15000"/>
                  </a:schemeClr>
                </a:solidFill>
                <a:latin typeface="Calibri"/>
                <a:ea typeface="Calibri"/>
                <a:cs typeface="Calibri"/>
              </a:rPr>
              <a:t>with the ability to filter for key compliance scopes (such as financial systems), reducing the workload on the internal audit team</a:t>
            </a:r>
          </a:p>
        </p:txBody>
      </p:sp>
      <p:pic>
        <p:nvPicPr>
          <p:cNvPr id="6" name="Graphic 5" descr="Thumbs up sign outline">
            <a:extLst>
              <a:ext uri="{FF2B5EF4-FFF2-40B4-BE49-F238E27FC236}">
                <a16:creationId xmlns:a16="http://schemas.microsoft.com/office/drawing/2014/main" id="{DEA081D8-253B-C99A-8879-4A09AEFC4CC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84182" y="3375374"/>
            <a:ext cx="681390" cy="681390"/>
          </a:xfrm>
          <a:prstGeom prst="rect">
            <a:avLst/>
          </a:prstGeom>
        </p:spPr>
      </p:pic>
      <p:pic>
        <p:nvPicPr>
          <p:cNvPr id="8" name="Graphic 7" descr="Send outline">
            <a:extLst>
              <a:ext uri="{FF2B5EF4-FFF2-40B4-BE49-F238E27FC236}">
                <a16:creationId xmlns:a16="http://schemas.microsoft.com/office/drawing/2014/main" id="{1ABD884C-C1DB-4813-8394-F19BBF94C63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83159" y="4995747"/>
            <a:ext cx="614564" cy="614564"/>
          </a:xfrm>
          <a:prstGeom prst="rect">
            <a:avLst/>
          </a:prstGeom>
        </p:spPr>
      </p:pic>
      <p:sp>
        <p:nvSpPr>
          <p:cNvPr id="10" name="Google Shape;175;p19">
            <a:extLst>
              <a:ext uri="{FF2B5EF4-FFF2-40B4-BE49-F238E27FC236}">
                <a16:creationId xmlns:a16="http://schemas.microsoft.com/office/drawing/2014/main" id="{5D5E139A-F1D3-D400-E02F-77D5147B5043}"/>
              </a:ext>
            </a:extLst>
          </p:cNvPr>
          <p:cNvSpPr/>
          <p:nvPr/>
        </p:nvSpPr>
        <p:spPr>
          <a:xfrm>
            <a:off x="10659289" y="1912011"/>
            <a:ext cx="245721" cy="404872"/>
          </a:xfrm>
          <a:custGeom>
            <a:avLst/>
            <a:gdLst/>
            <a:ahLst/>
            <a:cxnLst/>
            <a:rect l="l" t="t" r="r" b="b"/>
            <a:pathLst>
              <a:path w="5987" h="10241" extrusionOk="0">
                <a:moveTo>
                  <a:pt x="5073" y="946"/>
                </a:moveTo>
                <a:lnTo>
                  <a:pt x="5073" y="2647"/>
                </a:lnTo>
                <a:lnTo>
                  <a:pt x="5104" y="2647"/>
                </a:lnTo>
                <a:cubicBezTo>
                  <a:pt x="3623" y="3151"/>
                  <a:pt x="2489" y="4569"/>
                  <a:pt x="2489" y="6302"/>
                </a:cubicBezTo>
                <a:cubicBezTo>
                  <a:pt x="2489" y="6900"/>
                  <a:pt x="2647" y="7499"/>
                  <a:pt x="2867" y="8034"/>
                </a:cubicBezTo>
                <a:lnTo>
                  <a:pt x="1639" y="9263"/>
                </a:lnTo>
                <a:cubicBezTo>
                  <a:pt x="1103" y="8381"/>
                  <a:pt x="788" y="7373"/>
                  <a:pt x="788" y="6302"/>
                </a:cubicBezTo>
                <a:cubicBezTo>
                  <a:pt x="788" y="3750"/>
                  <a:pt x="2584" y="1513"/>
                  <a:pt x="5073" y="946"/>
                </a:cubicBezTo>
                <a:close/>
                <a:moveTo>
                  <a:pt x="5482" y="1"/>
                </a:moveTo>
                <a:cubicBezTo>
                  <a:pt x="2395" y="442"/>
                  <a:pt x="0" y="3088"/>
                  <a:pt x="0" y="6270"/>
                </a:cubicBezTo>
                <a:cubicBezTo>
                  <a:pt x="0" y="7688"/>
                  <a:pt x="441" y="8979"/>
                  <a:pt x="1292" y="10082"/>
                </a:cubicBezTo>
                <a:cubicBezTo>
                  <a:pt x="1377" y="10184"/>
                  <a:pt x="1500" y="10241"/>
                  <a:pt x="1624" y="10241"/>
                </a:cubicBezTo>
                <a:cubicBezTo>
                  <a:pt x="1729" y="10241"/>
                  <a:pt x="1835" y="10200"/>
                  <a:pt x="1922" y="10114"/>
                </a:cubicBezTo>
                <a:lnTo>
                  <a:pt x="3718" y="8349"/>
                </a:lnTo>
                <a:cubicBezTo>
                  <a:pt x="3812" y="8223"/>
                  <a:pt x="3844" y="8003"/>
                  <a:pt x="3781" y="7845"/>
                </a:cubicBezTo>
                <a:cubicBezTo>
                  <a:pt x="3497" y="7373"/>
                  <a:pt x="3340" y="6806"/>
                  <a:pt x="3340" y="6270"/>
                </a:cubicBezTo>
                <a:cubicBezTo>
                  <a:pt x="3340" y="4884"/>
                  <a:pt x="4285" y="3655"/>
                  <a:pt x="5671" y="3309"/>
                </a:cubicBezTo>
                <a:cubicBezTo>
                  <a:pt x="5860" y="3277"/>
                  <a:pt x="5986" y="3120"/>
                  <a:pt x="5986" y="2899"/>
                </a:cubicBezTo>
                <a:lnTo>
                  <a:pt x="5986" y="379"/>
                </a:lnTo>
                <a:cubicBezTo>
                  <a:pt x="5955" y="190"/>
                  <a:pt x="5703" y="1"/>
                  <a:pt x="5482" y="1"/>
                </a:cubicBezTo>
                <a:close/>
              </a:path>
            </a:pathLst>
          </a:custGeom>
          <a:solidFill>
            <a:schemeClr val="tx2">
              <a:lumMod val="85000"/>
              <a:lumOff val="15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 name="Google Shape;176;p19">
            <a:extLst>
              <a:ext uri="{FF2B5EF4-FFF2-40B4-BE49-F238E27FC236}">
                <a16:creationId xmlns:a16="http://schemas.microsoft.com/office/drawing/2014/main" id="{BFCFA6BB-BF1A-DC24-07AA-DE674F9BC905}"/>
              </a:ext>
            </a:extLst>
          </p:cNvPr>
          <p:cNvSpPr/>
          <p:nvPr/>
        </p:nvSpPr>
        <p:spPr>
          <a:xfrm>
            <a:off x="10754959" y="2303638"/>
            <a:ext cx="331048" cy="150784"/>
          </a:xfrm>
          <a:custGeom>
            <a:avLst/>
            <a:gdLst/>
            <a:ahLst/>
            <a:cxnLst/>
            <a:rect l="l" t="t" r="r" b="b"/>
            <a:pathLst>
              <a:path w="8066" h="3814" extrusionOk="0">
                <a:moveTo>
                  <a:pt x="5735" y="946"/>
                </a:moveTo>
                <a:lnTo>
                  <a:pt x="6963" y="2175"/>
                </a:lnTo>
                <a:cubicBezTo>
                  <a:pt x="6113" y="2710"/>
                  <a:pt x="5073" y="2994"/>
                  <a:pt x="4065" y="2994"/>
                </a:cubicBezTo>
                <a:cubicBezTo>
                  <a:pt x="3025" y="2994"/>
                  <a:pt x="2017" y="2710"/>
                  <a:pt x="1135" y="2175"/>
                </a:cubicBezTo>
                <a:lnTo>
                  <a:pt x="2364" y="946"/>
                </a:lnTo>
                <a:cubicBezTo>
                  <a:pt x="2868" y="1198"/>
                  <a:pt x="3466" y="1356"/>
                  <a:pt x="4065" y="1356"/>
                </a:cubicBezTo>
                <a:cubicBezTo>
                  <a:pt x="4600" y="1356"/>
                  <a:pt x="5199" y="1198"/>
                  <a:pt x="5735" y="946"/>
                </a:cubicBezTo>
                <a:close/>
                <a:moveTo>
                  <a:pt x="5758" y="1"/>
                </a:moveTo>
                <a:cubicBezTo>
                  <a:pt x="5693" y="1"/>
                  <a:pt x="5630" y="11"/>
                  <a:pt x="5577" y="32"/>
                </a:cubicBezTo>
                <a:cubicBezTo>
                  <a:pt x="5105" y="316"/>
                  <a:pt x="4569" y="474"/>
                  <a:pt x="4002" y="474"/>
                </a:cubicBezTo>
                <a:cubicBezTo>
                  <a:pt x="3956" y="476"/>
                  <a:pt x="3911" y="478"/>
                  <a:pt x="3865" y="478"/>
                </a:cubicBezTo>
                <a:cubicBezTo>
                  <a:pt x="3376" y="478"/>
                  <a:pt x="2890" y="326"/>
                  <a:pt x="2458" y="95"/>
                </a:cubicBezTo>
                <a:cubicBezTo>
                  <a:pt x="2389" y="54"/>
                  <a:pt x="2315" y="31"/>
                  <a:pt x="2239" y="31"/>
                </a:cubicBezTo>
                <a:cubicBezTo>
                  <a:pt x="2142" y="31"/>
                  <a:pt x="2043" y="70"/>
                  <a:pt x="1954" y="158"/>
                </a:cubicBezTo>
                <a:lnTo>
                  <a:pt x="190" y="1923"/>
                </a:lnTo>
                <a:cubicBezTo>
                  <a:pt x="1" y="2143"/>
                  <a:pt x="32" y="2395"/>
                  <a:pt x="221" y="2553"/>
                </a:cubicBezTo>
                <a:cubicBezTo>
                  <a:pt x="1324" y="3403"/>
                  <a:pt x="2616" y="3813"/>
                  <a:pt x="4002" y="3813"/>
                </a:cubicBezTo>
                <a:cubicBezTo>
                  <a:pt x="5388" y="3813"/>
                  <a:pt x="6711" y="3403"/>
                  <a:pt x="7814" y="2521"/>
                </a:cubicBezTo>
                <a:cubicBezTo>
                  <a:pt x="8035" y="2364"/>
                  <a:pt x="8066" y="2080"/>
                  <a:pt x="7877" y="1891"/>
                </a:cubicBezTo>
                <a:lnTo>
                  <a:pt x="6113" y="127"/>
                </a:lnTo>
                <a:cubicBezTo>
                  <a:pt x="6029" y="43"/>
                  <a:pt x="5889" y="1"/>
                  <a:pt x="5758" y="1"/>
                </a:cubicBezTo>
                <a:close/>
              </a:path>
            </a:pathLst>
          </a:custGeom>
          <a:solidFill>
            <a:schemeClr val="tx2">
              <a:lumMod val="85000"/>
              <a:lumOff val="15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 name="Google Shape;177;p19">
            <a:extLst>
              <a:ext uri="{FF2B5EF4-FFF2-40B4-BE49-F238E27FC236}">
                <a16:creationId xmlns:a16="http://schemas.microsoft.com/office/drawing/2014/main" id="{FBDAB43F-E9A6-A589-DE46-628D7180CC8F}"/>
              </a:ext>
            </a:extLst>
          </p:cNvPr>
          <p:cNvSpPr/>
          <p:nvPr/>
        </p:nvSpPr>
        <p:spPr>
          <a:xfrm>
            <a:off x="10937269" y="1911871"/>
            <a:ext cx="245721" cy="405504"/>
          </a:xfrm>
          <a:custGeom>
            <a:avLst/>
            <a:gdLst/>
            <a:ahLst/>
            <a:cxnLst/>
            <a:rect l="l" t="t" r="r" b="b"/>
            <a:pathLst>
              <a:path w="5987" h="10257" extrusionOk="0">
                <a:moveTo>
                  <a:pt x="820" y="917"/>
                </a:moveTo>
                <a:cubicBezTo>
                  <a:pt x="3309" y="1453"/>
                  <a:pt x="5105" y="3690"/>
                  <a:pt x="5105" y="6273"/>
                </a:cubicBezTo>
                <a:cubicBezTo>
                  <a:pt x="5073" y="7344"/>
                  <a:pt x="4790" y="8352"/>
                  <a:pt x="4254" y="9235"/>
                </a:cubicBezTo>
                <a:lnTo>
                  <a:pt x="3025" y="8006"/>
                </a:lnTo>
                <a:cubicBezTo>
                  <a:pt x="3309" y="7502"/>
                  <a:pt x="3435" y="6903"/>
                  <a:pt x="3435" y="6305"/>
                </a:cubicBezTo>
                <a:cubicBezTo>
                  <a:pt x="3435" y="4572"/>
                  <a:pt x="2332" y="3154"/>
                  <a:pt x="820" y="2650"/>
                </a:cubicBezTo>
                <a:lnTo>
                  <a:pt x="820" y="917"/>
                </a:lnTo>
                <a:close/>
                <a:moveTo>
                  <a:pt x="419" y="0"/>
                </a:moveTo>
                <a:cubicBezTo>
                  <a:pt x="190" y="0"/>
                  <a:pt x="1" y="180"/>
                  <a:pt x="1" y="413"/>
                </a:cubicBezTo>
                <a:lnTo>
                  <a:pt x="1" y="2934"/>
                </a:lnTo>
                <a:cubicBezTo>
                  <a:pt x="1" y="3123"/>
                  <a:pt x="127" y="3280"/>
                  <a:pt x="316" y="3312"/>
                </a:cubicBezTo>
                <a:cubicBezTo>
                  <a:pt x="1639" y="3658"/>
                  <a:pt x="2647" y="4855"/>
                  <a:pt x="2647" y="6273"/>
                </a:cubicBezTo>
                <a:cubicBezTo>
                  <a:pt x="2647" y="6809"/>
                  <a:pt x="2490" y="7376"/>
                  <a:pt x="2206" y="7848"/>
                </a:cubicBezTo>
                <a:cubicBezTo>
                  <a:pt x="2080" y="8006"/>
                  <a:pt x="2112" y="8195"/>
                  <a:pt x="2269" y="8352"/>
                </a:cubicBezTo>
                <a:lnTo>
                  <a:pt x="4065" y="10117"/>
                </a:lnTo>
                <a:cubicBezTo>
                  <a:pt x="4149" y="10214"/>
                  <a:pt x="4251" y="10257"/>
                  <a:pt x="4353" y="10257"/>
                </a:cubicBezTo>
                <a:cubicBezTo>
                  <a:pt x="4481" y="10257"/>
                  <a:pt x="4608" y="10190"/>
                  <a:pt x="4695" y="10085"/>
                </a:cubicBezTo>
                <a:cubicBezTo>
                  <a:pt x="5514" y="8982"/>
                  <a:pt x="5987" y="7659"/>
                  <a:pt x="5987" y="6273"/>
                </a:cubicBezTo>
                <a:cubicBezTo>
                  <a:pt x="5892" y="3123"/>
                  <a:pt x="3529" y="445"/>
                  <a:pt x="474" y="4"/>
                </a:cubicBezTo>
                <a:cubicBezTo>
                  <a:pt x="455" y="1"/>
                  <a:pt x="437" y="0"/>
                  <a:pt x="419" y="0"/>
                </a:cubicBezTo>
                <a:close/>
              </a:path>
            </a:pathLst>
          </a:custGeom>
          <a:solidFill>
            <a:schemeClr val="tx2">
              <a:lumMod val="85000"/>
              <a:lumOff val="15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 name="Google Shape;178;p19">
            <a:extLst>
              <a:ext uri="{FF2B5EF4-FFF2-40B4-BE49-F238E27FC236}">
                <a16:creationId xmlns:a16="http://schemas.microsoft.com/office/drawing/2014/main" id="{0B492511-CB4D-FFB3-70E8-C3E61BC65C03}"/>
              </a:ext>
            </a:extLst>
          </p:cNvPr>
          <p:cNvSpPr/>
          <p:nvPr/>
        </p:nvSpPr>
        <p:spPr>
          <a:xfrm>
            <a:off x="10867456" y="2072296"/>
            <a:ext cx="103468" cy="230446"/>
          </a:xfrm>
          <a:custGeom>
            <a:avLst/>
            <a:gdLst/>
            <a:ahLst/>
            <a:cxnLst/>
            <a:rect l="l" t="t" r="r" b="b"/>
            <a:pathLst>
              <a:path w="2521" h="5829" extrusionOk="0">
                <a:moveTo>
                  <a:pt x="1261" y="0"/>
                </a:moveTo>
                <a:cubicBezTo>
                  <a:pt x="1040" y="0"/>
                  <a:pt x="820" y="189"/>
                  <a:pt x="820" y="378"/>
                </a:cubicBezTo>
                <a:lnTo>
                  <a:pt x="820" y="662"/>
                </a:lnTo>
                <a:cubicBezTo>
                  <a:pt x="347" y="819"/>
                  <a:pt x="1" y="1292"/>
                  <a:pt x="1" y="1827"/>
                </a:cubicBezTo>
                <a:cubicBezTo>
                  <a:pt x="1" y="2521"/>
                  <a:pt x="568" y="2899"/>
                  <a:pt x="977" y="3214"/>
                </a:cubicBezTo>
                <a:cubicBezTo>
                  <a:pt x="1292" y="3466"/>
                  <a:pt x="1670" y="3686"/>
                  <a:pt x="1670" y="3938"/>
                </a:cubicBezTo>
                <a:cubicBezTo>
                  <a:pt x="1670" y="4159"/>
                  <a:pt x="1450" y="4348"/>
                  <a:pt x="1261" y="4348"/>
                </a:cubicBezTo>
                <a:cubicBezTo>
                  <a:pt x="1072" y="4348"/>
                  <a:pt x="820" y="4159"/>
                  <a:pt x="820" y="3938"/>
                </a:cubicBezTo>
                <a:cubicBezTo>
                  <a:pt x="820" y="3686"/>
                  <a:pt x="631" y="3497"/>
                  <a:pt x="442" y="3497"/>
                </a:cubicBezTo>
                <a:cubicBezTo>
                  <a:pt x="253" y="3497"/>
                  <a:pt x="32" y="3686"/>
                  <a:pt x="32" y="3938"/>
                </a:cubicBezTo>
                <a:cubicBezTo>
                  <a:pt x="32" y="4474"/>
                  <a:pt x="410" y="4915"/>
                  <a:pt x="883" y="5104"/>
                </a:cubicBezTo>
                <a:lnTo>
                  <a:pt x="883" y="5387"/>
                </a:lnTo>
                <a:cubicBezTo>
                  <a:pt x="883" y="5608"/>
                  <a:pt x="1072" y="5829"/>
                  <a:pt x="1292" y="5829"/>
                </a:cubicBezTo>
                <a:cubicBezTo>
                  <a:pt x="1544" y="5829"/>
                  <a:pt x="1702" y="5608"/>
                  <a:pt x="1702" y="5387"/>
                </a:cubicBezTo>
                <a:lnTo>
                  <a:pt x="1702" y="5104"/>
                </a:lnTo>
                <a:cubicBezTo>
                  <a:pt x="2175" y="4946"/>
                  <a:pt x="2521" y="4474"/>
                  <a:pt x="2521" y="3938"/>
                </a:cubicBezTo>
                <a:cubicBezTo>
                  <a:pt x="2521" y="3245"/>
                  <a:pt x="1985" y="2867"/>
                  <a:pt x="1544" y="2552"/>
                </a:cubicBezTo>
                <a:cubicBezTo>
                  <a:pt x="1229" y="2300"/>
                  <a:pt x="883" y="2079"/>
                  <a:pt x="883" y="1827"/>
                </a:cubicBezTo>
                <a:cubicBezTo>
                  <a:pt x="883" y="1607"/>
                  <a:pt x="1072" y="1418"/>
                  <a:pt x="1292" y="1418"/>
                </a:cubicBezTo>
                <a:cubicBezTo>
                  <a:pt x="1544" y="1418"/>
                  <a:pt x="1702" y="1607"/>
                  <a:pt x="1702" y="1827"/>
                </a:cubicBezTo>
                <a:cubicBezTo>
                  <a:pt x="1702" y="2079"/>
                  <a:pt x="1891" y="2268"/>
                  <a:pt x="2143" y="2268"/>
                </a:cubicBezTo>
                <a:cubicBezTo>
                  <a:pt x="2364" y="2268"/>
                  <a:pt x="2521" y="2079"/>
                  <a:pt x="2521" y="1827"/>
                </a:cubicBezTo>
                <a:cubicBezTo>
                  <a:pt x="2521" y="1292"/>
                  <a:pt x="2175" y="851"/>
                  <a:pt x="1702" y="662"/>
                </a:cubicBezTo>
                <a:lnTo>
                  <a:pt x="1702" y="378"/>
                </a:lnTo>
                <a:cubicBezTo>
                  <a:pt x="1702" y="189"/>
                  <a:pt x="1513" y="0"/>
                  <a:pt x="1261" y="0"/>
                </a:cubicBezTo>
                <a:close/>
              </a:path>
            </a:pathLst>
          </a:custGeom>
          <a:solidFill>
            <a:schemeClr val="tx2">
              <a:lumMod val="85000"/>
              <a:lumOff val="15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Tree>
    <p:extLst>
      <p:ext uri="{BB962C8B-B14F-4D97-AF65-F5344CB8AC3E}">
        <p14:creationId xmlns:p14="http://schemas.microsoft.com/office/powerpoint/2010/main" val="21344967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10AFE-3202-03CD-AD42-B0DB591B48E0}"/>
              </a:ext>
            </a:extLst>
          </p:cNvPr>
          <p:cNvSpPr>
            <a:spLocks noGrp="1"/>
          </p:cNvSpPr>
          <p:nvPr>
            <p:ph type="title"/>
          </p:nvPr>
        </p:nvSpPr>
        <p:spPr/>
        <p:txBody>
          <a:bodyPr/>
          <a:lstStyle/>
          <a:p>
            <a:r>
              <a:rPr lang="en-US"/>
              <a:t>Global Outsourcing Leader – From Complexity to Visibility</a:t>
            </a:r>
            <a:endParaRPr lang="en-GB"/>
          </a:p>
        </p:txBody>
      </p:sp>
      <p:sp>
        <p:nvSpPr>
          <p:cNvPr id="3" name="Text Placeholder 2">
            <a:extLst>
              <a:ext uri="{FF2B5EF4-FFF2-40B4-BE49-F238E27FC236}">
                <a16:creationId xmlns:a16="http://schemas.microsoft.com/office/drawing/2014/main" id="{33977C2A-9BB2-F4CE-028C-E195B8D77252}"/>
              </a:ext>
            </a:extLst>
          </p:cNvPr>
          <p:cNvSpPr>
            <a:spLocks noGrp="1"/>
          </p:cNvSpPr>
          <p:nvPr>
            <p:ph type="body" sz="quarter" idx="12"/>
          </p:nvPr>
        </p:nvSpPr>
        <p:spPr/>
        <p:txBody>
          <a:bodyPr/>
          <a:lstStyle/>
          <a:p>
            <a:pPr algn="l"/>
            <a:r>
              <a:rPr lang="en-GB" sz="1400" b="1">
                <a:solidFill>
                  <a:schemeClr val="tx2">
                    <a:lumMod val="85000"/>
                    <a:lumOff val="15000"/>
                  </a:schemeClr>
                </a:solidFill>
              </a:rPr>
              <a:t>Client Description: </a:t>
            </a:r>
            <a:r>
              <a:rPr lang="en-GB" sz="1400">
                <a:solidFill>
                  <a:schemeClr val="tx2">
                    <a:lumMod val="85000"/>
                    <a:lumOff val="15000"/>
                  </a:schemeClr>
                </a:solidFill>
              </a:rPr>
              <a:t>A global leader in outsourced services, employing </a:t>
            </a:r>
            <a:r>
              <a:rPr lang="en-GB" sz="1400" b="1">
                <a:solidFill>
                  <a:schemeClr val="tx2">
                    <a:lumMod val="85000"/>
                    <a:lumOff val="15000"/>
                  </a:schemeClr>
                </a:solidFill>
              </a:rPr>
              <a:t>500,000 people</a:t>
            </a:r>
            <a:r>
              <a:rPr lang="en-GB" sz="1400">
                <a:solidFill>
                  <a:schemeClr val="tx2">
                    <a:lumMod val="85000"/>
                    <a:lumOff val="15000"/>
                  </a:schemeClr>
                </a:solidFill>
              </a:rPr>
              <a:t>, serving </a:t>
            </a:r>
            <a:r>
              <a:rPr lang="en-GB" sz="1400" b="1">
                <a:solidFill>
                  <a:schemeClr val="tx2">
                    <a:lumMod val="85000"/>
                    <a:lumOff val="15000"/>
                  </a:schemeClr>
                </a:solidFill>
              </a:rPr>
              <a:t>customers in 170 countries</a:t>
            </a:r>
            <a:r>
              <a:rPr lang="en-GB" sz="1400">
                <a:solidFill>
                  <a:schemeClr val="tx2">
                    <a:lumMod val="85000"/>
                    <a:lumOff val="15000"/>
                  </a:schemeClr>
                </a:solidFill>
              </a:rPr>
              <a:t>, and made up of approximately </a:t>
            </a:r>
            <a:r>
              <a:rPr lang="en-GB" sz="1400" b="1">
                <a:solidFill>
                  <a:schemeClr val="tx2">
                    <a:lumMod val="85000"/>
                    <a:lumOff val="15000"/>
                  </a:schemeClr>
                </a:solidFill>
              </a:rPr>
              <a:t>20 acquisitions</a:t>
            </a:r>
            <a:r>
              <a:rPr lang="en-GB" sz="1400">
                <a:solidFill>
                  <a:schemeClr val="tx2">
                    <a:lumMod val="85000"/>
                    <a:lumOff val="15000"/>
                  </a:schemeClr>
                </a:solidFill>
              </a:rPr>
              <a:t>, creating an extremely complex cyber environment </a:t>
            </a:r>
            <a:endParaRPr lang="en-US" sz="1400">
              <a:solidFill>
                <a:schemeClr val="tx2">
                  <a:lumMod val="85000"/>
                  <a:lumOff val="15000"/>
                </a:schemeClr>
              </a:solidFill>
            </a:endParaRPr>
          </a:p>
        </p:txBody>
      </p:sp>
      <p:sp>
        <p:nvSpPr>
          <p:cNvPr id="43" name="Slide Number Placeholder 2">
            <a:extLst>
              <a:ext uri="{FF2B5EF4-FFF2-40B4-BE49-F238E27FC236}">
                <a16:creationId xmlns:a16="http://schemas.microsoft.com/office/drawing/2014/main" id="{ED561DB8-D9DD-8D22-B254-64A40C599C26}"/>
              </a:ext>
            </a:extLst>
          </p:cNvPr>
          <p:cNvSpPr>
            <a:spLocks noGrp="1"/>
          </p:cNvSpPr>
          <p:nvPr>
            <p:ph type="sldNum" sz="quarter" idx="4"/>
          </p:nvPr>
        </p:nvSpPr>
        <p:spPr/>
        <p:txBody>
          <a:bodyPr/>
          <a:lstStyle/>
          <a:p>
            <a:r>
              <a:rPr lang="en-US"/>
              <a:t>&lt;  33</a:t>
            </a:r>
          </a:p>
        </p:txBody>
      </p:sp>
      <p:sp>
        <p:nvSpPr>
          <p:cNvPr id="4" name="Rectangle 3">
            <a:extLst>
              <a:ext uri="{FF2B5EF4-FFF2-40B4-BE49-F238E27FC236}">
                <a16:creationId xmlns:a16="http://schemas.microsoft.com/office/drawing/2014/main" id="{35DD92B2-A359-A5B1-658B-324A92FB3F9D}"/>
              </a:ext>
            </a:extLst>
          </p:cNvPr>
          <p:cNvSpPr/>
          <p:nvPr/>
        </p:nvSpPr>
        <p:spPr>
          <a:xfrm>
            <a:off x="10293199" y="4768490"/>
            <a:ext cx="1276619" cy="1189911"/>
          </a:xfrm>
          <a:prstGeom prst="rect">
            <a:avLst/>
          </a:prstGeom>
          <a:solidFill>
            <a:srgbClr val="B8E2C5">
              <a:alpha val="9804"/>
            </a:srgbClr>
          </a:solidFill>
          <a:ln w="6350">
            <a:solidFill>
              <a:srgbClr val="B8E2C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pic>
        <p:nvPicPr>
          <p:cNvPr id="5" name="Picture 4" descr="Shape&#10;&#10;Description automatically generated">
            <a:extLst>
              <a:ext uri="{FF2B5EF4-FFF2-40B4-BE49-F238E27FC236}">
                <a16:creationId xmlns:a16="http://schemas.microsoft.com/office/drawing/2014/main" id="{8AA7B4DF-F6BB-097D-813A-299462F45587}"/>
              </a:ext>
            </a:extLst>
          </p:cNvPr>
          <p:cNvPicPr>
            <a:picLocks noChangeAspect="1"/>
          </p:cNvPicPr>
          <p:nvPr/>
        </p:nvPicPr>
        <p:blipFill>
          <a:blip r:embed="rId2"/>
          <a:stretch>
            <a:fillRect/>
          </a:stretch>
        </p:blipFill>
        <p:spPr>
          <a:xfrm>
            <a:off x="670584" y="1478726"/>
            <a:ext cx="116009" cy="1213714"/>
          </a:xfrm>
          <a:prstGeom prst="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p:spPr>
      </p:pic>
      <p:pic>
        <p:nvPicPr>
          <p:cNvPr id="6" name="Picture 5" descr="Shape&#10;&#10;Description automatically generated">
            <a:extLst>
              <a:ext uri="{FF2B5EF4-FFF2-40B4-BE49-F238E27FC236}">
                <a16:creationId xmlns:a16="http://schemas.microsoft.com/office/drawing/2014/main" id="{B7A77A3D-8D0F-0327-058A-F7F8ECFBC7B2}"/>
              </a:ext>
            </a:extLst>
          </p:cNvPr>
          <p:cNvPicPr>
            <a:picLocks noChangeAspect="1"/>
          </p:cNvPicPr>
          <p:nvPr/>
        </p:nvPicPr>
        <p:blipFill>
          <a:blip r:embed="rId2"/>
          <a:stretch>
            <a:fillRect/>
          </a:stretch>
        </p:blipFill>
        <p:spPr>
          <a:xfrm>
            <a:off x="671880" y="2828374"/>
            <a:ext cx="115300" cy="1812906"/>
          </a:xfrm>
          <a:prstGeom prst="rect">
            <a:avLst/>
          </a:prstGeom>
          <a:solidFill>
            <a:srgbClr val="EB6C15"/>
          </a:solidFill>
        </p:spPr>
      </p:pic>
      <p:sp>
        <p:nvSpPr>
          <p:cNvPr id="7" name="Rectangle 6">
            <a:extLst>
              <a:ext uri="{FF2B5EF4-FFF2-40B4-BE49-F238E27FC236}">
                <a16:creationId xmlns:a16="http://schemas.microsoft.com/office/drawing/2014/main" id="{A16449BD-2E55-7DAA-7F3B-2CD1D963C1B7}"/>
              </a:ext>
            </a:extLst>
          </p:cNvPr>
          <p:cNvSpPr/>
          <p:nvPr/>
        </p:nvSpPr>
        <p:spPr>
          <a:xfrm>
            <a:off x="672538" y="1478727"/>
            <a:ext cx="1685618" cy="1196976"/>
          </a:xfrm>
          <a:prstGeom prst="rect">
            <a:avLst/>
          </a:prstGeom>
          <a:noFill/>
          <a:ln w="6350">
            <a:solidFill>
              <a:srgbClr val="7B6CD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8" name="Rectangle 7">
            <a:extLst>
              <a:ext uri="{FF2B5EF4-FFF2-40B4-BE49-F238E27FC236}">
                <a16:creationId xmlns:a16="http://schemas.microsoft.com/office/drawing/2014/main" id="{38EC8CDE-6516-03B7-FD81-39156EB5BB8D}"/>
              </a:ext>
            </a:extLst>
          </p:cNvPr>
          <p:cNvSpPr/>
          <p:nvPr/>
        </p:nvSpPr>
        <p:spPr>
          <a:xfrm>
            <a:off x="673776" y="2826308"/>
            <a:ext cx="1683616" cy="1816583"/>
          </a:xfrm>
          <a:prstGeom prst="rect">
            <a:avLst/>
          </a:prstGeom>
          <a:noFill/>
          <a:ln w="6350">
            <a:solidFill>
              <a:srgbClr val="C1788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9" name="Rectangle 8">
            <a:extLst>
              <a:ext uri="{FF2B5EF4-FFF2-40B4-BE49-F238E27FC236}">
                <a16:creationId xmlns:a16="http://schemas.microsoft.com/office/drawing/2014/main" id="{47F09063-A423-B7DF-F3BB-172085E0CF43}"/>
              </a:ext>
            </a:extLst>
          </p:cNvPr>
          <p:cNvSpPr/>
          <p:nvPr/>
        </p:nvSpPr>
        <p:spPr>
          <a:xfrm>
            <a:off x="673319" y="4776759"/>
            <a:ext cx="1684356" cy="1183108"/>
          </a:xfrm>
          <a:prstGeom prst="rect">
            <a:avLst/>
          </a:prstGeom>
          <a:noFill/>
          <a:ln w="6350">
            <a:solidFill>
              <a:srgbClr val="B8E2C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10" name="Rectangle 9">
            <a:extLst>
              <a:ext uri="{FF2B5EF4-FFF2-40B4-BE49-F238E27FC236}">
                <a16:creationId xmlns:a16="http://schemas.microsoft.com/office/drawing/2014/main" id="{DF7F58EB-BA57-4CEB-1673-FB7C232AC5EE}"/>
              </a:ext>
            </a:extLst>
          </p:cNvPr>
          <p:cNvSpPr/>
          <p:nvPr/>
        </p:nvSpPr>
        <p:spPr>
          <a:xfrm>
            <a:off x="2459921" y="1478726"/>
            <a:ext cx="7739401" cy="1196976"/>
          </a:xfrm>
          <a:prstGeom prst="rect">
            <a:avLst/>
          </a:prstGeom>
          <a:solidFill>
            <a:srgbClr val="9373BF">
              <a:alpha val="9804"/>
            </a:srgbClr>
          </a:solidFill>
          <a:ln w="6350">
            <a:solidFill>
              <a:srgbClr val="7B6CD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11" name="Rectangle 10">
            <a:extLst>
              <a:ext uri="{FF2B5EF4-FFF2-40B4-BE49-F238E27FC236}">
                <a16:creationId xmlns:a16="http://schemas.microsoft.com/office/drawing/2014/main" id="{2F63471B-2E22-3190-512B-1A7992CD1EDB}"/>
              </a:ext>
            </a:extLst>
          </p:cNvPr>
          <p:cNvSpPr/>
          <p:nvPr/>
        </p:nvSpPr>
        <p:spPr>
          <a:xfrm>
            <a:off x="2456846" y="2827671"/>
            <a:ext cx="7730206" cy="1813973"/>
          </a:xfrm>
          <a:prstGeom prst="rect">
            <a:avLst/>
          </a:prstGeom>
          <a:solidFill>
            <a:srgbClr val="C1788E">
              <a:alpha val="9804"/>
            </a:srgbClr>
          </a:solidFill>
          <a:ln w="6350">
            <a:solidFill>
              <a:srgbClr val="C1788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12" name="Rectangle 11">
            <a:extLst>
              <a:ext uri="{FF2B5EF4-FFF2-40B4-BE49-F238E27FC236}">
                <a16:creationId xmlns:a16="http://schemas.microsoft.com/office/drawing/2014/main" id="{4E905449-B610-1576-3E4E-32FC1F371BAC}"/>
              </a:ext>
            </a:extLst>
          </p:cNvPr>
          <p:cNvSpPr/>
          <p:nvPr/>
        </p:nvSpPr>
        <p:spPr>
          <a:xfrm>
            <a:off x="2455577" y="4768490"/>
            <a:ext cx="7743745" cy="1189911"/>
          </a:xfrm>
          <a:prstGeom prst="rect">
            <a:avLst/>
          </a:prstGeom>
          <a:solidFill>
            <a:srgbClr val="B8E2C5">
              <a:alpha val="9804"/>
            </a:srgbClr>
          </a:solidFill>
          <a:ln w="6350">
            <a:solidFill>
              <a:srgbClr val="B8E2C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13" name="TextBox 12">
            <a:extLst>
              <a:ext uri="{FF2B5EF4-FFF2-40B4-BE49-F238E27FC236}">
                <a16:creationId xmlns:a16="http://schemas.microsoft.com/office/drawing/2014/main" id="{4D3E3060-8BD1-701F-0EF7-5532DC9142D8}"/>
              </a:ext>
            </a:extLst>
          </p:cNvPr>
          <p:cNvSpPr txBox="1"/>
          <p:nvPr/>
        </p:nvSpPr>
        <p:spPr>
          <a:xfrm>
            <a:off x="1117285" y="1982961"/>
            <a:ext cx="888377"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b="1">
                <a:solidFill>
                  <a:schemeClr val="tx2">
                    <a:lumMod val="85000"/>
                    <a:lumOff val="15000"/>
                  </a:schemeClr>
                </a:solidFill>
                <a:cs typeface="Arial"/>
              </a:rPr>
              <a:t>Challenge</a:t>
            </a:r>
            <a:endParaRPr lang="en-IN" sz="1400" b="1">
              <a:solidFill>
                <a:schemeClr val="tx2">
                  <a:lumMod val="85000"/>
                  <a:lumOff val="15000"/>
                </a:schemeClr>
              </a:solidFill>
              <a:ea typeface="Calibri Light" charset="0"/>
              <a:cs typeface="Arial"/>
            </a:endParaRPr>
          </a:p>
        </p:txBody>
      </p:sp>
      <p:sp>
        <p:nvSpPr>
          <p:cNvPr id="14" name="TextBox 13">
            <a:extLst>
              <a:ext uri="{FF2B5EF4-FFF2-40B4-BE49-F238E27FC236}">
                <a16:creationId xmlns:a16="http://schemas.microsoft.com/office/drawing/2014/main" id="{82A12534-9C20-4ED4-4EC0-FE531D86FFE0}"/>
              </a:ext>
            </a:extLst>
          </p:cNvPr>
          <p:cNvSpPr txBox="1"/>
          <p:nvPr/>
        </p:nvSpPr>
        <p:spPr>
          <a:xfrm>
            <a:off x="1117285" y="3583487"/>
            <a:ext cx="888377"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b="1">
                <a:solidFill>
                  <a:schemeClr val="tx2">
                    <a:lumMod val="85000"/>
                    <a:lumOff val="15000"/>
                  </a:schemeClr>
                </a:solidFill>
                <a:cs typeface="Arial"/>
              </a:rPr>
              <a:t>Solution</a:t>
            </a:r>
            <a:endParaRPr lang="en-IN" sz="1400" b="1">
              <a:solidFill>
                <a:schemeClr val="tx2">
                  <a:lumMod val="85000"/>
                  <a:lumOff val="15000"/>
                </a:schemeClr>
              </a:solidFill>
              <a:ea typeface="Calibri Light" charset="0"/>
              <a:cs typeface="Arial"/>
            </a:endParaRPr>
          </a:p>
        </p:txBody>
      </p:sp>
      <p:sp>
        <p:nvSpPr>
          <p:cNvPr id="15" name="TextBox 14">
            <a:extLst>
              <a:ext uri="{FF2B5EF4-FFF2-40B4-BE49-F238E27FC236}">
                <a16:creationId xmlns:a16="http://schemas.microsoft.com/office/drawing/2014/main" id="{B276124F-A30D-9582-9471-671903A226F7}"/>
              </a:ext>
            </a:extLst>
          </p:cNvPr>
          <p:cNvSpPr txBox="1"/>
          <p:nvPr/>
        </p:nvSpPr>
        <p:spPr>
          <a:xfrm>
            <a:off x="1117285" y="5247819"/>
            <a:ext cx="888377"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b="1">
                <a:solidFill>
                  <a:schemeClr val="tx2">
                    <a:lumMod val="85000"/>
                    <a:lumOff val="15000"/>
                  </a:schemeClr>
                </a:solidFill>
                <a:cs typeface="Arial"/>
              </a:rPr>
              <a:t>Benefits</a:t>
            </a:r>
            <a:endParaRPr lang="en-IN" sz="1400" b="1">
              <a:solidFill>
                <a:schemeClr val="tx2">
                  <a:lumMod val="85000"/>
                  <a:lumOff val="15000"/>
                </a:schemeClr>
              </a:solidFill>
              <a:ea typeface="Calibri Light" charset="0"/>
              <a:cs typeface="Arial"/>
            </a:endParaRPr>
          </a:p>
        </p:txBody>
      </p:sp>
      <p:pic>
        <p:nvPicPr>
          <p:cNvPr id="16" name="Picture 6" descr="Shape&#10;&#10;Description automatically generated">
            <a:extLst>
              <a:ext uri="{FF2B5EF4-FFF2-40B4-BE49-F238E27FC236}">
                <a16:creationId xmlns:a16="http://schemas.microsoft.com/office/drawing/2014/main" id="{1C6F1981-7E31-2771-3119-0E85F3CC4DDF}"/>
              </a:ext>
            </a:extLst>
          </p:cNvPr>
          <p:cNvPicPr>
            <a:picLocks noChangeAspect="1"/>
          </p:cNvPicPr>
          <p:nvPr/>
        </p:nvPicPr>
        <p:blipFill>
          <a:blip r:embed="rId3"/>
          <a:stretch>
            <a:fillRect/>
          </a:stretch>
        </p:blipFill>
        <p:spPr>
          <a:xfrm>
            <a:off x="673775" y="4778823"/>
            <a:ext cx="114263" cy="1179577"/>
          </a:xfrm>
          <a:prstGeom prst="rect">
            <a:avLst/>
          </a:prstGeom>
        </p:spPr>
      </p:pic>
      <p:sp>
        <p:nvSpPr>
          <p:cNvPr id="17" name="Rectangle 16">
            <a:extLst>
              <a:ext uri="{FF2B5EF4-FFF2-40B4-BE49-F238E27FC236}">
                <a16:creationId xmlns:a16="http://schemas.microsoft.com/office/drawing/2014/main" id="{5F3A5027-4A9A-F192-F802-E8FB3862A5B2}"/>
              </a:ext>
            </a:extLst>
          </p:cNvPr>
          <p:cNvSpPr/>
          <p:nvPr/>
        </p:nvSpPr>
        <p:spPr>
          <a:xfrm>
            <a:off x="10302212" y="1478726"/>
            <a:ext cx="1277577" cy="1196976"/>
          </a:xfrm>
          <a:prstGeom prst="rect">
            <a:avLst/>
          </a:prstGeom>
          <a:solidFill>
            <a:srgbClr val="9373BF">
              <a:alpha val="9804"/>
            </a:srgbClr>
          </a:solidFill>
          <a:ln w="6350">
            <a:solidFill>
              <a:srgbClr val="7B6CD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18" name="Rectangle 17">
            <a:extLst>
              <a:ext uri="{FF2B5EF4-FFF2-40B4-BE49-F238E27FC236}">
                <a16:creationId xmlns:a16="http://schemas.microsoft.com/office/drawing/2014/main" id="{E565B846-7488-EC6E-F481-ECD321021BD8}"/>
              </a:ext>
            </a:extLst>
          </p:cNvPr>
          <p:cNvSpPr/>
          <p:nvPr/>
        </p:nvSpPr>
        <p:spPr>
          <a:xfrm>
            <a:off x="10291735" y="2827671"/>
            <a:ext cx="1276059" cy="1813973"/>
          </a:xfrm>
          <a:prstGeom prst="rect">
            <a:avLst/>
          </a:prstGeom>
          <a:solidFill>
            <a:srgbClr val="C1788E">
              <a:alpha val="9804"/>
            </a:srgbClr>
          </a:solidFill>
          <a:ln w="6350">
            <a:solidFill>
              <a:srgbClr val="C1788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23" name="TextBox 22">
            <a:extLst>
              <a:ext uri="{FF2B5EF4-FFF2-40B4-BE49-F238E27FC236}">
                <a16:creationId xmlns:a16="http://schemas.microsoft.com/office/drawing/2014/main" id="{F4BAE6D1-3A6A-80E0-EB5C-4002F4810B4C}"/>
              </a:ext>
            </a:extLst>
          </p:cNvPr>
          <p:cNvSpPr txBox="1"/>
          <p:nvPr/>
        </p:nvSpPr>
        <p:spPr>
          <a:xfrm>
            <a:off x="2469866" y="1508327"/>
            <a:ext cx="7717186" cy="769441"/>
          </a:xfrm>
          <a:prstGeom prst="rect">
            <a:avLst/>
          </a:prstGeom>
          <a:noFill/>
        </p:spPr>
        <p:txBody>
          <a:bodyPr wrap="square">
            <a:spAutoFit/>
          </a:bodyPr>
          <a:lstStyle/>
          <a:p>
            <a:pPr algn="l"/>
            <a:r>
              <a:rPr lang="en-GB" sz="1100" b="1">
                <a:solidFill>
                  <a:schemeClr val="tx2">
                    <a:lumMod val="85000"/>
                    <a:lumOff val="15000"/>
                  </a:schemeClr>
                </a:solidFill>
              </a:rPr>
              <a:t>Improving asset visibility</a:t>
            </a:r>
            <a:r>
              <a:rPr lang="en-GB" sz="1100">
                <a:solidFill>
                  <a:schemeClr val="tx2">
                    <a:lumMod val="85000"/>
                    <a:lumOff val="15000"/>
                  </a:schemeClr>
                </a:solidFill>
              </a:rPr>
              <a:t> and </a:t>
            </a:r>
            <a:r>
              <a:rPr lang="en-GB" sz="1100" b="1">
                <a:solidFill>
                  <a:schemeClr val="tx2">
                    <a:lumMod val="85000"/>
                    <a:lumOff val="15000"/>
                  </a:schemeClr>
                </a:solidFill>
              </a:rPr>
              <a:t>reducing cyber risk</a:t>
            </a:r>
            <a:r>
              <a:rPr lang="en-GB" sz="1100">
                <a:solidFill>
                  <a:schemeClr val="tx2">
                    <a:lumMod val="85000"/>
                    <a:lumOff val="15000"/>
                  </a:schemeClr>
                </a:solidFill>
              </a:rPr>
              <a:t>, hindered by the absence of a single source of truth of assets, and use of multiple tools across a complex organisational structure. Initial focus on software vulnerability risk, extending to include visibility and risk analysis of additional domains, including identity</a:t>
            </a:r>
          </a:p>
          <a:p>
            <a:pPr algn="l"/>
            <a:endParaRPr lang="en-GB" sz="1100" b="1">
              <a:solidFill>
                <a:schemeClr val="tx2">
                  <a:lumMod val="85000"/>
                  <a:lumOff val="15000"/>
                </a:schemeClr>
              </a:solidFill>
            </a:endParaRPr>
          </a:p>
        </p:txBody>
      </p:sp>
      <p:sp>
        <p:nvSpPr>
          <p:cNvPr id="24" name="TextBox 23">
            <a:extLst>
              <a:ext uri="{FF2B5EF4-FFF2-40B4-BE49-F238E27FC236}">
                <a16:creationId xmlns:a16="http://schemas.microsoft.com/office/drawing/2014/main" id="{751CCBFC-A9E5-470F-838D-86DA07BC5264}"/>
              </a:ext>
            </a:extLst>
          </p:cNvPr>
          <p:cNvSpPr txBox="1"/>
          <p:nvPr/>
        </p:nvSpPr>
        <p:spPr>
          <a:xfrm>
            <a:off x="2459921" y="2857787"/>
            <a:ext cx="7727131" cy="1785104"/>
          </a:xfrm>
          <a:prstGeom prst="rect">
            <a:avLst/>
          </a:prstGeom>
          <a:noFill/>
        </p:spPr>
        <p:txBody>
          <a:bodyPr wrap="square">
            <a:spAutoFit/>
          </a:bodyPr>
          <a:lstStyle/>
          <a:p>
            <a:pPr marL="342900" indent="-342900" algn="l">
              <a:buSzPct val="110000"/>
              <a:buFont typeface="Arial" panose="020B0604020202020204" pitchFamily="34" charset="0"/>
              <a:buChar char="•"/>
            </a:pPr>
            <a:r>
              <a:rPr lang="en-GB" sz="1100" b="1">
                <a:solidFill>
                  <a:schemeClr val="tx2">
                    <a:lumMod val="85000"/>
                    <a:lumOff val="15000"/>
                  </a:schemeClr>
                </a:solidFill>
              </a:rPr>
              <a:t>Data Fabric and Knowledge Graph</a:t>
            </a:r>
            <a:r>
              <a:rPr lang="en-GB" sz="1100">
                <a:solidFill>
                  <a:schemeClr val="tx2">
                    <a:lumMod val="85000"/>
                    <a:lumOff val="15000"/>
                  </a:schemeClr>
                </a:solidFill>
              </a:rPr>
              <a:t> - establish a foundational single source of truth for assets</a:t>
            </a:r>
          </a:p>
          <a:p>
            <a:pPr marL="947700" lvl="1" indent="-342900">
              <a:buSzPct val="110000"/>
              <a:buFont typeface="Arial" panose="020B0604020202020204" pitchFamily="34" charset="0"/>
              <a:buChar char="•"/>
            </a:pPr>
            <a:r>
              <a:rPr lang="en-GB" sz="1100">
                <a:solidFill>
                  <a:schemeClr val="tx2">
                    <a:lumMod val="85000"/>
                    <a:lumOff val="15000"/>
                  </a:schemeClr>
                </a:solidFill>
              </a:rPr>
              <a:t>Consolidate data from disparate security tools and systems used globally into a single platform, enabling reconciliation across source systems</a:t>
            </a:r>
          </a:p>
          <a:p>
            <a:pPr marL="947700" lvl="1" indent="-342900">
              <a:buSzPct val="110000"/>
              <a:buFont typeface="Arial" panose="020B0604020202020204" pitchFamily="34" charset="0"/>
              <a:buChar char="•"/>
            </a:pPr>
            <a:endParaRPr lang="en-GB" sz="1100">
              <a:solidFill>
                <a:schemeClr val="tx2">
                  <a:lumMod val="85000"/>
                  <a:lumOff val="15000"/>
                </a:schemeClr>
              </a:solidFill>
            </a:endParaRPr>
          </a:p>
          <a:p>
            <a:pPr marL="947700" lvl="1" indent="-342900">
              <a:buSzPct val="110000"/>
              <a:buFont typeface="Arial" panose="020B0604020202020204" pitchFamily="34" charset="0"/>
              <a:buChar char="•"/>
            </a:pPr>
            <a:endParaRPr lang="en-GB" sz="1100">
              <a:solidFill>
                <a:schemeClr val="tx2">
                  <a:lumMod val="85000"/>
                  <a:lumOff val="15000"/>
                </a:schemeClr>
              </a:solidFill>
            </a:endParaRPr>
          </a:p>
          <a:p>
            <a:pPr marL="947700" lvl="1" indent="-342900">
              <a:buSzPct val="110000"/>
              <a:buFont typeface="Arial" panose="020B0604020202020204" pitchFamily="34" charset="0"/>
              <a:buChar char="•"/>
            </a:pPr>
            <a:endParaRPr lang="en-GB" sz="1100">
              <a:solidFill>
                <a:schemeClr val="tx2">
                  <a:lumMod val="85000"/>
                  <a:lumOff val="15000"/>
                </a:schemeClr>
              </a:solidFill>
            </a:endParaRPr>
          </a:p>
          <a:p>
            <a:pPr marL="947700" lvl="1" indent="-342900">
              <a:buSzPct val="110000"/>
              <a:buFont typeface="Arial" panose="020B0604020202020204" pitchFamily="34" charset="0"/>
              <a:buChar char="•"/>
            </a:pPr>
            <a:r>
              <a:rPr lang="en-GB" sz="1100">
                <a:solidFill>
                  <a:schemeClr val="tx2">
                    <a:lumMod val="85000"/>
                    <a:lumOff val="15000"/>
                  </a:schemeClr>
                </a:solidFill>
              </a:rPr>
              <a:t>Discover and track unique assets, enriching with context about where they are, what they do, and their importance</a:t>
            </a:r>
          </a:p>
          <a:p>
            <a:pPr marL="342900" indent="-342900">
              <a:buSzPct val="110000"/>
              <a:buFont typeface="Arial" panose="020B0604020202020204" pitchFamily="34" charset="0"/>
              <a:buChar char="•"/>
            </a:pPr>
            <a:r>
              <a:rPr lang="en-GB" sz="1100" b="1">
                <a:solidFill>
                  <a:schemeClr val="tx2">
                    <a:lumMod val="85000"/>
                    <a:lumOff val="15000"/>
                  </a:schemeClr>
                </a:solidFill>
              </a:rPr>
              <a:t>Asset Management </a:t>
            </a:r>
            <a:r>
              <a:rPr lang="en-GB" sz="1100">
                <a:solidFill>
                  <a:schemeClr val="tx2">
                    <a:lumMod val="85000"/>
                    <a:lumOff val="15000"/>
                  </a:schemeClr>
                </a:solidFill>
              </a:rPr>
              <a:t>- assess key control coverage (like EDR, VM), and security configurations/posture of hosts</a:t>
            </a:r>
          </a:p>
          <a:p>
            <a:pPr marL="342900" indent="-342900">
              <a:buSzPct val="110000"/>
              <a:buFont typeface="Arial" panose="020B0604020202020204" pitchFamily="34" charset="0"/>
              <a:buChar char="•"/>
            </a:pPr>
            <a:r>
              <a:rPr lang="en-GB" sz="1100" b="1">
                <a:solidFill>
                  <a:schemeClr val="tx2">
                    <a:lumMod val="85000"/>
                    <a:lumOff val="15000"/>
                  </a:schemeClr>
                </a:solidFill>
              </a:rPr>
              <a:t>Vulnerability Risk</a:t>
            </a:r>
            <a:r>
              <a:rPr lang="en-GB" sz="1100">
                <a:solidFill>
                  <a:schemeClr val="tx2">
                    <a:lumMod val="85000"/>
                    <a:lumOff val="15000"/>
                  </a:schemeClr>
                </a:solidFill>
              </a:rPr>
              <a:t> - report exposure over time, and prioritise assets for remediation considering their criticality, software vulnerabilities, and impact of recommended fixes. </a:t>
            </a:r>
          </a:p>
        </p:txBody>
      </p:sp>
      <p:pic>
        <p:nvPicPr>
          <p:cNvPr id="26" name="Graphic 25" descr="Thumbs up sign outline">
            <a:extLst>
              <a:ext uri="{FF2B5EF4-FFF2-40B4-BE49-F238E27FC236}">
                <a16:creationId xmlns:a16="http://schemas.microsoft.com/office/drawing/2014/main" id="{FC3ADB1C-E46F-883E-810F-4A9EB142012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84182" y="3295112"/>
            <a:ext cx="681390" cy="681390"/>
          </a:xfrm>
          <a:prstGeom prst="rect">
            <a:avLst/>
          </a:prstGeom>
        </p:spPr>
      </p:pic>
      <p:pic>
        <p:nvPicPr>
          <p:cNvPr id="27" name="Graphic 26" descr="Send outline">
            <a:extLst>
              <a:ext uri="{FF2B5EF4-FFF2-40B4-BE49-F238E27FC236}">
                <a16:creationId xmlns:a16="http://schemas.microsoft.com/office/drawing/2014/main" id="{6AE43E4A-607B-2923-A669-4B8917DB0D6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84182" y="5056163"/>
            <a:ext cx="614564" cy="614564"/>
          </a:xfrm>
          <a:prstGeom prst="rect">
            <a:avLst/>
          </a:prstGeom>
        </p:spPr>
      </p:pic>
      <p:cxnSp>
        <p:nvCxnSpPr>
          <p:cNvPr id="34" name="Straight Connector 33">
            <a:extLst>
              <a:ext uri="{FF2B5EF4-FFF2-40B4-BE49-F238E27FC236}">
                <a16:creationId xmlns:a16="http://schemas.microsoft.com/office/drawing/2014/main" id="{6FCACB1D-B8B7-520B-65ED-DBFF9F48783D}"/>
              </a:ext>
            </a:extLst>
          </p:cNvPr>
          <p:cNvCxnSpPr>
            <a:cxnSpLocks/>
          </p:cNvCxnSpPr>
          <p:nvPr/>
        </p:nvCxnSpPr>
        <p:spPr>
          <a:xfrm>
            <a:off x="5987523" y="3457634"/>
            <a:ext cx="0" cy="388473"/>
          </a:xfrm>
          <a:prstGeom prst="line">
            <a:avLst/>
          </a:prstGeom>
          <a:ln>
            <a:solidFill>
              <a:schemeClr val="tx2">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FCAA0AAE-2269-70C7-CF0D-37C2D07F6424}"/>
              </a:ext>
            </a:extLst>
          </p:cNvPr>
          <p:cNvSpPr txBox="1"/>
          <p:nvPr/>
        </p:nvSpPr>
        <p:spPr>
          <a:xfrm>
            <a:off x="5959172" y="3416798"/>
            <a:ext cx="1521299" cy="430887"/>
          </a:xfrm>
          <a:prstGeom prst="rect">
            <a:avLst/>
          </a:prstGeom>
          <a:noFill/>
        </p:spPr>
        <p:txBody>
          <a:bodyPr wrap="square" rtlCol="0">
            <a:spAutoFit/>
          </a:bodyPr>
          <a:lstStyle/>
          <a:p>
            <a:pPr algn="ctr"/>
            <a:r>
              <a:rPr lang="en-GB" sz="1100" b="1">
                <a:solidFill>
                  <a:schemeClr val="tx2">
                    <a:lumMod val="85000"/>
                    <a:lumOff val="15000"/>
                  </a:schemeClr>
                </a:solidFill>
              </a:rPr>
              <a:t>83</a:t>
            </a:r>
            <a:r>
              <a:rPr lang="en-GB" sz="1100">
                <a:solidFill>
                  <a:schemeClr val="tx2">
                    <a:lumMod val="85000"/>
                    <a:lumOff val="15000"/>
                  </a:schemeClr>
                </a:solidFill>
                <a:latin typeface="+mj-lt"/>
              </a:rPr>
              <a:t> </a:t>
            </a:r>
          </a:p>
          <a:p>
            <a:pPr algn="ctr"/>
            <a:r>
              <a:rPr lang="en-GB" sz="1100">
                <a:solidFill>
                  <a:schemeClr val="tx2">
                    <a:lumMod val="85000"/>
                    <a:lumOff val="15000"/>
                  </a:schemeClr>
                </a:solidFill>
                <a:latin typeface="+mj-lt"/>
              </a:rPr>
              <a:t>Unique API endpoints</a:t>
            </a:r>
          </a:p>
        </p:txBody>
      </p:sp>
      <p:cxnSp>
        <p:nvCxnSpPr>
          <p:cNvPr id="37" name="Straight Connector 36">
            <a:extLst>
              <a:ext uri="{FF2B5EF4-FFF2-40B4-BE49-F238E27FC236}">
                <a16:creationId xmlns:a16="http://schemas.microsoft.com/office/drawing/2014/main" id="{29933004-EFC6-1123-A4B6-6AA4B59B3139}"/>
              </a:ext>
            </a:extLst>
          </p:cNvPr>
          <p:cNvCxnSpPr>
            <a:cxnSpLocks/>
          </p:cNvCxnSpPr>
          <p:nvPr/>
        </p:nvCxnSpPr>
        <p:spPr>
          <a:xfrm>
            <a:off x="7536690" y="3453393"/>
            <a:ext cx="0" cy="388473"/>
          </a:xfrm>
          <a:prstGeom prst="line">
            <a:avLst/>
          </a:prstGeom>
          <a:ln>
            <a:solidFill>
              <a:schemeClr val="tx2">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475D7925-45D8-96AA-1426-6415B802BC53}"/>
              </a:ext>
            </a:extLst>
          </p:cNvPr>
          <p:cNvSpPr txBox="1"/>
          <p:nvPr/>
        </p:nvSpPr>
        <p:spPr>
          <a:xfrm>
            <a:off x="2454512" y="4843925"/>
            <a:ext cx="7683300" cy="769441"/>
          </a:xfrm>
          <a:prstGeom prst="rect">
            <a:avLst/>
          </a:prstGeom>
          <a:noFill/>
        </p:spPr>
        <p:txBody>
          <a:bodyPr wrap="square">
            <a:spAutoFit/>
          </a:bodyPr>
          <a:lstStyle/>
          <a:p>
            <a:pPr marL="171450" indent="-171450">
              <a:buSzPct val="110000"/>
              <a:buFont typeface="Arial" panose="020B0604020202020204" pitchFamily="34" charset="0"/>
              <a:buChar char="•"/>
            </a:pPr>
            <a:r>
              <a:rPr lang="en-GB" sz="1100" b="1">
                <a:solidFill>
                  <a:schemeClr val="tx2">
                    <a:lumMod val="85000"/>
                    <a:lumOff val="15000"/>
                  </a:schemeClr>
                </a:solidFill>
                <a:latin typeface="Calibri" panose="020F0502020204030204" pitchFamily="34" charset="0"/>
                <a:cs typeface="Calibri" panose="020F0502020204030204" pitchFamily="34" charset="0"/>
              </a:rPr>
              <a:t>Visibility</a:t>
            </a:r>
            <a:r>
              <a:rPr lang="en-GB" sz="1100">
                <a:solidFill>
                  <a:schemeClr val="tx2">
                    <a:lumMod val="85000"/>
                    <a:lumOff val="15000"/>
                  </a:schemeClr>
                </a:solidFill>
                <a:latin typeface="Calibri" panose="020F0502020204030204" pitchFamily="34" charset="0"/>
                <a:cs typeface="Calibri" panose="020F0502020204030204" pitchFamily="34" charset="0"/>
              </a:rPr>
              <a:t> – Removed &gt;50% of duplicate assets from Inventory, from 2.7 mil down to 1.2 mil unique assets, for enhanced accuracy</a:t>
            </a:r>
          </a:p>
          <a:p>
            <a:pPr marL="171450" indent="-171450">
              <a:buSzPct val="110000"/>
              <a:buFont typeface="Arial" panose="020B0604020202020204" pitchFamily="34" charset="0"/>
              <a:buChar char="•"/>
            </a:pPr>
            <a:r>
              <a:rPr lang="en-GB" sz="1100" b="1">
                <a:solidFill>
                  <a:schemeClr val="tx2">
                    <a:lumMod val="85000"/>
                    <a:lumOff val="15000"/>
                  </a:schemeClr>
                </a:solidFill>
                <a:latin typeface="Calibri" panose="020F0502020204030204" pitchFamily="34" charset="0"/>
                <a:cs typeface="Calibri" panose="020F0502020204030204" pitchFamily="34" charset="0"/>
              </a:rPr>
              <a:t>Control</a:t>
            </a:r>
            <a:r>
              <a:rPr lang="en-GB" sz="1100">
                <a:solidFill>
                  <a:schemeClr val="tx2">
                    <a:lumMod val="85000"/>
                    <a:lumOff val="15000"/>
                  </a:schemeClr>
                </a:solidFill>
                <a:latin typeface="Calibri" panose="020F0502020204030204" pitchFamily="34" charset="0"/>
                <a:cs typeface="Calibri" panose="020F0502020204030204" pitchFamily="34" charset="0"/>
              </a:rPr>
              <a:t> - Identification of assets requiring additional management to bring them in-line with security standards and policies</a:t>
            </a:r>
          </a:p>
          <a:p>
            <a:pPr marL="171450" indent="-171450">
              <a:buSzPct val="110000"/>
              <a:buFont typeface="Arial" panose="020B0604020202020204" pitchFamily="34" charset="0"/>
              <a:buChar char="•"/>
            </a:pPr>
            <a:r>
              <a:rPr lang="en-GB" sz="1100" b="1">
                <a:solidFill>
                  <a:schemeClr val="tx2">
                    <a:lumMod val="85000"/>
                    <a:lumOff val="15000"/>
                  </a:schemeClr>
                </a:solidFill>
                <a:latin typeface="Calibri" panose="020F0502020204030204" pitchFamily="34" charset="0"/>
                <a:cs typeface="Calibri" panose="020F0502020204030204" pitchFamily="34" charset="0"/>
              </a:rPr>
              <a:t>Risk Insight </a:t>
            </a:r>
            <a:r>
              <a:rPr lang="en-GB" sz="1100">
                <a:solidFill>
                  <a:schemeClr val="tx2">
                    <a:lumMod val="85000"/>
                    <a:lumOff val="15000"/>
                  </a:schemeClr>
                </a:solidFill>
                <a:latin typeface="Calibri" panose="020F0502020204030204" pitchFamily="34" charset="0"/>
                <a:cs typeface="Calibri" panose="020F0502020204030204" pitchFamily="34" charset="0"/>
              </a:rPr>
              <a:t>– 90% reduction in Hosts with Critical Vulnerabilities to remediate, ensuring security teams focus on what matters</a:t>
            </a:r>
          </a:p>
          <a:p>
            <a:pPr marL="171450" indent="-171450">
              <a:buSzPct val="110000"/>
              <a:buFont typeface="Arial" panose="020B0604020202020204" pitchFamily="34" charset="0"/>
              <a:buChar char="•"/>
            </a:pPr>
            <a:r>
              <a:rPr lang="en-GB" sz="1100" b="1">
                <a:solidFill>
                  <a:schemeClr val="tx2">
                    <a:lumMod val="85000"/>
                    <a:lumOff val="15000"/>
                  </a:schemeClr>
                </a:solidFill>
                <a:latin typeface="Calibri" panose="020F0502020204030204" pitchFamily="34" charset="0"/>
                <a:cs typeface="Calibri" panose="020F0502020204030204" pitchFamily="34" charset="0"/>
              </a:rPr>
              <a:t>Exec Reporting</a:t>
            </a:r>
            <a:r>
              <a:rPr lang="en-GB" sz="1100">
                <a:solidFill>
                  <a:schemeClr val="tx2">
                    <a:lumMod val="85000"/>
                    <a:lumOff val="15000"/>
                  </a:schemeClr>
                </a:solidFill>
                <a:latin typeface="Calibri" panose="020F0502020204030204" pitchFamily="34" charset="0"/>
                <a:cs typeface="Calibri" panose="020F0502020204030204" pitchFamily="34" charset="0"/>
              </a:rPr>
              <a:t> - Global Vulnerability Risk Score across 24 companies, available instantly, previously impossible to obtain</a:t>
            </a:r>
          </a:p>
        </p:txBody>
      </p:sp>
      <p:sp>
        <p:nvSpPr>
          <p:cNvPr id="39" name="Google Shape;175;p19">
            <a:extLst>
              <a:ext uri="{FF2B5EF4-FFF2-40B4-BE49-F238E27FC236}">
                <a16:creationId xmlns:a16="http://schemas.microsoft.com/office/drawing/2014/main" id="{E8277EC4-27A7-75FD-F197-DECFAD43C070}"/>
              </a:ext>
            </a:extLst>
          </p:cNvPr>
          <p:cNvSpPr/>
          <p:nvPr/>
        </p:nvSpPr>
        <p:spPr>
          <a:xfrm>
            <a:off x="10659289" y="1760485"/>
            <a:ext cx="245721" cy="404872"/>
          </a:xfrm>
          <a:custGeom>
            <a:avLst/>
            <a:gdLst/>
            <a:ahLst/>
            <a:cxnLst/>
            <a:rect l="l" t="t" r="r" b="b"/>
            <a:pathLst>
              <a:path w="5987" h="10241" extrusionOk="0">
                <a:moveTo>
                  <a:pt x="5073" y="946"/>
                </a:moveTo>
                <a:lnTo>
                  <a:pt x="5073" y="2647"/>
                </a:lnTo>
                <a:lnTo>
                  <a:pt x="5104" y="2647"/>
                </a:lnTo>
                <a:cubicBezTo>
                  <a:pt x="3623" y="3151"/>
                  <a:pt x="2489" y="4569"/>
                  <a:pt x="2489" y="6302"/>
                </a:cubicBezTo>
                <a:cubicBezTo>
                  <a:pt x="2489" y="6900"/>
                  <a:pt x="2647" y="7499"/>
                  <a:pt x="2867" y="8034"/>
                </a:cubicBezTo>
                <a:lnTo>
                  <a:pt x="1639" y="9263"/>
                </a:lnTo>
                <a:cubicBezTo>
                  <a:pt x="1103" y="8381"/>
                  <a:pt x="788" y="7373"/>
                  <a:pt x="788" y="6302"/>
                </a:cubicBezTo>
                <a:cubicBezTo>
                  <a:pt x="788" y="3750"/>
                  <a:pt x="2584" y="1513"/>
                  <a:pt x="5073" y="946"/>
                </a:cubicBezTo>
                <a:close/>
                <a:moveTo>
                  <a:pt x="5482" y="1"/>
                </a:moveTo>
                <a:cubicBezTo>
                  <a:pt x="2395" y="442"/>
                  <a:pt x="0" y="3088"/>
                  <a:pt x="0" y="6270"/>
                </a:cubicBezTo>
                <a:cubicBezTo>
                  <a:pt x="0" y="7688"/>
                  <a:pt x="441" y="8979"/>
                  <a:pt x="1292" y="10082"/>
                </a:cubicBezTo>
                <a:cubicBezTo>
                  <a:pt x="1377" y="10184"/>
                  <a:pt x="1500" y="10241"/>
                  <a:pt x="1624" y="10241"/>
                </a:cubicBezTo>
                <a:cubicBezTo>
                  <a:pt x="1729" y="10241"/>
                  <a:pt x="1835" y="10200"/>
                  <a:pt x="1922" y="10114"/>
                </a:cubicBezTo>
                <a:lnTo>
                  <a:pt x="3718" y="8349"/>
                </a:lnTo>
                <a:cubicBezTo>
                  <a:pt x="3812" y="8223"/>
                  <a:pt x="3844" y="8003"/>
                  <a:pt x="3781" y="7845"/>
                </a:cubicBezTo>
                <a:cubicBezTo>
                  <a:pt x="3497" y="7373"/>
                  <a:pt x="3340" y="6806"/>
                  <a:pt x="3340" y="6270"/>
                </a:cubicBezTo>
                <a:cubicBezTo>
                  <a:pt x="3340" y="4884"/>
                  <a:pt x="4285" y="3655"/>
                  <a:pt x="5671" y="3309"/>
                </a:cubicBezTo>
                <a:cubicBezTo>
                  <a:pt x="5860" y="3277"/>
                  <a:pt x="5986" y="3120"/>
                  <a:pt x="5986" y="2899"/>
                </a:cubicBezTo>
                <a:lnTo>
                  <a:pt x="5986" y="379"/>
                </a:lnTo>
                <a:cubicBezTo>
                  <a:pt x="5955" y="190"/>
                  <a:pt x="5703" y="1"/>
                  <a:pt x="5482" y="1"/>
                </a:cubicBezTo>
                <a:close/>
              </a:path>
            </a:pathLst>
          </a:custGeom>
          <a:solidFill>
            <a:schemeClr val="tx2">
              <a:lumMod val="85000"/>
              <a:lumOff val="15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0" name="Google Shape;176;p19">
            <a:extLst>
              <a:ext uri="{FF2B5EF4-FFF2-40B4-BE49-F238E27FC236}">
                <a16:creationId xmlns:a16="http://schemas.microsoft.com/office/drawing/2014/main" id="{DF1D4FE5-DFBA-FFC9-8093-B7EE9DCB3416}"/>
              </a:ext>
            </a:extLst>
          </p:cNvPr>
          <p:cNvSpPr/>
          <p:nvPr/>
        </p:nvSpPr>
        <p:spPr>
          <a:xfrm>
            <a:off x="10754959" y="2152112"/>
            <a:ext cx="331048" cy="150784"/>
          </a:xfrm>
          <a:custGeom>
            <a:avLst/>
            <a:gdLst/>
            <a:ahLst/>
            <a:cxnLst/>
            <a:rect l="l" t="t" r="r" b="b"/>
            <a:pathLst>
              <a:path w="8066" h="3814" extrusionOk="0">
                <a:moveTo>
                  <a:pt x="5735" y="946"/>
                </a:moveTo>
                <a:lnTo>
                  <a:pt x="6963" y="2175"/>
                </a:lnTo>
                <a:cubicBezTo>
                  <a:pt x="6113" y="2710"/>
                  <a:pt x="5073" y="2994"/>
                  <a:pt x="4065" y="2994"/>
                </a:cubicBezTo>
                <a:cubicBezTo>
                  <a:pt x="3025" y="2994"/>
                  <a:pt x="2017" y="2710"/>
                  <a:pt x="1135" y="2175"/>
                </a:cubicBezTo>
                <a:lnTo>
                  <a:pt x="2364" y="946"/>
                </a:lnTo>
                <a:cubicBezTo>
                  <a:pt x="2868" y="1198"/>
                  <a:pt x="3466" y="1356"/>
                  <a:pt x="4065" y="1356"/>
                </a:cubicBezTo>
                <a:cubicBezTo>
                  <a:pt x="4600" y="1356"/>
                  <a:pt x="5199" y="1198"/>
                  <a:pt x="5735" y="946"/>
                </a:cubicBezTo>
                <a:close/>
                <a:moveTo>
                  <a:pt x="5758" y="1"/>
                </a:moveTo>
                <a:cubicBezTo>
                  <a:pt x="5693" y="1"/>
                  <a:pt x="5630" y="11"/>
                  <a:pt x="5577" y="32"/>
                </a:cubicBezTo>
                <a:cubicBezTo>
                  <a:pt x="5105" y="316"/>
                  <a:pt x="4569" y="474"/>
                  <a:pt x="4002" y="474"/>
                </a:cubicBezTo>
                <a:cubicBezTo>
                  <a:pt x="3956" y="476"/>
                  <a:pt x="3911" y="478"/>
                  <a:pt x="3865" y="478"/>
                </a:cubicBezTo>
                <a:cubicBezTo>
                  <a:pt x="3376" y="478"/>
                  <a:pt x="2890" y="326"/>
                  <a:pt x="2458" y="95"/>
                </a:cubicBezTo>
                <a:cubicBezTo>
                  <a:pt x="2389" y="54"/>
                  <a:pt x="2315" y="31"/>
                  <a:pt x="2239" y="31"/>
                </a:cubicBezTo>
                <a:cubicBezTo>
                  <a:pt x="2142" y="31"/>
                  <a:pt x="2043" y="70"/>
                  <a:pt x="1954" y="158"/>
                </a:cubicBezTo>
                <a:lnTo>
                  <a:pt x="190" y="1923"/>
                </a:lnTo>
                <a:cubicBezTo>
                  <a:pt x="1" y="2143"/>
                  <a:pt x="32" y="2395"/>
                  <a:pt x="221" y="2553"/>
                </a:cubicBezTo>
                <a:cubicBezTo>
                  <a:pt x="1324" y="3403"/>
                  <a:pt x="2616" y="3813"/>
                  <a:pt x="4002" y="3813"/>
                </a:cubicBezTo>
                <a:cubicBezTo>
                  <a:pt x="5388" y="3813"/>
                  <a:pt x="6711" y="3403"/>
                  <a:pt x="7814" y="2521"/>
                </a:cubicBezTo>
                <a:cubicBezTo>
                  <a:pt x="8035" y="2364"/>
                  <a:pt x="8066" y="2080"/>
                  <a:pt x="7877" y="1891"/>
                </a:cubicBezTo>
                <a:lnTo>
                  <a:pt x="6113" y="127"/>
                </a:lnTo>
                <a:cubicBezTo>
                  <a:pt x="6029" y="43"/>
                  <a:pt x="5889" y="1"/>
                  <a:pt x="5758" y="1"/>
                </a:cubicBezTo>
                <a:close/>
              </a:path>
            </a:pathLst>
          </a:custGeom>
          <a:solidFill>
            <a:schemeClr val="tx2">
              <a:lumMod val="85000"/>
              <a:lumOff val="15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1" name="Google Shape;177;p19">
            <a:extLst>
              <a:ext uri="{FF2B5EF4-FFF2-40B4-BE49-F238E27FC236}">
                <a16:creationId xmlns:a16="http://schemas.microsoft.com/office/drawing/2014/main" id="{09EE7D5A-7FA5-497C-FE1C-2D009D99CA0A}"/>
              </a:ext>
            </a:extLst>
          </p:cNvPr>
          <p:cNvSpPr/>
          <p:nvPr/>
        </p:nvSpPr>
        <p:spPr>
          <a:xfrm>
            <a:off x="10937269" y="1760345"/>
            <a:ext cx="245721" cy="405504"/>
          </a:xfrm>
          <a:custGeom>
            <a:avLst/>
            <a:gdLst/>
            <a:ahLst/>
            <a:cxnLst/>
            <a:rect l="l" t="t" r="r" b="b"/>
            <a:pathLst>
              <a:path w="5987" h="10257" extrusionOk="0">
                <a:moveTo>
                  <a:pt x="820" y="917"/>
                </a:moveTo>
                <a:cubicBezTo>
                  <a:pt x="3309" y="1453"/>
                  <a:pt x="5105" y="3690"/>
                  <a:pt x="5105" y="6273"/>
                </a:cubicBezTo>
                <a:cubicBezTo>
                  <a:pt x="5073" y="7344"/>
                  <a:pt x="4790" y="8352"/>
                  <a:pt x="4254" y="9235"/>
                </a:cubicBezTo>
                <a:lnTo>
                  <a:pt x="3025" y="8006"/>
                </a:lnTo>
                <a:cubicBezTo>
                  <a:pt x="3309" y="7502"/>
                  <a:pt x="3435" y="6903"/>
                  <a:pt x="3435" y="6305"/>
                </a:cubicBezTo>
                <a:cubicBezTo>
                  <a:pt x="3435" y="4572"/>
                  <a:pt x="2332" y="3154"/>
                  <a:pt x="820" y="2650"/>
                </a:cubicBezTo>
                <a:lnTo>
                  <a:pt x="820" y="917"/>
                </a:lnTo>
                <a:close/>
                <a:moveTo>
                  <a:pt x="419" y="0"/>
                </a:moveTo>
                <a:cubicBezTo>
                  <a:pt x="190" y="0"/>
                  <a:pt x="1" y="180"/>
                  <a:pt x="1" y="413"/>
                </a:cubicBezTo>
                <a:lnTo>
                  <a:pt x="1" y="2934"/>
                </a:lnTo>
                <a:cubicBezTo>
                  <a:pt x="1" y="3123"/>
                  <a:pt x="127" y="3280"/>
                  <a:pt x="316" y="3312"/>
                </a:cubicBezTo>
                <a:cubicBezTo>
                  <a:pt x="1639" y="3658"/>
                  <a:pt x="2647" y="4855"/>
                  <a:pt x="2647" y="6273"/>
                </a:cubicBezTo>
                <a:cubicBezTo>
                  <a:pt x="2647" y="6809"/>
                  <a:pt x="2490" y="7376"/>
                  <a:pt x="2206" y="7848"/>
                </a:cubicBezTo>
                <a:cubicBezTo>
                  <a:pt x="2080" y="8006"/>
                  <a:pt x="2112" y="8195"/>
                  <a:pt x="2269" y="8352"/>
                </a:cubicBezTo>
                <a:lnTo>
                  <a:pt x="4065" y="10117"/>
                </a:lnTo>
                <a:cubicBezTo>
                  <a:pt x="4149" y="10214"/>
                  <a:pt x="4251" y="10257"/>
                  <a:pt x="4353" y="10257"/>
                </a:cubicBezTo>
                <a:cubicBezTo>
                  <a:pt x="4481" y="10257"/>
                  <a:pt x="4608" y="10190"/>
                  <a:pt x="4695" y="10085"/>
                </a:cubicBezTo>
                <a:cubicBezTo>
                  <a:pt x="5514" y="8982"/>
                  <a:pt x="5987" y="7659"/>
                  <a:pt x="5987" y="6273"/>
                </a:cubicBezTo>
                <a:cubicBezTo>
                  <a:pt x="5892" y="3123"/>
                  <a:pt x="3529" y="445"/>
                  <a:pt x="474" y="4"/>
                </a:cubicBezTo>
                <a:cubicBezTo>
                  <a:pt x="455" y="1"/>
                  <a:pt x="437" y="0"/>
                  <a:pt x="419" y="0"/>
                </a:cubicBezTo>
                <a:close/>
              </a:path>
            </a:pathLst>
          </a:custGeom>
          <a:solidFill>
            <a:schemeClr val="tx2">
              <a:lumMod val="85000"/>
              <a:lumOff val="15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2" name="Google Shape;178;p19">
            <a:extLst>
              <a:ext uri="{FF2B5EF4-FFF2-40B4-BE49-F238E27FC236}">
                <a16:creationId xmlns:a16="http://schemas.microsoft.com/office/drawing/2014/main" id="{0F044D66-C55B-0ACF-AB9D-1C7816EFCC4A}"/>
              </a:ext>
            </a:extLst>
          </p:cNvPr>
          <p:cNvSpPr/>
          <p:nvPr/>
        </p:nvSpPr>
        <p:spPr>
          <a:xfrm>
            <a:off x="10867456" y="1920770"/>
            <a:ext cx="103468" cy="230446"/>
          </a:xfrm>
          <a:custGeom>
            <a:avLst/>
            <a:gdLst/>
            <a:ahLst/>
            <a:cxnLst/>
            <a:rect l="l" t="t" r="r" b="b"/>
            <a:pathLst>
              <a:path w="2521" h="5829" extrusionOk="0">
                <a:moveTo>
                  <a:pt x="1261" y="0"/>
                </a:moveTo>
                <a:cubicBezTo>
                  <a:pt x="1040" y="0"/>
                  <a:pt x="820" y="189"/>
                  <a:pt x="820" y="378"/>
                </a:cubicBezTo>
                <a:lnTo>
                  <a:pt x="820" y="662"/>
                </a:lnTo>
                <a:cubicBezTo>
                  <a:pt x="347" y="819"/>
                  <a:pt x="1" y="1292"/>
                  <a:pt x="1" y="1827"/>
                </a:cubicBezTo>
                <a:cubicBezTo>
                  <a:pt x="1" y="2521"/>
                  <a:pt x="568" y="2899"/>
                  <a:pt x="977" y="3214"/>
                </a:cubicBezTo>
                <a:cubicBezTo>
                  <a:pt x="1292" y="3466"/>
                  <a:pt x="1670" y="3686"/>
                  <a:pt x="1670" y="3938"/>
                </a:cubicBezTo>
                <a:cubicBezTo>
                  <a:pt x="1670" y="4159"/>
                  <a:pt x="1450" y="4348"/>
                  <a:pt x="1261" y="4348"/>
                </a:cubicBezTo>
                <a:cubicBezTo>
                  <a:pt x="1072" y="4348"/>
                  <a:pt x="820" y="4159"/>
                  <a:pt x="820" y="3938"/>
                </a:cubicBezTo>
                <a:cubicBezTo>
                  <a:pt x="820" y="3686"/>
                  <a:pt x="631" y="3497"/>
                  <a:pt x="442" y="3497"/>
                </a:cubicBezTo>
                <a:cubicBezTo>
                  <a:pt x="253" y="3497"/>
                  <a:pt x="32" y="3686"/>
                  <a:pt x="32" y="3938"/>
                </a:cubicBezTo>
                <a:cubicBezTo>
                  <a:pt x="32" y="4474"/>
                  <a:pt x="410" y="4915"/>
                  <a:pt x="883" y="5104"/>
                </a:cubicBezTo>
                <a:lnTo>
                  <a:pt x="883" y="5387"/>
                </a:lnTo>
                <a:cubicBezTo>
                  <a:pt x="883" y="5608"/>
                  <a:pt x="1072" y="5829"/>
                  <a:pt x="1292" y="5829"/>
                </a:cubicBezTo>
                <a:cubicBezTo>
                  <a:pt x="1544" y="5829"/>
                  <a:pt x="1702" y="5608"/>
                  <a:pt x="1702" y="5387"/>
                </a:cubicBezTo>
                <a:lnTo>
                  <a:pt x="1702" y="5104"/>
                </a:lnTo>
                <a:cubicBezTo>
                  <a:pt x="2175" y="4946"/>
                  <a:pt x="2521" y="4474"/>
                  <a:pt x="2521" y="3938"/>
                </a:cubicBezTo>
                <a:cubicBezTo>
                  <a:pt x="2521" y="3245"/>
                  <a:pt x="1985" y="2867"/>
                  <a:pt x="1544" y="2552"/>
                </a:cubicBezTo>
                <a:cubicBezTo>
                  <a:pt x="1229" y="2300"/>
                  <a:pt x="883" y="2079"/>
                  <a:pt x="883" y="1827"/>
                </a:cubicBezTo>
                <a:cubicBezTo>
                  <a:pt x="883" y="1607"/>
                  <a:pt x="1072" y="1418"/>
                  <a:pt x="1292" y="1418"/>
                </a:cubicBezTo>
                <a:cubicBezTo>
                  <a:pt x="1544" y="1418"/>
                  <a:pt x="1702" y="1607"/>
                  <a:pt x="1702" y="1827"/>
                </a:cubicBezTo>
                <a:cubicBezTo>
                  <a:pt x="1702" y="2079"/>
                  <a:pt x="1891" y="2268"/>
                  <a:pt x="2143" y="2268"/>
                </a:cubicBezTo>
                <a:cubicBezTo>
                  <a:pt x="2364" y="2268"/>
                  <a:pt x="2521" y="2079"/>
                  <a:pt x="2521" y="1827"/>
                </a:cubicBezTo>
                <a:cubicBezTo>
                  <a:pt x="2521" y="1292"/>
                  <a:pt x="2175" y="851"/>
                  <a:pt x="1702" y="662"/>
                </a:cubicBezTo>
                <a:lnTo>
                  <a:pt x="1702" y="378"/>
                </a:lnTo>
                <a:cubicBezTo>
                  <a:pt x="1702" y="189"/>
                  <a:pt x="1513" y="0"/>
                  <a:pt x="1261" y="0"/>
                </a:cubicBezTo>
                <a:close/>
              </a:path>
            </a:pathLst>
          </a:custGeom>
          <a:solidFill>
            <a:schemeClr val="tx2">
              <a:lumMod val="85000"/>
              <a:lumOff val="15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pic>
        <p:nvPicPr>
          <p:cNvPr id="33" name="Picture 32">
            <a:extLst>
              <a:ext uri="{FF2B5EF4-FFF2-40B4-BE49-F238E27FC236}">
                <a16:creationId xmlns:a16="http://schemas.microsoft.com/office/drawing/2014/main" id="{D480D718-B317-7F3D-B812-A135AEE69B6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2940630" y="3469792"/>
            <a:ext cx="2997649" cy="389631"/>
          </a:xfrm>
          <a:prstGeom prst="rect">
            <a:avLst/>
          </a:prstGeom>
        </p:spPr>
      </p:pic>
      <p:sp>
        <p:nvSpPr>
          <p:cNvPr id="19" name="TextBox 18">
            <a:extLst>
              <a:ext uri="{FF2B5EF4-FFF2-40B4-BE49-F238E27FC236}">
                <a16:creationId xmlns:a16="http://schemas.microsoft.com/office/drawing/2014/main" id="{10B58D05-A176-5FE3-4966-CBE60B4A9C83}"/>
              </a:ext>
            </a:extLst>
          </p:cNvPr>
          <p:cNvSpPr txBox="1"/>
          <p:nvPr/>
        </p:nvSpPr>
        <p:spPr>
          <a:xfrm>
            <a:off x="2540466" y="2131651"/>
            <a:ext cx="2490049" cy="430887"/>
          </a:xfrm>
          <a:prstGeom prst="rect">
            <a:avLst/>
          </a:prstGeom>
          <a:noFill/>
        </p:spPr>
        <p:txBody>
          <a:bodyPr wrap="square" rtlCol="0">
            <a:spAutoFit/>
          </a:bodyPr>
          <a:lstStyle/>
          <a:p>
            <a:r>
              <a:rPr lang="en-GB" sz="1100" b="1">
                <a:solidFill>
                  <a:schemeClr val="tx2">
                    <a:lumMod val="85000"/>
                    <a:lumOff val="15000"/>
                  </a:schemeClr>
                </a:solidFill>
              </a:rPr>
              <a:t>320</a:t>
            </a:r>
            <a:r>
              <a:rPr lang="en-GB" sz="1100" b="1">
                <a:solidFill>
                  <a:schemeClr val="tx2">
                    <a:lumMod val="85000"/>
                    <a:lumOff val="15000"/>
                  </a:schemeClr>
                </a:solidFill>
                <a:latin typeface="+mj-lt"/>
              </a:rPr>
              <a:t> </a:t>
            </a:r>
            <a:r>
              <a:rPr lang="en-GB" sz="1100">
                <a:solidFill>
                  <a:schemeClr val="tx2">
                    <a:lumMod val="85000"/>
                    <a:lumOff val="15000"/>
                  </a:schemeClr>
                </a:solidFill>
                <a:latin typeface="+mj-lt"/>
              </a:rPr>
              <a:t>Groups, across </a:t>
            </a:r>
            <a:r>
              <a:rPr lang="en-GB" sz="1100" b="1">
                <a:solidFill>
                  <a:schemeClr val="tx2">
                    <a:lumMod val="85000"/>
                    <a:lumOff val="15000"/>
                  </a:schemeClr>
                </a:solidFill>
              </a:rPr>
              <a:t>24</a:t>
            </a:r>
            <a:r>
              <a:rPr lang="en-GB" sz="1100" b="1">
                <a:solidFill>
                  <a:schemeClr val="tx2">
                    <a:lumMod val="85000"/>
                    <a:lumOff val="15000"/>
                  </a:schemeClr>
                </a:solidFill>
                <a:latin typeface="+mj-lt"/>
              </a:rPr>
              <a:t> </a:t>
            </a:r>
            <a:r>
              <a:rPr lang="en-GB" sz="1100">
                <a:solidFill>
                  <a:schemeClr val="tx2">
                    <a:lumMod val="85000"/>
                    <a:lumOff val="15000"/>
                  </a:schemeClr>
                </a:solidFill>
                <a:latin typeface="+mj-lt"/>
              </a:rPr>
              <a:t>group Companies</a:t>
            </a:r>
          </a:p>
          <a:p>
            <a:r>
              <a:rPr lang="en-GB" sz="1100" b="1">
                <a:solidFill>
                  <a:schemeClr val="tx2">
                    <a:lumMod val="85000"/>
                    <a:lumOff val="15000"/>
                  </a:schemeClr>
                </a:solidFill>
              </a:rPr>
              <a:t>37</a:t>
            </a:r>
            <a:r>
              <a:rPr lang="en-GB" sz="1100">
                <a:solidFill>
                  <a:schemeClr val="tx2">
                    <a:lumMod val="85000"/>
                    <a:lumOff val="15000"/>
                  </a:schemeClr>
                </a:solidFill>
                <a:latin typeface="+mj-lt"/>
              </a:rPr>
              <a:t> Countries, across </a:t>
            </a:r>
            <a:r>
              <a:rPr lang="en-GB" sz="1100" b="1">
                <a:solidFill>
                  <a:schemeClr val="tx2">
                    <a:lumMod val="85000"/>
                    <a:lumOff val="15000"/>
                  </a:schemeClr>
                </a:solidFill>
              </a:rPr>
              <a:t>5</a:t>
            </a:r>
            <a:r>
              <a:rPr lang="en-GB" sz="1100">
                <a:solidFill>
                  <a:schemeClr val="tx2">
                    <a:lumMod val="85000"/>
                    <a:lumOff val="15000"/>
                  </a:schemeClr>
                </a:solidFill>
                <a:latin typeface="+mj-lt"/>
              </a:rPr>
              <a:t> Continents</a:t>
            </a:r>
          </a:p>
        </p:txBody>
      </p:sp>
    </p:spTree>
    <p:extLst>
      <p:ext uri="{BB962C8B-B14F-4D97-AF65-F5344CB8AC3E}">
        <p14:creationId xmlns:p14="http://schemas.microsoft.com/office/powerpoint/2010/main" val="1270140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98A56219-EA70-AC01-D3E3-3518B7B0CC2E}"/>
              </a:ext>
            </a:extLst>
          </p:cNvPr>
          <p:cNvSpPr/>
          <p:nvPr/>
        </p:nvSpPr>
        <p:spPr>
          <a:xfrm>
            <a:off x="10293199" y="4625763"/>
            <a:ext cx="1276619" cy="1189911"/>
          </a:xfrm>
          <a:prstGeom prst="rect">
            <a:avLst/>
          </a:prstGeom>
          <a:solidFill>
            <a:srgbClr val="B8E2C5">
              <a:alpha val="9804"/>
            </a:srgbClr>
          </a:solidFill>
          <a:ln w="6350">
            <a:solidFill>
              <a:srgbClr val="B8E2C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2" name="Title 1">
            <a:extLst>
              <a:ext uri="{FF2B5EF4-FFF2-40B4-BE49-F238E27FC236}">
                <a16:creationId xmlns:a16="http://schemas.microsoft.com/office/drawing/2014/main" id="{E89830CA-41C3-5F31-F8E9-D11F7D68924E}"/>
              </a:ext>
            </a:extLst>
          </p:cNvPr>
          <p:cNvSpPr>
            <a:spLocks noGrp="1"/>
          </p:cNvSpPr>
          <p:nvPr>
            <p:ph type="title"/>
          </p:nvPr>
        </p:nvSpPr>
        <p:spPr/>
        <p:txBody>
          <a:bodyPr/>
          <a:lstStyle/>
          <a:p>
            <a:r>
              <a:rPr lang="en-GB" sz="2150"/>
              <a:t>Leading International Bank – Significant Cost and Risk Reduction </a:t>
            </a:r>
            <a:endParaRPr lang="en-GB"/>
          </a:p>
        </p:txBody>
      </p:sp>
      <p:sp>
        <p:nvSpPr>
          <p:cNvPr id="15" name="Text Placeholder 14">
            <a:extLst>
              <a:ext uri="{FF2B5EF4-FFF2-40B4-BE49-F238E27FC236}">
                <a16:creationId xmlns:a16="http://schemas.microsoft.com/office/drawing/2014/main" id="{A4B640F4-4CFB-213B-8971-6EB0BFAD5C8B}"/>
              </a:ext>
            </a:extLst>
          </p:cNvPr>
          <p:cNvSpPr>
            <a:spLocks noGrp="1"/>
          </p:cNvSpPr>
          <p:nvPr>
            <p:ph type="body" sz="quarter" idx="12"/>
          </p:nvPr>
        </p:nvSpPr>
        <p:spPr/>
        <p:txBody>
          <a:bodyPr/>
          <a:lstStyle/>
          <a:p>
            <a:endParaRPr lang="en-GB"/>
          </a:p>
        </p:txBody>
      </p:sp>
      <p:sp>
        <p:nvSpPr>
          <p:cNvPr id="7" name="Slide Number Placeholder 2">
            <a:extLst>
              <a:ext uri="{FF2B5EF4-FFF2-40B4-BE49-F238E27FC236}">
                <a16:creationId xmlns:a16="http://schemas.microsoft.com/office/drawing/2014/main" id="{B44858DB-A65F-7244-767C-C683AC9DDA99}"/>
              </a:ext>
            </a:extLst>
          </p:cNvPr>
          <p:cNvSpPr>
            <a:spLocks noGrp="1"/>
          </p:cNvSpPr>
          <p:nvPr>
            <p:ph type="sldNum" sz="quarter" idx="4"/>
          </p:nvPr>
        </p:nvSpPr>
        <p:spPr/>
        <p:txBody>
          <a:bodyPr/>
          <a:lstStyle/>
          <a:p>
            <a:r>
              <a:rPr lang="en-US"/>
              <a:t>&lt;  34</a:t>
            </a:r>
          </a:p>
        </p:txBody>
      </p:sp>
      <p:sp>
        <p:nvSpPr>
          <p:cNvPr id="36" name="TextBox 35">
            <a:extLst>
              <a:ext uri="{FF2B5EF4-FFF2-40B4-BE49-F238E27FC236}">
                <a16:creationId xmlns:a16="http://schemas.microsoft.com/office/drawing/2014/main" id="{66FFF6E0-418F-E89C-B36D-FD997547F7E4}"/>
              </a:ext>
            </a:extLst>
          </p:cNvPr>
          <p:cNvSpPr txBox="1"/>
          <p:nvPr/>
        </p:nvSpPr>
        <p:spPr>
          <a:xfrm>
            <a:off x="670977" y="958549"/>
            <a:ext cx="10985635" cy="64633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just"/>
            <a:r>
              <a:rPr lang="en-US" sz="1400">
                <a:solidFill>
                  <a:schemeClr val="tx2">
                    <a:lumMod val="85000"/>
                    <a:lumOff val="15000"/>
                  </a:schemeClr>
                </a:solidFill>
                <a:latin typeface="Calibri Light"/>
                <a:cs typeface="Arial"/>
              </a:rPr>
              <a:t>Multinational bank with a significant presence in both emerging and developed markets is developing an AI powered, data driven Fusion Centre capability </a:t>
            </a:r>
            <a:r>
              <a:rPr lang="en-IN" sz="1400">
                <a:solidFill>
                  <a:schemeClr val="tx2">
                    <a:lumMod val="85000"/>
                    <a:lumOff val="15000"/>
                  </a:schemeClr>
                </a:solidFill>
                <a:latin typeface="Calibri Light"/>
                <a:cs typeface="Arial"/>
              </a:rPr>
              <a:t>covering cyber security, financial crime, fraud, physical security and more. PAI is partnered with the bank on this multi-year strategic program supporting the development of advanced analytics capabilities</a:t>
            </a:r>
            <a:endParaRPr lang="en-IN" sz="1400">
              <a:solidFill>
                <a:schemeClr val="tx2">
                  <a:lumMod val="85000"/>
                  <a:lumOff val="15000"/>
                </a:schemeClr>
              </a:solidFill>
              <a:latin typeface="Calibri Light"/>
              <a:ea typeface="Calibri Light" charset="0"/>
              <a:cs typeface="Arial"/>
            </a:endParaRPr>
          </a:p>
        </p:txBody>
      </p:sp>
      <p:pic>
        <p:nvPicPr>
          <p:cNvPr id="3" name="Picture 2" descr="Shape&#10;&#10;Description automatically generated">
            <a:extLst>
              <a:ext uri="{FF2B5EF4-FFF2-40B4-BE49-F238E27FC236}">
                <a16:creationId xmlns:a16="http://schemas.microsoft.com/office/drawing/2014/main" id="{3D751D9A-8A9B-EA05-3870-E12AE6BAB661}"/>
              </a:ext>
            </a:extLst>
          </p:cNvPr>
          <p:cNvPicPr>
            <a:picLocks noChangeAspect="1"/>
          </p:cNvPicPr>
          <p:nvPr/>
        </p:nvPicPr>
        <p:blipFill>
          <a:blip r:embed="rId2"/>
          <a:stretch>
            <a:fillRect/>
          </a:stretch>
        </p:blipFill>
        <p:spPr>
          <a:xfrm>
            <a:off x="670584" y="1955606"/>
            <a:ext cx="116009" cy="1213714"/>
          </a:xfrm>
          <a:prstGeom prst="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p:spPr>
      </p:pic>
      <p:pic>
        <p:nvPicPr>
          <p:cNvPr id="5" name="Picture 4" descr="Shape&#10;&#10;Description automatically generated">
            <a:extLst>
              <a:ext uri="{FF2B5EF4-FFF2-40B4-BE49-F238E27FC236}">
                <a16:creationId xmlns:a16="http://schemas.microsoft.com/office/drawing/2014/main" id="{1E633E28-023E-1628-67C3-C62472481604}"/>
              </a:ext>
            </a:extLst>
          </p:cNvPr>
          <p:cNvPicPr>
            <a:picLocks noChangeAspect="1"/>
          </p:cNvPicPr>
          <p:nvPr/>
        </p:nvPicPr>
        <p:blipFill>
          <a:blip r:embed="rId2"/>
          <a:stretch>
            <a:fillRect/>
          </a:stretch>
        </p:blipFill>
        <p:spPr>
          <a:xfrm>
            <a:off x="671880" y="3305254"/>
            <a:ext cx="115300" cy="1194552"/>
          </a:xfrm>
          <a:prstGeom prst="rect">
            <a:avLst/>
          </a:prstGeom>
          <a:solidFill>
            <a:srgbClr val="EB6C15"/>
          </a:solidFill>
        </p:spPr>
      </p:pic>
      <p:sp>
        <p:nvSpPr>
          <p:cNvPr id="9" name="Rectangle 8">
            <a:extLst>
              <a:ext uri="{FF2B5EF4-FFF2-40B4-BE49-F238E27FC236}">
                <a16:creationId xmlns:a16="http://schemas.microsoft.com/office/drawing/2014/main" id="{44CB6BB4-4905-0744-EB72-F6EEF60F55A8}"/>
              </a:ext>
            </a:extLst>
          </p:cNvPr>
          <p:cNvSpPr/>
          <p:nvPr/>
        </p:nvSpPr>
        <p:spPr>
          <a:xfrm>
            <a:off x="672538" y="1955607"/>
            <a:ext cx="1685618" cy="1196976"/>
          </a:xfrm>
          <a:prstGeom prst="rect">
            <a:avLst/>
          </a:prstGeom>
          <a:noFill/>
          <a:ln w="6350">
            <a:solidFill>
              <a:srgbClr val="7B6CD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13" name="Rectangle 12">
            <a:extLst>
              <a:ext uri="{FF2B5EF4-FFF2-40B4-BE49-F238E27FC236}">
                <a16:creationId xmlns:a16="http://schemas.microsoft.com/office/drawing/2014/main" id="{96FC360B-43B9-894B-F7A7-16ACD4CAF56B}"/>
              </a:ext>
            </a:extLst>
          </p:cNvPr>
          <p:cNvSpPr/>
          <p:nvPr/>
        </p:nvSpPr>
        <p:spPr>
          <a:xfrm>
            <a:off x="673776" y="3303188"/>
            <a:ext cx="1683616" cy="1196975"/>
          </a:xfrm>
          <a:prstGeom prst="rect">
            <a:avLst/>
          </a:prstGeom>
          <a:noFill/>
          <a:ln w="6350">
            <a:solidFill>
              <a:srgbClr val="C1788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37" name="Rectangle 36">
            <a:extLst>
              <a:ext uri="{FF2B5EF4-FFF2-40B4-BE49-F238E27FC236}">
                <a16:creationId xmlns:a16="http://schemas.microsoft.com/office/drawing/2014/main" id="{32D43F61-C12A-AC86-BA4F-7C0A4FFCBE9A}"/>
              </a:ext>
            </a:extLst>
          </p:cNvPr>
          <p:cNvSpPr/>
          <p:nvPr/>
        </p:nvSpPr>
        <p:spPr>
          <a:xfrm>
            <a:off x="673319" y="4634032"/>
            <a:ext cx="1684356" cy="1183108"/>
          </a:xfrm>
          <a:prstGeom prst="rect">
            <a:avLst/>
          </a:prstGeom>
          <a:noFill/>
          <a:ln w="6350">
            <a:solidFill>
              <a:srgbClr val="B8E2C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39" name="Rectangle 38">
            <a:extLst>
              <a:ext uri="{FF2B5EF4-FFF2-40B4-BE49-F238E27FC236}">
                <a16:creationId xmlns:a16="http://schemas.microsoft.com/office/drawing/2014/main" id="{28453AD8-C492-7EEC-12A9-0CFAA0319EFB}"/>
              </a:ext>
            </a:extLst>
          </p:cNvPr>
          <p:cNvSpPr/>
          <p:nvPr/>
        </p:nvSpPr>
        <p:spPr>
          <a:xfrm>
            <a:off x="2459921" y="1955606"/>
            <a:ext cx="7739401" cy="1196976"/>
          </a:xfrm>
          <a:prstGeom prst="rect">
            <a:avLst/>
          </a:prstGeom>
          <a:solidFill>
            <a:srgbClr val="9373BF">
              <a:alpha val="9804"/>
            </a:srgbClr>
          </a:solidFill>
          <a:ln w="6350">
            <a:solidFill>
              <a:srgbClr val="7B6CD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41" name="Rectangle 40">
            <a:extLst>
              <a:ext uri="{FF2B5EF4-FFF2-40B4-BE49-F238E27FC236}">
                <a16:creationId xmlns:a16="http://schemas.microsoft.com/office/drawing/2014/main" id="{DA932A27-BB2B-04C0-7B18-37FE02FD574A}"/>
              </a:ext>
            </a:extLst>
          </p:cNvPr>
          <p:cNvSpPr/>
          <p:nvPr/>
        </p:nvSpPr>
        <p:spPr>
          <a:xfrm>
            <a:off x="2456846" y="3304551"/>
            <a:ext cx="7730206" cy="1195255"/>
          </a:xfrm>
          <a:prstGeom prst="rect">
            <a:avLst/>
          </a:prstGeom>
          <a:solidFill>
            <a:srgbClr val="C1788E">
              <a:alpha val="9804"/>
            </a:srgbClr>
          </a:solidFill>
          <a:ln w="6350">
            <a:solidFill>
              <a:srgbClr val="C1788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43" name="Rectangle 42">
            <a:extLst>
              <a:ext uri="{FF2B5EF4-FFF2-40B4-BE49-F238E27FC236}">
                <a16:creationId xmlns:a16="http://schemas.microsoft.com/office/drawing/2014/main" id="{DA108C9D-F613-98DC-A2C2-20DB55C7B30A}"/>
              </a:ext>
            </a:extLst>
          </p:cNvPr>
          <p:cNvSpPr/>
          <p:nvPr/>
        </p:nvSpPr>
        <p:spPr>
          <a:xfrm>
            <a:off x="2455577" y="4625763"/>
            <a:ext cx="7743745" cy="1189911"/>
          </a:xfrm>
          <a:prstGeom prst="rect">
            <a:avLst/>
          </a:prstGeom>
          <a:solidFill>
            <a:srgbClr val="B8E2C5">
              <a:alpha val="9804"/>
            </a:srgbClr>
          </a:solidFill>
          <a:ln w="6350">
            <a:solidFill>
              <a:srgbClr val="B8E2C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47" name="TextBox 46">
            <a:extLst>
              <a:ext uri="{FF2B5EF4-FFF2-40B4-BE49-F238E27FC236}">
                <a16:creationId xmlns:a16="http://schemas.microsoft.com/office/drawing/2014/main" id="{1EC5B0C6-0C46-E1FF-0388-8A4BC230E9B2}"/>
              </a:ext>
            </a:extLst>
          </p:cNvPr>
          <p:cNvSpPr txBox="1"/>
          <p:nvPr/>
        </p:nvSpPr>
        <p:spPr>
          <a:xfrm>
            <a:off x="1117285" y="2459841"/>
            <a:ext cx="888377"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b="1">
                <a:solidFill>
                  <a:schemeClr val="tx2">
                    <a:lumMod val="85000"/>
                    <a:lumOff val="15000"/>
                  </a:schemeClr>
                </a:solidFill>
                <a:cs typeface="Arial"/>
              </a:rPr>
              <a:t>Challenge</a:t>
            </a:r>
            <a:endParaRPr lang="en-IN" sz="1400" b="1">
              <a:solidFill>
                <a:schemeClr val="tx2">
                  <a:lumMod val="85000"/>
                  <a:lumOff val="15000"/>
                </a:schemeClr>
              </a:solidFill>
              <a:ea typeface="Calibri Light" charset="0"/>
              <a:cs typeface="Arial"/>
            </a:endParaRPr>
          </a:p>
        </p:txBody>
      </p:sp>
      <p:sp>
        <p:nvSpPr>
          <p:cNvPr id="48" name="TextBox 47">
            <a:extLst>
              <a:ext uri="{FF2B5EF4-FFF2-40B4-BE49-F238E27FC236}">
                <a16:creationId xmlns:a16="http://schemas.microsoft.com/office/drawing/2014/main" id="{FDC23B7D-E1AC-D08F-CBF3-70E9D5ED8BA3}"/>
              </a:ext>
            </a:extLst>
          </p:cNvPr>
          <p:cNvSpPr txBox="1"/>
          <p:nvPr/>
        </p:nvSpPr>
        <p:spPr>
          <a:xfrm>
            <a:off x="1117285" y="3787709"/>
            <a:ext cx="888377"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b="1">
                <a:solidFill>
                  <a:schemeClr val="tx2">
                    <a:lumMod val="85000"/>
                    <a:lumOff val="15000"/>
                  </a:schemeClr>
                </a:solidFill>
                <a:cs typeface="Arial"/>
              </a:rPr>
              <a:t>Solution</a:t>
            </a:r>
            <a:endParaRPr lang="en-IN" sz="1400" b="1">
              <a:solidFill>
                <a:schemeClr val="tx2">
                  <a:lumMod val="85000"/>
                  <a:lumOff val="15000"/>
                </a:schemeClr>
              </a:solidFill>
              <a:ea typeface="Calibri Light" charset="0"/>
              <a:cs typeface="Arial"/>
            </a:endParaRPr>
          </a:p>
        </p:txBody>
      </p:sp>
      <p:sp>
        <p:nvSpPr>
          <p:cNvPr id="49" name="TextBox 48">
            <a:extLst>
              <a:ext uri="{FF2B5EF4-FFF2-40B4-BE49-F238E27FC236}">
                <a16:creationId xmlns:a16="http://schemas.microsoft.com/office/drawing/2014/main" id="{E25143C9-53EA-9982-7124-08449C3EE5AA}"/>
              </a:ext>
            </a:extLst>
          </p:cNvPr>
          <p:cNvSpPr txBox="1"/>
          <p:nvPr/>
        </p:nvSpPr>
        <p:spPr>
          <a:xfrm>
            <a:off x="1117285" y="5105092"/>
            <a:ext cx="888377"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b="1">
                <a:solidFill>
                  <a:schemeClr val="tx2">
                    <a:lumMod val="85000"/>
                    <a:lumOff val="15000"/>
                  </a:schemeClr>
                </a:solidFill>
                <a:cs typeface="Arial"/>
              </a:rPr>
              <a:t>Benefits</a:t>
            </a:r>
            <a:endParaRPr lang="en-IN" sz="1400" b="1">
              <a:solidFill>
                <a:schemeClr val="tx2">
                  <a:lumMod val="85000"/>
                  <a:lumOff val="15000"/>
                </a:schemeClr>
              </a:solidFill>
              <a:ea typeface="Calibri Light" charset="0"/>
              <a:cs typeface="Arial"/>
            </a:endParaRPr>
          </a:p>
        </p:txBody>
      </p:sp>
      <p:pic>
        <p:nvPicPr>
          <p:cNvPr id="50" name="Picture 6" descr="Shape&#10;&#10;Description automatically generated">
            <a:extLst>
              <a:ext uri="{FF2B5EF4-FFF2-40B4-BE49-F238E27FC236}">
                <a16:creationId xmlns:a16="http://schemas.microsoft.com/office/drawing/2014/main" id="{CD9AB411-E465-91CD-C718-C2504AF6E6F4}"/>
              </a:ext>
            </a:extLst>
          </p:cNvPr>
          <p:cNvPicPr>
            <a:picLocks noChangeAspect="1"/>
          </p:cNvPicPr>
          <p:nvPr/>
        </p:nvPicPr>
        <p:blipFill>
          <a:blip r:embed="rId3"/>
          <a:stretch>
            <a:fillRect/>
          </a:stretch>
        </p:blipFill>
        <p:spPr>
          <a:xfrm>
            <a:off x="673775" y="4636096"/>
            <a:ext cx="114263" cy="1179577"/>
          </a:xfrm>
          <a:prstGeom prst="rect">
            <a:avLst/>
          </a:prstGeom>
        </p:spPr>
      </p:pic>
      <p:sp>
        <p:nvSpPr>
          <p:cNvPr id="53" name="Rectangle 52">
            <a:extLst>
              <a:ext uri="{FF2B5EF4-FFF2-40B4-BE49-F238E27FC236}">
                <a16:creationId xmlns:a16="http://schemas.microsoft.com/office/drawing/2014/main" id="{BB4ABEE3-B821-BDBC-9BF7-A98C03534330}"/>
              </a:ext>
            </a:extLst>
          </p:cNvPr>
          <p:cNvSpPr/>
          <p:nvPr/>
        </p:nvSpPr>
        <p:spPr>
          <a:xfrm>
            <a:off x="10302212" y="1955606"/>
            <a:ext cx="1277577" cy="1196976"/>
          </a:xfrm>
          <a:prstGeom prst="rect">
            <a:avLst/>
          </a:prstGeom>
          <a:solidFill>
            <a:srgbClr val="9373BF">
              <a:alpha val="9804"/>
            </a:srgbClr>
          </a:solidFill>
          <a:ln w="6350">
            <a:solidFill>
              <a:srgbClr val="7B6CD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54" name="Rectangle 53">
            <a:extLst>
              <a:ext uri="{FF2B5EF4-FFF2-40B4-BE49-F238E27FC236}">
                <a16:creationId xmlns:a16="http://schemas.microsoft.com/office/drawing/2014/main" id="{C22F4063-DFCF-BD9D-A819-E329F9F67C7C}"/>
              </a:ext>
            </a:extLst>
          </p:cNvPr>
          <p:cNvSpPr/>
          <p:nvPr/>
        </p:nvSpPr>
        <p:spPr>
          <a:xfrm>
            <a:off x="10291735" y="3304551"/>
            <a:ext cx="1276059" cy="1195255"/>
          </a:xfrm>
          <a:prstGeom prst="rect">
            <a:avLst/>
          </a:prstGeom>
          <a:solidFill>
            <a:srgbClr val="C1788E">
              <a:alpha val="9804"/>
            </a:srgbClr>
          </a:solidFill>
          <a:ln w="6350">
            <a:solidFill>
              <a:srgbClr val="C1788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57" name="TextBox 56">
            <a:extLst>
              <a:ext uri="{FF2B5EF4-FFF2-40B4-BE49-F238E27FC236}">
                <a16:creationId xmlns:a16="http://schemas.microsoft.com/office/drawing/2014/main" id="{57BE6536-D6EB-268F-8FAD-EF5BCA6CB8C1}"/>
              </a:ext>
            </a:extLst>
          </p:cNvPr>
          <p:cNvSpPr txBox="1"/>
          <p:nvPr/>
        </p:nvSpPr>
        <p:spPr>
          <a:xfrm>
            <a:off x="2469866" y="2015262"/>
            <a:ext cx="7717186" cy="1094402"/>
          </a:xfrm>
          <a:prstGeom prst="rect">
            <a:avLst/>
          </a:prstGeom>
          <a:noFill/>
        </p:spPr>
        <p:txBody>
          <a:bodyPr wrap="square">
            <a:spAutoFit/>
          </a:bodyPr>
          <a:lstStyle/>
          <a:p>
            <a:pPr marL="285750" indent="-285750">
              <a:lnSpc>
                <a:spcPct val="120000"/>
              </a:lnSpc>
              <a:buClr>
                <a:schemeClr val="tx2"/>
              </a:buClr>
              <a:buSzPct val="110000"/>
              <a:buFont typeface="Arial" panose="020B0604020202020204" pitchFamily="34" charset="0"/>
              <a:buChar char="•"/>
            </a:pPr>
            <a:r>
              <a:rPr lang="en-US" sz="1100" b="1">
                <a:solidFill>
                  <a:schemeClr val="tx2">
                    <a:lumMod val="85000"/>
                    <a:lumOff val="15000"/>
                  </a:schemeClr>
                </a:solidFill>
                <a:latin typeface="Calibri"/>
                <a:ea typeface="Calibri"/>
                <a:cs typeface="Calibri"/>
              </a:rPr>
              <a:t>Cost</a:t>
            </a:r>
            <a:r>
              <a:rPr lang="en-US" sz="1100">
                <a:solidFill>
                  <a:schemeClr val="tx2">
                    <a:lumMod val="85000"/>
                    <a:lumOff val="15000"/>
                  </a:schemeClr>
                </a:solidFill>
                <a:latin typeface="Calibri"/>
                <a:ea typeface="Calibri"/>
                <a:cs typeface="Calibri"/>
              </a:rPr>
              <a:t> -  Existing platform (Splunk) was costing tens of millions per annum but only serving limited use cases</a:t>
            </a:r>
          </a:p>
          <a:p>
            <a:pPr marL="285750" indent="-285750">
              <a:lnSpc>
                <a:spcPct val="120000"/>
              </a:lnSpc>
              <a:buClr>
                <a:schemeClr val="tx2"/>
              </a:buClr>
              <a:buSzPct val="110000"/>
              <a:buFont typeface="Arial" panose="020B0604020202020204" pitchFamily="34" charset="0"/>
              <a:buChar char="•"/>
            </a:pPr>
            <a:r>
              <a:rPr lang="en-US" sz="1100" b="1">
                <a:solidFill>
                  <a:schemeClr val="tx2">
                    <a:lumMod val="85000"/>
                    <a:lumOff val="15000"/>
                  </a:schemeClr>
                </a:solidFill>
                <a:latin typeface="Calibri"/>
                <a:ea typeface="Calibri"/>
                <a:cs typeface="Calibri"/>
              </a:rPr>
              <a:t>Performance</a:t>
            </a:r>
            <a:r>
              <a:rPr lang="en-US" sz="1100">
                <a:solidFill>
                  <a:schemeClr val="tx2">
                    <a:lumMod val="85000"/>
                    <a:lumOff val="15000"/>
                  </a:schemeClr>
                </a:solidFill>
                <a:latin typeface="Calibri"/>
                <a:ea typeface="Calibri"/>
                <a:cs typeface="Calibri"/>
              </a:rPr>
              <a:t> - Existing platform struggled to support complex analytics, with high false positives and missed risks</a:t>
            </a:r>
          </a:p>
          <a:p>
            <a:pPr marL="285750" indent="-285750">
              <a:lnSpc>
                <a:spcPct val="120000"/>
              </a:lnSpc>
              <a:buClr>
                <a:schemeClr val="tx2"/>
              </a:buClr>
              <a:buSzPct val="110000"/>
              <a:buFont typeface="Arial" panose="020B0604020202020204" pitchFamily="34" charset="0"/>
              <a:buChar char="•"/>
            </a:pPr>
            <a:r>
              <a:rPr lang="en-US" sz="1100" b="1">
                <a:solidFill>
                  <a:schemeClr val="tx2">
                    <a:lumMod val="85000"/>
                    <a:lumOff val="15000"/>
                  </a:schemeClr>
                </a:solidFill>
                <a:latin typeface="Calibri"/>
                <a:ea typeface="Calibri"/>
                <a:cs typeface="Calibri"/>
              </a:rPr>
              <a:t>Flexibility </a:t>
            </a:r>
            <a:r>
              <a:rPr lang="en-US" sz="1100">
                <a:solidFill>
                  <a:schemeClr val="tx2">
                    <a:lumMod val="85000"/>
                    <a:lumOff val="15000"/>
                  </a:schemeClr>
                </a:solidFill>
                <a:latin typeface="Calibri"/>
                <a:ea typeface="Calibri"/>
                <a:cs typeface="Calibri"/>
              </a:rPr>
              <a:t>-  Existing platform was inflexible, black box, that could only support Cyber use cases</a:t>
            </a:r>
          </a:p>
          <a:p>
            <a:pPr marL="285750" indent="-285750">
              <a:lnSpc>
                <a:spcPct val="120000"/>
              </a:lnSpc>
              <a:buClr>
                <a:schemeClr val="tx2"/>
              </a:buClr>
              <a:buSzPct val="110000"/>
              <a:buFont typeface="Arial" panose="020B0604020202020204" pitchFamily="34" charset="0"/>
              <a:buChar char="•"/>
            </a:pPr>
            <a:r>
              <a:rPr lang="en-US" sz="1100" b="1">
                <a:solidFill>
                  <a:schemeClr val="tx2">
                    <a:lumMod val="85000"/>
                    <a:lumOff val="15000"/>
                  </a:schemeClr>
                </a:solidFill>
                <a:latin typeface="Calibri"/>
                <a:ea typeface="Calibri"/>
                <a:cs typeface="Calibri"/>
              </a:rPr>
              <a:t>Complexity -</a:t>
            </a:r>
            <a:r>
              <a:rPr lang="en-US" sz="1100">
                <a:solidFill>
                  <a:schemeClr val="tx2">
                    <a:lumMod val="85000"/>
                    <a:lumOff val="15000"/>
                  </a:schemeClr>
                </a:solidFill>
                <a:latin typeface="Calibri"/>
                <a:ea typeface="Calibri"/>
                <a:cs typeface="Calibri"/>
              </a:rPr>
              <a:t> Transition to new platform involved huge volume, variety and velocity of data and large number of use cases involving cross business domains</a:t>
            </a:r>
          </a:p>
        </p:txBody>
      </p:sp>
      <p:sp>
        <p:nvSpPr>
          <p:cNvPr id="58" name="TextBox 57">
            <a:extLst>
              <a:ext uri="{FF2B5EF4-FFF2-40B4-BE49-F238E27FC236}">
                <a16:creationId xmlns:a16="http://schemas.microsoft.com/office/drawing/2014/main" id="{15D34B47-B71B-C957-4009-C827C2FC6313}"/>
              </a:ext>
            </a:extLst>
          </p:cNvPr>
          <p:cNvSpPr txBox="1"/>
          <p:nvPr/>
        </p:nvSpPr>
        <p:spPr>
          <a:xfrm>
            <a:off x="2459921" y="3381727"/>
            <a:ext cx="7743745" cy="891334"/>
          </a:xfrm>
          <a:prstGeom prst="rect">
            <a:avLst/>
          </a:prstGeom>
          <a:noFill/>
        </p:spPr>
        <p:txBody>
          <a:bodyPr wrap="square">
            <a:spAutoFit/>
          </a:bodyPr>
          <a:lstStyle/>
          <a:p>
            <a:pPr marL="342900" marR="0" lvl="0" indent="-342900" rtl="0">
              <a:lnSpc>
                <a:spcPct val="120000"/>
              </a:lnSpc>
              <a:spcBef>
                <a:spcPts val="0"/>
              </a:spcBef>
              <a:spcAft>
                <a:spcPts val="0"/>
              </a:spcAft>
              <a:buClr>
                <a:schemeClr val="tx2"/>
              </a:buClr>
              <a:buSzPct val="110000"/>
              <a:buFont typeface="Arial" panose="020B0604020202020204" pitchFamily="34" charset="0"/>
              <a:buChar char="•"/>
            </a:pPr>
            <a:r>
              <a:rPr lang="en-IN" sz="1100" b="1">
                <a:solidFill>
                  <a:schemeClr val="tx2">
                    <a:lumMod val="85000"/>
                    <a:lumOff val="15000"/>
                  </a:schemeClr>
                </a:solidFill>
                <a:latin typeface="Calibri"/>
                <a:ea typeface="Calibri"/>
                <a:cs typeface="Calibri"/>
              </a:rPr>
              <a:t>Speed and Accuracy -</a:t>
            </a:r>
            <a:r>
              <a:rPr lang="en-IN" sz="1100">
                <a:solidFill>
                  <a:schemeClr val="tx2">
                    <a:lumMod val="85000"/>
                    <a:lumOff val="15000"/>
                  </a:schemeClr>
                </a:solidFill>
                <a:latin typeface="Calibri"/>
                <a:ea typeface="Calibri"/>
                <a:cs typeface="Calibri"/>
              </a:rPr>
              <a:t> Leverage PAI pre-built analytics for faster time to value </a:t>
            </a:r>
          </a:p>
          <a:p>
            <a:pPr marL="342900" marR="0" lvl="0" indent="-342900" rtl="0">
              <a:lnSpc>
                <a:spcPct val="120000"/>
              </a:lnSpc>
              <a:spcBef>
                <a:spcPts val="0"/>
              </a:spcBef>
              <a:spcAft>
                <a:spcPts val="0"/>
              </a:spcAft>
              <a:buClr>
                <a:schemeClr val="tx2"/>
              </a:buClr>
              <a:buSzPct val="110000"/>
              <a:buFont typeface="Arial" panose="020B0604020202020204" pitchFamily="34" charset="0"/>
              <a:buChar char="•"/>
            </a:pPr>
            <a:r>
              <a:rPr lang="en-IN" sz="1100" b="1" i="0" u="none" strike="noStrike" cap="none">
                <a:solidFill>
                  <a:schemeClr val="tx2">
                    <a:lumMod val="85000"/>
                    <a:lumOff val="15000"/>
                  </a:schemeClr>
                </a:solidFill>
                <a:latin typeface="Calibri"/>
                <a:ea typeface="Calibri"/>
                <a:cs typeface="Calibri"/>
                <a:sym typeface="Calibri"/>
              </a:rPr>
              <a:t>Expertise </a:t>
            </a:r>
            <a:r>
              <a:rPr lang="en-IN" sz="1100" b="0" i="0" u="none" strike="noStrike" cap="none">
                <a:solidFill>
                  <a:schemeClr val="tx2">
                    <a:lumMod val="85000"/>
                    <a:lumOff val="15000"/>
                  </a:schemeClr>
                </a:solidFill>
                <a:latin typeface="Calibri"/>
                <a:ea typeface="Calibri"/>
                <a:cs typeface="Calibri"/>
                <a:sym typeface="Calibri"/>
              </a:rPr>
              <a:t>- Cross functional PAI team consisting of Cyber Specialists, Data Scientists, Data Engineers and Data Architects</a:t>
            </a:r>
          </a:p>
          <a:p>
            <a:pPr marL="342900" indent="-342900">
              <a:lnSpc>
                <a:spcPct val="120000"/>
              </a:lnSpc>
              <a:buClr>
                <a:schemeClr val="tx2"/>
              </a:buClr>
              <a:buSzPct val="110000"/>
              <a:buFont typeface="Arial" panose="020B0604020202020204" pitchFamily="34" charset="0"/>
              <a:buChar char="•"/>
            </a:pPr>
            <a:r>
              <a:rPr lang="en-IN" sz="1100" b="1">
                <a:solidFill>
                  <a:schemeClr val="tx2">
                    <a:lumMod val="85000"/>
                    <a:lumOff val="15000"/>
                  </a:schemeClr>
                </a:solidFill>
                <a:latin typeface="Calibri"/>
                <a:ea typeface="Calibri"/>
                <a:cs typeface="Calibri"/>
                <a:sym typeface="Calibri"/>
              </a:rPr>
              <a:t>Partnership model </a:t>
            </a:r>
            <a:r>
              <a:rPr lang="en-IN" sz="1100">
                <a:solidFill>
                  <a:schemeClr val="tx2">
                    <a:lumMod val="85000"/>
                    <a:lumOff val="15000"/>
                  </a:schemeClr>
                </a:solidFill>
                <a:latin typeface="Calibri"/>
                <a:ea typeface="Calibri"/>
                <a:cs typeface="Calibri"/>
                <a:sym typeface="Calibri"/>
              </a:rPr>
              <a:t>- PAI team work as embedded members of the Client team</a:t>
            </a:r>
            <a:r>
              <a:rPr lang="en-IN" sz="1100">
                <a:solidFill>
                  <a:schemeClr val="tx2">
                    <a:lumMod val="85000"/>
                    <a:lumOff val="15000"/>
                  </a:schemeClr>
                </a:solidFill>
                <a:latin typeface="Calibri"/>
                <a:ea typeface="Calibri"/>
                <a:cs typeface="Calibri"/>
              </a:rPr>
              <a:t> </a:t>
            </a:r>
          </a:p>
          <a:p>
            <a:pPr marL="342900" indent="-342900">
              <a:lnSpc>
                <a:spcPct val="120000"/>
              </a:lnSpc>
              <a:buClr>
                <a:schemeClr val="tx2"/>
              </a:buClr>
              <a:buSzPct val="110000"/>
              <a:buFont typeface="Arial" panose="020B0604020202020204" pitchFamily="34" charset="0"/>
              <a:buChar char="•"/>
            </a:pPr>
            <a:r>
              <a:rPr lang="en-IN" sz="1100" b="1">
                <a:solidFill>
                  <a:schemeClr val="tx2">
                    <a:lumMod val="85000"/>
                    <a:lumOff val="15000"/>
                  </a:schemeClr>
                </a:solidFill>
                <a:latin typeface="Calibri"/>
                <a:ea typeface="Calibri"/>
                <a:cs typeface="Calibri"/>
              </a:rPr>
              <a:t>Impact</a:t>
            </a:r>
            <a:r>
              <a:rPr lang="en-IN" sz="1100">
                <a:solidFill>
                  <a:schemeClr val="tx2">
                    <a:lumMod val="85000"/>
                    <a:lumOff val="15000"/>
                  </a:schemeClr>
                </a:solidFill>
                <a:latin typeface="Calibri"/>
                <a:ea typeface="Calibri"/>
                <a:cs typeface="Calibri"/>
              </a:rPr>
              <a:t> measured based on 1) </a:t>
            </a:r>
            <a:r>
              <a:rPr lang="en-IN" sz="1100" b="1">
                <a:solidFill>
                  <a:schemeClr val="tx2">
                    <a:lumMod val="85000"/>
                    <a:lumOff val="15000"/>
                  </a:schemeClr>
                </a:solidFill>
                <a:latin typeface="Calibri"/>
                <a:ea typeface="Calibri"/>
                <a:cs typeface="Calibri"/>
              </a:rPr>
              <a:t>Cost </a:t>
            </a:r>
            <a:r>
              <a:rPr lang="en-IN" sz="1100">
                <a:solidFill>
                  <a:schemeClr val="tx2">
                    <a:lumMod val="85000"/>
                    <a:lumOff val="15000"/>
                  </a:schemeClr>
                </a:solidFill>
                <a:latin typeface="Calibri"/>
                <a:ea typeface="Calibri"/>
                <a:cs typeface="Calibri"/>
              </a:rPr>
              <a:t>2) </a:t>
            </a:r>
            <a:r>
              <a:rPr lang="en-IN" sz="1100" b="1">
                <a:solidFill>
                  <a:schemeClr val="tx2">
                    <a:lumMod val="85000"/>
                    <a:lumOff val="15000"/>
                  </a:schemeClr>
                </a:solidFill>
                <a:latin typeface="Calibri"/>
                <a:ea typeface="Calibri"/>
                <a:cs typeface="Calibri"/>
              </a:rPr>
              <a:t>Accuracy and Risk reduction </a:t>
            </a:r>
            <a:r>
              <a:rPr lang="en-IN" sz="1100">
                <a:solidFill>
                  <a:schemeClr val="tx2">
                    <a:lumMod val="85000"/>
                    <a:lumOff val="15000"/>
                  </a:schemeClr>
                </a:solidFill>
                <a:latin typeface="Calibri"/>
                <a:ea typeface="Calibri"/>
                <a:cs typeface="Calibri"/>
              </a:rPr>
              <a:t>3) </a:t>
            </a:r>
            <a:r>
              <a:rPr lang="en-IN" sz="1100" b="1">
                <a:solidFill>
                  <a:schemeClr val="tx2">
                    <a:lumMod val="85000"/>
                    <a:lumOff val="15000"/>
                  </a:schemeClr>
                </a:solidFill>
                <a:latin typeface="Calibri"/>
                <a:ea typeface="Calibri"/>
                <a:cs typeface="Calibri"/>
              </a:rPr>
              <a:t>Performance</a:t>
            </a:r>
            <a:endParaRPr lang="en-IN" sz="1100" b="1" i="0" u="none" strike="noStrike" cap="none">
              <a:solidFill>
                <a:schemeClr val="tx2">
                  <a:lumMod val="85000"/>
                  <a:lumOff val="15000"/>
                </a:schemeClr>
              </a:solidFill>
              <a:latin typeface="Calibri"/>
              <a:ea typeface="Calibri"/>
              <a:cs typeface="Calibri"/>
              <a:sym typeface="Calibri"/>
            </a:endParaRPr>
          </a:p>
        </p:txBody>
      </p:sp>
      <p:pic>
        <p:nvPicPr>
          <p:cNvPr id="6" name="Graphic 5" descr="Thumbs up sign outline">
            <a:extLst>
              <a:ext uri="{FF2B5EF4-FFF2-40B4-BE49-F238E27FC236}">
                <a16:creationId xmlns:a16="http://schemas.microsoft.com/office/drawing/2014/main" id="{FCCC86BB-8EE4-E10C-BCF8-7BA86A6E0A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84182" y="3486699"/>
            <a:ext cx="681390" cy="681390"/>
          </a:xfrm>
          <a:prstGeom prst="rect">
            <a:avLst/>
          </a:prstGeom>
        </p:spPr>
      </p:pic>
      <p:pic>
        <p:nvPicPr>
          <p:cNvPr id="8" name="Graphic 7" descr="Send outline">
            <a:extLst>
              <a:ext uri="{FF2B5EF4-FFF2-40B4-BE49-F238E27FC236}">
                <a16:creationId xmlns:a16="http://schemas.microsoft.com/office/drawing/2014/main" id="{F12236C4-3729-7879-E964-C2B0E135630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84182" y="4913436"/>
            <a:ext cx="614564" cy="614564"/>
          </a:xfrm>
          <a:prstGeom prst="rect">
            <a:avLst/>
          </a:prstGeom>
        </p:spPr>
      </p:pic>
      <p:sp>
        <p:nvSpPr>
          <p:cNvPr id="10" name="Google Shape;175;p19">
            <a:extLst>
              <a:ext uri="{FF2B5EF4-FFF2-40B4-BE49-F238E27FC236}">
                <a16:creationId xmlns:a16="http://schemas.microsoft.com/office/drawing/2014/main" id="{9B591A59-3DEB-2DF6-6E98-269321B430D2}"/>
              </a:ext>
            </a:extLst>
          </p:cNvPr>
          <p:cNvSpPr/>
          <p:nvPr/>
        </p:nvSpPr>
        <p:spPr>
          <a:xfrm>
            <a:off x="10659289" y="2222735"/>
            <a:ext cx="245721" cy="404872"/>
          </a:xfrm>
          <a:custGeom>
            <a:avLst/>
            <a:gdLst/>
            <a:ahLst/>
            <a:cxnLst/>
            <a:rect l="l" t="t" r="r" b="b"/>
            <a:pathLst>
              <a:path w="5987" h="10241" extrusionOk="0">
                <a:moveTo>
                  <a:pt x="5073" y="946"/>
                </a:moveTo>
                <a:lnTo>
                  <a:pt x="5073" y="2647"/>
                </a:lnTo>
                <a:lnTo>
                  <a:pt x="5104" y="2647"/>
                </a:lnTo>
                <a:cubicBezTo>
                  <a:pt x="3623" y="3151"/>
                  <a:pt x="2489" y="4569"/>
                  <a:pt x="2489" y="6302"/>
                </a:cubicBezTo>
                <a:cubicBezTo>
                  <a:pt x="2489" y="6900"/>
                  <a:pt x="2647" y="7499"/>
                  <a:pt x="2867" y="8034"/>
                </a:cubicBezTo>
                <a:lnTo>
                  <a:pt x="1639" y="9263"/>
                </a:lnTo>
                <a:cubicBezTo>
                  <a:pt x="1103" y="8381"/>
                  <a:pt x="788" y="7373"/>
                  <a:pt x="788" y="6302"/>
                </a:cubicBezTo>
                <a:cubicBezTo>
                  <a:pt x="788" y="3750"/>
                  <a:pt x="2584" y="1513"/>
                  <a:pt x="5073" y="946"/>
                </a:cubicBezTo>
                <a:close/>
                <a:moveTo>
                  <a:pt x="5482" y="1"/>
                </a:moveTo>
                <a:cubicBezTo>
                  <a:pt x="2395" y="442"/>
                  <a:pt x="0" y="3088"/>
                  <a:pt x="0" y="6270"/>
                </a:cubicBezTo>
                <a:cubicBezTo>
                  <a:pt x="0" y="7688"/>
                  <a:pt x="441" y="8979"/>
                  <a:pt x="1292" y="10082"/>
                </a:cubicBezTo>
                <a:cubicBezTo>
                  <a:pt x="1377" y="10184"/>
                  <a:pt x="1500" y="10241"/>
                  <a:pt x="1624" y="10241"/>
                </a:cubicBezTo>
                <a:cubicBezTo>
                  <a:pt x="1729" y="10241"/>
                  <a:pt x="1835" y="10200"/>
                  <a:pt x="1922" y="10114"/>
                </a:cubicBezTo>
                <a:lnTo>
                  <a:pt x="3718" y="8349"/>
                </a:lnTo>
                <a:cubicBezTo>
                  <a:pt x="3812" y="8223"/>
                  <a:pt x="3844" y="8003"/>
                  <a:pt x="3781" y="7845"/>
                </a:cubicBezTo>
                <a:cubicBezTo>
                  <a:pt x="3497" y="7373"/>
                  <a:pt x="3340" y="6806"/>
                  <a:pt x="3340" y="6270"/>
                </a:cubicBezTo>
                <a:cubicBezTo>
                  <a:pt x="3340" y="4884"/>
                  <a:pt x="4285" y="3655"/>
                  <a:pt x="5671" y="3309"/>
                </a:cubicBezTo>
                <a:cubicBezTo>
                  <a:pt x="5860" y="3277"/>
                  <a:pt x="5986" y="3120"/>
                  <a:pt x="5986" y="2899"/>
                </a:cubicBezTo>
                <a:lnTo>
                  <a:pt x="5986" y="379"/>
                </a:lnTo>
                <a:cubicBezTo>
                  <a:pt x="5955" y="190"/>
                  <a:pt x="5703" y="1"/>
                  <a:pt x="5482" y="1"/>
                </a:cubicBezTo>
                <a:close/>
              </a:path>
            </a:pathLst>
          </a:custGeom>
          <a:solidFill>
            <a:schemeClr val="tx2">
              <a:lumMod val="85000"/>
              <a:lumOff val="15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 name="Google Shape;176;p19">
            <a:extLst>
              <a:ext uri="{FF2B5EF4-FFF2-40B4-BE49-F238E27FC236}">
                <a16:creationId xmlns:a16="http://schemas.microsoft.com/office/drawing/2014/main" id="{14A4BB64-9855-3986-CF0F-0774E945756F}"/>
              </a:ext>
            </a:extLst>
          </p:cNvPr>
          <p:cNvSpPr/>
          <p:nvPr/>
        </p:nvSpPr>
        <p:spPr>
          <a:xfrm>
            <a:off x="10754959" y="2614362"/>
            <a:ext cx="331048" cy="150784"/>
          </a:xfrm>
          <a:custGeom>
            <a:avLst/>
            <a:gdLst/>
            <a:ahLst/>
            <a:cxnLst/>
            <a:rect l="l" t="t" r="r" b="b"/>
            <a:pathLst>
              <a:path w="8066" h="3814" extrusionOk="0">
                <a:moveTo>
                  <a:pt x="5735" y="946"/>
                </a:moveTo>
                <a:lnTo>
                  <a:pt x="6963" y="2175"/>
                </a:lnTo>
                <a:cubicBezTo>
                  <a:pt x="6113" y="2710"/>
                  <a:pt x="5073" y="2994"/>
                  <a:pt x="4065" y="2994"/>
                </a:cubicBezTo>
                <a:cubicBezTo>
                  <a:pt x="3025" y="2994"/>
                  <a:pt x="2017" y="2710"/>
                  <a:pt x="1135" y="2175"/>
                </a:cubicBezTo>
                <a:lnTo>
                  <a:pt x="2364" y="946"/>
                </a:lnTo>
                <a:cubicBezTo>
                  <a:pt x="2868" y="1198"/>
                  <a:pt x="3466" y="1356"/>
                  <a:pt x="4065" y="1356"/>
                </a:cubicBezTo>
                <a:cubicBezTo>
                  <a:pt x="4600" y="1356"/>
                  <a:pt x="5199" y="1198"/>
                  <a:pt x="5735" y="946"/>
                </a:cubicBezTo>
                <a:close/>
                <a:moveTo>
                  <a:pt x="5758" y="1"/>
                </a:moveTo>
                <a:cubicBezTo>
                  <a:pt x="5693" y="1"/>
                  <a:pt x="5630" y="11"/>
                  <a:pt x="5577" y="32"/>
                </a:cubicBezTo>
                <a:cubicBezTo>
                  <a:pt x="5105" y="316"/>
                  <a:pt x="4569" y="474"/>
                  <a:pt x="4002" y="474"/>
                </a:cubicBezTo>
                <a:cubicBezTo>
                  <a:pt x="3956" y="476"/>
                  <a:pt x="3911" y="478"/>
                  <a:pt x="3865" y="478"/>
                </a:cubicBezTo>
                <a:cubicBezTo>
                  <a:pt x="3376" y="478"/>
                  <a:pt x="2890" y="326"/>
                  <a:pt x="2458" y="95"/>
                </a:cubicBezTo>
                <a:cubicBezTo>
                  <a:pt x="2389" y="54"/>
                  <a:pt x="2315" y="31"/>
                  <a:pt x="2239" y="31"/>
                </a:cubicBezTo>
                <a:cubicBezTo>
                  <a:pt x="2142" y="31"/>
                  <a:pt x="2043" y="70"/>
                  <a:pt x="1954" y="158"/>
                </a:cubicBezTo>
                <a:lnTo>
                  <a:pt x="190" y="1923"/>
                </a:lnTo>
                <a:cubicBezTo>
                  <a:pt x="1" y="2143"/>
                  <a:pt x="32" y="2395"/>
                  <a:pt x="221" y="2553"/>
                </a:cubicBezTo>
                <a:cubicBezTo>
                  <a:pt x="1324" y="3403"/>
                  <a:pt x="2616" y="3813"/>
                  <a:pt x="4002" y="3813"/>
                </a:cubicBezTo>
                <a:cubicBezTo>
                  <a:pt x="5388" y="3813"/>
                  <a:pt x="6711" y="3403"/>
                  <a:pt x="7814" y="2521"/>
                </a:cubicBezTo>
                <a:cubicBezTo>
                  <a:pt x="8035" y="2364"/>
                  <a:pt x="8066" y="2080"/>
                  <a:pt x="7877" y="1891"/>
                </a:cubicBezTo>
                <a:lnTo>
                  <a:pt x="6113" y="127"/>
                </a:lnTo>
                <a:cubicBezTo>
                  <a:pt x="6029" y="43"/>
                  <a:pt x="5889" y="1"/>
                  <a:pt x="5758" y="1"/>
                </a:cubicBezTo>
                <a:close/>
              </a:path>
            </a:pathLst>
          </a:custGeom>
          <a:solidFill>
            <a:schemeClr val="tx2">
              <a:lumMod val="85000"/>
              <a:lumOff val="15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 name="Google Shape;177;p19">
            <a:extLst>
              <a:ext uri="{FF2B5EF4-FFF2-40B4-BE49-F238E27FC236}">
                <a16:creationId xmlns:a16="http://schemas.microsoft.com/office/drawing/2014/main" id="{796F3F1A-0B4C-2F19-9F99-714E76B05A53}"/>
              </a:ext>
            </a:extLst>
          </p:cNvPr>
          <p:cNvSpPr/>
          <p:nvPr/>
        </p:nvSpPr>
        <p:spPr>
          <a:xfrm>
            <a:off x="10937269" y="2222595"/>
            <a:ext cx="245721" cy="405504"/>
          </a:xfrm>
          <a:custGeom>
            <a:avLst/>
            <a:gdLst/>
            <a:ahLst/>
            <a:cxnLst/>
            <a:rect l="l" t="t" r="r" b="b"/>
            <a:pathLst>
              <a:path w="5987" h="10257" extrusionOk="0">
                <a:moveTo>
                  <a:pt x="820" y="917"/>
                </a:moveTo>
                <a:cubicBezTo>
                  <a:pt x="3309" y="1453"/>
                  <a:pt x="5105" y="3690"/>
                  <a:pt x="5105" y="6273"/>
                </a:cubicBezTo>
                <a:cubicBezTo>
                  <a:pt x="5073" y="7344"/>
                  <a:pt x="4790" y="8352"/>
                  <a:pt x="4254" y="9235"/>
                </a:cubicBezTo>
                <a:lnTo>
                  <a:pt x="3025" y="8006"/>
                </a:lnTo>
                <a:cubicBezTo>
                  <a:pt x="3309" y="7502"/>
                  <a:pt x="3435" y="6903"/>
                  <a:pt x="3435" y="6305"/>
                </a:cubicBezTo>
                <a:cubicBezTo>
                  <a:pt x="3435" y="4572"/>
                  <a:pt x="2332" y="3154"/>
                  <a:pt x="820" y="2650"/>
                </a:cubicBezTo>
                <a:lnTo>
                  <a:pt x="820" y="917"/>
                </a:lnTo>
                <a:close/>
                <a:moveTo>
                  <a:pt x="419" y="0"/>
                </a:moveTo>
                <a:cubicBezTo>
                  <a:pt x="190" y="0"/>
                  <a:pt x="1" y="180"/>
                  <a:pt x="1" y="413"/>
                </a:cubicBezTo>
                <a:lnTo>
                  <a:pt x="1" y="2934"/>
                </a:lnTo>
                <a:cubicBezTo>
                  <a:pt x="1" y="3123"/>
                  <a:pt x="127" y="3280"/>
                  <a:pt x="316" y="3312"/>
                </a:cubicBezTo>
                <a:cubicBezTo>
                  <a:pt x="1639" y="3658"/>
                  <a:pt x="2647" y="4855"/>
                  <a:pt x="2647" y="6273"/>
                </a:cubicBezTo>
                <a:cubicBezTo>
                  <a:pt x="2647" y="6809"/>
                  <a:pt x="2490" y="7376"/>
                  <a:pt x="2206" y="7848"/>
                </a:cubicBezTo>
                <a:cubicBezTo>
                  <a:pt x="2080" y="8006"/>
                  <a:pt x="2112" y="8195"/>
                  <a:pt x="2269" y="8352"/>
                </a:cubicBezTo>
                <a:lnTo>
                  <a:pt x="4065" y="10117"/>
                </a:lnTo>
                <a:cubicBezTo>
                  <a:pt x="4149" y="10214"/>
                  <a:pt x="4251" y="10257"/>
                  <a:pt x="4353" y="10257"/>
                </a:cubicBezTo>
                <a:cubicBezTo>
                  <a:pt x="4481" y="10257"/>
                  <a:pt x="4608" y="10190"/>
                  <a:pt x="4695" y="10085"/>
                </a:cubicBezTo>
                <a:cubicBezTo>
                  <a:pt x="5514" y="8982"/>
                  <a:pt x="5987" y="7659"/>
                  <a:pt x="5987" y="6273"/>
                </a:cubicBezTo>
                <a:cubicBezTo>
                  <a:pt x="5892" y="3123"/>
                  <a:pt x="3529" y="445"/>
                  <a:pt x="474" y="4"/>
                </a:cubicBezTo>
                <a:cubicBezTo>
                  <a:pt x="455" y="1"/>
                  <a:pt x="437" y="0"/>
                  <a:pt x="419" y="0"/>
                </a:cubicBezTo>
                <a:close/>
              </a:path>
            </a:pathLst>
          </a:custGeom>
          <a:solidFill>
            <a:schemeClr val="tx2">
              <a:lumMod val="85000"/>
              <a:lumOff val="15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 name="Google Shape;178;p19">
            <a:extLst>
              <a:ext uri="{FF2B5EF4-FFF2-40B4-BE49-F238E27FC236}">
                <a16:creationId xmlns:a16="http://schemas.microsoft.com/office/drawing/2014/main" id="{3EBD117C-0CE3-8FA3-A2E7-DAC4E16F9379}"/>
              </a:ext>
            </a:extLst>
          </p:cNvPr>
          <p:cNvSpPr/>
          <p:nvPr/>
        </p:nvSpPr>
        <p:spPr>
          <a:xfrm>
            <a:off x="10867456" y="2383020"/>
            <a:ext cx="103468" cy="230446"/>
          </a:xfrm>
          <a:custGeom>
            <a:avLst/>
            <a:gdLst/>
            <a:ahLst/>
            <a:cxnLst/>
            <a:rect l="l" t="t" r="r" b="b"/>
            <a:pathLst>
              <a:path w="2521" h="5829" extrusionOk="0">
                <a:moveTo>
                  <a:pt x="1261" y="0"/>
                </a:moveTo>
                <a:cubicBezTo>
                  <a:pt x="1040" y="0"/>
                  <a:pt x="820" y="189"/>
                  <a:pt x="820" y="378"/>
                </a:cubicBezTo>
                <a:lnTo>
                  <a:pt x="820" y="662"/>
                </a:lnTo>
                <a:cubicBezTo>
                  <a:pt x="347" y="819"/>
                  <a:pt x="1" y="1292"/>
                  <a:pt x="1" y="1827"/>
                </a:cubicBezTo>
                <a:cubicBezTo>
                  <a:pt x="1" y="2521"/>
                  <a:pt x="568" y="2899"/>
                  <a:pt x="977" y="3214"/>
                </a:cubicBezTo>
                <a:cubicBezTo>
                  <a:pt x="1292" y="3466"/>
                  <a:pt x="1670" y="3686"/>
                  <a:pt x="1670" y="3938"/>
                </a:cubicBezTo>
                <a:cubicBezTo>
                  <a:pt x="1670" y="4159"/>
                  <a:pt x="1450" y="4348"/>
                  <a:pt x="1261" y="4348"/>
                </a:cubicBezTo>
                <a:cubicBezTo>
                  <a:pt x="1072" y="4348"/>
                  <a:pt x="820" y="4159"/>
                  <a:pt x="820" y="3938"/>
                </a:cubicBezTo>
                <a:cubicBezTo>
                  <a:pt x="820" y="3686"/>
                  <a:pt x="631" y="3497"/>
                  <a:pt x="442" y="3497"/>
                </a:cubicBezTo>
                <a:cubicBezTo>
                  <a:pt x="253" y="3497"/>
                  <a:pt x="32" y="3686"/>
                  <a:pt x="32" y="3938"/>
                </a:cubicBezTo>
                <a:cubicBezTo>
                  <a:pt x="32" y="4474"/>
                  <a:pt x="410" y="4915"/>
                  <a:pt x="883" y="5104"/>
                </a:cubicBezTo>
                <a:lnTo>
                  <a:pt x="883" y="5387"/>
                </a:lnTo>
                <a:cubicBezTo>
                  <a:pt x="883" y="5608"/>
                  <a:pt x="1072" y="5829"/>
                  <a:pt x="1292" y="5829"/>
                </a:cubicBezTo>
                <a:cubicBezTo>
                  <a:pt x="1544" y="5829"/>
                  <a:pt x="1702" y="5608"/>
                  <a:pt x="1702" y="5387"/>
                </a:cubicBezTo>
                <a:lnTo>
                  <a:pt x="1702" y="5104"/>
                </a:lnTo>
                <a:cubicBezTo>
                  <a:pt x="2175" y="4946"/>
                  <a:pt x="2521" y="4474"/>
                  <a:pt x="2521" y="3938"/>
                </a:cubicBezTo>
                <a:cubicBezTo>
                  <a:pt x="2521" y="3245"/>
                  <a:pt x="1985" y="2867"/>
                  <a:pt x="1544" y="2552"/>
                </a:cubicBezTo>
                <a:cubicBezTo>
                  <a:pt x="1229" y="2300"/>
                  <a:pt x="883" y="2079"/>
                  <a:pt x="883" y="1827"/>
                </a:cubicBezTo>
                <a:cubicBezTo>
                  <a:pt x="883" y="1607"/>
                  <a:pt x="1072" y="1418"/>
                  <a:pt x="1292" y="1418"/>
                </a:cubicBezTo>
                <a:cubicBezTo>
                  <a:pt x="1544" y="1418"/>
                  <a:pt x="1702" y="1607"/>
                  <a:pt x="1702" y="1827"/>
                </a:cubicBezTo>
                <a:cubicBezTo>
                  <a:pt x="1702" y="2079"/>
                  <a:pt x="1891" y="2268"/>
                  <a:pt x="2143" y="2268"/>
                </a:cubicBezTo>
                <a:cubicBezTo>
                  <a:pt x="2364" y="2268"/>
                  <a:pt x="2521" y="2079"/>
                  <a:pt x="2521" y="1827"/>
                </a:cubicBezTo>
                <a:cubicBezTo>
                  <a:pt x="2521" y="1292"/>
                  <a:pt x="2175" y="851"/>
                  <a:pt x="1702" y="662"/>
                </a:cubicBezTo>
                <a:lnTo>
                  <a:pt x="1702" y="378"/>
                </a:lnTo>
                <a:cubicBezTo>
                  <a:pt x="1702" y="189"/>
                  <a:pt x="1513" y="0"/>
                  <a:pt x="1261" y="0"/>
                </a:cubicBezTo>
                <a:close/>
              </a:path>
            </a:pathLst>
          </a:custGeom>
          <a:solidFill>
            <a:schemeClr val="tx2">
              <a:lumMod val="85000"/>
              <a:lumOff val="15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 name="TextBox 3">
            <a:extLst>
              <a:ext uri="{FF2B5EF4-FFF2-40B4-BE49-F238E27FC236}">
                <a16:creationId xmlns:a16="http://schemas.microsoft.com/office/drawing/2014/main" id="{A173E2BE-5D19-4EA3-0EBA-3A0BB596B4A9}"/>
              </a:ext>
            </a:extLst>
          </p:cNvPr>
          <p:cNvSpPr txBox="1"/>
          <p:nvPr/>
        </p:nvSpPr>
        <p:spPr>
          <a:xfrm>
            <a:off x="2454512" y="4673484"/>
            <a:ext cx="7683300" cy="1094467"/>
          </a:xfrm>
          <a:prstGeom prst="rect">
            <a:avLst/>
          </a:prstGeom>
          <a:noFill/>
        </p:spPr>
        <p:txBody>
          <a:bodyPr wrap="square" lIns="91440" tIns="45720" rIns="91440" bIns="45720" anchor="t">
            <a:spAutoFit/>
          </a:bodyPr>
          <a:lstStyle/>
          <a:p>
            <a:pPr marL="342900" indent="-342900">
              <a:lnSpc>
                <a:spcPct val="120000"/>
              </a:lnSpc>
              <a:buClr>
                <a:schemeClr val="tx2"/>
              </a:buClr>
              <a:buSzPct val="110000"/>
              <a:buFont typeface="Arial" panose="020B0604020202020204" pitchFamily="34" charset="0"/>
              <a:buChar char="•"/>
            </a:pPr>
            <a:r>
              <a:rPr lang="en-IN" sz="1100" b="1">
                <a:solidFill>
                  <a:schemeClr val="tx2">
                    <a:lumMod val="85000"/>
                    <a:lumOff val="15000"/>
                  </a:schemeClr>
                </a:solidFill>
                <a:latin typeface="Calibri"/>
                <a:ea typeface="Calibri"/>
                <a:cs typeface="Calibri"/>
              </a:rPr>
              <a:t>Cost -</a:t>
            </a:r>
            <a:r>
              <a:rPr lang="en-IN" sz="1100">
                <a:solidFill>
                  <a:schemeClr val="tx2">
                    <a:lumMod val="85000"/>
                    <a:lumOff val="15000"/>
                  </a:schemeClr>
                </a:solidFill>
                <a:latin typeface="Calibri"/>
                <a:ea typeface="Calibri"/>
                <a:cs typeface="Calibri"/>
              </a:rPr>
              <a:t> 80% reduction in customer platform costs in first 12 months</a:t>
            </a:r>
          </a:p>
          <a:p>
            <a:pPr marL="342900" indent="-342900">
              <a:lnSpc>
                <a:spcPct val="120000"/>
              </a:lnSpc>
              <a:buClr>
                <a:schemeClr val="tx2"/>
              </a:buClr>
              <a:buSzPct val="110000"/>
              <a:buFont typeface="Arial" panose="020B0604020202020204" pitchFamily="34" charset="0"/>
              <a:buChar char="•"/>
            </a:pPr>
            <a:r>
              <a:rPr lang="en-IN" sz="1100" b="1">
                <a:solidFill>
                  <a:schemeClr val="tx2">
                    <a:lumMod val="85000"/>
                    <a:lumOff val="15000"/>
                  </a:schemeClr>
                </a:solidFill>
                <a:latin typeface="Calibri"/>
                <a:ea typeface="Calibri"/>
                <a:cs typeface="Calibri"/>
              </a:rPr>
              <a:t>Risk Reduction - </a:t>
            </a:r>
            <a:r>
              <a:rPr lang="en-IN" sz="1100">
                <a:solidFill>
                  <a:schemeClr val="tx2">
                    <a:lumMod val="85000"/>
                    <a:lumOff val="15000"/>
                  </a:schemeClr>
                </a:solidFill>
                <a:latin typeface="Calibri"/>
                <a:ea typeface="Calibri"/>
                <a:cs typeface="Calibri"/>
              </a:rPr>
              <a:t> Advanced analytics using Machine Learning identified previously missed Red team attacks</a:t>
            </a:r>
          </a:p>
          <a:p>
            <a:pPr marL="342900" indent="-342900">
              <a:lnSpc>
                <a:spcPct val="120000"/>
              </a:lnSpc>
              <a:buClr>
                <a:schemeClr val="tx2"/>
              </a:buClr>
              <a:buSzPct val="110000"/>
              <a:buFont typeface="Arial" panose="020B0604020202020204" pitchFamily="34" charset="0"/>
              <a:buChar char="•"/>
            </a:pPr>
            <a:r>
              <a:rPr lang="en-IN" sz="1100" b="1">
                <a:solidFill>
                  <a:schemeClr val="tx2">
                    <a:lumMod val="85000"/>
                    <a:lumOff val="15000"/>
                  </a:schemeClr>
                </a:solidFill>
                <a:latin typeface="Calibri"/>
                <a:ea typeface="Calibri"/>
                <a:cs typeface="Calibri"/>
              </a:rPr>
              <a:t>Performance -</a:t>
            </a:r>
            <a:r>
              <a:rPr lang="en-IN" sz="1100">
                <a:solidFill>
                  <a:schemeClr val="tx2">
                    <a:lumMod val="85000"/>
                    <a:lumOff val="15000"/>
                  </a:schemeClr>
                </a:solidFill>
                <a:latin typeface="Calibri"/>
                <a:ea typeface="Calibri"/>
                <a:cs typeface="Calibri"/>
              </a:rPr>
              <a:t>  Analytics and searches that are easier and faster to execute </a:t>
            </a:r>
            <a:br>
              <a:rPr lang="en-IN" sz="1100">
                <a:latin typeface="Calibri"/>
                <a:ea typeface="Calibri"/>
                <a:cs typeface="Calibri"/>
              </a:rPr>
            </a:br>
            <a:r>
              <a:rPr lang="en-IN" sz="1000">
                <a:solidFill>
                  <a:schemeClr val="tx2">
                    <a:lumMod val="85000"/>
                    <a:lumOff val="15000"/>
                  </a:schemeClr>
                </a:solidFill>
                <a:latin typeface="Calibri"/>
                <a:ea typeface="Calibri"/>
                <a:cs typeface="Calibri"/>
              </a:rPr>
              <a:t>eg “</a:t>
            </a:r>
            <a:r>
              <a:rPr lang="en-IN" sz="1000" i="1">
                <a:solidFill>
                  <a:schemeClr val="tx2">
                    <a:lumMod val="85000"/>
                    <a:lumOff val="15000"/>
                  </a:schemeClr>
                </a:solidFill>
                <a:latin typeface="Calibri"/>
                <a:ea typeface="Calibri"/>
                <a:cs typeface="Calibri"/>
              </a:rPr>
              <a:t>36 times faster to remediate credit card exposure using new platform compared to previous capability (Splunk)”</a:t>
            </a:r>
          </a:p>
          <a:p>
            <a:pPr marL="342900" marR="0" lvl="0" indent="-342900" rtl="0">
              <a:lnSpc>
                <a:spcPct val="120000"/>
              </a:lnSpc>
              <a:spcBef>
                <a:spcPts val="0"/>
              </a:spcBef>
              <a:spcAft>
                <a:spcPts val="0"/>
              </a:spcAft>
              <a:buClr>
                <a:schemeClr val="tx2"/>
              </a:buClr>
              <a:buSzPct val="110000"/>
              <a:buFont typeface="Arial" panose="020B0604020202020204" pitchFamily="34" charset="0"/>
              <a:buChar char="•"/>
            </a:pPr>
            <a:r>
              <a:rPr lang="en-IN" sz="1100" b="1">
                <a:solidFill>
                  <a:schemeClr val="tx2">
                    <a:lumMod val="85000"/>
                    <a:lumOff val="15000"/>
                  </a:schemeClr>
                </a:solidFill>
                <a:latin typeface="Calibri"/>
                <a:ea typeface="Calibri"/>
                <a:cs typeface="Calibri"/>
                <a:sym typeface="Calibri"/>
              </a:rPr>
              <a:t>Simplification -</a:t>
            </a:r>
            <a:r>
              <a:rPr lang="en-IN" sz="1100">
                <a:solidFill>
                  <a:schemeClr val="tx2">
                    <a:lumMod val="85000"/>
                    <a:lumOff val="15000"/>
                  </a:schemeClr>
                </a:solidFill>
                <a:latin typeface="Calibri"/>
                <a:ea typeface="Calibri"/>
                <a:cs typeface="Calibri"/>
                <a:sym typeface="Calibri"/>
              </a:rPr>
              <a:t> replacing hundreds of analytics with smaller number of more accurate use cases</a:t>
            </a:r>
            <a:endParaRPr lang="en-IN" sz="1100">
              <a:solidFill>
                <a:schemeClr val="tx2">
                  <a:lumMod val="85000"/>
                  <a:lumOff val="15000"/>
                </a:schemeClr>
              </a:solidFill>
              <a:latin typeface="Calibri"/>
              <a:ea typeface="Calibri"/>
              <a:cs typeface="Calibri"/>
            </a:endParaRPr>
          </a:p>
        </p:txBody>
      </p:sp>
    </p:spTree>
    <p:extLst>
      <p:ext uri="{BB962C8B-B14F-4D97-AF65-F5344CB8AC3E}">
        <p14:creationId xmlns:p14="http://schemas.microsoft.com/office/powerpoint/2010/main" val="32117981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BD390-7E85-873F-F0A9-3816A64A163C}"/>
              </a:ext>
            </a:extLst>
          </p:cNvPr>
          <p:cNvSpPr>
            <a:spLocks noGrp="1"/>
          </p:cNvSpPr>
          <p:nvPr>
            <p:ph type="title"/>
          </p:nvPr>
        </p:nvSpPr>
        <p:spPr/>
        <p:txBody>
          <a:bodyPr/>
          <a:lstStyle/>
          <a:p>
            <a:r>
              <a:rPr lang="en-GB"/>
              <a:t>Global Top 5 Bank – CISO Data Fabric</a:t>
            </a:r>
          </a:p>
        </p:txBody>
      </p:sp>
      <p:sp>
        <p:nvSpPr>
          <p:cNvPr id="3" name="Text Placeholder 2">
            <a:extLst>
              <a:ext uri="{FF2B5EF4-FFF2-40B4-BE49-F238E27FC236}">
                <a16:creationId xmlns:a16="http://schemas.microsoft.com/office/drawing/2014/main" id="{AAB0244B-AD7B-0935-BF5E-EBFFC8979438}"/>
              </a:ext>
            </a:extLst>
          </p:cNvPr>
          <p:cNvSpPr>
            <a:spLocks noGrp="1"/>
          </p:cNvSpPr>
          <p:nvPr>
            <p:ph type="body" sz="quarter" idx="12"/>
          </p:nvPr>
        </p:nvSpPr>
        <p:spPr/>
        <p:txBody>
          <a:bodyPr/>
          <a:lstStyle/>
          <a:p>
            <a:endParaRPr lang="en-GB"/>
          </a:p>
        </p:txBody>
      </p:sp>
      <p:sp>
        <p:nvSpPr>
          <p:cNvPr id="4" name="Rectangle 3">
            <a:extLst>
              <a:ext uri="{FF2B5EF4-FFF2-40B4-BE49-F238E27FC236}">
                <a16:creationId xmlns:a16="http://schemas.microsoft.com/office/drawing/2014/main" id="{68E71D49-4E3E-2FE2-5797-317BC6FC43D7}"/>
              </a:ext>
            </a:extLst>
          </p:cNvPr>
          <p:cNvSpPr/>
          <p:nvPr/>
        </p:nvSpPr>
        <p:spPr>
          <a:xfrm>
            <a:off x="10293199" y="4581739"/>
            <a:ext cx="1276619" cy="1189911"/>
          </a:xfrm>
          <a:prstGeom prst="rect">
            <a:avLst/>
          </a:prstGeom>
          <a:solidFill>
            <a:srgbClr val="B8E2C5">
              <a:alpha val="9804"/>
            </a:srgbClr>
          </a:solidFill>
          <a:ln w="6350">
            <a:solidFill>
              <a:srgbClr val="B8E2C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5" name="TextBox 4">
            <a:extLst>
              <a:ext uri="{FF2B5EF4-FFF2-40B4-BE49-F238E27FC236}">
                <a16:creationId xmlns:a16="http://schemas.microsoft.com/office/drawing/2014/main" id="{3D1A5FC1-FB09-3D84-7F53-B328150809A0}"/>
              </a:ext>
            </a:extLst>
          </p:cNvPr>
          <p:cNvSpPr txBox="1"/>
          <p:nvPr/>
        </p:nvSpPr>
        <p:spPr>
          <a:xfrm>
            <a:off x="670977" y="958549"/>
            <a:ext cx="10985635" cy="246221"/>
          </a:xfrm>
          <a:prstGeom prst="rect">
            <a:avLst/>
          </a:prstGeom>
        </p:spPr>
        <p:txBody>
          <a:bodyPr lIns="0" tIns="0" rIns="0" bIns="0"/>
          <a:lstStyle>
            <a:lvl1pPr indent="0" defTabSz="822960">
              <a:lnSpc>
                <a:spcPct val="100000"/>
              </a:lnSpc>
              <a:spcBef>
                <a:spcPts val="0"/>
              </a:spcBef>
              <a:spcAft>
                <a:spcPts val="480"/>
              </a:spcAft>
              <a:buFont typeface="Arial" panose="020B0604020202020204" pitchFamily="34" charset="0"/>
              <a:buNone/>
              <a:defRPr sz="1400" b="1" i="0">
                <a:solidFill>
                  <a:schemeClr val="tx2">
                    <a:lumMod val="85000"/>
                    <a:lumOff val="15000"/>
                  </a:schemeClr>
                </a:solidFill>
                <a:latin typeface="Calibri Light" charset="0"/>
                <a:ea typeface="Calibri Light" charset="0"/>
                <a:cs typeface="Calibri Light" charset="0"/>
              </a:defRPr>
            </a:lvl1pPr>
            <a:lvl2pPr marL="604800" indent="-259200" defTabSz="822960">
              <a:lnSpc>
                <a:spcPct val="100000"/>
              </a:lnSpc>
              <a:spcBef>
                <a:spcPts val="0"/>
              </a:spcBef>
              <a:spcAft>
                <a:spcPts val="480"/>
              </a:spcAft>
              <a:buFont typeface="Arial" panose="020B0604020202020204" pitchFamily="34" charset="0"/>
              <a:buChar char="•"/>
              <a:defRPr sz="1260" b="0" i="0">
                <a:latin typeface="Calibri Light" charset="0"/>
                <a:ea typeface="Calibri Light" charset="0"/>
                <a:cs typeface="Calibri Light" charset="0"/>
              </a:defRPr>
            </a:lvl2pPr>
            <a:lvl3pPr marL="950400" indent="-259200" defTabSz="822960">
              <a:lnSpc>
                <a:spcPct val="100000"/>
              </a:lnSpc>
              <a:spcBef>
                <a:spcPts val="0"/>
              </a:spcBef>
              <a:spcAft>
                <a:spcPts val="480"/>
              </a:spcAft>
              <a:buFont typeface="Arial" panose="020B0604020202020204" pitchFamily="34" charset="0"/>
              <a:buChar char="•"/>
              <a:defRPr sz="1260" b="0" i="0">
                <a:latin typeface="Calibri Light" charset="0"/>
                <a:ea typeface="Calibri Light" charset="0"/>
                <a:cs typeface="Calibri Light" charset="0"/>
              </a:defRPr>
            </a:lvl3pPr>
            <a:lvl4pPr marL="1296000" indent="-259200" defTabSz="822960">
              <a:lnSpc>
                <a:spcPct val="100000"/>
              </a:lnSpc>
              <a:spcBef>
                <a:spcPts val="0"/>
              </a:spcBef>
              <a:spcAft>
                <a:spcPts val="480"/>
              </a:spcAft>
              <a:buFont typeface="Arial" panose="020B0604020202020204" pitchFamily="34" charset="0"/>
              <a:buChar char="•"/>
              <a:defRPr sz="1200" b="0" i="0">
                <a:latin typeface="Calibri Light" charset="0"/>
                <a:ea typeface="Calibri Light" charset="0"/>
                <a:cs typeface="Calibri Light" charset="0"/>
              </a:defRPr>
            </a:lvl4pPr>
            <a:lvl5pPr marL="1641600" indent="-259200" defTabSz="822960">
              <a:lnSpc>
                <a:spcPct val="100000"/>
              </a:lnSpc>
              <a:spcBef>
                <a:spcPts val="0"/>
              </a:spcBef>
              <a:spcAft>
                <a:spcPts val="480"/>
              </a:spcAft>
              <a:buFont typeface="Arial" panose="020B0604020202020204" pitchFamily="34" charset="0"/>
              <a:buChar char="•"/>
              <a:defRPr sz="1200" b="0" i="0">
                <a:latin typeface="Calibri Light" charset="0"/>
                <a:ea typeface="Calibri Light" charset="0"/>
                <a:cs typeface="Calibri Light" charset="0"/>
              </a:defRPr>
            </a:lvl5pPr>
            <a:lvl6pPr marL="2263140" indent="-205740" defTabSz="822960">
              <a:lnSpc>
                <a:spcPct val="90000"/>
              </a:lnSpc>
              <a:spcBef>
                <a:spcPts val="450"/>
              </a:spcBef>
              <a:buFont typeface="Arial" panose="020B0604020202020204" pitchFamily="34" charset="0"/>
              <a:buChar char="•"/>
              <a:defRPr sz="1620"/>
            </a:lvl6pPr>
            <a:lvl7pPr marL="2674620" indent="-205740" defTabSz="822960">
              <a:lnSpc>
                <a:spcPct val="90000"/>
              </a:lnSpc>
              <a:spcBef>
                <a:spcPts val="450"/>
              </a:spcBef>
              <a:buFont typeface="Arial" panose="020B0604020202020204" pitchFamily="34" charset="0"/>
              <a:buChar char="•"/>
              <a:defRPr sz="1620"/>
            </a:lvl7pPr>
            <a:lvl8pPr marL="3086100" indent="-205740" defTabSz="822960">
              <a:lnSpc>
                <a:spcPct val="90000"/>
              </a:lnSpc>
              <a:spcBef>
                <a:spcPts val="450"/>
              </a:spcBef>
              <a:buFont typeface="Arial" panose="020B0604020202020204" pitchFamily="34" charset="0"/>
              <a:buChar char="•"/>
              <a:defRPr sz="1620"/>
            </a:lvl8pPr>
            <a:lvl9pPr marL="3497580" indent="-205740" defTabSz="822960">
              <a:lnSpc>
                <a:spcPct val="90000"/>
              </a:lnSpc>
              <a:spcBef>
                <a:spcPts val="450"/>
              </a:spcBef>
              <a:buFont typeface="Arial" panose="020B0604020202020204" pitchFamily="34" charset="0"/>
              <a:buChar char="•"/>
              <a:defRPr sz="1620"/>
            </a:lvl9pPr>
          </a:lstStyle>
          <a:p>
            <a:r>
              <a:rPr lang="en-GB"/>
              <a:t>Client Description: </a:t>
            </a:r>
            <a:r>
              <a:rPr lang="en-GB" b="0"/>
              <a:t>Multinational bank and financial services company looking to consolidate their disparate data owned by the CISO function into a single platform, enabling predictive analytics and proactive management of risk. </a:t>
            </a:r>
            <a:endParaRPr lang="en-IN" b="0"/>
          </a:p>
        </p:txBody>
      </p:sp>
      <p:pic>
        <p:nvPicPr>
          <p:cNvPr id="6" name="Picture 5" descr="Shape&#10;&#10;Description automatically generated">
            <a:extLst>
              <a:ext uri="{FF2B5EF4-FFF2-40B4-BE49-F238E27FC236}">
                <a16:creationId xmlns:a16="http://schemas.microsoft.com/office/drawing/2014/main" id="{DC1DA39E-EFA0-FC91-AC43-CD64E8B7B2FA}"/>
              </a:ext>
            </a:extLst>
          </p:cNvPr>
          <p:cNvPicPr>
            <a:picLocks noChangeAspect="1"/>
          </p:cNvPicPr>
          <p:nvPr/>
        </p:nvPicPr>
        <p:blipFill>
          <a:blip r:embed="rId2"/>
          <a:stretch>
            <a:fillRect/>
          </a:stretch>
        </p:blipFill>
        <p:spPr>
          <a:xfrm>
            <a:off x="670584" y="1644882"/>
            <a:ext cx="116009" cy="1213714"/>
          </a:xfrm>
          <a:prstGeom prst="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p:spPr>
      </p:pic>
      <p:pic>
        <p:nvPicPr>
          <p:cNvPr id="7" name="Picture 6" descr="Shape&#10;&#10;Description automatically generated">
            <a:extLst>
              <a:ext uri="{FF2B5EF4-FFF2-40B4-BE49-F238E27FC236}">
                <a16:creationId xmlns:a16="http://schemas.microsoft.com/office/drawing/2014/main" id="{21A7E53E-B860-1C80-6813-F4D2D947BAD9}"/>
              </a:ext>
            </a:extLst>
          </p:cNvPr>
          <p:cNvPicPr>
            <a:picLocks noChangeAspect="1"/>
          </p:cNvPicPr>
          <p:nvPr/>
        </p:nvPicPr>
        <p:blipFill>
          <a:blip r:embed="rId2"/>
          <a:stretch>
            <a:fillRect/>
          </a:stretch>
        </p:blipFill>
        <p:spPr>
          <a:xfrm>
            <a:off x="671879" y="2994530"/>
            <a:ext cx="114263" cy="1463170"/>
          </a:xfrm>
          <a:prstGeom prst="rect">
            <a:avLst/>
          </a:prstGeom>
          <a:solidFill>
            <a:srgbClr val="EB6C15"/>
          </a:solidFill>
        </p:spPr>
      </p:pic>
      <p:sp>
        <p:nvSpPr>
          <p:cNvPr id="8" name="Rectangle 7">
            <a:extLst>
              <a:ext uri="{FF2B5EF4-FFF2-40B4-BE49-F238E27FC236}">
                <a16:creationId xmlns:a16="http://schemas.microsoft.com/office/drawing/2014/main" id="{B50A768D-BE67-E388-5C64-DEE34F692B6B}"/>
              </a:ext>
            </a:extLst>
          </p:cNvPr>
          <p:cNvSpPr/>
          <p:nvPr/>
        </p:nvSpPr>
        <p:spPr>
          <a:xfrm>
            <a:off x="672538" y="1644883"/>
            <a:ext cx="1685618" cy="1196976"/>
          </a:xfrm>
          <a:prstGeom prst="rect">
            <a:avLst/>
          </a:prstGeom>
          <a:noFill/>
          <a:ln w="6350">
            <a:solidFill>
              <a:srgbClr val="7B6CD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9" name="Rectangle 8">
            <a:extLst>
              <a:ext uri="{FF2B5EF4-FFF2-40B4-BE49-F238E27FC236}">
                <a16:creationId xmlns:a16="http://schemas.microsoft.com/office/drawing/2014/main" id="{76A3F6EA-AD98-E39D-5368-D259CF492C05}"/>
              </a:ext>
            </a:extLst>
          </p:cNvPr>
          <p:cNvSpPr/>
          <p:nvPr/>
        </p:nvSpPr>
        <p:spPr>
          <a:xfrm>
            <a:off x="673776" y="2992464"/>
            <a:ext cx="1683616" cy="1465236"/>
          </a:xfrm>
          <a:prstGeom prst="rect">
            <a:avLst/>
          </a:prstGeom>
          <a:noFill/>
          <a:ln w="6350">
            <a:solidFill>
              <a:srgbClr val="C1788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10" name="Rectangle 9">
            <a:extLst>
              <a:ext uri="{FF2B5EF4-FFF2-40B4-BE49-F238E27FC236}">
                <a16:creationId xmlns:a16="http://schemas.microsoft.com/office/drawing/2014/main" id="{DD511F84-F0E5-32BF-1C8C-8A77BA9C05C3}"/>
              </a:ext>
            </a:extLst>
          </p:cNvPr>
          <p:cNvSpPr/>
          <p:nvPr/>
        </p:nvSpPr>
        <p:spPr>
          <a:xfrm>
            <a:off x="673319" y="4590008"/>
            <a:ext cx="1684356" cy="1183108"/>
          </a:xfrm>
          <a:prstGeom prst="rect">
            <a:avLst/>
          </a:prstGeom>
          <a:noFill/>
          <a:ln w="6350">
            <a:solidFill>
              <a:srgbClr val="B8E2C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11" name="Rectangle 10">
            <a:extLst>
              <a:ext uri="{FF2B5EF4-FFF2-40B4-BE49-F238E27FC236}">
                <a16:creationId xmlns:a16="http://schemas.microsoft.com/office/drawing/2014/main" id="{85958181-F73B-FDE5-E158-19B846045420}"/>
              </a:ext>
            </a:extLst>
          </p:cNvPr>
          <p:cNvSpPr/>
          <p:nvPr/>
        </p:nvSpPr>
        <p:spPr>
          <a:xfrm>
            <a:off x="2459921" y="1644882"/>
            <a:ext cx="7739401" cy="1196976"/>
          </a:xfrm>
          <a:prstGeom prst="rect">
            <a:avLst/>
          </a:prstGeom>
          <a:solidFill>
            <a:srgbClr val="9373BF">
              <a:alpha val="9804"/>
            </a:srgbClr>
          </a:solidFill>
          <a:ln w="6350">
            <a:solidFill>
              <a:srgbClr val="7B6CD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12" name="Rectangle 11">
            <a:extLst>
              <a:ext uri="{FF2B5EF4-FFF2-40B4-BE49-F238E27FC236}">
                <a16:creationId xmlns:a16="http://schemas.microsoft.com/office/drawing/2014/main" id="{92839D9C-BABE-9B27-D4D3-54D28F199853}"/>
              </a:ext>
            </a:extLst>
          </p:cNvPr>
          <p:cNvSpPr/>
          <p:nvPr/>
        </p:nvSpPr>
        <p:spPr>
          <a:xfrm>
            <a:off x="2456846" y="2993827"/>
            <a:ext cx="7730206" cy="1463873"/>
          </a:xfrm>
          <a:prstGeom prst="rect">
            <a:avLst/>
          </a:prstGeom>
          <a:solidFill>
            <a:srgbClr val="C1788E">
              <a:alpha val="9804"/>
            </a:srgbClr>
          </a:solidFill>
          <a:ln w="6350">
            <a:solidFill>
              <a:srgbClr val="C1788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13" name="Rectangle 12">
            <a:extLst>
              <a:ext uri="{FF2B5EF4-FFF2-40B4-BE49-F238E27FC236}">
                <a16:creationId xmlns:a16="http://schemas.microsoft.com/office/drawing/2014/main" id="{4041B58E-0CBA-8C35-E816-D29C1550BA66}"/>
              </a:ext>
            </a:extLst>
          </p:cNvPr>
          <p:cNvSpPr/>
          <p:nvPr/>
        </p:nvSpPr>
        <p:spPr>
          <a:xfrm>
            <a:off x="2455577" y="4581739"/>
            <a:ext cx="7743745" cy="1189911"/>
          </a:xfrm>
          <a:prstGeom prst="rect">
            <a:avLst/>
          </a:prstGeom>
          <a:solidFill>
            <a:srgbClr val="B8E2C5">
              <a:alpha val="9804"/>
            </a:srgbClr>
          </a:solidFill>
          <a:ln w="6350">
            <a:solidFill>
              <a:srgbClr val="B8E2C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14" name="TextBox 13">
            <a:extLst>
              <a:ext uri="{FF2B5EF4-FFF2-40B4-BE49-F238E27FC236}">
                <a16:creationId xmlns:a16="http://schemas.microsoft.com/office/drawing/2014/main" id="{5CE8F6FD-593E-7B66-CD04-59C1D7C113F5}"/>
              </a:ext>
            </a:extLst>
          </p:cNvPr>
          <p:cNvSpPr txBox="1"/>
          <p:nvPr/>
        </p:nvSpPr>
        <p:spPr>
          <a:xfrm>
            <a:off x="1117285" y="2149117"/>
            <a:ext cx="888377"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b="1">
                <a:solidFill>
                  <a:schemeClr val="tx2">
                    <a:lumMod val="85000"/>
                    <a:lumOff val="15000"/>
                  </a:schemeClr>
                </a:solidFill>
                <a:cs typeface="Arial"/>
              </a:rPr>
              <a:t>Challenge</a:t>
            </a:r>
            <a:endParaRPr lang="en-IN" sz="1400" b="1">
              <a:solidFill>
                <a:schemeClr val="tx2">
                  <a:lumMod val="85000"/>
                  <a:lumOff val="15000"/>
                </a:schemeClr>
              </a:solidFill>
              <a:ea typeface="Calibri Light" charset="0"/>
              <a:cs typeface="Arial"/>
            </a:endParaRPr>
          </a:p>
        </p:txBody>
      </p:sp>
      <p:sp>
        <p:nvSpPr>
          <p:cNvPr id="15" name="TextBox 14">
            <a:extLst>
              <a:ext uri="{FF2B5EF4-FFF2-40B4-BE49-F238E27FC236}">
                <a16:creationId xmlns:a16="http://schemas.microsoft.com/office/drawing/2014/main" id="{45E8F723-2A53-D527-EB3E-0DF297DD7144}"/>
              </a:ext>
            </a:extLst>
          </p:cNvPr>
          <p:cNvSpPr txBox="1"/>
          <p:nvPr/>
        </p:nvSpPr>
        <p:spPr>
          <a:xfrm>
            <a:off x="1117285" y="3476985"/>
            <a:ext cx="888377"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b="1">
                <a:solidFill>
                  <a:schemeClr val="tx2">
                    <a:lumMod val="85000"/>
                    <a:lumOff val="15000"/>
                  </a:schemeClr>
                </a:solidFill>
                <a:cs typeface="Arial"/>
              </a:rPr>
              <a:t>Solution</a:t>
            </a:r>
            <a:endParaRPr lang="en-IN" sz="1400" b="1">
              <a:solidFill>
                <a:schemeClr val="tx2">
                  <a:lumMod val="85000"/>
                  <a:lumOff val="15000"/>
                </a:schemeClr>
              </a:solidFill>
              <a:ea typeface="Calibri Light" charset="0"/>
              <a:cs typeface="Arial"/>
            </a:endParaRPr>
          </a:p>
        </p:txBody>
      </p:sp>
      <p:sp>
        <p:nvSpPr>
          <p:cNvPr id="16" name="TextBox 15">
            <a:extLst>
              <a:ext uri="{FF2B5EF4-FFF2-40B4-BE49-F238E27FC236}">
                <a16:creationId xmlns:a16="http://schemas.microsoft.com/office/drawing/2014/main" id="{6C20F932-8597-7BA7-2C12-83D5D3EF9B09}"/>
              </a:ext>
            </a:extLst>
          </p:cNvPr>
          <p:cNvSpPr txBox="1"/>
          <p:nvPr/>
        </p:nvSpPr>
        <p:spPr>
          <a:xfrm>
            <a:off x="1117285" y="5061068"/>
            <a:ext cx="888377"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b="1">
                <a:solidFill>
                  <a:schemeClr val="tx2">
                    <a:lumMod val="85000"/>
                    <a:lumOff val="15000"/>
                  </a:schemeClr>
                </a:solidFill>
                <a:cs typeface="Arial"/>
              </a:rPr>
              <a:t>Benefits</a:t>
            </a:r>
            <a:endParaRPr lang="en-IN" sz="1400" b="1">
              <a:solidFill>
                <a:schemeClr val="tx2">
                  <a:lumMod val="85000"/>
                  <a:lumOff val="15000"/>
                </a:schemeClr>
              </a:solidFill>
              <a:ea typeface="Calibri Light" charset="0"/>
              <a:cs typeface="Arial"/>
            </a:endParaRPr>
          </a:p>
        </p:txBody>
      </p:sp>
      <p:pic>
        <p:nvPicPr>
          <p:cNvPr id="17" name="Picture 6" descr="Shape&#10;&#10;Description automatically generated">
            <a:extLst>
              <a:ext uri="{FF2B5EF4-FFF2-40B4-BE49-F238E27FC236}">
                <a16:creationId xmlns:a16="http://schemas.microsoft.com/office/drawing/2014/main" id="{653DFCA1-2089-510A-F99F-6EE9AEFD3F30}"/>
              </a:ext>
            </a:extLst>
          </p:cNvPr>
          <p:cNvPicPr>
            <a:picLocks noChangeAspect="1"/>
          </p:cNvPicPr>
          <p:nvPr/>
        </p:nvPicPr>
        <p:blipFill>
          <a:blip r:embed="rId3"/>
          <a:stretch>
            <a:fillRect/>
          </a:stretch>
        </p:blipFill>
        <p:spPr>
          <a:xfrm>
            <a:off x="673775" y="4592072"/>
            <a:ext cx="114263" cy="1179577"/>
          </a:xfrm>
          <a:prstGeom prst="rect">
            <a:avLst/>
          </a:prstGeom>
        </p:spPr>
      </p:pic>
      <p:sp>
        <p:nvSpPr>
          <p:cNvPr id="18" name="Rectangle 17">
            <a:extLst>
              <a:ext uri="{FF2B5EF4-FFF2-40B4-BE49-F238E27FC236}">
                <a16:creationId xmlns:a16="http://schemas.microsoft.com/office/drawing/2014/main" id="{0536693E-B1A5-6D89-53CD-EF6BD5D78795}"/>
              </a:ext>
            </a:extLst>
          </p:cNvPr>
          <p:cNvSpPr/>
          <p:nvPr/>
        </p:nvSpPr>
        <p:spPr>
          <a:xfrm>
            <a:off x="10302212" y="1644882"/>
            <a:ext cx="1277577" cy="1196976"/>
          </a:xfrm>
          <a:prstGeom prst="rect">
            <a:avLst/>
          </a:prstGeom>
          <a:solidFill>
            <a:srgbClr val="9373BF">
              <a:alpha val="9804"/>
            </a:srgbClr>
          </a:solidFill>
          <a:ln w="6350">
            <a:solidFill>
              <a:srgbClr val="7B6CD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19" name="Rectangle 18">
            <a:extLst>
              <a:ext uri="{FF2B5EF4-FFF2-40B4-BE49-F238E27FC236}">
                <a16:creationId xmlns:a16="http://schemas.microsoft.com/office/drawing/2014/main" id="{74B6025D-C190-23CF-F3E5-5957C1BA1D00}"/>
              </a:ext>
            </a:extLst>
          </p:cNvPr>
          <p:cNvSpPr/>
          <p:nvPr/>
        </p:nvSpPr>
        <p:spPr>
          <a:xfrm>
            <a:off x="10291735" y="2993827"/>
            <a:ext cx="1276059" cy="1463873"/>
          </a:xfrm>
          <a:prstGeom prst="rect">
            <a:avLst/>
          </a:prstGeom>
          <a:solidFill>
            <a:srgbClr val="C1788E">
              <a:alpha val="9804"/>
            </a:srgbClr>
          </a:solidFill>
          <a:ln w="6350">
            <a:solidFill>
              <a:srgbClr val="C1788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20" name="TextBox 19">
            <a:extLst>
              <a:ext uri="{FF2B5EF4-FFF2-40B4-BE49-F238E27FC236}">
                <a16:creationId xmlns:a16="http://schemas.microsoft.com/office/drawing/2014/main" id="{10B6F1D1-DF3E-968B-3260-F1040101DFDE}"/>
              </a:ext>
            </a:extLst>
          </p:cNvPr>
          <p:cNvSpPr txBox="1"/>
          <p:nvPr/>
        </p:nvSpPr>
        <p:spPr>
          <a:xfrm>
            <a:off x="2469866" y="1696136"/>
            <a:ext cx="7717186" cy="1094467"/>
          </a:xfrm>
          <a:prstGeom prst="rect">
            <a:avLst/>
          </a:prstGeom>
          <a:noFill/>
        </p:spPr>
        <p:txBody>
          <a:bodyPr wrap="square">
            <a:spAutoFit/>
          </a:bodyPr>
          <a:lstStyle/>
          <a:p>
            <a:pPr marL="171450" indent="-171450">
              <a:lnSpc>
                <a:spcPct val="120000"/>
              </a:lnSpc>
              <a:buClr>
                <a:schemeClr val="tx2"/>
              </a:buClr>
              <a:buSzPct val="110000"/>
              <a:buFont typeface="Arial" panose="020B0604020202020204" pitchFamily="34" charset="0"/>
              <a:buChar char="•"/>
            </a:pPr>
            <a:r>
              <a:rPr lang="en-US" sz="1100">
                <a:solidFill>
                  <a:schemeClr val="tx2">
                    <a:lumMod val="85000"/>
                    <a:lumOff val="15000"/>
                  </a:schemeClr>
                </a:solidFill>
                <a:latin typeface="Calibri"/>
                <a:ea typeface="Calibri"/>
                <a:cs typeface="Calibri"/>
              </a:rPr>
              <a:t>The client had a vision for </a:t>
            </a:r>
            <a:r>
              <a:rPr lang="en-US" sz="1100" b="1">
                <a:solidFill>
                  <a:schemeClr val="tx2">
                    <a:lumMod val="85000"/>
                    <a:lumOff val="15000"/>
                  </a:schemeClr>
                </a:solidFill>
                <a:latin typeface="Calibri"/>
                <a:ea typeface="Calibri"/>
                <a:cs typeface="Calibri"/>
              </a:rPr>
              <a:t>a comprehensive CISO Data Fabric </a:t>
            </a:r>
            <a:r>
              <a:rPr lang="en-US" sz="1100">
                <a:solidFill>
                  <a:schemeClr val="tx2">
                    <a:lumMod val="85000"/>
                    <a:lumOff val="15000"/>
                  </a:schemeClr>
                </a:solidFill>
                <a:latin typeface="Calibri"/>
                <a:ea typeface="Calibri"/>
                <a:cs typeface="Calibri"/>
              </a:rPr>
              <a:t>capable of performing big data, machine learning and artificial intelligence analytics, that over time all data sources under control of the CISO function will feed into. </a:t>
            </a:r>
          </a:p>
          <a:p>
            <a:pPr marL="171450" indent="-171450">
              <a:lnSpc>
                <a:spcPct val="120000"/>
              </a:lnSpc>
              <a:buClr>
                <a:schemeClr val="tx2"/>
              </a:buClr>
              <a:buSzPct val="110000"/>
              <a:buFont typeface="Arial" panose="020B0604020202020204" pitchFamily="34" charset="0"/>
              <a:buChar char="•"/>
            </a:pPr>
            <a:r>
              <a:rPr lang="en-US" sz="1100">
                <a:solidFill>
                  <a:schemeClr val="tx2">
                    <a:lumMod val="85000"/>
                    <a:lumOff val="15000"/>
                  </a:schemeClr>
                </a:solidFill>
                <a:latin typeface="Calibri"/>
                <a:ea typeface="Calibri"/>
                <a:cs typeface="Calibri"/>
              </a:rPr>
              <a:t>The Fabric needed to facilitate a </a:t>
            </a:r>
            <a:r>
              <a:rPr lang="en-US" sz="1100" b="1">
                <a:solidFill>
                  <a:schemeClr val="tx2">
                    <a:lumMod val="85000"/>
                    <a:lumOff val="15000"/>
                  </a:schemeClr>
                </a:solidFill>
                <a:latin typeface="Calibri"/>
                <a:ea typeface="Calibri"/>
                <a:cs typeface="Calibri"/>
              </a:rPr>
              <a:t>data-driven approach </a:t>
            </a:r>
            <a:r>
              <a:rPr lang="en-GB" sz="1100">
                <a:solidFill>
                  <a:schemeClr val="tx2">
                    <a:lumMod val="85000"/>
                    <a:lumOff val="15000"/>
                  </a:schemeClr>
                </a:solidFill>
                <a:latin typeface="Calibri"/>
                <a:ea typeface="Calibri"/>
                <a:cs typeface="Calibri"/>
              </a:rPr>
              <a:t>for identifying current cyber security risks, taking a proactive approach to threat detection, performing predictive modelling, providing behavioural analytics, and threat intelligence.</a:t>
            </a:r>
          </a:p>
          <a:p>
            <a:pPr marL="171450" indent="-171450">
              <a:lnSpc>
                <a:spcPct val="120000"/>
              </a:lnSpc>
              <a:buClr>
                <a:schemeClr val="tx2"/>
              </a:buClr>
              <a:buSzPct val="110000"/>
              <a:buFont typeface="Arial" panose="020B0604020202020204" pitchFamily="34" charset="0"/>
              <a:buChar char="•"/>
            </a:pPr>
            <a:r>
              <a:rPr lang="en-GB" sz="1100">
                <a:solidFill>
                  <a:schemeClr val="tx2">
                    <a:lumMod val="85000"/>
                    <a:lumOff val="15000"/>
                  </a:schemeClr>
                </a:solidFill>
                <a:latin typeface="Calibri"/>
                <a:ea typeface="Calibri"/>
                <a:cs typeface="Calibri"/>
              </a:rPr>
              <a:t>The Fabric was required to be deployed in their on-premise infrastructure, ensuring compliance with their rigorous controls. </a:t>
            </a:r>
            <a:endParaRPr lang="en-US" sz="1100">
              <a:solidFill>
                <a:schemeClr val="tx2">
                  <a:lumMod val="85000"/>
                  <a:lumOff val="15000"/>
                </a:schemeClr>
              </a:solidFill>
              <a:latin typeface="Calibri"/>
              <a:ea typeface="Calibri"/>
              <a:cs typeface="Calibri"/>
            </a:endParaRPr>
          </a:p>
        </p:txBody>
      </p:sp>
      <p:pic>
        <p:nvPicPr>
          <p:cNvPr id="22" name="Graphic 21" descr="Thumbs up sign outline">
            <a:extLst>
              <a:ext uri="{FF2B5EF4-FFF2-40B4-BE49-F238E27FC236}">
                <a16:creationId xmlns:a16="http://schemas.microsoft.com/office/drawing/2014/main" id="{7D7248E8-D6C9-996F-3288-679DD77CF75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84182" y="3375374"/>
            <a:ext cx="681390" cy="681390"/>
          </a:xfrm>
          <a:prstGeom prst="rect">
            <a:avLst/>
          </a:prstGeom>
        </p:spPr>
      </p:pic>
      <p:pic>
        <p:nvPicPr>
          <p:cNvPr id="23" name="Graphic 22" descr="Send outline">
            <a:extLst>
              <a:ext uri="{FF2B5EF4-FFF2-40B4-BE49-F238E27FC236}">
                <a16:creationId xmlns:a16="http://schemas.microsoft.com/office/drawing/2014/main" id="{A79661D0-984C-D00B-E263-C4281810667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84182" y="4869412"/>
            <a:ext cx="614564" cy="614564"/>
          </a:xfrm>
          <a:prstGeom prst="rect">
            <a:avLst/>
          </a:prstGeom>
        </p:spPr>
      </p:pic>
      <p:sp>
        <p:nvSpPr>
          <p:cNvPr id="24" name="Google Shape;175;p19">
            <a:extLst>
              <a:ext uri="{FF2B5EF4-FFF2-40B4-BE49-F238E27FC236}">
                <a16:creationId xmlns:a16="http://schemas.microsoft.com/office/drawing/2014/main" id="{2B378A9D-F34F-82D7-CF0D-F2916D5D74D6}"/>
              </a:ext>
            </a:extLst>
          </p:cNvPr>
          <p:cNvSpPr/>
          <p:nvPr/>
        </p:nvSpPr>
        <p:spPr>
          <a:xfrm>
            <a:off x="10659289" y="1912011"/>
            <a:ext cx="245721" cy="404872"/>
          </a:xfrm>
          <a:custGeom>
            <a:avLst/>
            <a:gdLst/>
            <a:ahLst/>
            <a:cxnLst/>
            <a:rect l="l" t="t" r="r" b="b"/>
            <a:pathLst>
              <a:path w="5987" h="10241" extrusionOk="0">
                <a:moveTo>
                  <a:pt x="5073" y="946"/>
                </a:moveTo>
                <a:lnTo>
                  <a:pt x="5073" y="2647"/>
                </a:lnTo>
                <a:lnTo>
                  <a:pt x="5104" y="2647"/>
                </a:lnTo>
                <a:cubicBezTo>
                  <a:pt x="3623" y="3151"/>
                  <a:pt x="2489" y="4569"/>
                  <a:pt x="2489" y="6302"/>
                </a:cubicBezTo>
                <a:cubicBezTo>
                  <a:pt x="2489" y="6900"/>
                  <a:pt x="2647" y="7499"/>
                  <a:pt x="2867" y="8034"/>
                </a:cubicBezTo>
                <a:lnTo>
                  <a:pt x="1639" y="9263"/>
                </a:lnTo>
                <a:cubicBezTo>
                  <a:pt x="1103" y="8381"/>
                  <a:pt x="788" y="7373"/>
                  <a:pt x="788" y="6302"/>
                </a:cubicBezTo>
                <a:cubicBezTo>
                  <a:pt x="788" y="3750"/>
                  <a:pt x="2584" y="1513"/>
                  <a:pt x="5073" y="946"/>
                </a:cubicBezTo>
                <a:close/>
                <a:moveTo>
                  <a:pt x="5482" y="1"/>
                </a:moveTo>
                <a:cubicBezTo>
                  <a:pt x="2395" y="442"/>
                  <a:pt x="0" y="3088"/>
                  <a:pt x="0" y="6270"/>
                </a:cubicBezTo>
                <a:cubicBezTo>
                  <a:pt x="0" y="7688"/>
                  <a:pt x="441" y="8979"/>
                  <a:pt x="1292" y="10082"/>
                </a:cubicBezTo>
                <a:cubicBezTo>
                  <a:pt x="1377" y="10184"/>
                  <a:pt x="1500" y="10241"/>
                  <a:pt x="1624" y="10241"/>
                </a:cubicBezTo>
                <a:cubicBezTo>
                  <a:pt x="1729" y="10241"/>
                  <a:pt x="1835" y="10200"/>
                  <a:pt x="1922" y="10114"/>
                </a:cubicBezTo>
                <a:lnTo>
                  <a:pt x="3718" y="8349"/>
                </a:lnTo>
                <a:cubicBezTo>
                  <a:pt x="3812" y="8223"/>
                  <a:pt x="3844" y="8003"/>
                  <a:pt x="3781" y="7845"/>
                </a:cubicBezTo>
                <a:cubicBezTo>
                  <a:pt x="3497" y="7373"/>
                  <a:pt x="3340" y="6806"/>
                  <a:pt x="3340" y="6270"/>
                </a:cubicBezTo>
                <a:cubicBezTo>
                  <a:pt x="3340" y="4884"/>
                  <a:pt x="4285" y="3655"/>
                  <a:pt x="5671" y="3309"/>
                </a:cubicBezTo>
                <a:cubicBezTo>
                  <a:pt x="5860" y="3277"/>
                  <a:pt x="5986" y="3120"/>
                  <a:pt x="5986" y="2899"/>
                </a:cubicBezTo>
                <a:lnTo>
                  <a:pt x="5986" y="379"/>
                </a:lnTo>
                <a:cubicBezTo>
                  <a:pt x="5955" y="190"/>
                  <a:pt x="5703" y="1"/>
                  <a:pt x="5482" y="1"/>
                </a:cubicBezTo>
                <a:close/>
              </a:path>
            </a:pathLst>
          </a:custGeom>
          <a:solidFill>
            <a:schemeClr val="tx2">
              <a:lumMod val="85000"/>
              <a:lumOff val="15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5" name="Google Shape;176;p19">
            <a:extLst>
              <a:ext uri="{FF2B5EF4-FFF2-40B4-BE49-F238E27FC236}">
                <a16:creationId xmlns:a16="http://schemas.microsoft.com/office/drawing/2014/main" id="{1DB7FE94-2C3D-207F-7E3E-4FE109254641}"/>
              </a:ext>
            </a:extLst>
          </p:cNvPr>
          <p:cNvSpPr/>
          <p:nvPr/>
        </p:nvSpPr>
        <p:spPr>
          <a:xfrm>
            <a:off x="10754959" y="2303638"/>
            <a:ext cx="331048" cy="150784"/>
          </a:xfrm>
          <a:custGeom>
            <a:avLst/>
            <a:gdLst/>
            <a:ahLst/>
            <a:cxnLst/>
            <a:rect l="l" t="t" r="r" b="b"/>
            <a:pathLst>
              <a:path w="8066" h="3814" extrusionOk="0">
                <a:moveTo>
                  <a:pt x="5735" y="946"/>
                </a:moveTo>
                <a:lnTo>
                  <a:pt x="6963" y="2175"/>
                </a:lnTo>
                <a:cubicBezTo>
                  <a:pt x="6113" y="2710"/>
                  <a:pt x="5073" y="2994"/>
                  <a:pt x="4065" y="2994"/>
                </a:cubicBezTo>
                <a:cubicBezTo>
                  <a:pt x="3025" y="2994"/>
                  <a:pt x="2017" y="2710"/>
                  <a:pt x="1135" y="2175"/>
                </a:cubicBezTo>
                <a:lnTo>
                  <a:pt x="2364" y="946"/>
                </a:lnTo>
                <a:cubicBezTo>
                  <a:pt x="2868" y="1198"/>
                  <a:pt x="3466" y="1356"/>
                  <a:pt x="4065" y="1356"/>
                </a:cubicBezTo>
                <a:cubicBezTo>
                  <a:pt x="4600" y="1356"/>
                  <a:pt x="5199" y="1198"/>
                  <a:pt x="5735" y="946"/>
                </a:cubicBezTo>
                <a:close/>
                <a:moveTo>
                  <a:pt x="5758" y="1"/>
                </a:moveTo>
                <a:cubicBezTo>
                  <a:pt x="5693" y="1"/>
                  <a:pt x="5630" y="11"/>
                  <a:pt x="5577" y="32"/>
                </a:cubicBezTo>
                <a:cubicBezTo>
                  <a:pt x="5105" y="316"/>
                  <a:pt x="4569" y="474"/>
                  <a:pt x="4002" y="474"/>
                </a:cubicBezTo>
                <a:cubicBezTo>
                  <a:pt x="3956" y="476"/>
                  <a:pt x="3911" y="478"/>
                  <a:pt x="3865" y="478"/>
                </a:cubicBezTo>
                <a:cubicBezTo>
                  <a:pt x="3376" y="478"/>
                  <a:pt x="2890" y="326"/>
                  <a:pt x="2458" y="95"/>
                </a:cubicBezTo>
                <a:cubicBezTo>
                  <a:pt x="2389" y="54"/>
                  <a:pt x="2315" y="31"/>
                  <a:pt x="2239" y="31"/>
                </a:cubicBezTo>
                <a:cubicBezTo>
                  <a:pt x="2142" y="31"/>
                  <a:pt x="2043" y="70"/>
                  <a:pt x="1954" y="158"/>
                </a:cubicBezTo>
                <a:lnTo>
                  <a:pt x="190" y="1923"/>
                </a:lnTo>
                <a:cubicBezTo>
                  <a:pt x="1" y="2143"/>
                  <a:pt x="32" y="2395"/>
                  <a:pt x="221" y="2553"/>
                </a:cubicBezTo>
                <a:cubicBezTo>
                  <a:pt x="1324" y="3403"/>
                  <a:pt x="2616" y="3813"/>
                  <a:pt x="4002" y="3813"/>
                </a:cubicBezTo>
                <a:cubicBezTo>
                  <a:pt x="5388" y="3813"/>
                  <a:pt x="6711" y="3403"/>
                  <a:pt x="7814" y="2521"/>
                </a:cubicBezTo>
                <a:cubicBezTo>
                  <a:pt x="8035" y="2364"/>
                  <a:pt x="8066" y="2080"/>
                  <a:pt x="7877" y="1891"/>
                </a:cubicBezTo>
                <a:lnTo>
                  <a:pt x="6113" y="127"/>
                </a:lnTo>
                <a:cubicBezTo>
                  <a:pt x="6029" y="43"/>
                  <a:pt x="5889" y="1"/>
                  <a:pt x="5758" y="1"/>
                </a:cubicBezTo>
                <a:close/>
              </a:path>
            </a:pathLst>
          </a:custGeom>
          <a:solidFill>
            <a:schemeClr val="tx2">
              <a:lumMod val="85000"/>
              <a:lumOff val="15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6" name="Google Shape;177;p19">
            <a:extLst>
              <a:ext uri="{FF2B5EF4-FFF2-40B4-BE49-F238E27FC236}">
                <a16:creationId xmlns:a16="http://schemas.microsoft.com/office/drawing/2014/main" id="{DF957738-E89E-FC47-60B4-CF94FF3A4878}"/>
              </a:ext>
            </a:extLst>
          </p:cNvPr>
          <p:cNvSpPr/>
          <p:nvPr/>
        </p:nvSpPr>
        <p:spPr>
          <a:xfrm>
            <a:off x="10937269" y="1911871"/>
            <a:ext cx="245721" cy="405504"/>
          </a:xfrm>
          <a:custGeom>
            <a:avLst/>
            <a:gdLst/>
            <a:ahLst/>
            <a:cxnLst/>
            <a:rect l="l" t="t" r="r" b="b"/>
            <a:pathLst>
              <a:path w="5987" h="10257" extrusionOk="0">
                <a:moveTo>
                  <a:pt x="820" y="917"/>
                </a:moveTo>
                <a:cubicBezTo>
                  <a:pt x="3309" y="1453"/>
                  <a:pt x="5105" y="3690"/>
                  <a:pt x="5105" y="6273"/>
                </a:cubicBezTo>
                <a:cubicBezTo>
                  <a:pt x="5073" y="7344"/>
                  <a:pt x="4790" y="8352"/>
                  <a:pt x="4254" y="9235"/>
                </a:cubicBezTo>
                <a:lnTo>
                  <a:pt x="3025" y="8006"/>
                </a:lnTo>
                <a:cubicBezTo>
                  <a:pt x="3309" y="7502"/>
                  <a:pt x="3435" y="6903"/>
                  <a:pt x="3435" y="6305"/>
                </a:cubicBezTo>
                <a:cubicBezTo>
                  <a:pt x="3435" y="4572"/>
                  <a:pt x="2332" y="3154"/>
                  <a:pt x="820" y="2650"/>
                </a:cubicBezTo>
                <a:lnTo>
                  <a:pt x="820" y="917"/>
                </a:lnTo>
                <a:close/>
                <a:moveTo>
                  <a:pt x="419" y="0"/>
                </a:moveTo>
                <a:cubicBezTo>
                  <a:pt x="190" y="0"/>
                  <a:pt x="1" y="180"/>
                  <a:pt x="1" y="413"/>
                </a:cubicBezTo>
                <a:lnTo>
                  <a:pt x="1" y="2934"/>
                </a:lnTo>
                <a:cubicBezTo>
                  <a:pt x="1" y="3123"/>
                  <a:pt x="127" y="3280"/>
                  <a:pt x="316" y="3312"/>
                </a:cubicBezTo>
                <a:cubicBezTo>
                  <a:pt x="1639" y="3658"/>
                  <a:pt x="2647" y="4855"/>
                  <a:pt x="2647" y="6273"/>
                </a:cubicBezTo>
                <a:cubicBezTo>
                  <a:pt x="2647" y="6809"/>
                  <a:pt x="2490" y="7376"/>
                  <a:pt x="2206" y="7848"/>
                </a:cubicBezTo>
                <a:cubicBezTo>
                  <a:pt x="2080" y="8006"/>
                  <a:pt x="2112" y="8195"/>
                  <a:pt x="2269" y="8352"/>
                </a:cubicBezTo>
                <a:lnTo>
                  <a:pt x="4065" y="10117"/>
                </a:lnTo>
                <a:cubicBezTo>
                  <a:pt x="4149" y="10214"/>
                  <a:pt x="4251" y="10257"/>
                  <a:pt x="4353" y="10257"/>
                </a:cubicBezTo>
                <a:cubicBezTo>
                  <a:pt x="4481" y="10257"/>
                  <a:pt x="4608" y="10190"/>
                  <a:pt x="4695" y="10085"/>
                </a:cubicBezTo>
                <a:cubicBezTo>
                  <a:pt x="5514" y="8982"/>
                  <a:pt x="5987" y="7659"/>
                  <a:pt x="5987" y="6273"/>
                </a:cubicBezTo>
                <a:cubicBezTo>
                  <a:pt x="5892" y="3123"/>
                  <a:pt x="3529" y="445"/>
                  <a:pt x="474" y="4"/>
                </a:cubicBezTo>
                <a:cubicBezTo>
                  <a:pt x="455" y="1"/>
                  <a:pt x="437" y="0"/>
                  <a:pt x="419" y="0"/>
                </a:cubicBezTo>
                <a:close/>
              </a:path>
            </a:pathLst>
          </a:custGeom>
          <a:solidFill>
            <a:schemeClr val="tx2">
              <a:lumMod val="85000"/>
              <a:lumOff val="15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7" name="Google Shape;178;p19">
            <a:extLst>
              <a:ext uri="{FF2B5EF4-FFF2-40B4-BE49-F238E27FC236}">
                <a16:creationId xmlns:a16="http://schemas.microsoft.com/office/drawing/2014/main" id="{41114452-13D8-6BFD-5CC4-89EF1E2CABE9}"/>
              </a:ext>
            </a:extLst>
          </p:cNvPr>
          <p:cNvSpPr/>
          <p:nvPr/>
        </p:nvSpPr>
        <p:spPr>
          <a:xfrm>
            <a:off x="10867456" y="2072296"/>
            <a:ext cx="103468" cy="230446"/>
          </a:xfrm>
          <a:custGeom>
            <a:avLst/>
            <a:gdLst/>
            <a:ahLst/>
            <a:cxnLst/>
            <a:rect l="l" t="t" r="r" b="b"/>
            <a:pathLst>
              <a:path w="2521" h="5829" extrusionOk="0">
                <a:moveTo>
                  <a:pt x="1261" y="0"/>
                </a:moveTo>
                <a:cubicBezTo>
                  <a:pt x="1040" y="0"/>
                  <a:pt x="820" y="189"/>
                  <a:pt x="820" y="378"/>
                </a:cubicBezTo>
                <a:lnTo>
                  <a:pt x="820" y="662"/>
                </a:lnTo>
                <a:cubicBezTo>
                  <a:pt x="347" y="819"/>
                  <a:pt x="1" y="1292"/>
                  <a:pt x="1" y="1827"/>
                </a:cubicBezTo>
                <a:cubicBezTo>
                  <a:pt x="1" y="2521"/>
                  <a:pt x="568" y="2899"/>
                  <a:pt x="977" y="3214"/>
                </a:cubicBezTo>
                <a:cubicBezTo>
                  <a:pt x="1292" y="3466"/>
                  <a:pt x="1670" y="3686"/>
                  <a:pt x="1670" y="3938"/>
                </a:cubicBezTo>
                <a:cubicBezTo>
                  <a:pt x="1670" y="4159"/>
                  <a:pt x="1450" y="4348"/>
                  <a:pt x="1261" y="4348"/>
                </a:cubicBezTo>
                <a:cubicBezTo>
                  <a:pt x="1072" y="4348"/>
                  <a:pt x="820" y="4159"/>
                  <a:pt x="820" y="3938"/>
                </a:cubicBezTo>
                <a:cubicBezTo>
                  <a:pt x="820" y="3686"/>
                  <a:pt x="631" y="3497"/>
                  <a:pt x="442" y="3497"/>
                </a:cubicBezTo>
                <a:cubicBezTo>
                  <a:pt x="253" y="3497"/>
                  <a:pt x="32" y="3686"/>
                  <a:pt x="32" y="3938"/>
                </a:cubicBezTo>
                <a:cubicBezTo>
                  <a:pt x="32" y="4474"/>
                  <a:pt x="410" y="4915"/>
                  <a:pt x="883" y="5104"/>
                </a:cubicBezTo>
                <a:lnTo>
                  <a:pt x="883" y="5387"/>
                </a:lnTo>
                <a:cubicBezTo>
                  <a:pt x="883" y="5608"/>
                  <a:pt x="1072" y="5829"/>
                  <a:pt x="1292" y="5829"/>
                </a:cubicBezTo>
                <a:cubicBezTo>
                  <a:pt x="1544" y="5829"/>
                  <a:pt x="1702" y="5608"/>
                  <a:pt x="1702" y="5387"/>
                </a:cubicBezTo>
                <a:lnTo>
                  <a:pt x="1702" y="5104"/>
                </a:lnTo>
                <a:cubicBezTo>
                  <a:pt x="2175" y="4946"/>
                  <a:pt x="2521" y="4474"/>
                  <a:pt x="2521" y="3938"/>
                </a:cubicBezTo>
                <a:cubicBezTo>
                  <a:pt x="2521" y="3245"/>
                  <a:pt x="1985" y="2867"/>
                  <a:pt x="1544" y="2552"/>
                </a:cubicBezTo>
                <a:cubicBezTo>
                  <a:pt x="1229" y="2300"/>
                  <a:pt x="883" y="2079"/>
                  <a:pt x="883" y="1827"/>
                </a:cubicBezTo>
                <a:cubicBezTo>
                  <a:pt x="883" y="1607"/>
                  <a:pt x="1072" y="1418"/>
                  <a:pt x="1292" y="1418"/>
                </a:cubicBezTo>
                <a:cubicBezTo>
                  <a:pt x="1544" y="1418"/>
                  <a:pt x="1702" y="1607"/>
                  <a:pt x="1702" y="1827"/>
                </a:cubicBezTo>
                <a:cubicBezTo>
                  <a:pt x="1702" y="2079"/>
                  <a:pt x="1891" y="2268"/>
                  <a:pt x="2143" y="2268"/>
                </a:cubicBezTo>
                <a:cubicBezTo>
                  <a:pt x="2364" y="2268"/>
                  <a:pt x="2521" y="2079"/>
                  <a:pt x="2521" y="1827"/>
                </a:cubicBezTo>
                <a:cubicBezTo>
                  <a:pt x="2521" y="1292"/>
                  <a:pt x="2175" y="851"/>
                  <a:pt x="1702" y="662"/>
                </a:cubicBezTo>
                <a:lnTo>
                  <a:pt x="1702" y="378"/>
                </a:lnTo>
                <a:cubicBezTo>
                  <a:pt x="1702" y="189"/>
                  <a:pt x="1513" y="0"/>
                  <a:pt x="1261" y="0"/>
                </a:cubicBezTo>
                <a:close/>
              </a:path>
            </a:pathLst>
          </a:custGeom>
          <a:solidFill>
            <a:schemeClr val="tx2">
              <a:lumMod val="85000"/>
              <a:lumOff val="15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8" name="TextBox 27">
            <a:extLst>
              <a:ext uri="{FF2B5EF4-FFF2-40B4-BE49-F238E27FC236}">
                <a16:creationId xmlns:a16="http://schemas.microsoft.com/office/drawing/2014/main" id="{E7A1A1DC-D2CB-5846-9258-6F4338ECF834}"/>
              </a:ext>
            </a:extLst>
          </p:cNvPr>
          <p:cNvSpPr txBox="1"/>
          <p:nvPr/>
        </p:nvSpPr>
        <p:spPr>
          <a:xfrm>
            <a:off x="2482136" y="2974716"/>
            <a:ext cx="7717186" cy="1500732"/>
          </a:xfrm>
          <a:prstGeom prst="rect">
            <a:avLst/>
          </a:prstGeom>
          <a:noFill/>
        </p:spPr>
        <p:txBody>
          <a:bodyPr wrap="square">
            <a:spAutoFit/>
          </a:bodyPr>
          <a:lstStyle/>
          <a:p>
            <a:pPr marL="171450" indent="-171450">
              <a:lnSpc>
                <a:spcPct val="120000"/>
              </a:lnSpc>
              <a:buClr>
                <a:schemeClr val="tx2"/>
              </a:buClr>
              <a:buSzPct val="110000"/>
              <a:buFont typeface="Arial" panose="020B0604020202020204" pitchFamily="34" charset="0"/>
              <a:buChar char="•"/>
            </a:pPr>
            <a:r>
              <a:rPr lang="en-GB" sz="1100">
                <a:solidFill>
                  <a:schemeClr val="tx2">
                    <a:lumMod val="85000"/>
                    <a:lumOff val="15000"/>
                  </a:schemeClr>
                </a:solidFill>
                <a:latin typeface="Calibri"/>
                <a:ea typeface="Calibri"/>
                <a:cs typeface="Calibri"/>
              </a:rPr>
              <a:t>Prevalent AI Data Fabric running on client’s existing OpenShift infrastructure including Knowledge Graph supporting extensible list of data sources.</a:t>
            </a:r>
            <a:r>
              <a:rPr lang="en-US" sz="1100">
                <a:solidFill>
                  <a:schemeClr val="tx2">
                    <a:lumMod val="85000"/>
                    <a:lumOff val="15000"/>
                  </a:schemeClr>
                </a:solidFill>
                <a:latin typeface="Calibri"/>
                <a:ea typeface="Calibri"/>
                <a:cs typeface="Calibri"/>
              </a:rPr>
              <a:t> </a:t>
            </a:r>
          </a:p>
          <a:p>
            <a:pPr marL="171450" indent="-171450">
              <a:lnSpc>
                <a:spcPct val="120000"/>
              </a:lnSpc>
              <a:buClr>
                <a:schemeClr val="tx2"/>
              </a:buClr>
              <a:buSzPct val="110000"/>
              <a:buFont typeface="Arial" panose="020B0604020202020204" pitchFamily="34" charset="0"/>
              <a:buChar char="•"/>
            </a:pPr>
            <a:r>
              <a:rPr lang="en-US" sz="1100">
                <a:solidFill>
                  <a:schemeClr val="tx2">
                    <a:lumMod val="85000"/>
                    <a:lumOff val="15000"/>
                  </a:schemeClr>
                </a:solidFill>
                <a:latin typeface="Calibri"/>
                <a:ea typeface="Calibri"/>
                <a:cs typeface="Calibri"/>
              </a:rPr>
              <a:t>Phased delivery over 3 years addressing tens of use cases including Security Incident Classification and Reporting, Data Security Posture Management and Risk Based Vulnerability Management.</a:t>
            </a:r>
          </a:p>
          <a:p>
            <a:pPr marL="171450" indent="-171450">
              <a:lnSpc>
                <a:spcPct val="120000"/>
              </a:lnSpc>
              <a:buClr>
                <a:schemeClr val="tx2"/>
              </a:buClr>
              <a:buSzPct val="110000"/>
              <a:buFont typeface="Arial" panose="020B0604020202020204" pitchFamily="34" charset="0"/>
              <a:buChar char="•"/>
            </a:pPr>
            <a:r>
              <a:rPr lang="en-GB" sz="1100" b="1">
                <a:solidFill>
                  <a:schemeClr val="tx2">
                    <a:lumMod val="85000"/>
                    <a:lumOff val="15000"/>
                  </a:schemeClr>
                </a:solidFill>
                <a:latin typeface="Calibri"/>
                <a:ea typeface="Calibri"/>
                <a:cs typeface="Calibri"/>
              </a:rPr>
              <a:t>Deep Dive – Security Incident Classification and Reporting: </a:t>
            </a:r>
            <a:r>
              <a:rPr lang="en-GB" sz="1100">
                <a:solidFill>
                  <a:schemeClr val="tx2">
                    <a:lumMod val="85000"/>
                    <a:lumOff val="15000"/>
                  </a:schemeClr>
                </a:solidFill>
                <a:latin typeface="Calibri"/>
                <a:ea typeface="Calibri"/>
                <a:cs typeface="Calibri"/>
              </a:rPr>
              <a:t>Use of ML and AI techniques to analyse hundreds of fields in Security Incident Tickets to normalise language in free text fields, extract key entities and classify incidents into their chosen taxonomy, automating reporting and root cause identification.</a:t>
            </a:r>
            <a:endParaRPr lang="en-GB" sz="1100" b="1">
              <a:solidFill>
                <a:schemeClr val="tx2">
                  <a:lumMod val="85000"/>
                  <a:lumOff val="15000"/>
                </a:schemeClr>
              </a:solidFill>
              <a:latin typeface="Calibri"/>
              <a:ea typeface="Calibri"/>
              <a:cs typeface="Calibri"/>
            </a:endParaRPr>
          </a:p>
        </p:txBody>
      </p:sp>
      <p:sp>
        <p:nvSpPr>
          <p:cNvPr id="29" name="TextBox 28">
            <a:extLst>
              <a:ext uri="{FF2B5EF4-FFF2-40B4-BE49-F238E27FC236}">
                <a16:creationId xmlns:a16="http://schemas.microsoft.com/office/drawing/2014/main" id="{19362839-7A68-545D-ADEA-37AB0866E8D9}"/>
              </a:ext>
            </a:extLst>
          </p:cNvPr>
          <p:cNvSpPr txBox="1"/>
          <p:nvPr/>
        </p:nvSpPr>
        <p:spPr>
          <a:xfrm>
            <a:off x="2469866" y="4608306"/>
            <a:ext cx="7717186" cy="1094467"/>
          </a:xfrm>
          <a:prstGeom prst="rect">
            <a:avLst/>
          </a:prstGeom>
          <a:noFill/>
        </p:spPr>
        <p:txBody>
          <a:bodyPr wrap="square">
            <a:spAutoFit/>
          </a:bodyPr>
          <a:lstStyle/>
          <a:p>
            <a:pPr marL="171450" indent="-171450">
              <a:lnSpc>
                <a:spcPct val="120000"/>
              </a:lnSpc>
              <a:buClr>
                <a:schemeClr val="tx2"/>
              </a:buClr>
              <a:buSzPct val="110000"/>
              <a:buFont typeface="Arial" panose="020B0604020202020204" pitchFamily="34" charset="0"/>
              <a:buChar char="•"/>
            </a:pPr>
            <a:r>
              <a:rPr lang="en-GB" sz="1100" b="1">
                <a:solidFill>
                  <a:schemeClr val="tx2">
                    <a:lumMod val="85000"/>
                    <a:lumOff val="15000"/>
                  </a:schemeClr>
                </a:solidFill>
                <a:latin typeface="Calibri"/>
                <a:ea typeface="Calibri"/>
                <a:cs typeface="Calibri"/>
              </a:rPr>
              <a:t>Flexible deployment model </a:t>
            </a:r>
            <a:r>
              <a:rPr lang="en-GB" sz="1100">
                <a:solidFill>
                  <a:schemeClr val="tx2">
                    <a:lumMod val="85000"/>
                    <a:lumOff val="15000"/>
                  </a:schemeClr>
                </a:solidFill>
                <a:latin typeface="Calibri"/>
                <a:ea typeface="Calibri"/>
                <a:cs typeface="Calibri"/>
              </a:rPr>
              <a:t>supporting client’s strict controls, allowing client to have extensible Data Fabric that would be otherwise unachievable.</a:t>
            </a:r>
            <a:endParaRPr lang="en-US" sz="1100" b="1">
              <a:solidFill>
                <a:schemeClr val="tx2">
                  <a:lumMod val="85000"/>
                  <a:lumOff val="15000"/>
                </a:schemeClr>
              </a:solidFill>
              <a:latin typeface="Calibri"/>
              <a:ea typeface="Calibri"/>
              <a:cs typeface="Calibri"/>
            </a:endParaRPr>
          </a:p>
          <a:p>
            <a:pPr marL="171450" indent="-171450">
              <a:lnSpc>
                <a:spcPct val="120000"/>
              </a:lnSpc>
              <a:buClr>
                <a:schemeClr val="tx2"/>
              </a:buClr>
              <a:buSzPct val="110000"/>
              <a:buFont typeface="Arial" panose="020B0604020202020204" pitchFamily="34" charset="0"/>
              <a:buChar char="•"/>
            </a:pPr>
            <a:r>
              <a:rPr lang="en-GB" sz="1100" b="1">
                <a:solidFill>
                  <a:schemeClr val="tx2">
                    <a:lumMod val="85000"/>
                    <a:lumOff val="15000"/>
                  </a:schemeClr>
                </a:solidFill>
                <a:latin typeface="Calibri"/>
                <a:ea typeface="Calibri"/>
                <a:cs typeface="Calibri"/>
              </a:rPr>
              <a:t>Open, flexible </a:t>
            </a:r>
            <a:r>
              <a:rPr lang="en-GB" sz="1100">
                <a:solidFill>
                  <a:schemeClr val="tx2">
                    <a:lumMod val="85000"/>
                    <a:lumOff val="15000"/>
                  </a:schemeClr>
                </a:solidFill>
                <a:latin typeface="Calibri"/>
                <a:ea typeface="Calibri"/>
                <a:cs typeface="Calibri"/>
              </a:rPr>
              <a:t>data fabric that can be extended by client’s team and Prevalent AI services team.</a:t>
            </a:r>
            <a:endParaRPr lang="en-GB" sz="1100" b="1">
              <a:solidFill>
                <a:schemeClr val="tx2">
                  <a:lumMod val="85000"/>
                  <a:lumOff val="15000"/>
                </a:schemeClr>
              </a:solidFill>
              <a:latin typeface="Calibri"/>
              <a:ea typeface="Calibri"/>
              <a:cs typeface="Calibri"/>
            </a:endParaRPr>
          </a:p>
          <a:p>
            <a:pPr marL="171450" indent="-171450">
              <a:lnSpc>
                <a:spcPct val="120000"/>
              </a:lnSpc>
              <a:buClr>
                <a:schemeClr val="tx2"/>
              </a:buClr>
              <a:buSzPct val="110000"/>
              <a:buFont typeface="Arial" panose="020B0604020202020204" pitchFamily="34" charset="0"/>
              <a:buChar char="•"/>
            </a:pPr>
            <a:r>
              <a:rPr lang="en-GB" sz="1100" b="1">
                <a:solidFill>
                  <a:schemeClr val="tx2">
                    <a:lumMod val="85000"/>
                    <a:lumOff val="15000"/>
                  </a:schemeClr>
                </a:solidFill>
                <a:latin typeface="Calibri"/>
                <a:ea typeface="Calibri"/>
                <a:cs typeface="Calibri"/>
              </a:rPr>
              <a:t>Significant reduction in</a:t>
            </a:r>
            <a:r>
              <a:rPr lang="en-GB" sz="1100">
                <a:solidFill>
                  <a:schemeClr val="tx2">
                    <a:lumMod val="85000"/>
                    <a:lumOff val="15000"/>
                  </a:schemeClr>
                </a:solidFill>
                <a:latin typeface="Calibri"/>
                <a:ea typeface="Calibri"/>
                <a:cs typeface="Calibri"/>
              </a:rPr>
              <a:t> </a:t>
            </a:r>
            <a:r>
              <a:rPr lang="en-GB" sz="1100" b="1">
                <a:solidFill>
                  <a:schemeClr val="tx2">
                    <a:lumMod val="85000"/>
                    <a:lumOff val="15000"/>
                  </a:schemeClr>
                </a:solidFill>
                <a:latin typeface="Calibri"/>
                <a:ea typeface="Calibri"/>
                <a:cs typeface="Calibri"/>
              </a:rPr>
              <a:t>manual effort </a:t>
            </a:r>
            <a:r>
              <a:rPr lang="en-GB" sz="1100">
                <a:solidFill>
                  <a:schemeClr val="tx2">
                    <a:lumMod val="85000"/>
                    <a:lumOff val="15000"/>
                  </a:schemeClr>
                </a:solidFill>
                <a:latin typeface="Calibri"/>
                <a:ea typeface="Calibri"/>
                <a:cs typeface="Calibri"/>
              </a:rPr>
              <a:t>required to classify and analyse incidents, </a:t>
            </a:r>
            <a:r>
              <a:rPr lang="en-GB" sz="1100" b="1">
                <a:solidFill>
                  <a:schemeClr val="tx2">
                    <a:lumMod val="85000"/>
                    <a:lumOff val="15000"/>
                  </a:schemeClr>
                </a:solidFill>
                <a:latin typeface="Calibri"/>
                <a:ea typeface="Calibri"/>
                <a:cs typeface="Calibri"/>
              </a:rPr>
              <a:t>ability to meet new regulatory requirements on incident reporting </a:t>
            </a:r>
            <a:r>
              <a:rPr lang="en-GB" sz="1100">
                <a:solidFill>
                  <a:schemeClr val="tx2">
                    <a:lumMod val="85000"/>
                    <a:lumOff val="15000"/>
                  </a:schemeClr>
                </a:solidFill>
                <a:latin typeface="Calibri"/>
                <a:ea typeface="Calibri"/>
                <a:cs typeface="Calibri"/>
              </a:rPr>
              <a:t>without the need to hire additional staff.</a:t>
            </a:r>
            <a:endParaRPr lang="en-GB" sz="1100" b="1">
              <a:solidFill>
                <a:schemeClr val="tx2">
                  <a:lumMod val="85000"/>
                  <a:lumOff val="15000"/>
                </a:schemeClr>
              </a:solidFill>
              <a:latin typeface="Calibri"/>
              <a:ea typeface="Calibri"/>
              <a:cs typeface="Calibri"/>
            </a:endParaRPr>
          </a:p>
        </p:txBody>
      </p:sp>
    </p:spTree>
    <p:extLst>
      <p:ext uri="{BB962C8B-B14F-4D97-AF65-F5344CB8AC3E}">
        <p14:creationId xmlns:p14="http://schemas.microsoft.com/office/powerpoint/2010/main" val="27628583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C074A3-6022-C74F-B607-96B74817A581}"/>
              </a:ext>
            </a:extLst>
          </p:cNvPr>
          <p:cNvSpPr/>
          <p:nvPr/>
        </p:nvSpPr>
        <p:spPr>
          <a:xfrm>
            <a:off x="2596896" y="1243584"/>
            <a:ext cx="6181344" cy="3520440"/>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dirty="0">
                <a:solidFill>
                  <a:srgbClr val="C00000"/>
                </a:solidFill>
              </a:rPr>
              <a:t>Graveyard</a:t>
            </a:r>
          </a:p>
        </p:txBody>
      </p:sp>
    </p:spTree>
    <p:extLst>
      <p:ext uri="{BB962C8B-B14F-4D97-AF65-F5344CB8AC3E}">
        <p14:creationId xmlns:p14="http://schemas.microsoft.com/office/powerpoint/2010/main" val="24154560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4A4B1-423E-2F63-A065-955273DB68B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D4BEEB8-064C-0BA0-8C2E-18B67789585A}"/>
              </a:ext>
            </a:extLst>
          </p:cNvPr>
          <p:cNvSpPr/>
          <p:nvPr/>
        </p:nvSpPr>
        <p:spPr>
          <a:xfrm>
            <a:off x="2596896" y="1243584"/>
            <a:ext cx="6181344" cy="3520440"/>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dirty="0" err="1">
                <a:solidFill>
                  <a:srgbClr val="C00000"/>
                </a:solidFill>
              </a:rPr>
              <a:t>Inspo</a:t>
            </a:r>
            <a:endParaRPr lang="en-GB" sz="3000" dirty="0">
              <a:solidFill>
                <a:srgbClr val="C00000"/>
              </a:solidFill>
            </a:endParaRPr>
          </a:p>
        </p:txBody>
      </p:sp>
    </p:spTree>
    <p:extLst>
      <p:ext uri="{BB962C8B-B14F-4D97-AF65-F5344CB8AC3E}">
        <p14:creationId xmlns:p14="http://schemas.microsoft.com/office/powerpoint/2010/main" val="11257984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54EF6-675A-DE54-C1E8-487924B91F0A}"/>
            </a:ext>
          </a:extLst>
        </p:cNvPr>
        <p:cNvGrpSpPr/>
        <p:nvPr/>
      </p:nvGrpSpPr>
      <p:grpSpPr>
        <a:xfrm>
          <a:off x="0" y="0"/>
          <a:ext cx="0" cy="0"/>
          <a:chOff x="0" y="0"/>
          <a:chExt cx="0" cy="0"/>
        </a:xfrm>
      </p:grpSpPr>
      <p:pic>
        <p:nvPicPr>
          <p:cNvPr id="1026" name="Picture 2" descr="Palantir Foundry Is 5–10 Years Ahead of Every Other Data Platform | by  Sainath Palla | Data Engineer Things">
            <a:extLst>
              <a:ext uri="{FF2B5EF4-FFF2-40B4-BE49-F238E27FC236}">
                <a16:creationId xmlns:a16="http://schemas.microsoft.com/office/drawing/2014/main" id="{A752CCBF-332A-118B-31E4-65C41AB058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420" y="847112"/>
            <a:ext cx="7361699" cy="4929127"/>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Palantir Foundry | Open Architecture">
            <a:extLst>
              <a:ext uri="{FF2B5EF4-FFF2-40B4-BE49-F238E27FC236}">
                <a16:creationId xmlns:a16="http://schemas.microsoft.com/office/drawing/2014/main" id="{C38D6492-12A9-025C-6E31-E2B714CE89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7300" y="969264"/>
            <a:ext cx="4575268" cy="44256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44568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ow knowledge graphs work and why they are the key to context for  enterprise AI">
            <a:extLst>
              <a:ext uri="{FF2B5EF4-FFF2-40B4-BE49-F238E27FC236}">
                <a16:creationId xmlns:a16="http://schemas.microsoft.com/office/drawing/2014/main" id="{E2CCDA41-33BC-E2A5-FC95-8DE48E16B2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597570"/>
            <a:ext cx="5460694" cy="3071641"/>
          </a:xfrm>
          <a:prstGeom prst="rect">
            <a:avLst/>
          </a:prstGeom>
          <a:noFill/>
          <a:extLst>
            <a:ext uri="{909E8E84-426E-40DD-AFC4-6F175D3DCCD1}">
              <a14:hiddenFill xmlns:a14="http://schemas.microsoft.com/office/drawing/2010/main">
                <a:solidFill>
                  <a:srgbClr val="FFFFFF"/>
                </a:solidFill>
              </a14:hiddenFill>
            </a:ext>
          </a:extLst>
        </p:spPr>
      </p:pic>
      <p:sp>
        <p:nvSpPr>
          <p:cNvPr id="3" name="AutoShape 6" descr="Product Illustration">
            <a:extLst>
              <a:ext uri="{FF2B5EF4-FFF2-40B4-BE49-F238E27FC236}">
                <a16:creationId xmlns:a16="http://schemas.microsoft.com/office/drawing/2014/main" id="{58920A3F-FF13-1F86-6C09-532290499508}"/>
              </a:ext>
            </a:extLst>
          </p:cNvPr>
          <p:cNvSpPr>
            <a:spLocks noChangeAspect="1" noChangeArrowheads="1"/>
          </p:cNvSpPr>
          <p:nvPr/>
        </p:nvSpPr>
        <p:spPr bwMode="auto">
          <a:xfrm>
            <a:off x="1410159" y="-1256841"/>
            <a:ext cx="4838241" cy="483824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5" name="Picture 4">
            <a:extLst>
              <a:ext uri="{FF2B5EF4-FFF2-40B4-BE49-F238E27FC236}">
                <a16:creationId xmlns:a16="http://schemas.microsoft.com/office/drawing/2014/main" id="{6E6D06C0-F334-4BC5-BC75-2B9DD025939C}"/>
              </a:ext>
            </a:extLst>
          </p:cNvPr>
          <p:cNvPicPr>
            <a:picLocks noChangeAspect="1"/>
          </p:cNvPicPr>
          <p:nvPr/>
        </p:nvPicPr>
        <p:blipFill>
          <a:blip r:embed="rId3"/>
          <a:stretch>
            <a:fillRect/>
          </a:stretch>
        </p:blipFill>
        <p:spPr>
          <a:xfrm>
            <a:off x="787706" y="612356"/>
            <a:ext cx="4947085" cy="2969044"/>
          </a:xfrm>
          <a:prstGeom prst="rect">
            <a:avLst/>
          </a:prstGeom>
        </p:spPr>
      </p:pic>
    </p:spTree>
    <p:extLst>
      <p:ext uri="{BB962C8B-B14F-4D97-AF65-F5344CB8AC3E}">
        <p14:creationId xmlns:p14="http://schemas.microsoft.com/office/powerpoint/2010/main" val="33146400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409C4-8999-7BEE-8DF2-9B519173763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ACA1F35-9C2F-B869-59E7-7E85EA4598BA}"/>
              </a:ext>
            </a:extLst>
          </p:cNvPr>
          <p:cNvSpPr/>
          <p:nvPr/>
        </p:nvSpPr>
        <p:spPr>
          <a:xfrm>
            <a:off x="2596896" y="1243584"/>
            <a:ext cx="6181344" cy="3520440"/>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dirty="0">
                <a:solidFill>
                  <a:srgbClr val="C00000"/>
                </a:solidFill>
              </a:rPr>
              <a:t>Other slides</a:t>
            </a:r>
          </a:p>
        </p:txBody>
      </p:sp>
    </p:spTree>
    <p:extLst>
      <p:ext uri="{BB962C8B-B14F-4D97-AF65-F5344CB8AC3E}">
        <p14:creationId xmlns:p14="http://schemas.microsoft.com/office/powerpoint/2010/main" val="32505883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DB82A70-4F5F-EDD3-6D51-759014BD90C4}"/>
              </a:ext>
            </a:extLst>
          </p:cNvPr>
          <p:cNvSpPr>
            <a:spLocks noGrp="1"/>
          </p:cNvSpPr>
          <p:nvPr>
            <p:ph type="body" sz="quarter" idx="10"/>
          </p:nvPr>
        </p:nvSpPr>
        <p:spPr/>
        <p:txBody>
          <a:bodyPr/>
          <a:lstStyle/>
          <a:p>
            <a:r>
              <a:rPr lang="en-US"/>
              <a:t>Case Study</a:t>
            </a:r>
          </a:p>
        </p:txBody>
      </p:sp>
    </p:spTree>
    <p:extLst>
      <p:ext uri="{BB962C8B-B14F-4D97-AF65-F5344CB8AC3E}">
        <p14:creationId xmlns:p14="http://schemas.microsoft.com/office/powerpoint/2010/main" val="994121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98A56219-EA70-AC01-D3E3-3518B7B0CC2E}"/>
              </a:ext>
            </a:extLst>
          </p:cNvPr>
          <p:cNvSpPr/>
          <p:nvPr/>
        </p:nvSpPr>
        <p:spPr>
          <a:xfrm>
            <a:off x="10293199" y="4625763"/>
            <a:ext cx="1276619" cy="1189911"/>
          </a:xfrm>
          <a:prstGeom prst="rect">
            <a:avLst/>
          </a:prstGeom>
          <a:solidFill>
            <a:srgbClr val="B8E2C5">
              <a:alpha val="9804"/>
            </a:srgbClr>
          </a:solidFill>
          <a:ln w="6350">
            <a:solidFill>
              <a:srgbClr val="B8E2C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2" name="Title 1">
            <a:extLst>
              <a:ext uri="{FF2B5EF4-FFF2-40B4-BE49-F238E27FC236}">
                <a16:creationId xmlns:a16="http://schemas.microsoft.com/office/drawing/2014/main" id="{E89830CA-41C3-5F31-F8E9-D11F7D68924E}"/>
              </a:ext>
            </a:extLst>
          </p:cNvPr>
          <p:cNvSpPr>
            <a:spLocks noGrp="1"/>
          </p:cNvSpPr>
          <p:nvPr>
            <p:ph type="title"/>
          </p:nvPr>
        </p:nvSpPr>
        <p:spPr/>
        <p:txBody>
          <a:bodyPr/>
          <a:lstStyle/>
          <a:p>
            <a:r>
              <a:rPr lang="en-GB" sz="2150"/>
              <a:t>Leading International Bank – Significant Cost and Risk Reduction </a:t>
            </a:r>
            <a:endParaRPr lang="en-GB"/>
          </a:p>
        </p:txBody>
      </p:sp>
      <p:sp>
        <p:nvSpPr>
          <p:cNvPr id="7" name="Text Placeholder 6">
            <a:extLst>
              <a:ext uri="{FF2B5EF4-FFF2-40B4-BE49-F238E27FC236}">
                <a16:creationId xmlns:a16="http://schemas.microsoft.com/office/drawing/2014/main" id="{4E672D27-5C41-8B71-05C9-15592E37578B}"/>
              </a:ext>
            </a:extLst>
          </p:cNvPr>
          <p:cNvSpPr>
            <a:spLocks noGrp="1"/>
          </p:cNvSpPr>
          <p:nvPr>
            <p:ph type="body" sz="quarter" idx="12"/>
          </p:nvPr>
        </p:nvSpPr>
        <p:spPr/>
        <p:txBody>
          <a:bodyPr/>
          <a:lstStyle/>
          <a:p>
            <a:endParaRPr lang="en-GB"/>
          </a:p>
        </p:txBody>
      </p:sp>
      <p:sp>
        <p:nvSpPr>
          <p:cNvPr id="36" name="TextBox 35">
            <a:extLst>
              <a:ext uri="{FF2B5EF4-FFF2-40B4-BE49-F238E27FC236}">
                <a16:creationId xmlns:a16="http://schemas.microsoft.com/office/drawing/2014/main" id="{66FFF6E0-418F-E89C-B36D-FD997547F7E4}"/>
              </a:ext>
            </a:extLst>
          </p:cNvPr>
          <p:cNvSpPr txBox="1"/>
          <p:nvPr/>
        </p:nvSpPr>
        <p:spPr>
          <a:xfrm>
            <a:off x="670977" y="958549"/>
            <a:ext cx="10985635" cy="64633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just"/>
            <a:r>
              <a:rPr lang="en-US" sz="1400">
                <a:solidFill>
                  <a:schemeClr val="tx2">
                    <a:lumMod val="85000"/>
                    <a:lumOff val="15000"/>
                  </a:schemeClr>
                </a:solidFill>
                <a:latin typeface="Calibri Light"/>
                <a:cs typeface="Arial"/>
              </a:rPr>
              <a:t>A multinational bank with a significant presence in both emerging and developed markets is developing an AI-powered, data-driven Fusion Centre capability </a:t>
            </a:r>
            <a:r>
              <a:rPr lang="en-IN" sz="1400">
                <a:solidFill>
                  <a:schemeClr val="tx2">
                    <a:lumMod val="85000"/>
                    <a:lumOff val="15000"/>
                  </a:schemeClr>
                </a:solidFill>
                <a:latin typeface="Calibri Light"/>
                <a:cs typeface="Arial"/>
              </a:rPr>
              <a:t>covering cyber security, financial crime, fraud, physical security and more. PAI is partnered with the bank on this multi-year strategic program supporting the development of advanced analytics capabilities</a:t>
            </a:r>
            <a:endParaRPr lang="en-IN" sz="1400">
              <a:solidFill>
                <a:schemeClr val="tx2">
                  <a:lumMod val="85000"/>
                  <a:lumOff val="15000"/>
                </a:schemeClr>
              </a:solidFill>
              <a:latin typeface="Calibri Light"/>
              <a:ea typeface="Calibri Light" charset="0"/>
              <a:cs typeface="Arial"/>
            </a:endParaRPr>
          </a:p>
        </p:txBody>
      </p:sp>
      <p:pic>
        <p:nvPicPr>
          <p:cNvPr id="3" name="Picture 2" descr="Shape&#10;&#10;Description automatically generated">
            <a:extLst>
              <a:ext uri="{FF2B5EF4-FFF2-40B4-BE49-F238E27FC236}">
                <a16:creationId xmlns:a16="http://schemas.microsoft.com/office/drawing/2014/main" id="{3D751D9A-8A9B-EA05-3870-E12AE6BAB661}"/>
              </a:ext>
            </a:extLst>
          </p:cNvPr>
          <p:cNvPicPr>
            <a:picLocks noChangeAspect="1"/>
          </p:cNvPicPr>
          <p:nvPr/>
        </p:nvPicPr>
        <p:blipFill>
          <a:blip r:embed="rId2"/>
          <a:stretch>
            <a:fillRect/>
          </a:stretch>
        </p:blipFill>
        <p:spPr>
          <a:xfrm>
            <a:off x="670584" y="1955606"/>
            <a:ext cx="116009" cy="1213714"/>
          </a:xfrm>
          <a:prstGeom prst="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p:spPr>
      </p:pic>
      <p:pic>
        <p:nvPicPr>
          <p:cNvPr id="5" name="Picture 4" descr="Shape&#10;&#10;Description automatically generated">
            <a:extLst>
              <a:ext uri="{FF2B5EF4-FFF2-40B4-BE49-F238E27FC236}">
                <a16:creationId xmlns:a16="http://schemas.microsoft.com/office/drawing/2014/main" id="{1E633E28-023E-1628-67C3-C62472481604}"/>
              </a:ext>
            </a:extLst>
          </p:cNvPr>
          <p:cNvPicPr>
            <a:picLocks noChangeAspect="1"/>
          </p:cNvPicPr>
          <p:nvPr/>
        </p:nvPicPr>
        <p:blipFill>
          <a:blip r:embed="rId2"/>
          <a:stretch>
            <a:fillRect/>
          </a:stretch>
        </p:blipFill>
        <p:spPr>
          <a:xfrm>
            <a:off x="671880" y="3305254"/>
            <a:ext cx="115300" cy="1194552"/>
          </a:xfrm>
          <a:prstGeom prst="rect">
            <a:avLst/>
          </a:prstGeom>
          <a:solidFill>
            <a:srgbClr val="EB6C15"/>
          </a:solidFill>
        </p:spPr>
      </p:pic>
      <p:sp>
        <p:nvSpPr>
          <p:cNvPr id="9" name="Rectangle 8">
            <a:extLst>
              <a:ext uri="{FF2B5EF4-FFF2-40B4-BE49-F238E27FC236}">
                <a16:creationId xmlns:a16="http://schemas.microsoft.com/office/drawing/2014/main" id="{44CB6BB4-4905-0744-EB72-F6EEF60F55A8}"/>
              </a:ext>
            </a:extLst>
          </p:cNvPr>
          <p:cNvSpPr/>
          <p:nvPr/>
        </p:nvSpPr>
        <p:spPr>
          <a:xfrm>
            <a:off x="672538" y="1955607"/>
            <a:ext cx="1685618" cy="1196976"/>
          </a:xfrm>
          <a:prstGeom prst="rect">
            <a:avLst/>
          </a:prstGeom>
          <a:noFill/>
          <a:ln w="6350">
            <a:solidFill>
              <a:srgbClr val="7B6CD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13" name="Rectangle 12">
            <a:extLst>
              <a:ext uri="{FF2B5EF4-FFF2-40B4-BE49-F238E27FC236}">
                <a16:creationId xmlns:a16="http://schemas.microsoft.com/office/drawing/2014/main" id="{96FC360B-43B9-894B-F7A7-16ACD4CAF56B}"/>
              </a:ext>
            </a:extLst>
          </p:cNvPr>
          <p:cNvSpPr/>
          <p:nvPr/>
        </p:nvSpPr>
        <p:spPr>
          <a:xfrm>
            <a:off x="673776" y="3303188"/>
            <a:ext cx="1683616" cy="1196975"/>
          </a:xfrm>
          <a:prstGeom prst="rect">
            <a:avLst/>
          </a:prstGeom>
          <a:noFill/>
          <a:ln w="6350">
            <a:solidFill>
              <a:srgbClr val="C1788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37" name="Rectangle 36">
            <a:extLst>
              <a:ext uri="{FF2B5EF4-FFF2-40B4-BE49-F238E27FC236}">
                <a16:creationId xmlns:a16="http://schemas.microsoft.com/office/drawing/2014/main" id="{32D43F61-C12A-AC86-BA4F-7C0A4FFCBE9A}"/>
              </a:ext>
            </a:extLst>
          </p:cNvPr>
          <p:cNvSpPr/>
          <p:nvPr/>
        </p:nvSpPr>
        <p:spPr>
          <a:xfrm>
            <a:off x="673319" y="4634032"/>
            <a:ext cx="1684356" cy="1183108"/>
          </a:xfrm>
          <a:prstGeom prst="rect">
            <a:avLst/>
          </a:prstGeom>
          <a:noFill/>
          <a:ln w="6350">
            <a:solidFill>
              <a:srgbClr val="B8E2C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39" name="Rectangle 38">
            <a:extLst>
              <a:ext uri="{FF2B5EF4-FFF2-40B4-BE49-F238E27FC236}">
                <a16:creationId xmlns:a16="http://schemas.microsoft.com/office/drawing/2014/main" id="{28453AD8-C492-7EEC-12A9-0CFAA0319EFB}"/>
              </a:ext>
            </a:extLst>
          </p:cNvPr>
          <p:cNvSpPr/>
          <p:nvPr/>
        </p:nvSpPr>
        <p:spPr>
          <a:xfrm>
            <a:off x="2459921" y="1955606"/>
            <a:ext cx="7739401" cy="1196976"/>
          </a:xfrm>
          <a:prstGeom prst="rect">
            <a:avLst/>
          </a:prstGeom>
          <a:solidFill>
            <a:srgbClr val="9373BF">
              <a:alpha val="9804"/>
            </a:srgbClr>
          </a:solidFill>
          <a:ln w="6350">
            <a:solidFill>
              <a:srgbClr val="7B6CD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41" name="Rectangle 40">
            <a:extLst>
              <a:ext uri="{FF2B5EF4-FFF2-40B4-BE49-F238E27FC236}">
                <a16:creationId xmlns:a16="http://schemas.microsoft.com/office/drawing/2014/main" id="{DA932A27-BB2B-04C0-7B18-37FE02FD574A}"/>
              </a:ext>
            </a:extLst>
          </p:cNvPr>
          <p:cNvSpPr/>
          <p:nvPr/>
        </p:nvSpPr>
        <p:spPr>
          <a:xfrm>
            <a:off x="2456846" y="3304551"/>
            <a:ext cx="7730206" cy="1195255"/>
          </a:xfrm>
          <a:prstGeom prst="rect">
            <a:avLst/>
          </a:prstGeom>
          <a:solidFill>
            <a:srgbClr val="C1788E">
              <a:alpha val="9804"/>
            </a:srgbClr>
          </a:solidFill>
          <a:ln w="6350">
            <a:solidFill>
              <a:srgbClr val="C1788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43" name="Rectangle 42">
            <a:extLst>
              <a:ext uri="{FF2B5EF4-FFF2-40B4-BE49-F238E27FC236}">
                <a16:creationId xmlns:a16="http://schemas.microsoft.com/office/drawing/2014/main" id="{DA108C9D-F613-98DC-A2C2-20DB55C7B30A}"/>
              </a:ext>
            </a:extLst>
          </p:cNvPr>
          <p:cNvSpPr/>
          <p:nvPr/>
        </p:nvSpPr>
        <p:spPr>
          <a:xfrm>
            <a:off x="2455577" y="4625763"/>
            <a:ext cx="7743745" cy="1189911"/>
          </a:xfrm>
          <a:prstGeom prst="rect">
            <a:avLst/>
          </a:prstGeom>
          <a:solidFill>
            <a:srgbClr val="B8E2C5">
              <a:alpha val="9804"/>
            </a:srgbClr>
          </a:solidFill>
          <a:ln w="6350">
            <a:solidFill>
              <a:srgbClr val="B8E2C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47" name="TextBox 46">
            <a:extLst>
              <a:ext uri="{FF2B5EF4-FFF2-40B4-BE49-F238E27FC236}">
                <a16:creationId xmlns:a16="http://schemas.microsoft.com/office/drawing/2014/main" id="{1EC5B0C6-0C46-E1FF-0388-8A4BC230E9B2}"/>
              </a:ext>
            </a:extLst>
          </p:cNvPr>
          <p:cNvSpPr txBox="1"/>
          <p:nvPr/>
        </p:nvSpPr>
        <p:spPr>
          <a:xfrm>
            <a:off x="1117285" y="2459841"/>
            <a:ext cx="888377"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b="1">
                <a:solidFill>
                  <a:schemeClr val="tx2">
                    <a:lumMod val="85000"/>
                    <a:lumOff val="15000"/>
                  </a:schemeClr>
                </a:solidFill>
                <a:cs typeface="Arial"/>
              </a:rPr>
              <a:t>Challenge</a:t>
            </a:r>
            <a:endParaRPr lang="en-IN" sz="1400" b="1">
              <a:solidFill>
                <a:schemeClr val="tx2">
                  <a:lumMod val="85000"/>
                  <a:lumOff val="15000"/>
                </a:schemeClr>
              </a:solidFill>
              <a:ea typeface="Calibri Light" charset="0"/>
              <a:cs typeface="Arial"/>
            </a:endParaRPr>
          </a:p>
        </p:txBody>
      </p:sp>
      <p:sp>
        <p:nvSpPr>
          <p:cNvPr id="48" name="TextBox 47">
            <a:extLst>
              <a:ext uri="{FF2B5EF4-FFF2-40B4-BE49-F238E27FC236}">
                <a16:creationId xmlns:a16="http://schemas.microsoft.com/office/drawing/2014/main" id="{FDC23B7D-E1AC-D08F-CBF3-70E9D5ED8BA3}"/>
              </a:ext>
            </a:extLst>
          </p:cNvPr>
          <p:cNvSpPr txBox="1"/>
          <p:nvPr/>
        </p:nvSpPr>
        <p:spPr>
          <a:xfrm>
            <a:off x="1117285" y="3787709"/>
            <a:ext cx="888377"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b="1">
                <a:solidFill>
                  <a:schemeClr val="tx2">
                    <a:lumMod val="85000"/>
                    <a:lumOff val="15000"/>
                  </a:schemeClr>
                </a:solidFill>
                <a:cs typeface="Arial"/>
              </a:rPr>
              <a:t>Solution</a:t>
            </a:r>
            <a:endParaRPr lang="en-IN" sz="1400" b="1">
              <a:solidFill>
                <a:schemeClr val="tx2">
                  <a:lumMod val="85000"/>
                  <a:lumOff val="15000"/>
                </a:schemeClr>
              </a:solidFill>
              <a:ea typeface="Calibri Light" charset="0"/>
              <a:cs typeface="Arial"/>
            </a:endParaRPr>
          </a:p>
        </p:txBody>
      </p:sp>
      <p:sp>
        <p:nvSpPr>
          <p:cNvPr id="49" name="TextBox 48">
            <a:extLst>
              <a:ext uri="{FF2B5EF4-FFF2-40B4-BE49-F238E27FC236}">
                <a16:creationId xmlns:a16="http://schemas.microsoft.com/office/drawing/2014/main" id="{E25143C9-53EA-9982-7124-08449C3EE5AA}"/>
              </a:ext>
            </a:extLst>
          </p:cNvPr>
          <p:cNvSpPr txBox="1"/>
          <p:nvPr/>
        </p:nvSpPr>
        <p:spPr>
          <a:xfrm>
            <a:off x="1117285" y="5105092"/>
            <a:ext cx="888377"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b="1">
                <a:solidFill>
                  <a:schemeClr val="tx2">
                    <a:lumMod val="85000"/>
                    <a:lumOff val="15000"/>
                  </a:schemeClr>
                </a:solidFill>
                <a:cs typeface="Arial"/>
              </a:rPr>
              <a:t>Benefits</a:t>
            </a:r>
            <a:endParaRPr lang="en-IN" sz="1400" b="1">
              <a:solidFill>
                <a:schemeClr val="tx2">
                  <a:lumMod val="85000"/>
                  <a:lumOff val="15000"/>
                </a:schemeClr>
              </a:solidFill>
              <a:ea typeface="Calibri Light" charset="0"/>
              <a:cs typeface="Arial"/>
            </a:endParaRPr>
          </a:p>
        </p:txBody>
      </p:sp>
      <p:pic>
        <p:nvPicPr>
          <p:cNvPr id="50" name="Picture 6" descr="Shape&#10;&#10;Description automatically generated">
            <a:extLst>
              <a:ext uri="{FF2B5EF4-FFF2-40B4-BE49-F238E27FC236}">
                <a16:creationId xmlns:a16="http://schemas.microsoft.com/office/drawing/2014/main" id="{CD9AB411-E465-91CD-C718-C2504AF6E6F4}"/>
              </a:ext>
            </a:extLst>
          </p:cNvPr>
          <p:cNvPicPr>
            <a:picLocks noChangeAspect="1"/>
          </p:cNvPicPr>
          <p:nvPr/>
        </p:nvPicPr>
        <p:blipFill>
          <a:blip r:embed="rId3"/>
          <a:stretch>
            <a:fillRect/>
          </a:stretch>
        </p:blipFill>
        <p:spPr>
          <a:xfrm>
            <a:off x="673775" y="4636096"/>
            <a:ext cx="114263" cy="1179577"/>
          </a:xfrm>
          <a:prstGeom prst="rect">
            <a:avLst/>
          </a:prstGeom>
        </p:spPr>
      </p:pic>
      <p:sp>
        <p:nvSpPr>
          <p:cNvPr id="53" name="Rectangle 52">
            <a:extLst>
              <a:ext uri="{FF2B5EF4-FFF2-40B4-BE49-F238E27FC236}">
                <a16:creationId xmlns:a16="http://schemas.microsoft.com/office/drawing/2014/main" id="{BB4ABEE3-B821-BDBC-9BF7-A98C03534330}"/>
              </a:ext>
            </a:extLst>
          </p:cNvPr>
          <p:cNvSpPr/>
          <p:nvPr/>
        </p:nvSpPr>
        <p:spPr>
          <a:xfrm>
            <a:off x="10302212" y="1955606"/>
            <a:ext cx="1277577" cy="1196976"/>
          </a:xfrm>
          <a:prstGeom prst="rect">
            <a:avLst/>
          </a:prstGeom>
          <a:solidFill>
            <a:srgbClr val="9373BF">
              <a:alpha val="9804"/>
            </a:srgbClr>
          </a:solidFill>
          <a:ln w="6350">
            <a:solidFill>
              <a:srgbClr val="7B6CD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54" name="Rectangle 53">
            <a:extLst>
              <a:ext uri="{FF2B5EF4-FFF2-40B4-BE49-F238E27FC236}">
                <a16:creationId xmlns:a16="http://schemas.microsoft.com/office/drawing/2014/main" id="{C22F4063-DFCF-BD9D-A819-E329F9F67C7C}"/>
              </a:ext>
            </a:extLst>
          </p:cNvPr>
          <p:cNvSpPr/>
          <p:nvPr/>
        </p:nvSpPr>
        <p:spPr>
          <a:xfrm>
            <a:off x="10291735" y="3304551"/>
            <a:ext cx="1276059" cy="1195255"/>
          </a:xfrm>
          <a:prstGeom prst="rect">
            <a:avLst/>
          </a:prstGeom>
          <a:solidFill>
            <a:srgbClr val="C1788E">
              <a:alpha val="9804"/>
            </a:srgbClr>
          </a:solidFill>
          <a:ln w="6350">
            <a:solidFill>
              <a:srgbClr val="C1788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055035" rtl="0" eaLnBrk="1" latinLnBrk="0" hangingPunct="1">
              <a:defRPr sz="2077" kern="1200">
                <a:solidFill>
                  <a:schemeClr val="tx1"/>
                </a:solidFill>
                <a:latin typeface="+mn-lt"/>
                <a:ea typeface="+mn-ea"/>
                <a:cs typeface="+mn-cs"/>
              </a:defRPr>
            </a:lvl1pPr>
            <a:lvl2pPr marL="527517" algn="l" defTabSz="1055035" rtl="0" eaLnBrk="1" latinLnBrk="0" hangingPunct="1">
              <a:defRPr sz="2077" kern="1200">
                <a:solidFill>
                  <a:schemeClr val="tx1"/>
                </a:solidFill>
                <a:latin typeface="+mn-lt"/>
                <a:ea typeface="+mn-ea"/>
                <a:cs typeface="+mn-cs"/>
              </a:defRPr>
            </a:lvl2pPr>
            <a:lvl3pPr marL="1055035" algn="l" defTabSz="1055035" rtl="0" eaLnBrk="1" latinLnBrk="0" hangingPunct="1">
              <a:defRPr sz="2077" kern="1200">
                <a:solidFill>
                  <a:schemeClr val="tx1"/>
                </a:solidFill>
                <a:latin typeface="+mn-lt"/>
                <a:ea typeface="+mn-ea"/>
                <a:cs typeface="+mn-cs"/>
              </a:defRPr>
            </a:lvl3pPr>
            <a:lvl4pPr marL="1582552" algn="l" defTabSz="1055035" rtl="0" eaLnBrk="1" latinLnBrk="0" hangingPunct="1">
              <a:defRPr sz="2077" kern="1200">
                <a:solidFill>
                  <a:schemeClr val="tx1"/>
                </a:solidFill>
                <a:latin typeface="+mn-lt"/>
                <a:ea typeface="+mn-ea"/>
                <a:cs typeface="+mn-cs"/>
              </a:defRPr>
            </a:lvl4pPr>
            <a:lvl5pPr marL="2110069" algn="l" defTabSz="1055035" rtl="0" eaLnBrk="1" latinLnBrk="0" hangingPunct="1">
              <a:defRPr sz="2077" kern="1200">
                <a:solidFill>
                  <a:schemeClr val="tx1"/>
                </a:solidFill>
                <a:latin typeface="+mn-lt"/>
                <a:ea typeface="+mn-ea"/>
                <a:cs typeface="+mn-cs"/>
              </a:defRPr>
            </a:lvl5pPr>
            <a:lvl6pPr marL="2637587" algn="l" defTabSz="1055035" rtl="0" eaLnBrk="1" latinLnBrk="0" hangingPunct="1">
              <a:defRPr sz="2077" kern="1200">
                <a:solidFill>
                  <a:schemeClr val="tx1"/>
                </a:solidFill>
                <a:latin typeface="+mn-lt"/>
                <a:ea typeface="+mn-ea"/>
                <a:cs typeface="+mn-cs"/>
              </a:defRPr>
            </a:lvl6pPr>
            <a:lvl7pPr marL="3165104" algn="l" defTabSz="1055035" rtl="0" eaLnBrk="1" latinLnBrk="0" hangingPunct="1">
              <a:defRPr sz="2077" kern="1200">
                <a:solidFill>
                  <a:schemeClr val="tx1"/>
                </a:solidFill>
                <a:latin typeface="+mn-lt"/>
                <a:ea typeface="+mn-ea"/>
                <a:cs typeface="+mn-cs"/>
              </a:defRPr>
            </a:lvl7pPr>
            <a:lvl8pPr marL="3692622" algn="l" defTabSz="1055035" rtl="0" eaLnBrk="1" latinLnBrk="0" hangingPunct="1">
              <a:defRPr sz="2077" kern="1200">
                <a:solidFill>
                  <a:schemeClr val="tx1"/>
                </a:solidFill>
                <a:latin typeface="+mn-lt"/>
                <a:ea typeface="+mn-ea"/>
                <a:cs typeface="+mn-cs"/>
              </a:defRPr>
            </a:lvl8pPr>
            <a:lvl9pPr marL="4220139" algn="l" defTabSz="1055035" rtl="0" eaLnBrk="1" latinLnBrk="0" hangingPunct="1">
              <a:defRPr sz="2077" kern="1200">
                <a:solidFill>
                  <a:schemeClr val="tx1"/>
                </a:solidFill>
                <a:latin typeface="+mn-lt"/>
                <a:ea typeface="+mn-ea"/>
                <a:cs typeface="+mn-cs"/>
              </a:defRPr>
            </a:lvl9pPr>
          </a:lstStyle>
          <a:p>
            <a:pPr algn="ctr"/>
            <a:endParaRPr lang="en-US" sz="1560"/>
          </a:p>
        </p:txBody>
      </p:sp>
      <p:sp>
        <p:nvSpPr>
          <p:cNvPr id="57" name="TextBox 56">
            <a:extLst>
              <a:ext uri="{FF2B5EF4-FFF2-40B4-BE49-F238E27FC236}">
                <a16:creationId xmlns:a16="http://schemas.microsoft.com/office/drawing/2014/main" id="{57BE6536-D6EB-268F-8FAD-EF5BCA6CB8C1}"/>
              </a:ext>
            </a:extLst>
          </p:cNvPr>
          <p:cNvSpPr txBox="1"/>
          <p:nvPr/>
        </p:nvSpPr>
        <p:spPr>
          <a:xfrm>
            <a:off x="2469866" y="2015262"/>
            <a:ext cx="7717186" cy="1094402"/>
          </a:xfrm>
          <a:prstGeom prst="rect">
            <a:avLst/>
          </a:prstGeom>
          <a:noFill/>
        </p:spPr>
        <p:txBody>
          <a:bodyPr wrap="square">
            <a:spAutoFit/>
          </a:bodyPr>
          <a:lstStyle/>
          <a:p>
            <a:pPr marL="285750" indent="-285750">
              <a:lnSpc>
                <a:spcPct val="120000"/>
              </a:lnSpc>
              <a:buClr>
                <a:schemeClr val="tx2"/>
              </a:buClr>
              <a:buSzPct val="110000"/>
              <a:buFont typeface="Arial" panose="020B0604020202020204" pitchFamily="34" charset="0"/>
              <a:buChar char="•"/>
            </a:pPr>
            <a:r>
              <a:rPr lang="en-US" sz="1100" b="1">
                <a:solidFill>
                  <a:schemeClr val="tx2">
                    <a:lumMod val="85000"/>
                    <a:lumOff val="15000"/>
                  </a:schemeClr>
                </a:solidFill>
                <a:latin typeface="Calibri"/>
                <a:ea typeface="Calibri"/>
                <a:cs typeface="Calibri"/>
              </a:rPr>
              <a:t>Cost</a:t>
            </a:r>
            <a:r>
              <a:rPr lang="en-US" sz="1100">
                <a:solidFill>
                  <a:schemeClr val="tx2">
                    <a:lumMod val="85000"/>
                    <a:lumOff val="15000"/>
                  </a:schemeClr>
                </a:solidFill>
                <a:latin typeface="Calibri"/>
                <a:ea typeface="Calibri"/>
                <a:cs typeface="Calibri"/>
              </a:rPr>
              <a:t> -  Existing platform (Splunk) was costing 10s </a:t>
            </a:r>
            <a:r>
              <a:rPr lang="en-US" sz="1100">
                <a:solidFill>
                  <a:schemeClr val="tx2">
                    <a:lumMod val="85000"/>
                    <a:lumOff val="15000"/>
                  </a:schemeClr>
                </a:solidFill>
                <a:ea typeface="Calibri"/>
                <a:cs typeface="Calibri"/>
              </a:rPr>
              <a:t>of $</a:t>
            </a:r>
            <a:r>
              <a:rPr lang="en-US" sz="1100">
                <a:solidFill>
                  <a:schemeClr val="tx2">
                    <a:lumMod val="85000"/>
                    <a:lumOff val="15000"/>
                  </a:schemeClr>
                </a:solidFill>
                <a:latin typeface="Calibri"/>
                <a:ea typeface="Calibri"/>
                <a:cs typeface="Calibri"/>
              </a:rPr>
              <a:t>millions per annum, but only serving limited use cases</a:t>
            </a:r>
          </a:p>
          <a:p>
            <a:pPr marL="285750" indent="-285750">
              <a:lnSpc>
                <a:spcPct val="120000"/>
              </a:lnSpc>
              <a:buClr>
                <a:schemeClr val="tx2"/>
              </a:buClr>
              <a:buSzPct val="110000"/>
              <a:buFont typeface="Arial" panose="020B0604020202020204" pitchFamily="34" charset="0"/>
              <a:buChar char="•"/>
            </a:pPr>
            <a:r>
              <a:rPr lang="en-US" sz="1100" b="1">
                <a:solidFill>
                  <a:schemeClr val="tx2">
                    <a:lumMod val="85000"/>
                    <a:lumOff val="15000"/>
                  </a:schemeClr>
                </a:solidFill>
                <a:latin typeface="Calibri"/>
                <a:ea typeface="Calibri"/>
                <a:cs typeface="Calibri"/>
              </a:rPr>
              <a:t>Performance</a:t>
            </a:r>
            <a:r>
              <a:rPr lang="en-US" sz="1100">
                <a:solidFill>
                  <a:schemeClr val="tx2">
                    <a:lumMod val="85000"/>
                    <a:lumOff val="15000"/>
                  </a:schemeClr>
                </a:solidFill>
                <a:latin typeface="Calibri"/>
                <a:ea typeface="Calibri"/>
                <a:cs typeface="Calibri"/>
              </a:rPr>
              <a:t> – Existing platform struggled to support complex analytics, with high false positives and missed risks</a:t>
            </a:r>
          </a:p>
          <a:p>
            <a:pPr marL="285750" indent="-285750">
              <a:lnSpc>
                <a:spcPct val="120000"/>
              </a:lnSpc>
              <a:buClr>
                <a:schemeClr val="tx2"/>
              </a:buClr>
              <a:buSzPct val="110000"/>
              <a:buFont typeface="Arial" panose="020B0604020202020204" pitchFamily="34" charset="0"/>
              <a:buChar char="•"/>
            </a:pPr>
            <a:r>
              <a:rPr lang="en-US" sz="1100" b="1">
                <a:solidFill>
                  <a:schemeClr val="tx2">
                    <a:lumMod val="85000"/>
                    <a:lumOff val="15000"/>
                  </a:schemeClr>
                </a:solidFill>
                <a:latin typeface="Calibri"/>
                <a:ea typeface="Calibri"/>
                <a:cs typeface="Calibri"/>
              </a:rPr>
              <a:t>Flexibility </a:t>
            </a:r>
            <a:r>
              <a:rPr lang="en-US" sz="1100">
                <a:solidFill>
                  <a:schemeClr val="tx2">
                    <a:lumMod val="85000"/>
                    <a:lumOff val="15000"/>
                  </a:schemeClr>
                </a:solidFill>
                <a:latin typeface="Calibri"/>
                <a:ea typeface="Calibri"/>
                <a:cs typeface="Calibri"/>
              </a:rPr>
              <a:t>-  Existing platform was inflexible, a black box, that could only support Cyber use cases</a:t>
            </a:r>
          </a:p>
          <a:p>
            <a:pPr marL="285750" indent="-285750">
              <a:lnSpc>
                <a:spcPct val="120000"/>
              </a:lnSpc>
              <a:buClr>
                <a:schemeClr val="tx2"/>
              </a:buClr>
              <a:buSzPct val="110000"/>
              <a:buFont typeface="Arial" panose="020B0604020202020204" pitchFamily="34" charset="0"/>
              <a:buChar char="•"/>
            </a:pPr>
            <a:r>
              <a:rPr lang="en-US" sz="1100" b="1">
                <a:solidFill>
                  <a:schemeClr val="tx2">
                    <a:lumMod val="85000"/>
                    <a:lumOff val="15000"/>
                  </a:schemeClr>
                </a:solidFill>
                <a:latin typeface="Calibri"/>
                <a:ea typeface="Calibri"/>
                <a:cs typeface="Calibri"/>
              </a:rPr>
              <a:t>Complexity –</a:t>
            </a:r>
            <a:r>
              <a:rPr lang="en-US" sz="1100">
                <a:solidFill>
                  <a:schemeClr val="tx2">
                    <a:lumMod val="85000"/>
                    <a:lumOff val="15000"/>
                  </a:schemeClr>
                </a:solidFill>
                <a:latin typeface="Calibri"/>
                <a:ea typeface="Calibri"/>
                <a:cs typeface="Calibri"/>
              </a:rPr>
              <a:t> Transition to new platform involved huge volume, variety and velocity of data and a large number of use cases involving cross-business domains</a:t>
            </a:r>
          </a:p>
        </p:txBody>
      </p:sp>
      <p:sp>
        <p:nvSpPr>
          <p:cNvPr id="58" name="TextBox 57">
            <a:extLst>
              <a:ext uri="{FF2B5EF4-FFF2-40B4-BE49-F238E27FC236}">
                <a16:creationId xmlns:a16="http://schemas.microsoft.com/office/drawing/2014/main" id="{15D34B47-B71B-C957-4009-C827C2FC6313}"/>
              </a:ext>
            </a:extLst>
          </p:cNvPr>
          <p:cNvSpPr txBox="1"/>
          <p:nvPr/>
        </p:nvSpPr>
        <p:spPr>
          <a:xfrm>
            <a:off x="2459921" y="3381727"/>
            <a:ext cx="7743745" cy="688202"/>
          </a:xfrm>
          <a:prstGeom prst="rect">
            <a:avLst/>
          </a:prstGeom>
          <a:noFill/>
        </p:spPr>
        <p:txBody>
          <a:bodyPr wrap="square">
            <a:spAutoFit/>
          </a:bodyPr>
          <a:lstStyle/>
          <a:p>
            <a:pPr marL="342900" marR="0" lvl="0" indent="-342900" rtl="0">
              <a:lnSpc>
                <a:spcPct val="120000"/>
              </a:lnSpc>
              <a:spcBef>
                <a:spcPts val="0"/>
              </a:spcBef>
              <a:spcAft>
                <a:spcPts val="0"/>
              </a:spcAft>
              <a:buClr>
                <a:schemeClr val="tx2"/>
              </a:buClr>
              <a:buSzPct val="110000"/>
              <a:buFont typeface="Arial" panose="020B0604020202020204" pitchFamily="34" charset="0"/>
              <a:buChar char="•"/>
            </a:pPr>
            <a:r>
              <a:rPr lang="en-IN" sz="1100" b="1">
                <a:solidFill>
                  <a:schemeClr val="tx2">
                    <a:lumMod val="85000"/>
                    <a:lumOff val="15000"/>
                  </a:schemeClr>
                </a:solidFill>
                <a:latin typeface="Calibri"/>
                <a:ea typeface="Calibri"/>
                <a:cs typeface="Calibri"/>
              </a:rPr>
              <a:t>Speed and Accuracy -</a:t>
            </a:r>
            <a:r>
              <a:rPr lang="en-IN" sz="1100">
                <a:solidFill>
                  <a:schemeClr val="tx2">
                    <a:lumMod val="85000"/>
                    <a:lumOff val="15000"/>
                  </a:schemeClr>
                </a:solidFill>
                <a:latin typeface="Calibri"/>
                <a:ea typeface="Calibri"/>
                <a:cs typeface="Calibri"/>
              </a:rPr>
              <a:t> Leverage PAI pre-built analytics for faster time to value </a:t>
            </a:r>
          </a:p>
          <a:p>
            <a:pPr marL="342900" marR="0" lvl="0" indent="-342900" rtl="0">
              <a:lnSpc>
                <a:spcPct val="120000"/>
              </a:lnSpc>
              <a:spcBef>
                <a:spcPts val="0"/>
              </a:spcBef>
              <a:spcAft>
                <a:spcPts val="0"/>
              </a:spcAft>
              <a:buClr>
                <a:schemeClr val="tx2"/>
              </a:buClr>
              <a:buSzPct val="110000"/>
              <a:buFont typeface="Arial" panose="020B0604020202020204" pitchFamily="34" charset="0"/>
              <a:buChar char="•"/>
            </a:pPr>
            <a:r>
              <a:rPr lang="en-IN" sz="1100" b="1" i="0" u="none" strike="noStrike" cap="none">
                <a:solidFill>
                  <a:schemeClr val="tx2">
                    <a:lumMod val="85000"/>
                    <a:lumOff val="15000"/>
                  </a:schemeClr>
                </a:solidFill>
                <a:latin typeface="Calibri"/>
                <a:ea typeface="Calibri"/>
                <a:cs typeface="Calibri"/>
                <a:sym typeface="Calibri"/>
              </a:rPr>
              <a:t>Expertise </a:t>
            </a:r>
            <a:r>
              <a:rPr lang="en-IN" sz="1100" b="0" i="0" u="none" strike="noStrike" cap="none">
                <a:solidFill>
                  <a:schemeClr val="tx2">
                    <a:lumMod val="85000"/>
                    <a:lumOff val="15000"/>
                  </a:schemeClr>
                </a:solidFill>
                <a:latin typeface="Calibri"/>
                <a:ea typeface="Calibri"/>
                <a:cs typeface="Calibri"/>
                <a:sym typeface="Calibri"/>
              </a:rPr>
              <a:t>– Cross-functional PAI team consisting of Cyber Specialists, Data Scientists, Data Engineers and Data Architects</a:t>
            </a:r>
          </a:p>
          <a:p>
            <a:pPr marL="342900" indent="-342900">
              <a:lnSpc>
                <a:spcPct val="120000"/>
              </a:lnSpc>
              <a:buClr>
                <a:schemeClr val="tx2"/>
              </a:buClr>
              <a:buSzPct val="110000"/>
              <a:buFont typeface="Arial" panose="020B0604020202020204" pitchFamily="34" charset="0"/>
              <a:buChar char="•"/>
            </a:pPr>
            <a:r>
              <a:rPr lang="en-IN" sz="1100" b="1">
                <a:solidFill>
                  <a:schemeClr val="tx2">
                    <a:lumMod val="85000"/>
                    <a:lumOff val="15000"/>
                  </a:schemeClr>
                </a:solidFill>
                <a:latin typeface="Calibri"/>
                <a:ea typeface="Calibri"/>
                <a:cs typeface="Calibri"/>
              </a:rPr>
              <a:t>Impact</a:t>
            </a:r>
            <a:r>
              <a:rPr lang="en-IN" sz="1100">
                <a:solidFill>
                  <a:schemeClr val="tx2">
                    <a:lumMod val="85000"/>
                    <a:lumOff val="15000"/>
                  </a:schemeClr>
                </a:solidFill>
                <a:latin typeface="Calibri"/>
                <a:ea typeface="Calibri"/>
                <a:cs typeface="Calibri"/>
              </a:rPr>
              <a:t> measured based on 1) </a:t>
            </a:r>
            <a:r>
              <a:rPr lang="en-IN" sz="1100" b="1">
                <a:solidFill>
                  <a:schemeClr val="tx2">
                    <a:lumMod val="85000"/>
                    <a:lumOff val="15000"/>
                  </a:schemeClr>
                </a:solidFill>
                <a:latin typeface="Calibri"/>
                <a:ea typeface="Calibri"/>
                <a:cs typeface="Calibri"/>
              </a:rPr>
              <a:t>Cost </a:t>
            </a:r>
            <a:r>
              <a:rPr lang="en-IN" sz="1100">
                <a:solidFill>
                  <a:schemeClr val="tx2">
                    <a:lumMod val="85000"/>
                    <a:lumOff val="15000"/>
                  </a:schemeClr>
                </a:solidFill>
                <a:latin typeface="Calibri"/>
                <a:ea typeface="Calibri"/>
                <a:cs typeface="Calibri"/>
              </a:rPr>
              <a:t>2) </a:t>
            </a:r>
            <a:r>
              <a:rPr lang="en-IN" sz="1100" b="1">
                <a:solidFill>
                  <a:schemeClr val="tx2">
                    <a:lumMod val="85000"/>
                    <a:lumOff val="15000"/>
                  </a:schemeClr>
                </a:solidFill>
                <a:latin typeface="Calibri"/>
                <a:ea typeface="Calibri"/>
                <a:cs typeface="Calibri"/>
              </a:rPr>
              <a:t>Accuracy and Risk reduction </a:t>
            </a:r>
            <a:r>
              <a:rPr lang="en-IN" sz="1100">
                <a:solidFill>
                  <a:schemeClr val="tx2">
                    <a:lumMod val="85000"/>
                    <a:lumOff val="15000"/>
                  </a:schemeClr>
                </a:solidFill>
                <a:latin typeface="Calibri"/>
                <a:ea typeface="Calibri"/>
                <a:cs typeface="Calibri"/>
              </a:rPr>
              <a:t>3) </a:t>
            </a:r>
            <a:r>
              <a:rPr lang="en-IN" sz="1100" b="1">
                <a:solidFill>
                  <a:schemeClr val="tx2">
                    <a:lumMod val="85000"/>
                    <a:lumOff val="15000"/>
                  </a:schemeClr>
                </a:solidFill>
                <a:latin typeface="Calibri"/>
                <a:ea typeface="Calibri"/>
                <a:cs typeface="Calibri"/>
              </a:rPr>
              <a:t>Performance</a:t>
            </a:r>
            <a:endParaRPr lang="en-IN" sz="1100" b="1" i="0" u="none" strike="noStrike" cap="none">
              <a:solidFill>
                <a:schemeClr val="tx2">
                  <a:lumMod val="85000"/>
                  <a:lumOff val="15000"/>
                </a:schemeClr>
              </a:solidFill>
              <a:latin typeface="Calibri"/>
              <a:ea typeface="Calibri"/>
              <a:cs typeface="Calibri"/>
              <a:sym typeface="Calibri"/>
            </a:endParaRPr>
          </a:p>
        </p:txBody>
      </p:sp>
      <p:pic>
        <p:nvPicPr>
          <p:cNvPr id="6" name="Graphic 5" descr="Thumbs up sign outline">
            <a:extLst>
              <a:ext uri="{FF2B5EF4-FFF2-40B4-BE49-F238E27FC236}">
                <a16:creationId xmlns:a16="http://schemas.microsoft.com/office/drawing/2014/main" id="{FCCC86BB-8EE4-E10C-BCF8-7BA86A6E0A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84182" y="3486699"/>
            <a:ext cx="681390" cy="681390"/>
          </a:xfrm>
          <a:prstGeom prst="rect">
            <a:avLst/>
          </a:prstGeom>
        </p:spPr>
      </p:pic>
      <p:pic>
        <p:nvPicPr>
          <p:cNvPr id="8" name="Graphic 7" descr="Send outline">
            <a:extLst>
              <a:ext uri="{FF2B5EF4-FFF2-40B4-BE49-F238E27FC236}">
                <a16:creationId xmlns:a16="http://schemas.microsoft.com/office/drawing/2014/main" id="{F12236C4-3729-7879-E964-C2B0E135630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84182" y="4913436"/>
            <a:ext cx="614564" cy="614564"/>
          </a:xfrm>
          <a:prstGeom prst="rect">
            <a:avLst/>
          </a:prstGeom>
        </p:spPr>
      </p:pic>
      <p:sp>
        <p:nvSpPr>
          <p:cNvPr id="10" name="Google Shape;175;p19">
            <a:extLst>
              <a:ext uri="{FF2B5EF4-FFF2-40B4-BE49-F238E27FC236}">
                <a16:creationId xmlns:a16="http://schemas.microsoft.com/office/drawing/2014/main" id="{9B591A59-3DEB-2DF6-6E98-269321B430D2}"/>
              </a:ext>
            </a:extLst>
          </p:cNvPr>
          <p:cNvSpPr/>
          <p:nvPr/>
        </p:nvSpPr>
        <p:spPr>
          <a:xfrm>
            <a:off x="10659289" y="2222735"/>
            <a:ext cx="245721" cy="404872"/>
          </a:xfrm>
          <a:custGeom>
            <a:avLst/>
            <a:gdLst/>
            <a:ahLst/>
            <a:cxnLst/>
            <a:rect l="l" t="t" r="r" b="b"/>
            <a:pathLst>
              <a:path w="5987" h="10241" extrusionOk="0">
                <a:moveTo>
                  <a:pt x="5073" y="946"/>
                </a:moveTo>
                <a:lnTo>
                  <a:pt x="5073" y="2647"/>
                </a:lnTo>
                <a:lnTo>
                  <a:pt x="5104" y="2647"/>
                </a:lnTo>
                <a:cubicBezTo>
                  <a:pt x="3623" y="3151"/>
                  <a:pt x="2489" y="4569"/>
                  <a:pt x="2489" y="6302"/>
                </a:cubicBezTo>
                <a:cubicBezTo>
                  <a:pt x="2489" y="6900"/>
                  <a:pt x="2647" y="7499"/>
                  <a:pt x="2867" y="8034"/>
                </a:cubicBezTo>
                <a:lnTo>
                  <a:pt x="1639" y="9263"/>
                </a:lnTo>
                <a:cubicBezTo>
                  <a:pt x="1103" y="8381"/>
                  <a:pt x="788" y="7373"/>
                  <a:pt x="788" y="6302"/>
                </a:cubicBezTo>
                <a:cubicBezTo>
                  <a:pt x="788" y="3750"/>
                  <a:pt x="2584" y="1513"/>
                  <a:pt x="5073" y="946"/>
                </a:cubicBezTo>
                <a:close/>
                <a:moveTo>
                  <a:pt x="5482" y="1"/>
                </a:moveTo>
                <a:cubicBezTo>
                  <a:pt x="2395" y="442"/>
                  <a:pt x="0" y="3088"/>
                  <a:pt x="0" y="6270"/>
                </a:cubicBezTo>
                <a:cubicBezTo>
                  <a:pt x="0" y="7688"/>
                  <a:pt x="441" y="8979"/>
                  <a:pt x="1292" y="10082"/>
                </a:cubicBezTo>
                <a:cubicBezTo>
                  <a:pt x="1377" y="10184"/>
                  <a:pt x="1500" y="10241"/>
                  <a:pt x="1624" y="10241"/>
                </a:cubicBezTo>
                <a:cubicBezTo>
                  <a:pt x="1729" y="10241"/>
                  <a:pt x="1835" y="10200"/>
                  <a:pt x="1922" y="10114"/>
                </a:cubicBezTo>
                <a:lnTo>
                  <a:pt x="3718" y="8349"/>
                </a:lnTo>
                <a:cubicBezTo>
                  <a:pt x="3812" y="8223"/>
                  <a:pt x="3844" y="8003"/>
                  <a:pt x="3781" y="7845"/>
                </a:cubicBezTo>
                <a:cubicBezTo>
                  <a:pt x="3497" y="7373"/>
                  <a:pt x="3340" y="6806"/>
                  <a:pt x="3340" y="6270"/>
                </a:cubicBezTo>
                <a:cubicBezTo>
                  <a:pt x="3340" y="4884"/>
                  <a:pt x="4285" y="3655"/>
                  <a:pt x="5671" y="3309"/>
                </a:cubicBezTo>
                <a:cubicBezTo>
                  <a:pt x="5860" y="3277"/>
                  <a:pt x="5986" y="3120"/>
                  <a:pt x="5986" y="2899"/>
                </a:cubicBezTo>
                <a:lnTo>
                  <a:pt x="5986" y="379"/>
                </a:lnTo>
                <a:cubicBezTo>
                  <a:pt x="5955" y="190"/>
                  <a:pt x="5703" y="1"/>
                  <a:pt x="5482" y="1"/>
                </a:cubicBezTo>
                <a:close/>
              </a:path>
            </a:pathLst>
          </a:custGeom>
          <a:solidFill>
            <a:schemeClr val="tx2">
              <a:lumMod val="85000"/>
              <a:lumOff val="15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 name="Google Shape;176;p19">
            <a:extLst>
              <a:ext uri="{FF2B5EF4-FFF2-40B4-BE49-F238E27FC236}">
                <a16:creationId xmlns:a16="http://schemas.microsoft.com/office/drawing/2014/main" id="{14A4BB64-9855-3986-CF0F-0774E945756F}"/>
              </a:ext>
            </a:extLst>
          </p:cNvPr>
          <p:cNvSpPr/>
          <p:nvPr/>
        </p:nvSpPr>
        <p:spPr>
          <a:xfrm>
            <a:off x="10754959" y="2614362"/>
            <a:ext cx="331048" cy="150784"/>
          </a:xfrm>
          <a:custGeom>
            <a:avLst/>
            <a:gdLst/>
            <a:ahLst/>
            <a:cxnLst/>
            <a:rect l="l" t="t" r="r" b="b"/>
            <a:pathLst>
              <a:path w="8066" h="3814" extrusionOk="0">
                <a:moveTo>
                  <a:pt x="5735" y="946"/>
                </a:moveTo>
                <a:lnTo>
                  <a:pt x="6963" y="2175"/>
                </a:lnTo>
                <a:cubicBezTo>
                  <a:pt x="6113" y="2710"/>
                  <a:pt x="5073" y="2994"/>
                  <a:pt x="4065" y="2994"/>
                </a:cubicBezTo>
                <a:cubicBezTo>
                  <a:pt x="3025" y="2994"/>
                  <a:pt x="2017" y="2710"/>
                  <a:pt x="1135" y="2175"/>
                </a:cubicBezTo>
                <a:lnTo>
                  <a:pt x="2364" y="946"/>
                </a:lnTo>
                <a:cubicBezTo>
                  <a:pt x="2868" y="1198"/>
                  <a:pt x="3466" y="1356"/>
                  <a:pt x="4065" y="1356"/>
                </a:cubicBezTo>
                <a:cubicBezTo>
                  <a:pt x="4600" y="1356"/>
                  <a:pt x="5199" y="1198"/>
                  <a:pt x="5735" y="946"/>
                </a:cubicBezTo>
                <a:close/>
                <a:moveTo>
                  <a:pt x="5758" y="1"/>
                </a:moveTo>
                <a:cubicBezTo>
                  <a:pt x="5693" y="1"/>
                  <a:pt x="5630" y="11"/>
                  <a:pt x="5577" y="32"/>
                </a:cubicBezTo>
                <a:cubicBezTo>
                  <a:pt x="5105" y="316"/>
                  <a:pt x="4569" y="474"/>
                  <a:pt x="4002" y="474"/>
                </a:cubicBezTo>
                <a:cubicBezTo>
                  <a:pt x="3956" y="476"/>
                  <a:pt x="3911" y="478"/>
                  <a:pt x="3865" y="478"/>
                </a:cubicBezTo>
                <a:cubicBezTo>
                  <a:pt x="3376" y="478"/>
                  <a:pt x="2890" y="326"/>
                  <a:pt x="2458" y="95"/>
                </a:cubicBezTo>
                <a:cubicBezTo>
                  <a:pt x="2389" y="54"/>
                  <a:pt x="2315" y="31"/>
                  <a:pt x="2239" y="31"/>
                </a:cubicBezTo>
                <a:cubicBezTo>
                  <a:pt x="2142" y="31"/>
                  <a:pt x="2043" y="70"/>
                  <a:pt x="1954" y="158"/>
                </a:cubicBezTo>
                <a:lnTo>
                  <a:pt x="190" y="1923"/>
                </a:lnTo>
                <a:cubicBezTo>
                  <a:pt x="1" y="2143"/>
                  <a:pt x="32" y="2395"/>
                  <a:pt x="221" y="2553"/>
                </a:cubicBezTo>
                <a:cubicBezTo>
                  <a:pt x="1324" y="3403"/>
                  <a:pt x="2616" y="3813"/>
                  <a:pt x="4002" y="3813"/>
                </a:cubicBezTo>
                <a:cubicBezTo>
                  <a:pt x="5388" y="3813"/>
                  <a:pt x="6711" y="3403"/>
                  <a:pt x="7814" y="2521"/>
                </a:cubicBezTo>
                <a:cubicBezTo>
                  <a:pt x="8035" y="2364"/>
                  <a:pt x="8066" y="2080"/>
                  <a:pt x="7877" y="1891"/>
                </a:cubicBezTo>
                <a:lnTo>
                  <a:pt x="6113" y="127"/>
                </a:lnTo>
                <a:cubicBezTo>
                  <a:pt x="6029" y="43"/>
                  <a:pt x="5889" y="1"/>
                  <a:pt x="5758" y="1"/>
                </a:cubicBezTo>
                <a:close/>
              </a:path>
            </a:pathLst>
          </a:custGeom>
          <a:solidFill>
            <a:schemeClr val="tx2">
              <a:lumMod val="85000"/>
              <a:lumOff val="15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 name="Google Shape;177;p19">
            <a:extLst>
              <a:ext uri="{FF2B5EF4-FFF2-40B4-BE49-F238E27FC236}">
                <a16:creationId xmlns:a16="http://schemas.microsoft.com/office/drawing/2014/main" id="{796F3F1A-0B4C-2F19-9F99-714E76B05A53}"/>
              </a:ext>
            </a:extLst>
          </p:cNvPr>
          <p:cNvSpPr/>
          <p:nvPr/>
        </p:nvSpPr>
        <p:spPr>
          <a:xfrm>
            <a:off x="10937269" y="2222595"/>
            <a:ext cx="245721" cy="405504"/>
          </a:xfrm>
          <a:custGeom>
            <a:avLst/>
            <a:gdLst/>
            <a:ahLst/>
            <a:cxnLst/>
            <a:rect l="l" t="t" r="r" b="b"/>
            <a:pathLst>
              <a:path w="5987" h="10257" extrusionOk="0">
                <a:moveTo>
                  <a:pt x="820" y="917"/>
                </a:moveTo>
                <a:cubicBezTo>
                  <a:pt x="3309" y="1453"/>
                  <a:pt x="5105" y="3690"/>
                  <a:pt x="5105" y="6273"/>
                </a:cubicBezTo>
                <a:cubicBezTo>
                  <a:pt x="5073" y="7344"/>
                  <a:pt x="4790" y="8352"/>
                  <a:pt x="4254" y="9235"/>
                </a:cubicBezTo>
                <a:lnTo>
                  <a:pt x="3025" y="8006"/>
                </a:lnTo>
                <a:cubicBezTo>
                  <a:pt x="3309" y="7502"/>
                  <a:pt x="3435" y="6903"/>
                  <a:pt x="3435" y="6305"/>
                </a:cubicBezTo>
                <a:cubicBezTo>
                  <a:pt x="3435" y="4572"/>
                  <a:pt x="2332" y="3154"/>
                  <a:pt x="820" y="2650"/>
                </a:cubicBezTo>
                <a:lnTo>
                  <a:pt x="820" y="917"/>
                </a:lnTo>
                <a:close/>
                <a:moveTo>
                  <a:pt x="419" y="0"/>
                </a:moveTo>
                <a:cubicBezTo>
                  <a:pt x="190" y="0"/>
                  <a:pt x="1" y="180"/>
                  <a:pt x="1" y="413"/>
                </a:cubicBezTo>
                <a:lnTo>
                  <a:pt x="1" y="2934"/>
                </a:lnTo>
                <a:cubicBezTo>
                  <a:pt x="1" y="3123"/>
                  <a:pt x="127" y="3280"/>
                  <a:pt x="316" y="3312"/>
                </a:cubicBezTo>
                <a:cubicBezTo>
                  <a:pt x="1639" y="3658"/>
                  <a:pt x="2647" y="4855"/>
                  <a:pt x="2647" y="6273"/>
                </a:cubicBezTo>
                <a:cubicBezTo>
                  <a:pt x="2647" y="6809"/>
                  <a:pt x="2490" y="7376"/>
                  <a:pt x="2206" y="7848"/>
                </a:cubicBezTo>
                <a:cubicBezTo>
                  <a:pt x="2080" y="8006"/>
                  <a:pt x="2112" y="8195"/>
                  <a:pt x="2269" y="8352"/>
                </a:cubicBezTo>
                <a:lnTo>
                  <a:pt x="4065" y="10117"/>
                </a:lnTo>
                <a:cubicBezTo>
                  <a:pt x="4149" y="10214"/>
                  <a:pt x="4251" y="10257"/>
                  <a:pt x="4353" y="10257"/>
                </a:cubicBezTo>
                <a:cubicBezTo>
                  <a:pt x="4481" y="10257"/>
                  <a:pt x="4608" y="10190"/>
                  <a:pt x="4695" y="10085"/>
                </a:cubicBezTo>
                <a:cubicBezTo>
                  <a:pt x="5514" y="8982"/>
                  <a:pt x="5987" y="7659"/>
                  <a:pt x="5987" y="6273"/>
                </a:cubicBezTo>
                <a:cubicBezTo>
                  <a:pt x="5892" y="3123"/>
                  <a:pt x="3529" y="445"/>
                  <a:pt x="474" y="4"/>
                </a:cubicBezTo>
                <a:cubicBezTo>
                  <a:pt x="455" y="1"/>
                  <a:pt x="437" y="0"/>
                  <a:pt x="419" y="0"/>
                </a:cubicBezTo>
                <a:close/>
              </a:path>
            </a:pathLst>
          </a:custGeom>
          <a:solidFill>
            <a:schemeClr val="tx2">
              <a:lumMod val="85000"/>
              <a:lumOff val="15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 name="Google Shape;178;p19">
            <a:extLst>
              <a:ext uri="{FF2B5EF4-FFF2-40B4-BE49-F238E27FC236}">
                <a16:creationId xmlns:a16="http://schemas.microsoft.com/office/drawing/2014/main" id="{3EBD117C-0CE3-8FA3-A2E7-DAC4E16F9379}"/>
              </a:ext>
            </a:extLst>
          </p:cNvPr>
          <p:cNvSpPr/>
          <p:nvPr/>
        </p:nvSpPr>
        <p:spPr>
          <a:xfrm>
            <a:off x="10867456" y="2383020"/>
            <a:ext cx="103468" cy="230446"/>
          </a:xfrm>
          <a:custGeom>
            <a:avLst/>
            <a:gdLst/>
            <a:ahLst/>
            <a:cxnLst/>
            <a:rect l="l" t="t" r="r" b="b"/>
            <a:pathLst>
              <a:path w="2521" h="5829" extrusionOk="0">
                <a:moveTo>
                  <a:pt x="1261" y="0"/>
                </a:moveTo>
                <a:cubicBezTo>
                  <a:pt x="1040" y="0"/>
                  <a:pt x="820" y="189"/>
                  <a:pt x="820" y="378"/>
                </a:cubicBezTo>
                <a:lnTo>
                  <a:pt x="820" y="662"/>
                </a:lnTo>
                <a:cubicBezTo>
                  <a:pt x="347" y="819"/>
                  <a:pt x="1" y="1292"/>
                  <a:pt x="1" y="1827"/>
                </a:cubicBezTo>
                <a:cubicBezTo>
                  <a:pt x="1" y="2521"/>
                  <a:pt x="568" y="2899"/>
                  <a:pt x="977" y="3214"/>
                </a:cubicBezTo>
                <a:cubicBezTo>
                  <a:pt x="1292" y="3466"/>
                  <a:pt x="1670" y="3686"/>
                  <a:pt x="1670" y="3938"/>
                </a:cubicBezTo>
                <a:cubicBezTo>
                  <a:pt x="1670" y="4159"/>
                  <a:pt x="1450" y="4348"/>
                  <a:pt x="1261" y="4348"/>
                </a:cubicBezTo>
                <a:cubicBezTo>
                  <a:pt x="1072" y="4348"/>
                  <a:pt x="820" y="4159"/>
                  <a:pt x="820" y="3938"/>
                </a:cubicBezTo>
                <a:cubicBezTo>
                  <a:pt x="820" y="3686"/>
                  <a:pt x="631" y="3497"/>
                  <a:pt x="442" y="3497"/>
                </a:cubicBezTo>
                <a:cubicBezTo>
                  <a:pt x="253" y="3497"/>
                  <a:pt x="32" y="3686"/>
                  <a:pt x="32" y="3938"/>
                </a:cubicBezTo>
                <a:cubicBezTo>
                  <a:pt x="32" y="4474"/>
                  <a:pt x="410" y="4915"/>
                  <a:pt x="883" y="5104"/>
                </a:cubicBezTo>
                <a:lnTo>
                  <a:pt x="883" y="5387"/>
                </a:lnTo>
                <a:cubicBezTo>
                  <a:pt x="883" y="5608"/>
                  <a:pt x="1072" y="5829"/>
                  <a:pt x="1292" y="5829"/>
                </a:cubicBezTo>
                <a:cubicBezTo>
                  <a:pt x="1544" y="5829"/>
                  <a:pt x="1702" y="5608"/>
                  <a:pt x="1702" y="5387"/>
                </a:cubicBezTo>
                <a:lnTo>
                  <a:pt x="1702" y="5104"/>
                </a:lnTo>
                <a:cubicBezTo>
                  <a:pt x="2175" y="4946"/>
                  <a:pt x="2521" y="4474"/>
                  <a:pt x="2521" y="3938"/>
                </a:cubicBezTo>
                <a:cubicBezTo>
                  <a:pt x="2521" y="3245"/>
                  <a:pt x="1985" y="2867"/>
                  <a:pt x="1544" y="2552"/>
                </a:cubicBezTo>
                <a:cubicBezTo>
                  <a:pt x="1229" y="2300"/>
                  <a:pt x="883" y="2079"/>
                  <a:pt x="883" y="1827"/>
                </a:cubicBezTo>
                <a:cubicBezTo>
                  <a:pt x="883" y="1607"/>
                  <a:pt x="1072" y="1418"/>
                  <a:pt x="1292" y="1418"/>
                </a:cubicBezTo>
                <a:cubicBezTo>
                  <a:pt x="1544" y="1418"/>
                  <a:pt x="1702" y="1607"/>
                  <a:pt x="1702" y="1827"/>
                </a:cubicBezTo>
                <a:cubicBezTo>
                  <a:pt x="1702" y="2079"/>
                  <a:pt x="1891" y="2268"/>
                  <a:pt x="2143" y="2268"/>
                </a:cubicBezTo>
                <a:cubicBezTo>
                  <a:pt x="2364" y="2268"/>
                  <a:pt x="2521" y="2079"/>
                  <a:pt x="2521" y="1827"/>
                </a:cubicBezTo>
                <a:cubicBezTo>
                  <a:pt x="2521" y="1292"/>
                  <a:pt x="2175" y="851"/>
                  <a:pt x="1702" y="662"/>
                </a:cubicBezTo>
                <a:lnTo>
                  <a:pt x="1702" y="378"/>
                </a:lnTo>
                <a:cubicBezTo>
                  <a:pt x="1702" y="189"/>
                  <a:pt x="1513" y="0"/>
                  <a:pt x="1261" y="0"/>
                </a:cubicBezTo>
                <a:close/>
              </a:path>
            </a:pathLst>
          </a:custGeom>
          <a:solidFill>
            <a:schemeClr val="tx2">
              <a:lumMod val="85000"/>
              <a:lumOff val="15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 name="TextBox 3">
            <a:extLst>
              <a:ext uri="{FF2B5EF4-FFF2-40B4-BE49-F238E27FC236}">
                <a16:creationId xmlns:a16="http://schemas.microsoft.com/office/drawing/2014/main" id="{A173E2BE-5D19-4EA3-0EBA-3A0BB596B4A9}"/>
              </a:ext>
            </a:extLst>
          </p:cNvPr>
          <p:cNvSpPr txBox="1"/>
          <p:nvPr/>
        </p:nvSpPr>
        <p:spPr>
          <a:xfrm>
            <a:off x="2454512" y="4673484"/>
            <a:ext cx="7683300" cy="1076000"/>
          </a:xfrm>
          <a:prstGeom prst="rect">
            <a:avLst/>
          </a:prstGeom>
          <a:noFill/>
        </p:spPr>
        <p:txBody>
          <a:bodyPr wrap="square" lIns="91440" tIns="45720" rIns="91440" bIns="45720" anchor="t">
            <a:spAutoFit/>
          </a:bodyPr>
          <a:lstStyle/>
          <a:p>
            <a:pPr marL="342900" indent="-342900">
              <a:lnSpc>
                <a:spcPct val="120000"/>
              </a:lnSpc>
              <a:buClr>
                <a:schemeClr val="tx2"/>
              </a:buClr>
              <a:buSzPct val="110000"/>
              <a:buFont typeface="Arial" panose="020B0604020202020204" pitchFamily="34" charset="0"/>
              <a:buChar char="•"/>
            </a:pPr>
            <a:r>
              <a:rPr lang="en-IN" sz="1100" b="1">
                <a:solidFill>
                  <a:schemeClr val="tx2">
                    <a:lumMod val="85000"/>
                    <a:lumOff val="15000"/>
                  </a:schemeClr>
                </a:solidFill>
                <a:latin typeface="Calibri"/>
                <a:ea typeface="Calibri"/>
                <a:cs typeface="Calibri"/>
              </a:rPr>
              <a:t>Cost -</a:t>
            </a:r>
            <a:r>
              <a:rPr lang="en-IN" sz="1100">
                <a:solidFill>
                  <a:schemeClr val="tx2">
                    <a:lumMod val="85000"/>
                    <a:lumOff val="15000"/>
                  </a:schemeClr>
                </a:solidFill>
                <a:latin typeface="Calibri"/>
                <a:ea typeface="Calibri"/>
                <a:cs typeface="Calibri"/>
              </a:rPr>
              <a:t> 85% reduction in customer platform costs in the first 12 months saving 10s of $millions</a:t>
            </a:r>
          </a:p>
          <a:p>
            <a:pPr marL="342900" indent="-342900">
              <a:lnSpc>
                <a:spcPct val="120000"/>
              </a:lnSpc>
              <a:buClr>
                <a:schemeClr val="tx2"/>
              </a:buClr>
              <a:buSzPct val="110000"/>
              <a:buFont typeface="Arial" panose="020B0604020202020204" pitchFamily="34" charset="0"/>
              <a:buChar char="•"/>
            </a:pPr>
            <a:r>
              <a:rPr lang="en-IN" sz="1100" b="1">
                <a:solidFill>
                  <a:schemeClr val="tx2">
                    <a:lumMod val="85000"/>
                    <a:lumOff val="15000"/>
                  </a:schemeClr>
                </a:solidFill>
                <a:latin typeface="Calibri"/>
                <a:ea typeface="Calibri"/>
                <a:cs typeface="Calibri"/>
              </a:rPr>
              <a:t>Risk Reduction - </a:t>
            </a:r>
            <a:r>
              <a:rPr lang="en-IN" sz="1100">
                <a:solidFill>
                  <a:schemeClr val="tx2">
                    <a:lumMod val="85000"/>
                    <a:lumOff val="15000"/>
                  </a:schemeClr>
                </a:solidFill>
                <a:latin typeface="Calibri"/>
                <a:ea typeface="Calibri"/>
                <a:cs typeface="Calibri"/>
              </a:rPr>
              <a:t> Advanced analytics using Machine Learning identified previously missed Red team attacks</a:t>
            </a:r>
          </a:p>
          <a:p>
            <a:pPr marL="342900" indent="-342900">
              <a:lnSpc>
                <a:spcPct val="120000"/>
              </a:lnSpc>
              <a:buClr>
                <a:schemeClr val="tx2"/>
              </a:buClr>
              <a:buSzPct val="110000"/>
              <a:buFont typeface="Arial" panose="020B0604020202020204" pitchFamily="34" charset="0"/>
              <a:buChar char="•"/>
            </a:pPr>
            <a:r>
              <a:rPr lang="en-IN" sz="1100" b="1">
                <a:solidFill>
                  <a:schemeClr val="tx2">
                    <a:lumMod val="85000"/>
                    <a:lumOff val="15000"/>
                  </a:schemeClr>
                </a:solidFill>
                <a:latin typeface="Calibri"/>
                <a:ea typeface="Calibri"/>
                <a:cs typeface="Calibri"/>
              </a:rPr>
              <a:t>Performance -</a:t>
            </a:r>
            <a:r>
              <a:rPr lang="en-IN" sz="1100">
                <a:solidFill>
                  <a:schemeClr val="tx2">
                    <a:lumMod val="85000"/>
                    <a:lumOff val="15000"/>
                  </a:schemeClr>
                </a:solidFill>
                <a:latin typeface="Calibri"/>
                <a:ea typeface="Calibri"/>
                <a:cs typeface="Calibri"/>
              </a:rPr>
              <a:t>  Analytics and searches that are easier and faster to execute </a:t>
            </a:r>
            <a:br>
              <a:rPr lang="en-IN" sz="1100">
                <a:latin typeface="Calibri"/>
                <a:ea typeface="Calibri"/>
                <a:cs typeface="Calibri"/>
              </a:rPr>
            </a:br>
            <a:r>
              <a:rPr lang="en-IN" sz="1000" err="1">
                <a:solidFill>
                  <a:schemeClr val="tx2">
                    <a:lumMod val="85000"/>
                    <a:lumOff val="15000"/>
                  </a:schemeClr>
                </a:solidFill>
                <a:latin typeface="Calibri"/>
                <a:ea typeface="Calibri"/>
                <a:cs typeface="Calibri"/>
              </a:rPr>
              <a:t>eg</a:t>
            </a:r>
            <a:r>
              <a:rPr lang="en-IN" sz="1000">
                <a:solidFill>
                  <a:schemeClr val="tx2">
                    <a:lumMod val="85000"/>
                    <a:lumOff val="15000"/>
                  </a:schemeClr>
                </a:solidFill>
                <a:latin typeface="Calibri"/>
                <a:ea typeface="Calibri"/>
                <a:cs typeface="Calibri"/>
              </a:rPr>
              <a:t> “</a:t>
            </a:r>
            <a:r>
              <a:rPr lang="en-IN" sz="1000" i="1">
                <a:solidFill>
                  <a:schemeClr val="tx2">
                    <a:lumMod val="85000"/>
                    <a:lumOff val="15000"/>
                  </a:schemeClr>
                </a:solidFill>
                <a:latin typeface="Calibri"/>
                <a:ea typeface="Calibri"/>
                <a:cs typeface="Calibri"/>
              </a:rPr>
              <a:t>36 times faster to remediate credit card exposure using new platform compared to previous capability (Splunk)”</a:t>
            </a:r>
          </a:p>
          <a:p>
            <a:pPr marL="342900" marR="0" lvl="0" indent="-342900" rtl="0">
              <a:lnSpc>
                <a:spcPct val="120000"/>
              </a:lnSpc>
              <a:spcBef>
                <a:spcPts val="0"/>
              </a:spcBef>
              <a:spcAft>
                <a:spcPts val="0"/>
              </a:spcAft>
              <a:buClr>
                <a:schemeClr val="tx2"/>
              </a:buClr>
              <a:buSzPct val="110000"/>
              <a:buFont typeface="Arial" panose="020B0604020202020204" pitchFamily="34" charset="0"/>
              <a:buChar char="•"/>
            </a:pPr>
            <a:r>
              <a:rPr lang="en-IN" sz="1100" b="1">
                <a:solidFill>
                  <a:schemeClr val="tx2">
                    <a:lumMod val="85000"/>
                    <a:lumOff val="15000"/>
                  </a:schemeClr>
                </a:solidFill>
                <a:latin typeface="Calibri"/>
                <a:ea typeface="Calibri"/>
                <a:cs typeface="Calibri"/>
                <a:sym typeface="Calibri"/>
              </a:rPr>
              <a:t>Simplification -</a:t>
            </a:r>
            <a:r>
              <a:rPr lang="en-IN" sz="1100">
                <a:solidFill>
                  <a:schemeClr val="tx2">
                    <a:lumMod val="85000"/>
                    <a:lumOff val="15000"/>
                  </a:schemeClr>
                </a:solidFill>
                <a:latin typeface="Calibri"/>
                <a:ea typeface="Calibri"/>
                <a:cs typeface="Calibri"/>
                <a:sym typeface="Calibri"/>
              </a:rPr>
              <a:t> replacing hundreds of analytics with a smaller number of more accurate use cases</a:t>
            </a:r>
            <a:endParaRPr lang="en-IN" sz="1100">
              <a:solidFill>
                <a:schemeClr val="tx2">
                  <a:lumMod val="85000"/>
                  <a:lumOff val="15000"/>
                </a:schemeClr>
              </a:solidFill>
              <a:latin typeface="Calibri"/>
              <a:ea typeface="Calibri"/>
              <a:cs typeface="Calibri"/>
            </a:endParaRPr>
          </a:p>
        </p:txBody>
      </p:sp>
    </p:spTree>
    <p:extLst>
      <p:ext uri="{BB962C8B-B14F-4D97-AF65-F5344CB8AC3E}">
        <p14:creationId xmlns:p14="http://schemas.microsoft.com/office/powerpoint/2010/main" val="23908586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FAAB9-7B21-BC44-BD31-05F57F6EDCE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29A6E16-B694-683D-F699-A86D12FAB56B}"/>
              </a:ext>
            </a:extLst>
          </p:cNvPr>
          <p:cNvSpPr/>
          <p:nvPr/>
        </p:nvSpPr>
        <p:spPr>
          <a:xfrm>
            <a:off x="1708366" y="2262499"/>
            <a:ext cx="9703049" cy="4144013"/>
          </a:xfrm>
          <a:prstGeom prst="rect">
            <a:avLst/>
          </a:prstGeom>
          <a:solidFill>
            <a:srgbClr val="F1F1FF"/>
          </a:solidFill>
          <a:ln w="3175">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109" name="Rectangle: Rounded Corners 27">
            <a:extLst>
              <a:ext uri="{FF2B5EF4-FFF2-40B4-BE49-F238E27FC236}">
                <a16:creationId xmlns:a16="http://schemas.microsoft.com/office/drawing/2014/main" id="{F45C5B20-5307-0B9B-D7F8-E2691A5642EC}"/>
              </a:ext>
            </a:extLst>
          </p:cNvPr>
          <p:cNvSpPr/>
          <p:nvPr/>
        </p:nvSpPr>
        <p:spPr>
          <a:xfrm>
            <a:off x="8810866" y="2503607"/>
            <a:ext cx="2547205" cy="3780953"/>
          </a:xfrm>
          <a:prstGeom prst="rect">
            <a:avLst/>
          </a:prstGeom>
          <a:solidFill>
            <a:srgbClr val="E0E1F0">
              <a:alpha val="49020"/>
            </a:srgbClr>
          </a:solidFill>
          <a:ln w="3175">
            <a:solidFill>
              <a:srgbClr val="DDDBF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64">
              <a:latin typeface="+mj-lt"/>
            </a:endParaRPr>
          </a:p>
        </p:txBody>
      </p:sp>
      <p:sp>
        <p:nvSpPr>
          <p:cNvPr id="111" name="Rectangle 110">
            <a:extLst>
              <a:ext uri="{FF2B5EF4-FFF2-40B4-BE49-F238E27FC236}">
                <a16:creationId xmlns:a16="http://schemas.microsoft.com/office/drawing/2014/main" id="{17485724-4EEC-915F-BD79-C49D27D053C7}"/>
              </a:ext>
            </a:extLst>
          </p:cNvPr>
          <p:cNvSpPr/>
          <p:nvPr/>
        </p:nvSpPr>
        <p:spPr>
          <a:xfrm>
            <a:off x="1708366" y="1117473"/>
            <a:ext cx="9703049" cy="833153"/>
          </a:xfrm>
          <a:prstGeom prst="rect">
            <a:avLst/>
          </a:prstGeom>
          <a:solidFill>
            <a:srgbClr val="F1F1FF"/>
          </a:solidFill>
          <a:ln w="3175">
            <a:solidFill>
              <a:srgbClr val="A6A6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2" name="Title 1">
            <a:extLst>
              <a:ext uri="{FF2B5EF4-FFF2-40B4-BE49-F238E27FC236}">
                <a16:creationId xmlns:a16="http://schemas.microsoft.com/office/drawing/2014/main" id="{767DB842-B531-5FA2-5A5A-9221656585B1}"/>
              </a:ext>
            </a:extLst>
          </p:cNvPr>
          <p:cNvSpPr>
            <a:spLocks noGrp="1"/>
          </p:cNvSpPr>
          <p:nvPr>
            <p:ph type="title"/>
          </p:nvPr>
        </p:nvSpPr>
        <p:spPr/>
        <p:txBody>
          <a:bodyPr/>
          <a:lstStyle/>
          <a:p>
            <a:r>
              <a:rPr lang="en-US"/>
              <a:t>One Platform for all Cyber Workloads</a:t>
            </a:r>
          </a:p>
        </p:txBody>
      </p:sp>
      <p:sp>
        <p:nvSpPr>
          <p:cNvPr id="4" name="Text Placeholder 3">
            <a:extLst>
              <a:ext uri="{FF2B5EF4-FFF2-40B4-BE49-F238E27FC236}">
                <a16:creationId xmlns:a16="http://schemas.microsoft.com/office/drawing/2014/main" id="{AB16B362-AD7C-BBD2-B28E-8C524FDEA884}"/>
              </a:ext>
            </a:extLst>
          </p:cNvPr>
          <p:cNvSpPr>
            <a:spLocks noGrp="1"/>
          </p:cNvSpPr>
          <p:nvPr>
            <p:ph type="body" sz="quarter" idx="12"/>
          </p:nvPr>
        </p:nvSpPr>
        <p:spPr/>
        <p:txBody>
          <a:bodyPr/>
          <a:lstStyle/>
          <a:p>
            <a:endParaRPr lang="en-GB"/>
          </a:p>
        </p:txBody>
      </p:sp>
      <p:pic>
        <p:nvPicPr>
          <p:cNvPr id="10" name="Picture 9" descr="A white rectangular object with a black border&#10;&#10;AI-generated content may be incorrect.">
            <a:extLst>
              <a:ext uri="{FF2B5EF4-FFF2-40B4-BE49-F238E27FC236}">
                <a16:creationId xmlns:a16="http://schemas.microsoft.com/office/drawing/2014/main" id="{E7E32114-AC8A-1FB2-8736-9B6503852BFE}"/>
              </a:ext>
            </a:extLst>
          </p:cNvPr>
          <p:cNvPicPr>
            <a:picLocks noChangeAspect="1"/>
          </p:cNvPicPr>
          <p:nvPr/>
        </p:nvPicPr>
        <p:blipFill>
          <a:blip r:embed="rId2">
            <a:duotone>
              <a:prstClr val="black"/>
              <a:schemeClr val="accent3">
                <a:tint val="45000"/>
                <a:satMod val="400000"/>
              </a:schemeClr>
            </a:duotone>
            <a:alphaModFix amt="35000"/>
          </a:blip>
          <a:stretch>
            <a:fillRect/>
          </a:stretch>
        </p:blipFill>
        <p:spPr>
          <a:xfrm>
            <a:off x="1894370" y="2503609"/>
            <a:ext cx="6838078" cy="3780952"/>
          </a:xfrm>
          <a:prstGeom prst="rect">
            <a:avLst/>
          </a:prstGeom>
          <a:ln w="3175">
            <a:solidFill>
              <a:schemeClr val="tx2">
                <a:lumMod val="50000"/>
                <a:lumOff val="50000"/>
              </a:schemeClr>
            </a:solidFill>
          </a:ln>
        </p:spPr>
      </p:pic>
      <p:sp>
        <p:nvSpPr>
          <p:cNvPr id="11" name="Rectangle 10">
            <a:extLst>
              <a:ext uri="{FF2B5EF4-FFF2-40B4-BE49-F238E27FC236}">
                <a16:creationId xmlns:a16="http://schemas.microsoft.com/office/drawing/2014/main" id="{D176E4A6-C22D-F21B-1E9B-1C8E6DB846AD}"/>
              </a:ext>
            </a:extLst>
          </p:cNvPr>
          <p:cNvSpPr/>
          <p:nvPr/>
        </p:nvSpPr>
        <p:spPr>
          <a:xfrm>
            <a:off x="4197175" y="2711634"/>
            <a:ext cx="2289555" cy="404838"/>
          </a:xfrm>
          <a:prstGeom prst="rect">
            <a:avLst/>
          </a:prstGeom>
          <a:solidFill>
            <a:srgbClr val="6360D8">
              <a:alpha val="47843"/>
            </a:srgbClr>
          </a:solidFill>
          <a:ln w="6350">
            <a:solidFill>
              <a:srgbClr val="636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2"/>
                </a:solidFill>
                <a:ea typeface="+mn-lt"/>
                <a:cs typeface="+mn-lt"/>
                <a:sym typeface="+mn-lt"/>
              </a:rPr>
              <a:t>Alert Store</a:t>
            </a:r>
          </a:p>
        </p:txBody>
      </p:sp>
      <p:sp>
        <p:nvSpPr>
          <p:cNvPr id="12" name="Rectangle: Rounded Corners 33">
            <a:extLst>
              <a:ext uri="{FF2B5EF4-FFF2-40B4-BE49-F238E27FC236}">
                <a16:creationId xmlns:a16="http://schemas.microsoft.com/office/drawing/2014/main" id="{0847FE77-3249-3AF6-ED52-B200E3A4AC41}"/>
              </a:ext>
            </a:extLst>
          </p:cNvPr>
          <p:cNvSpPr/>
          <p:nvPr/>
        </p:nvSpPr>
        <p:spPr>
          <a:xfrm>
            <a:off x="4197175" y="1291179"/>
            <a:ext cx="2289555" cy="404839"/>
          </a:xfrm>
          <a:prstGeom prst="roundRect">
            <a:avLst>
              <a:gd name="adj" fmla="val 5042"/>
            </a:avLst>
          </a:prstGeom>
          <a:solidFill>
            <a:srgbClr val="6360D8">
              <a:alpha val="47843"/>
            </a:srgbClr>
          </a:solidFill>
          <a:ln w="6350">
            <a:solidFill>
              <a:srgbClr val="6360D8"/>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2"/>
                </a:solidFill>
              </a:rPr>
              <a:t>Incident Resolution</a:t>
            </a:r>
          </a:p>
        </p:txBody>
      </p:sp>
      <p:sp>
        <p:nvSpPr>
          <p:cNvPr id="13" name="Rectangle 12">
            <a:extLst>
              <a:ext uri="{FF2B5EF4-FFF2-40B4-BE49-F238E27FC236}">
                <a16:creationId xmlns:a16="http://schemas.microsoft.com/office/drawing/2014/main" id="{268C7A06-83B8-C038-127B-C59F3C6F6294}"/>
              </a:ext>
            </a:extLst>
          </p:cNvPr>
          <p:cNvSpPr/>
          <p:nvPr/>
        </p:nvSpPr>
        <p:spPr>
          <a:xfrm>
            <a:off x="6226697" y="4374921"/>
            <a:ext cx="2289555" cy="404838"/>
          </a:xfrm>
          <a:prstGeom prst="rect">
            <a:avLst/>
          </a:prstGeom>
          <a:solidFill>
            <a:srgbClr val="6360D8">
              <a:alpha val="47843"/>
            </a:srgbClr>
          </a:solidFill>
          <a:ln w="6350">
            <a:solidFill>
              <a:srgbClr val="636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2"/>
                </a:solidFill>
              </a:rPr>
              <a:t>Knowledge Graph</a:t>
            </a:r>
          </a:p>
        </p:txBody>
      </p:sp>
      <p:sp>
        <p:nvSpPr>
          <p:cNvPr id="14" name="Rectangle 13">
            <a:extLst>
              <a:ext uri="{FF2B5EF4-FFF2-40B4-BE49-F238E27FC236}">
                <a16:creationId xmlns:a16="http://schemas.microsoft.com/office/drawing/2014/main" id="{279F6715-188D-3A43-3F86-C6AD0608A428}"/>
              </a:ext>
            </a:extLst>
          </p:cNvPr>
          <p:cNvSpPr/>
          <p:nvPr/>
        </p:nvSpPr>
        <p:spPr>
          <a:xfrm>
            <a:off x="2078443" y="4374921"/>
            <a:ext cx="2289555" cy="404838"/>
          </a:xfrm>
          <a:prstGeom prst="rect">
            <a:avLst/>
          </a:prstGeom>
          <a:solidFill>
            <a:srgbClr val="6E4181">
              <a:alpha val="38824"/>
            </a:srgbClr>
          </a:solidFill>
          <a:ln w="6350">
            <a:solidFill>
              <a:srgbClr val="4D2E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2"/>
                </a:solidFill>
              </a:rPr>
              <a:t>Security Data Lake (Delta)</a:t>
            </a:r>
          </a:p>
        </p:txBody>
      </p:sp>
      <p:sp>
        <p:nvSpPr>
          <p:cNvPr id="18" name="Rectangle: Rounded Corners 22">
            <a:extLst>
              <a:ext uri="{FF2B5EF4-FFF2-40B4-BE49-F238E27FC236}">
                <a16:creationId xmlns:a16="http://schemas.microsoft.com/office/drawing/2014/main" id="{F8C53628-6C4C-9604-17C0-31FED6A1C910}"/>
              </a:ext>
            </a:extLst>
          </p:cNvPr>
          <p:cNvSpPr/>
          <p:nvPr/>
        </p:nvSpPr>
        <p:spPr>
          <a:xfrm>
            <a:off x="9468728" y="4877696"/>
            <a:ext cx="1799214" cy="1340874"/>
          </a:xfrm>
          <a:prstGeom prst="roundRect">
            <a:avLst>
              <a:gd name="adj" fmla="val 7292"/>
            </a:avLst>
          </a:prstGeom>
          <a:noFill/>
          <a:ln>
            <a:prstDash val="dash"/>
          </a:ln>
        </p:spPr>
        <p:style>
          <a:lnRef idx="2">
            <a:schemeClr val="accent6"/>
          </a:lnRef>
          <a:fillRef idx="1">
            <a:schemeClr val="lt1"/>
          </a:fillRef>
          <a:effectRef idx="0">
            <a:schemeClr val="accent6"/>
          </a:effectRef>
          <a:fontRef idx="minor">
            <a:schemeClr val="dk1"/>
          </a:fontRef>
        </p:style>
        <p:txBody>
          <a:bodyPr rtlCol="0" anchor="t"/>
          <a:lstStyle/>
          <a:p>
            <a:pPr algn="ctr"/>
            <a:r>
              <a:rPr lang="en-US" sz="1000"/>
              <a:t>Future</a:t>
            </a:r>
          </a:p>
        </p:txBody>
      </p:sp>
      <p:pic>
        <p:nvPicPr>
          <p:cNvPr id="21" name="Picture 20" descr="A grey rectangular object with a black border&#10;&#10;AI-generated content may be incorrect.">
            <a:extLst>
              <a:ext uri="{FF2B5EF4-FFF2-40B4-BE49-F238E27FC236}">
                <a16:creationId xmlns:a16="http://schemas.microsoft.com/office/drawing/2014/main" id="{B7856850-BC91-4D83-75A7-A1A9435DC3C3}"/>
              </a:ext>
            </a:extLst>
          </p:cNvPr>
          <p:cNvPicPr>
            <a:picLocks noChangeAspect="1"/>
          </p:cNvPicPr>
          <p:nvPr/>
        </p:nvPicPr>
        <p:blipFill>
          <a:blip r:embed="rId3"/>
          <a:stretch>
            <a:fillRect/>
          </a:stretch>
        </p:blipFill>
        <p:spPr>
          <a:xfrm>
            <a:off x="9552878" y="2636577"/>
            <a:ext cx="1650381" cy="1641337"/>
          </a:xfrm>
          <a:prstGeom prst="rect">
            <a:avLst/>
          </a:prstGeom>
        </p:spPr>
      </p:pic>
      <p:pic>
        <p:nvPicPr>
          <p:cNvPr id="24" name="Picture 23" descr="A grey rectangular object with a black border&#10;&#10;AI-generated content may be incorrect.">
            <a:extLst>
              <a:ext uri="{FF2B5EF4-FFF2-40B4-BE49-F238E27FC236}">
                <a16:creationId xmlns:a16="http://schemas.microsoft.com/office/drawing/2014/main" id="{501B057F-6F37-A799-61B5-83896AE2E17C}"/>
              </a:ext>
            </a:extLst>
          </p:cNvPr>
          <p:cNvPicPr>
            <a:picLocks noChangeAspect="1"/>
          </p:cNvPicPr>
          <p:nvPr/>
        </p:nvPicPr>
        <p:blipFill>
          <a:blip r:embed="rId4"/>
          <a:stretch>
            <a:fillRect/>
          </a:stretch>
        </p:blipFill>
        <p:spPr>
          <a:xfrm>
            <a:off x="9701089" y="2914052"/>
            <a:ext cx="1361996" cy="300435"/>
          </a:xfrm>
          <a:prstGeom prst="rect">
            <a:avLst/>
          </a:prstGeom>
        </p:spPr>
      </p:pic>
      <p:sp>
        <p:nvSpPr>
          <p:cNvPr id="25" name="TextBox 24">
            <a:extLst>
              <a:ext uri="{FF2B5EF4-FFF2-40B4-BE49-F238E27FC236}">
                <a16:creationId xmlns:a16="http://schemas.microsoft.com/office/drawing/2014/main" id="{C9A6C083-889E-6845-8ABF-66D8FC0EFF5F}"/>
              </a:ext>
            </a:extLst>
          </p:cNvPr>
          <p:cNvSpPr txBox="1"/>
          <p:nvPr/>
        </p:nvSpPr>
        <p:spPr>
          <a:xfrm>
            <a:off x="9996212" y="2952180"/>
            <a:ext cx="805875" cy="253916"/>
          </a:xfrm>
          <a:prstGeom prst="rect">
            <a:avLst/>
          </a:prstGeom>
          <a:noFill/>
        </p:spPr>
        <p:txBody>
          <a:bodyPr wrap="square">
            <a:spAutoFit/>
          </a:bodyPr>
          <a:lstStyle/>
          <a:p>
            <a:pPr algn="ctr"/>
            <a:r>
              <a:rPr lang="en-GB" sz="1000">
                <a:solidFill>
                  <a:schemeClr val="tx2">
                    <a:lumMod val="85000"/>
                    <a:lumOff val="15000"/>
                  </a:schemeClr>
                </a:solidFill>
                <a:latin typeface="+mj-lt"/>
                <a:cs typeface="Calibri"/>
              </a:rPr>
              <a:t>CAASM</a:t>
            </a:r>
          </a:p>
        </p:txBody>
      </p:sp>
      <p:pic>
        <p:nvPicPr>
          <p:cNvPr id="27" name="Picture 26" descr="A grey rectangular object with a black border&#10;&#10;AI-generated content may be incorrect.">
            <a:extLst>
              <a:ext uri="{FF2B5EF4-FFF2-40B4-BE49-F238E27FC236}">
                <a16:creationId xmlns:a16="http://schemas.microsoft.com/office/drawing/2014/main" id="{D77DA5F1-C811-FD75-7F34-2C34DF7A6366}"/>
              </a:ext>
            </a:extLst>
          </p:cNvPr>
          <p:cNvPicPr>
            <a:picLocks noChangeAspect="1"/>
          </p:cNvPicPr>
          <p:nvPr/>
        </p:nvPicPr>
        <p:blipFill>
          <a:blip r:embed="rId4"/>
          <a:stretch>
            <a:fillRect/>
          </a:stretch>
        </p:blipFill>
        <p:spPr>
          <a:xfrm>
            <a:off x="9704809" y="3244871"/>
            <a:ext cx="1361996" cy="300435"/>
          </a:xfrm>
          <a:prstGeom prst="rect">
            <a:avLst/>
          </a:prstGeom>
        </p:spPr>
      </p:pic>
      <p:sp>
        <p:nvSpPr>
          <p:cNvPr id="31" name="TextBox 30">
            <a:extLst>
              <a:ext uri="{FF2B5EF4-FFF2-40B4-BE49-F238E27FC236}">
                <a16:creationId xmlns:a16="http://schemas.microsoft.com/office/drawing/2014/main" id="{4F792050-DF24-73A8-BC96-6B6E5882B248}"/>
              </a:ext>
            </a:extLst>
          </p:cNvPr>
          <p:cNvSpPr txBox="1"/>
          <p:nvPr/>
        </p:nvSpPr>
        <p:spPr>
          <a:xfrm>
            <a:off x="9999932" y="3282999"/>
            <a:ext cx="805875" cy="253916"/>
          </a:xfrm>
          <a:prstGeom prst="rect">
            <a:avLst/>
          </a:prstGeom>
          <a:noFill/>
        </p:spPr>
        <p:txBody>
          <a:bodyPr wrap="square">
            <a:spAutoFit/>
          </a:bodyPr>
          <a:lstStyle/>
          <a:p>
            <a:pPr algn="ctr"/>
            <a:r>
              <a:rPr lang="en-GB" sz="1000">
                <a:solidFill>
                  <a:schemeClr val="tx2">
                    <a:lumMod val="85000"/>
                    <a:lumOff val="15000"/>
                  </a:schemeClr>
                </a:solidFill>
                <a:latin typeface="+mj-lt"/>
                <a:cs typeface="Calibri"/>
              </a:rPr>
              <a:t>RBVM</a:t>
            </a:r>
          </a:p>
        </p:txBody>
      </p:sp>
      <p:pic>
        <p:nvPicPr>
          <p:cNvPr id="32" name="Picture 31" descr="A grey rectangular object with a black border&#10;&#10;AI-generated content may be incorrect.">
            <a:extLst>
              <a:ext uri="{FF2B5EF4-FFF2-40B4-BE49-F238E27FC236}">
                <a16:creationId xmlns:a16="http://schemas.microsoft.com/office/drawing/2014/main" id="{2B1DFDB2-68D9-6DEE-3D77-A0E28ED452F0}"/>
              </a:ext>
            </a:extLst>
          </p:cNvPr>
          <p:cNvPicPr>
            <a:picLocks noChangeAspect="1"/>
          </p:cNvPicPr>
          <p:nvPr/>
        </p:nvPicPr>
        <p:blipFill>
          <a:blip r:embed="rId4"/>
          <a:stretch>
            <a:fillRect/>
          </a:stretch>
        </p:blipFill>
        <p:spPr>
          <a:xfrm>
            <a:off x="9704809" y="3586843"/>
            <a:ext cx="1361996" cy="300435"/>
          </a:xfrm>
          <a:prstGeom prst="rect">
            <a:avLst/>
          </a:prstGeom>
        </p:spPr>
      </p:pic>
      <p:sp>
        <p:nvSpPr>
          <p:cNvPr id="43" name="TextBox 42">
            <a:extLst>
              <a:ext uri="{FF2B5EF4-FFF2-40B4-BE49-F238E27FC236}">
                <a16:creationId xmlns:a16="http://schemas.microsoft.com/office/drawing/2014/main" id="{0DE17AD2-D339-2197-F5A0-2997C79609CD}"/>
              </a:ext>
            </a:extLst>
          </p:cNvPr>
          <p:cNvSpPr txBox="1"/>
          <p:nvPr/>
        </p:nvSpPr>
        <p:spPr>
          <a:xfrm>
            <a:off x="9999932" y="3624971"/>
            <a:ext cx="805875" cy="253916"/>
          </a:xfrm>
          <a:prstGeom prst="rect">
            <a:avLst/>
          </a:prstGeom>
          <a:noFill/>
        </p:spPr>
        <p:txBody>
          <a:bodyPr wrap="square">
            <a:spAutoFit/>
          </a:bodyPr>
          <a:lstStyle/>
          <a:p>
            <a:pPr algn="ctr"/>
            <a:r>
              <a:rPr lang="en-GB" sz="1000">
                <a:solidFill>
                  <a:schemeClr val="tx2">
                    <a:lumMod val="85000"/>
                    <a:lumOff val="15000"/>
                  </a:schemeClr>
                </a:solidFill>
                <a:latin typeface="+mj-lt"/>
                <a:cs typeface="Calibri"/>
              </a:rPr>
              <a:t>CCM</a:t>
            </a:r>
          </a:p>
        </p:txBody>
      </p:sp>
      <p:pic>
        <p:nvPicPr>
          <p:cNvPr id="44" name="Picture 43" descr="A grey rectangular object with a black border&#10;&#10;AI-generated content may be incorrect.">
            <a:extLst>
              <a:ext uri="{FF2B5EF4-FFF2-40B4-BE49-F238E27FC236}">
                <a16:creationId xmlns:a16="http://schemas.microsoft.com/office/drawing/2014/main" id="{6A980B5F-D33D-04E6-0476-4062350043DB}"/>
              </a:ext>
            </a:extLst>
          </p:cNvPr>
          <p:cNvPicPr>
            <a:picLocks noChangeAspect="1"/>
          </p:cNvPicPr>
          <p:nvPr/>
        </p:nvPicPr>
        <p:blipFill>
          <a:blip r:embed="rId4"/>
          <a:stretch>
            <a:fillRect/>
          </a:stretch>
        </p:blipFill>
        <p:spPr>
          <a:xfrm>
            <a:off x="9699253" y="3923989"/>
            <a:ext cx="1361996" cy="300435"/>
          </a:xfrm>
          <a:prstGeom prst="rect">
            <a:avLst/>
          </a:prstGeom>
        </p:spPr>
      </p:pic>
      <p:sp>
        <p:nvSpPr>
          <p:cNvPr id="45" name="TextBox 44">
            <a:extLst>
              <a:ext uri="{FF2B5EF4-FFF2-40B4-BE49-F238E27FC236}">
                <a16:creationId xmlns:a16="http://schemas.microsoft.com/office/drawing/2014/main" id="{67D674BA-EC26-A4E3-85D0-75A95FBE048E}"/>
              </a:ext>
            </a:extLst>
          </p:cNvPr>
          <p:cNvSpPr txBox="1"/>
          <p:nvPr/>
        </p:nvSpPr>
        <p:spPr>
          <a:xfrm>
            <a:off x="9948488" y="3940922"/>
            <a:ext cx="886463" cy="253916"/>
          </a:xfrm>
          <a:prstGeom prst="rect">
            <a:avLst/>
          </a:prstGeom>
          <a:noFill/>
        </p:spPr>
        <p:txBody>
          <a:bodyPr wrap="square">
            <a:spAutoFit/>
          </a:bodyPr>
          <a:lstStyle/>
          <a:p>
            <a:pPr algn="ctr"/>
            <a:r>
              <a:rPr lang="en-GB" sz="1000">
                <a:solidFill>
                  <a:schemeClr val="tx2">
                    <a:lumMod val="85000"/>
                    <a:lumOff val="15000"/>
                  </a:schemeClr>
                </a:solidFill>
                <a:latin typeface="+mj-lt"/>
                <a:cs typeface="Calibri"/>
              </a:rPr>
              <a:t>Remediation</a:t>
            </a:r>
          </a:p>
        </p:txBody>
      </p:sp>
      <p:sp>
        <p:nvSpPr>
          <p:cNvPr id="48" name="TextBox 47">
            <a:extLst>
              <a:ext uri="{FF2B5EF4-FFF2-40B4-BE49-F238E27FC236}">
                <a16:creationId xmlns:a16="http://schemas.microsoft.com/office/drawing/2014/main" id="{9A065451-4EBB-F589-AC05-83FC6B856D93}"/>
              </a:ext>
            </a:extLst>
          </p:cNvPr>
          <p:cNvSpPr txBox="1"/>
          <p:nvPr/>
        </p:nvSpPr>
        <p:spPr>
          <a:xfrm>
            <a:off x="9694611" y="2667831"/>
            <a:ext cx="1427657" cy="246221"/>
          </a:xfrm>
          <a:prstGeom prst="rect">
            <a:avLst/>
          </a:prstGeom>
          <a:noFill/>
        </p:spPr>
        <p:txBody>
          <a:bodyPr wrap="square">
            <a:spAutoFit/>
          </a:bodyPr>
          <a:lstStyle/>
          <a:p>
            <a:pPr algn="ctr"/>
            <a:r>
              <a:rPr lang="en-GB" sz="1000">
                <a:solidFill>
                  <a:schemeClr val="tx2">
                    <a:lumMod val="85000"/>
                    <a:lumOff val="15000"/>
                  </a:schemeClr>
                </a:solidFill>
                <a:latin typeface="+mj-lt"/>
              </a:rPr>
              <a:t>Exposure Management </a:t>
            </a:r>
            <a:endParaRPr lang="en-GB" sz="1000" b="1">
              <a:solidFill>
                <a:schemeClr val="tx2">
                  <a:lumMod val="85000"/>
                  <a:lumOff val="15000"/>
                </a:schemeClr>
              </a:solidFill>
              <a:latin typeface="+mj-lt"/>
            </a:endParaRPr>
          </a:p>
        </p:txBody>
      </p:sp>
      <p:pic>
        <p:nvPicPr>
          <p:cNvPr id="49" name="Picture 48" descr="A grey rectangular object with green border&#10;&#10;AI-generated content may be incorrect.">
            <a:extLst>
              <a:ext uri="{FF2B5EF4-FFF2-40B4-BE49-F238E27FC236}">
                <a16:creationId xmlns:a16="http://schemas.microsoft.com/office/drawing/2014/main" id="{2E51794E-3EB6-F5AA-376C-A6D8137918BB}"/>
              </a:ext>
            </a:extLst>
          </p:cNvPr>
          <p:cNvPicPr>
            <a:picLocks noChangeAspect="1"/>
          </p:cNvPicPr>
          <p:nvPr/>
        </p:nvPicPr>
        <p:blipFill>
          <a:blip r:embed="rId5">
            <a:duotone>
              <a:prstClr val="black"/>
              <a:srgbClr val="D9C3A5">
                <a:tint val="50000"/>
                <a:satMod val="180000"/>
              </a:srgbClr>
            </a:duotone>
          </a:blip>
          <a:stretch>
            <a:fillRect/>
          </a:stretch>
        </p:blipFill>
        <p:spPr>
          <a:xfrm>
            <a:off x="9584337" y="5639501"/>
            <a:ext cx="1627714" cy="433875"/>
          </a:xfrm>
          <a:prstGeom prst="rect">
            <a:avLst/>
          </a:prstGeom>
        </p:spPr>
      </p:pic>
      <p:pic>
        <p:nvPicPr>
          <p:cNvPr id="51" name="Picture 50" descr="A grey rectangular object with green border&#10;&#10;AI-generated content may be incorrect.">
            <a:extLst>
              <a:ext uri="{FF2B5EF4-FFF2-40B4-BE49-F238E27FC236}">
                <a16:creationId xmlns:a16="http://schemas.microsoft.com/office/drawing/2014/main" id="{FF837C76-1F59-0FEB-7D93-05714E04F80D}"/>
              </a:ext>
            </a:extLst>
          </p:cNvPr>
          <p:cNvPicPr>
            <a:picLocks noChangeAspect="1"/>
          </p:cNvPicPr>
          <p:nvPr/>
        </p:nvPicPr>
        <p:blipFill>
          <a:blip r:embed="rId5">
            <a:duotone>
              <a:prstClr val="black"/>
              <a:srgbClr val="D9C3A5">
                <a:tint val="50000"/>
                <a:satMod val="180000"/>
              </a:srgbClr>
            </a:duotone>
          </a:blip>
          <a:stretch>
            <a:fillRect/>
          </a:stretch>
        </p:blipFill>
        <p:spPr>
          <a:xfrm>
            <a:off x="9575545" y="5155990"/>
            <a:ext cx="1627714" cy="433875"/>
          </a:xfrm>
          <a:prstGeom prst="rect">
            <a:avLst/>
          </a:prstGeom>
        </p:spPr>
      </p:pic>
      <p:sp>
        <p:nvSpPr>
          <p:cNvPr id="52" name="TextBox 51">
            <a:extLst>
              <a:ext uri="{FF2B5EF4-FFF2-40B4-BE49-F238E27FC236}">
                <a16:creationId xmlns:a16="http://schemas.microsoft.com/office/drawing/2014/main" id="{12A6B2D5-6671-23F1-7848-1EAE27772663}"/>
              </a:ext>
            </a:extLst>
          </p:cNvPr>
          <p:cNvSpPr txBox="1"/>
          <p:nvPr/>
        </p:nvSpPr>
        <p:spPr>
          <a:xfrm>
            <a:off x="9738941" y="5248948"/>
            <a:ext cx="1322301" cy="253916"/>
          </a:xfrm>
          <a:prstGeom prst="rect">
            <a:avLst/>
          </a:prstGeom>
          <a:noFill/>
        </p:spPr>
        <p:txBody>
          <a:bodyPr wrap="square">
            <a:spAutoFit/>
          </a:bodyPr>
          <a:lstStyle/>
          <a:p>
            <a:pPr algn="ctr"/>
            <a:r>
              <a:rPr lang="en-GB" sz="1000">
                <a:solidFill>
                  <a:schemeClr val="tx2">
                    <a:lumMod val="85000"/>
                    <a:lumOff val="15000"/>
                  </a:schemeClr>
                </a:solidFill>
                <a:latin typeface="+mj-lt"/>
                <a:cs typeface="Calibri"/>
              </a:rPr>
              <a:t>Financial Crime</a:t>
            </a:r>
          </a:p>
        </p:txBody>
      </p:sp>
      <p:sp>
        <p:nvSpPr>
          <p:cNvPr id="54" name="TextBox 53">
            <a:extLst>
              <a:ext uri="{FF2B5EF4-FFF2-40B4-BE49-F238E27FC236}">
                <a16:creationId xmlns:a16="http://schemas.microsoft.com/office/drawing/2014/main" id="{4032E54C-26A0-144E-D428-71C34EB89146}"/>
              </a:ext>
            </a:extLst>
          </p:cNvPr>
          <p:cNvSpPr txBox="1"/>
          <p:nvPr/>
        </p:nvSpPr>
        <p:spPr>
          <a:xfrm>
            <a:off x="9711063" y="5730305"/>
            <a:ext cx="1322301" cy="253916"/>
          </a:xfrm>
          <a:prstGeom prst="rect">
            <a:avLst/>
          </a:prstGeom>
          <a:noFill/>
        </p:spPr>
        <p:txBody>
          <a:bodyPr wrap="square">
            <a:spAutoFit/>
          </a:bodyPr>
          <a:lstStyle/>
          <a:p>
            <a:pPr algn="ctr"/>
            <a:r>
              <a:rPr lang="en-GB" sz="1000">
                <a:solidFill>
                  <a:schemeClr val="tx2">
                    <a:lumMod val="85000"/>
                    <a:lumOff val="15000"/>
                  </a:schemeClr>
                </a:solidFill>
                <a:latin typeface="+mj-lt"/>
                <a:cs typeface="Calibri"/>
              </a:rPr>
              <a:t>IT Operations</a:t>
            </a:r>
          </a:p>
        </p:txBody>
      </p:sp>
      <p:pic>
        <p:nvPicPr>
          <p:cNvPr id="55" name="Picture 54" descr="A grey rectangular object with green border&#10;&#10;AI-generated content may be incorrect.">
            <a:extLst>
              <a:ext uri="{FF2B5EF4-FFF2-40B4-BE49-F238E27FC236}">
                <a16:creationId xmlns:a16="http://schemas.microsoft.com/office/drawing/2014/main" id="{6EC150A4-C044-B740-F0EF-F309CDBE92BC}"/>
              </a:ext>
            </a:extLst>
          </p:cNvPr>
          <p:cNvPicPr>
            <a:picLocks noChangeAspect="1"/>
          </p:cNvPicPr>
          <p:nvPr/>
        </p:nvPicPr>
        <p:blipFill>
          <a:blip r:embed="rId5"/>
          <a:stretch>
            <a:fillRect/>
          </a:stretch>
        </p:blipFill>
        <p:spPr>
          <a:xfrm>
            <a:off x="9556818" y="4351205"/>
            <a:ext cx="1662317" cy="433875"/>
          </a:xfrm>
          <a:prstGeom prst="rect">
            <a:avLst/>
          </a:prstGeom>
        </p:spPr>
      </p:pic>
      <p:sp>
        <p:nvSpPr>
          <p:cNvPr id="56" name="TextBox 55">
            <a:extLst>
              <a:ext uri="{FF2B5EF4-FFF2-40B4-BE49-F238E27FC236}">
                <a16:creationId xmlns:a16="http://schemas.microsoft.com/office/drawing/2014/main" id="{6626C619-641A-418E-AFB2-4F01DEAF06F1}"/>
              </a:ext>
            </a:extLst>
          </p:cNvPr>
          <p:cNvSpPr txBox="1"/>
          <p:nvPr/>
        </p:nvSpPr>
        <p:spPr>
          <a:xfrm>
            <a:off x="9719640" y="4388431"/>
            <a:ext cx="1359017" cy="400110"/>
          </a:xfrm>
          <a:prstGeom prst="rect">
            <a:avLst/>
          </a:prstGeom>
          <a:noFill/>
        </p:spPr>
        <p:txBody>
          <a:bodyPr wrap="square">
            <a:spAutoFit/>
          </a:bodyPr>
          <a:lstStyle/>
          <a:p>
            <a:pPr algn="ctr"/>
            <a:r>
              <a:rPr lang="en-GB" sz="1000">
                <a:solidFill>
                  <a:schemeClr val="tx2">
                    <a:lumMod val="85000"/>
                    <a:lumOff val="15000"/>
                  </a:schemeClr>
                </a:solidFill>
                <a:latin typeface="+mj-lt"/>
                <a:cs typeface="Calibri"/>
              </a:rPr>
              <a:t>Enterprise Gen AI Assistant</a:t>
            </a:r>
          </a:p>
        </p:txBody>
      </p:sp>
      <p:cxnSp>
        <p:nvCxnSpPr>
          <p:cNvPr id="64" name="Straight Arrow Connector 63">
            <a:extLst>
              <a:ext uri="{FF2B5EF4-FFF2-40B4-BE49-F238E27FC236}">
                <a16:creationId xmlns:a16="http://schemas.microsoft.com/office/drawing/2014/main" id="{F9F02231-9CF0-EC76-944B-91B7C977F6C0}"/>
              </a:ext>
            </a:extLst>
          </p:cNvPr>
          <p:cNvCxnSpPr>
            <a:cxnSpLocks/>
          </p:cNvCxnSpPr>
          <p:nvPr/>
        </p:nvCxnSpPr>
        <p:spPr>
          <a:xfrm>
            <a:off x="281488" y="4564548"/>
            <a:ext cx="1796955" cy="12011"/>
          </a:xfrm>
          <a:prstGeom prst="straightConnector1">
            <a:avLst/>
          </a:prstGeom>
          <a:ln w="9525">
            <a:headEnd type="oval" w="med" len="med"/>
            <a:tailEnd type="triangle" w="lg" len="med"/>
          </a:ln>
        </p:spPr>
        <p:style>
          <a:lnRef idx="1">
            <a:schemeClr val="accent2"/>
          </a:lnRef>
          <a:fillRef idx="0">
            <a:schemeClr val="accent2"/>
          </a:fillRef>
          <a:effectRef idx="0">
            <a:schemeClr val="accent2"/>
          </a:effectRef>
          <a:fontRef idx="minor">
            <a:schemeClr val="tx1"/>
          </a:fontRef>
        </p:style>
      </p:cxnSp>
      <p:cxnSp>
        <p:nvCxnSpPr>
          <p:cNvPr id="66" name="Straight Arrow Connector 29">
            <a:extLst>
              <a:ext uri="{FF2B5EF4-FFF2-40B4-BE49-F238E27FC236}">
                <a16:creationId xmlns:a16="http://schemas.microsoft.com/office/drawing/2014/main" id="{2AABD635-B557-AED2-FE50-B8F232F6F611}"/>
              </a:ext>
            </a:extLst>
          </p:cNvPr>
          <p:cNvCxnSpPr>
            <a:cxnSpLocks/>
            <a:stCxn id="14" idx="0"/>
            <a:endCxn id="11" idx="1"/>
          </p:cNvCxnSpPr>
          <p:nvPr/>
        </p:nvCxnSpPr>
        <p:spPr>
          <a:xfrm rot="5400000" flipH="1" flipV="1">
            <a:off x="2979764" y="3157510"/>
            <a:ext cx="1460868" cy="973954"/>
          </a:xfrm>
          <a:prstGeom prst="bentConnector2">
            <a:avLst/>
          </a:prstGeom>
          <a:ln w="9525">
            <a:headEnd type="oval" w="med" len="med"/>
            <a:tailEnd type="triangle" w="lg" len="med"/>
          </a:ln>
        </p:spPr>
        <p:style>
          <a:lnRef idx="1">
            <a:schemeClr val="accent2"/>
          </a:lnRef>
          <a:fillRef idx="0">
            <a:schemeClr val="accent2"/>
          </a:fillRef>
          <a:effectRef idx="0">
            <a:schemeClr val="accent2"/>
          </a:effectRef>
          <a:fontRef idx="minor">
            <a:schemeClr val="tx1"/>
          </a:fontRef>
        </p:style>
      </p:cxnSp>
      <p:cxnSp>
        <p:nvCxnSpPr>
          <p:cNvPr id="67" name="Straight Arrow Connector 29">
            <a:extLst>
              <a:ext uri="{FF2B5EF4-FFF2-40B4-BE49-F238E27FC236}">
                <a16:creationId xmlns:a16="http://schemas.microsoft.com/office/drawing/2014/main" id="{37EC122A-8085-577E-C2F4-8B692EE0508D}"/>
              </a:ext>
            </a:extLst>
          </p:cNvPr>
          <p:cNvCxnSpPr>
            <a:cxnSpLocks/>
            <a:stCxn id="13" idx="0"/>
            <a:endCxn id="11" idx="3"/>
          </p:cNvCxnSpPr>
          <p:nvPr/>
        </p:nvCxnSpPr>
        <p:spPr>
          <a:xfrm rot="16200000" flipV="1">
            <a:off x="6198669" y="3202114"/>
            <a:ext cx="1460868" cy="884745"/>
          </a:xfrm>
          <a:prstGeom prst="bentConnector2">
            <a:avLst/>
          </a:prstGeom>
          <a:ln w="9525">
            <a:headEnd type="oval" w="med" len="med"/>
            <a:tailEnd type="triangle" w="lg" len="med"/>
          </a:ln>
        </p:spPr>
        <p:style>
          <a:lnRef idx="1">
            <a:schemeClr val="accent2"/>
          </a:lnRef>
          <a:fillRef idx="0">
            <a:schemeClr val="accent2"/>
          </a:fillRef>
          <a:effectRef idx="0">
            <a:schemeClr val="accent2"/>
          </a:effectRef>
          <a:fontRef idx="minor">
            <a:schemeClr val="tx1"/>
          </a:fontRef>
        </p:style>
      </p:cxnSp>
      <p:cxnSp>
        <p:nvCxnSpPr>
          <p:cNvPr id="68" name="Straight Arrow Connector 67">
            <a:extLst>
              <a:ext uri="{FF2B5EF4-FFF2-40B4-BE49-F238E27FC236}">
                <a16:creationId xmlns:a16="http://schemas.microsoft.com/office/drawing/2014/main" id="{1E38DA3D-D97A-4B48-1615-D57FB2BB294B}"/>
              </a:ext>
            </a:extLst>
          </p:cNvPr>
          <p:cNvCxnSpPr>
            <a:cxnSpLocks/>
            <a:stCxn id="11" idx="0"/>
            <a:endCxn id="12" idx="2"/>
          </p:cNvCxnSpPr>
          <p:nvPr/>
        </p:nvCxnSpPr>
        <p:spPr>
          <a:xfrm flipV="1">
            <a:off x="5341953" y="1696018"/>
            <a:ext cx="0" cy="1015616"/>
          </a:xfrm>
          <a:prstGeom prst="straightConnector1">
            <a:avLst/>
          </a:prstGeom>
          <a:ln w="9525">
            <a:headEnd type="oval" w="med" len="med"/>
            <a:tailEnd type="triangle" w="lg" len="med"/>
          </a:ln>
        </p:spPr>
        <p:style>
          <a:lnRef idx="1">
            <a:schemeClr val="accent2"/>
          </a:lnRef>
          <a:fillRef idx="0">
            <a:schemeClr val="accent2"/>
          </a:fillRef>
          <a:effectRef idx="0">
            <a:schemeClr val="accent2"/>
          </a:effectRef>
          <a:fontRef idx="minor">
            <a:schemeClr val="tx1"/>
          </a:fontRef>
        </p:style>
      </p:cxnSp>
      <p:cxnSp>
        <p:nvCxnSpPr>
          <p:cNvPr id="69" name="Straight Arrow Connector 68">
            <a:extLst>
              <a:ext uri="{FF2B5EF4-FFF2-40B4-BE49-F238E27FC236}">
                <a16:creationId xmlns:a16="http://schemas.microsoft.com/office/drawing/2014/main" id="{085C3276-E10E-4889-A11D-0F5DB5FB5655}"/>
              </a:ext>
            </a:extLst>
          </p:cNvPr>
          <p:cNvCxnSpPr>
            <a:cxnSpLocks/>
            <a:stCxn id="14" idx="3"/>
            <a:endCxn id="13" idx="1"/>
          </p:cNvCxnSpPr>
          <p:nvPr/>
        </p:nvCxnSpPr>
        <p:spPr>
          <a:xfrm>
            <a:off x="4367998" y="4577340"/>
            <a:ext cx="1858699" cy="0"/>
          </a:xfrm>
          <a:prstGeom prst="straightConnector1">
            <a:avLst/>
          </a:prstGeom>
          <a:ln w="9525">
            <a:headEnd type="oval" w="med" len="med"/>
            <a:tailEnd type="triangle" w="lg" len="med"/>
          </a:ln>
        </p:spPr>
        <p:style>
          <a:lnRef idx="1">
            <a:schemeClr val="accent2"/>
          </a:lnRef>
          <a:fillRef idx="0">
            <a:schemeClr val="accent2"/>
          </a:fillRef>
          <a:effectRef idx="0">
            <a:schemeClr val="accent2"/>
          </a:effectRef>
          <a:fontRef idx="minor">
            <a:schemeClr val="tx1"/>
          </a:fontRef>
        </p:style>
      </p:cxnSp>
      <p:cxnSp>
        <p:nvCxnSpPr>
          <p:cNvPr id="80" name="Straight Arrow Connector 8">
            <a:extLst>
              <a:ext uri="{FF2B5EF4-FFF2-40B4-BE49-F238E27FC236}">
                <a16:creationId xmlns:a16="http://schemas.microsoft.com/office/drawing/2014/main" id="{5471B791-25E6-5C32-2AEE-1A9AEBC2FC54}"/>
              </a:ext>
            </a:extLst>
          </p:cNvPr>
          <p:cNvCxnSpPr>
            <a:cxnSpLocks/>
            <a:stCxn id="13" idx="3"/>
            <a:endCxn id="21" idx="1"/>
          </p:cNvCxnSpPr>
          <p:nvPr/>
        </p:nvCxnSpPr>
        <p:spPr>
          <a:xfrm flipV="1">
            <a:off x="8516252" y="3457246"/>
            <a:ext cx="1036626" cy="1120094"/>
          </a:xfrm>
          <a:prstGeom prst="bentConnector3">
            <a:avLst>
              <a:gd name="adj1" fmla="val 50000"/>
            </a:avLst>
          </a:prstGeom>
          <a:ln w="9525">
            <a:headEnd type="oval" w="med" len="med"/>
            <a:tailEnd type="triangle" w="lg" len="med"/>
          </a:ln>
        </p:spPr>
        <p:style>
          <a:lnRef idx="1">
            <a:schemeClr val="accent2"/>
          </a:lnRef>
          <a:fillRef idx="0">
            <a:schemeClr val="accent2"/>
          </a:fillRef>
          <a:effectRef idx="0">
            <a:schemeClr val="accent2"/>
          </a:effectRef>
          <a:fontRef idx="minor">
            <a:schemeClr val="tx1"/>
          </a:fontRef>
        </p:style>
      </p:cxnSp>
      <p:cxnSp>
        <p:nvCxnSpPr>
          <p:cNvPr id="81" name="Straight Arrow Connector 8">
            <a:extLst>
              <a:ext uri="{FF2B5EF4-FFF2-40B4-BE49-F238E27FC236}">
                <a16:creationId xmlns:a16="http://schemas.microsoft.com/office/drawing/2014/main" id="{B3A08615-7158-3E20-6C05-CBE7808B09FD}"/>
              </a:ext>
            </a:extLst>
          </p:cNvPr>
          <p:cNvCxnSpPr>
            <a:cxnSpLocks/>
            <a:stCxn id="13" idx="3"/>
            <a:endCxn id="49" idx="1"/>
          </p:cNvCxnSpPr>
          <p:nvPr/>
        </p:nvCxnSpPr>
        <p:spPr>
          <a:xfrm>
            <a:off x="8516252" y="4577340"/>
            <a:ext cx="1068085" cy="1279099"/>
          </a:xfrm>
          <a:prstGeom prst="bentConnector3">
            <a:avLst>
              <a:gd name="adj1" fmla="val 47912"/>
            </a:avLst>
          </a:prstGeom>
          <a:ln w="9525">
            <a:headEnd type="oval" w="med" len="med"/>
            <a:tailEnd type="triangle" w="lg" len="med"/>
          </a:ln>
        </p:spPr>
        <p:style>
          <a:lnRef idx="1">
            <a:schemeClr val="accent2"/>
          </a:lnRef>
          <a:fillRef idx="0">
            <a:schemeClr val="accent2"/>
          </a:fillRef>
          <a:effectRef idx="0">
            <a:schemeClr val="accent2"/>
          </a:effectRef>
          <a:fontRef idx="minor">
            <a:schemeClr val="tx1"/>
          </a:fontRef>
        </p:style>
      </p:cxnSp>
      <p:cxnSp>
        <p:nvCxnSpPr>
          <p:cNvPr id="82" name="Straight Arrow Connector 8">
            <a:extLst>
              <a:ext uri="{FF2B5EF4-FFF2-40B4-BE49-F238E27FC236}">
                <a16:creationId xmlns:a16="http://schemas.microsoft.com/office/drawing/2014/main" id="{E1E3A598-5594-3C85-71DA-A051FCE7EA6D}"/>
              </a:ext>
            </a:extLst>
          </p:cNvPr>
          <p:cNvCxnSpPr>
            <a:cxnSpLocks/>
            <a:stCxn id="13" idx="3"/>
            <a:endCxn id="51" idx="1"/>
          </p:cNvCxnSpPr>
          <p:nvPr/>
        </p:nvCxnSpPr>
        <p:spPr>
          <a:xfrm>
            <a:off x="8516252" y="4577340"/>
            <a:ext cx="1059293" cy="795588"/>
          </a:xfrm>
          <a:prstGeom prst="bentConnector3">
            <a:avLst>
              <a:gd name="adj1" fmla="val 48596"/>
            </a:avLst>
          </a:prstGeom>
          <a:ln w="9525">
            <a:headEnd type="oval" w="med" len="med"/>
            <a:tailEnd type="triangle" w="lg" len="med"/>
          </a:ln>
        </p:spPr>
        <p:style>
          <a:lnRef idx="1">
            <a:schemeClr val="accent2"/>
          </a:lnRef>
          <a:fillRef idx="0">
            <a:schemeClr val="accent2"/>
          </a:fillRef>
          <a:effectRef idx="0">
            <a:schemeClr val="accent2"/>
          </a:effectRef>
          <a:fontRef idx="minor">
            <a:schemeClr val="tx1"/>
          </a:fontRef>
        </p:style>
      </p:cxnSp>
      <p:cxnSp>
        <p:nvCxnSpPr>
          <p:cNvPr id="83" name="Straight Arrow Connector 8">
            <a:extLst>
              <a:ext uri="{FF2B5EF4-FFF2-40B4-BE49-F238E27FC236}">
                <a16:creationId xmlns:a16="http://schemas.microsoft.com/office/drawing/2014/main" id="{15C77D71-274B-6C96-763E-9F13C5CA108F}"/>
              </a:ext>
            </a:extLst>
          </p:cNvPr>
          <p:cNvCxnSpPr>
            <a:cxnSpLocks/>
            <a:stCxn id="13" idx="3"/>
            <a:endCxn id="55" idx="1"/>
          </p:cNvCxnSpPr>
          <p:nvPr/>
        </p:nvCxnSpPr>
        <p:spPr>
          <a:xfrm flipV="1">
            <a:off x="8516252" y="4568143"/>
            <a:ext cx="1040566" cy="9197"/>
          </a:xfrm>
          <a:prstGeom prst="bentConnector3">
            <a:avLst>
              <a:gd name="adj1" fmla="val 50000"/>
            </a:avLst>
          </a:prstGeom>
          <a:ln w="9525">
            <a:headEnd type="oval" w="med" len="med"/>
            <a:tailEnd type="triangle" w="lg" len="med"/>
          </a:ln>
        </p:spPr>
        <p:style>
          <a:lnRef idx="1">
            <a:schemeClr val="accent2"/>
          </a:lnRef>
          <a:fillRef idx="0">
            <a:schemeClr val="accent2"/>
          </a:fillRef>
          <a:effectRef idx="0">
            <a:schemeClr val="accent2"/>
          </a:effectRef>
          <a:fontRef idx="minor">
            <a:schemeClr val="tx1"/>
          </a:fontRef>
        </p:style>
      </p:cxnSp>
      <p:sp>
        <p:nvSpPr>
          <p:cNvPr id="99" name="Rectangle: Rounded Corners 32">
            <a:extLst>
              <a:ext uri="{FF2B5EF4-FFF2-40B4-BE49-F238E27FC236}">
                <a16:creationId xmlns:a16="http://schemas.microsoft.com/office/drawing/2014/main" id="{952488EF-C016-1F0E-3F62-B066A3DF1C2A}"/>
              </a:ext>
            </a:extLst>
          </p:cNvPr>
          <p:cNvSpPr/>
          <p:nvPr/>
        </p:nvSpPr>
        <p:spPr>
          <a:xfrm>
            <a:off x="1868650" y="1016255"/>
            <a:ext cx="1878718" cy="258798"/>
          </a:xfrm>
          <a:prstGeom prst="roundRect">
            <a:avLst>
              <a:gd name="adj" fmla="val 13660"/>
            </a:avLst>
          </a:prstGeom>
          <a:solidFill>
            <a:srgbClr val="060B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58" name="TextBox 57">
            <a:extLst>
              <a:ext uri="{FF2B5EF4-FFF2-40B4-BE49-F238E27FC236}">
                <a16:creationId xmlns:a16="http://schemas.microsoft.com/office/drawing/2014/main" id="{9F59B432-3B32-6EE9-F51F-CE382747E41E}"/>
              </a:ext>
            </a:extLst>
          </p:cNvPr>
          <p:cNvSpPr txBox="1"/>
          <p:nvPr/>
        </p:nvSpPr>
        <p:spPr>
          <a:xfrm>
            <a:off x="2002452" y="1015888"/>
            <a:ext cx="1558504" cy="246221"/>
          </a:xfrm>
          <a:prstGeom prst="rect">
            <a:avLst/>
          </a:prstGeom>
          <a:noFill/>
        </p:spPr>
        <p:txBody>
          <a:bodyPr wrap="square">
            <a:spAutoFit/>
          </a:bodyPr>
          <a:lstStyle/>
          <a:p>
            <a:r>
              <a:rPr lang="en-US" sz="1000" i="1">
                <a:solidFill>
                  <a:schemeClr val="bg1"/>
                </a:solidFill>
                <a:latin typeface="Aptos Light" panose="020B0004020202020204" pitchFamily="34" charset="0"/>
              </a:rPr>
              <a:t>SIEM Vendor (e.g. Splunk)</a:t>
            </a:r>
          </a:p>
        </p:txBody>
      </p:sp>
      <p:sp>
        <p:nvSpPr>
          <p:cNvPr id="101" name="Rectangle: Rounded Corners 32">
            <a:extLst>
              <a:ext uri="{FF2B5EF4-FFF2-40B4-BE49-F238E27FC236}">
                <a16:creationId xmlns:a16="http://schemas.microsoft.com/office/drawing/2014/main" id="{01F17D15-83EA-262D-7E99-861FA36E41A2}"/>
              </a:ext>
            </a:extLst>
          </p:cNvPr>
          <p:cNvSpPr/>
          <p:nvPr/>
        </p:nvSpPr>
        <p:spPr>
          <a:xfrm>
            <a:off x="1890952" y="2161114"/>
            <a:ext cx="1878718" cy="258798"/>
          </a:xfrm>
          <a:prstGeom prst="roundRect">
            <a:avLst>
              <a:gd name="adj" fmla="val 16532"/>
            </a:avLst>
          </a:prstGeom>
          <a:solidFill>
            <a:srgbClr val="060B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60" name="TextBox 59">
            <a:extLst>
              <a:ext uri="{FF2B5EF4-FFF2-40B4-BE49-F238E27FC236}">
                <a16:creationId xmlns:a16="http://schemas.microsoft.com/office/drawing/2014/main" id="{3956A6D6-D21D-8F0A-0E9F-FD2878D07FA4}"/>
              </a:ext>
            </a:extLst>
          </p:cNvPr>
          <p:cNvSpPr txBox="1"/>
          <p:nvPr/>
        </p:nvSpPr>
        <p:spPr>
          <a:xfrm>
            <a:off x="1894369" y="2156002"/>
            <a:ext cx="2734145" cy="246221"/>
          </a:xfrm>
          <a:prstGeom prst="rect">
            <a:avLst/>
          </a:prstGeom>
          <a:noFill/>
        </p:spPr>
        <p:txBody>
          <a:bodyPr wrap="square">
            <a:spAutoFit/>
          </a:bodyPr>
          <a:lstStyle/>
          <a:p>
            <a:r>
              <a:rPr lang="en-US" sz="1000" i="1">
                <a:solidFill>
                  <a:schemeClr val="bg1"/>
                </a:solidFill>
                <a:latin typeface="Aptos Light" panose="020B0004020202020204" pitchFamily="34" charset="0"/>
              </a:rPr>
              <a:t>PAI Data Fabric on Databricks</a:t>
            </a:r>
          </a:p>
        </p:txBody>
      </p:sp>
      <p:sp>
        <p:nvSpPr>
          <p:cNvPr id="138" name="Rectangle 137">
            <a:extLst>
              <a:ext uri="{FF2B5EF4-FFF2-40B4-BE49-F238E27FC236}">
                <a16:creationId xmlns:a16="http://schemas.microsoft.com/office/drawing/2014/main" id="{069317DB-D122-79FB-F273-42A65388B49A}"/>
              </a:ext>
            </a:extLst>
          </p:cNvPr>
          <p:cNvSpPr/>
          <p:nvPr/>
        </p:nvSpPr>
        <p:spPr>
          <a:xfrm>
            <a:off x="3911691" y="3171840"/>
            <a:ext cx="2799367" cy="725974"/>
          </a:xfrm>
          <a:prstGeom prst="rect">
            <a:avLst/>
          </a:prstGeom>
          <a:solidFill>
            <a:srgbClr val="ECEAF3"/>
          </a:solidFill>
          <a:ln w="6350">
            <a:solidFill>
              <a:srgbClr val="A6A6A6"/>
            </a:solidFill>
          </a:ln>
          <a:effectLst>
            <a:outerShdw blurRad="167191" algn="ctr" rotWithShape="0">
              <a:prstClr val="black">
                <a:alpha val="1845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62" name="TextBox 61">
            <a:extLst>
              <a:ext uri="{FF2B5EF4-FFF2-40B4-BE49-F238E27FC236}">
                <a16:creationId xmlns:a16="http://schemas.microsoft.com/office/drawing/2014/main" id="{DF40409E-563C-F44B-5744-B4DBB3648BEC}"/>
              </a:ext>
            </a:extLst>
          </p:cNvPr>
          <p:cNvSpPr txBox="1"/>
          <p:nvPr/>
        </p:nvSpPr>
        <p:spPr>
          <a:xfrm>
            <a:off x="3990109" y="3241283"/>
            <a:ext cx="2617581" cy="615553"/>
          </a:xfrm>
          <a:prstGeom prst="rect">
            <a:avLst/>
          </a:prstGeom>
          <a:noFill/>
        </p:spPr>
        <p:txBody>
          <a:bodyPr wrap="square" lIns="0" tIns="0" rIns="0" bIns="0" rtlCol="0">
            <a:spAutoFit/>
          </a:bodyPr>
          <a:lstStyle/>
          <a:p>
            <a:pPr algn="ctr"/>
            <a:r>
              <a:rPr lang="en-US" sz="1000" b="1" i="1">
                <a:latin typeface="Calibri Light" charset="0"/>
                <a:ea typeface="Calibri Light" charset="0"/>
                <a:cs typeface="Calibri Light" charset="0"/>
              </a:rPr>
              <a:t>Detection Suite</a:t>
            </a:r>
          </a:p>
          <a:p>
            <a:pPr algn="ctr"/>
            <a:r>
              <a:rPr lang="en-US" sz="1000" i="1">
                <a:latin typeface="Calibri Light" charset="0"/>
                <a:ea typeface="Calibri Light" charset="0"/>
                <a:cs typeface="Calibri Light" charset="0"/>
              </a:rPr>
              <a:t>Pre-Built Rule/ML based detections </a:t>
            </a:r>
          </a:p>
          <a:p>
            <a:pPr algn="ctr"/>
            <a:r>
              <a:rPr lang="en-US" sz="1000" i="1">
                <a:latin typeface="Calibri Light" charset="0"/>
                <a:ea typeface="Calibri Light" charset="0"/>
                <a:cs typeface="Calibri Light" charset="0"/>
              </a:rPr>
              <a:t>Automated Knowledge Graph Context Enrichment </a:t>
            </a:r>
          </a:p>
          <a:p>
            <a:pPr algn="ctr"/>
            <a:r>
              <a:rPr lang="en-US" sz="1000" i="1">
                <a:latin typeface="Calibri Light" charset="0"/>
                <a:ea typeface="Calibri Light" charset="0"/>
                <a:cs typeface="Calibri Light" charset="0"/>
              </a:rPr>
              <a:t>False Positive Reduction</a:t>
            </a:r>
          </a:p>
        </p:txBody>
      </p:sp>
      <p:sp>
        <p:nvSpPr>
          <p:cNvPr id="139" name="Rectangle 138">
            <a:extLst>
              <a:ext uri="{FF2B5EF4-FFF2-40B4-BE49-F238E27FC236}">
                <a16:creationId xmlns:a16="http://schemas.microsoft.com/office/drawing/2014/main" id="{1FFF8B81-1467-C956-B845-E504F57E49F9}"/>
              </a:ext>
            </a:extLst>
          </p:cNvPr>
          <p:cNvSpPr/>
          <p:nvPr/>
        </p:nvSpPr>
        <p:spPr>
          <a:xfrm>
            <a:off x="4197176" y="4893590"/>
            <a:ext cx="2289554" cy="846936"/>
          </a:xfrm>
          <a:prstGeom prst="rect">
            <a:avLst/>
          </a:prstGeom>
          <a:solidFill>
            <a:srgbClr val="ECEAF3"/>
          </a:solidFill>
          <a:ln w="6350">
            <a:solidFill>
              <a:srgbClr val="A6A6A6"/>
            </a:solidFill>
          </a:ln>
          <a:effectLst>
            <a:outerShdw blurRad="167191" algn="ctr" rotWithShape="0">
              <a:prstClr val="black">
                <a:alpha val="1845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63" name="TextBox 62">
            <a:extLst>
              <a:ext uri="{FF2B5EF4-FFF2-40B4-BE49-F238E27FC236}">
                <a16:creationId xmlns:a16="http://schemas.microsoft.com/office/drawing/2014/main" id="{438FC5A7-A751-6339-6602-D9A4B425C8ED}"/>
              </a:ext>
            </a:extLst>
          </p:cNvPr>
          <p:cNvSpPr txBox="1"/>
          <p:nvPr/>
        </p:nvSpPr>
        <p:spPr>
          <a:xfrm>
            <a:off x="4430296" y="4954565"/>
            <a:ext cx="1758896" cy="769441"/>
          </a:xfrm>
          <a:prstGeom prst="rect">
            <a:avLst/>
          </a:prstGeom>
          <a:noFill/>
        </p:spPr>
        <p:txBody>
          <a:bodyPr wrap="square" lIns="0" tIns="0" rIns="0" bIns="0" rtlCol="0">
            <a:spAutoFit/>
          </a:bodyPr>
          <a:lstStyle/>
          <a:p>
            <a:pPr algn="ctr"/>
            <a:r>
              <a:rPr lang="en-US" sz="1000" b="1" i="1">
                <a:latin typeface="Calibri Light" charset="0"/>
                <a:ea typeface="Calibri Light" charset="0"/>
                <a:cs typeface="Calibri Light" charset="0"/>
              </a:rPr>
              <a:t>Automated Entity Resolution </a:t>
            </a:r>
          </a:p>
          <a:p>
            <a:pPr algn="ctr"/>
            <a:r>
              <a:rPr lang="en-US" sz="1000" i="1">
                <a:latin typeface="Calibri Light" charset="0"/>
                <a:ea typeface="Calibri Light" charset="0"/>
                <a:cs typeface="Calibri Light" charset="0"/>
              </a:rPr>
              <a:t>Entity Extraction </a:t>
            </a:r>
          </a:p>
          <a:p>
            <a:pPr algn="ctr"/>
            <a:r>
              <a:rPr lang="en-US" sz="1000" i="1" err="1">
                <a:latin typeface="Calibri Light" charset="0"/>
                <a:ea typeface="Calibri Light" charset="0"/>
                <a:cs typeface="Calibri Light" charset="0"/>
              </a:rPr>
              <a:t>Normalisation</a:t>
            </a:r>
            <a:endParaRPr lang="en-US" sz="1000" i="1">
              <a:latin typeface="Calibri Light" charset="0"/>
              <a:ea typeface="Calibri Light" charset="0"/>
              <a:cs typeface="Calibri Light" charset="0"/>
            </a:endParaRPr>
          </a:p>
          <a:p>
            <a:pPr algn="ctr"/>
            <a:r>
              <a:rPr lang="en-US" sz="1000" i="1">
                <a:latin typeface="Calibri Light" charset="0"/>
                <a:ea typeface="Calibri Light" charset="0"/>
                <a:cs typeface="Calibri Light" charset="0"/>
              </a:rPr>
              <a:t>Resolution</a:t>
            </a:r>
          </a:p>
          <a:p>
            <a:pPr algn="ctr"/>
            <a:r>
              <a:rPr lang="en-US" sz="1000" i="1">
                <a:latin typeface="Calibri Light" charset="0"/>
                <a:ea typeface="Calibri Light" charset="0"/>
                <a:cs typeface="Calibri Light" charset="0"/>
              </a:rPr>
              <a:t>Merge</a:t>
            </a:r>
          </a:p>
        </p:txBody>
      </p:sp>
      <p:sp>
        <p:nvSpPr>
          <p:cNvPr id="140" name="Rectangle 139">
            <a:extLst>
              <a:ext uri="{FF2B5EF4-FFF2-40B4-BE49-F238E27FC236}">
                <a16:creationId xmlns:a16="http://schemas.microsoft.com/office/drawing/2014/main" id="{040AC3F7-9387-A17A-F8FE-E37660D10E73}"/>
              </a:ext>
            </a:extLst>
          </p:cNvPr>
          <p:cNvSpPr/>
          <p:nvPr/>
        </p:nvSpPr>
        <p:spPr>
          <a:xfrm>
            <a:off x="1024745" y="4893590"/>
            <a:ext cx="1384808" cy="711445"/>
          </a:xfrm>
          <a:prstGeom prst="rect">
            <a:avLst/>
          </a:prstGeom>
          <a:solidFill>
            <a:srgbClr val="ECEAF3"/>
          </a:solidFill>
          <a:ln w="6350">
            <a:solidFill>
              <a:srgbClr val="A6A6A6"/>
            </a:solidFill>
          </a:ln>
          <a:effectLst>
            <a:outerShdw blurRad="167191" algn="ctr" rotWithShape="0">
              <a:prstClr val="black">
                <a:alpha val="1845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a typeface="+mn-lt"/>
              <a:cs typeface="+mn-lt"/>
              <a:sym typeface="+mn-lt"/>
            </a:endParaRPr>
          </a:p>
        </p:txBody>
      </p:sp>
      <p:sp>
        <p:nvSpPr>
          <p:cNvPr id="61" name="TextBox 60">
            <a:extLst>
              <a:ext uri="{FF2B5EF4-FFF2-40B4-BE49-F238E27FC236}">
                <a16:creationId xmlns:a16="http://schemas.microsoft.com/office/drawing/2014/main" id="{B6415E62-6D27-D4E1-39B8-73617CAB84A8}"/>
              </a:ext>
            </a:extLst>
          </p:cNvPr>
          <p:cNvSpPr txBox="1"/>
          <p:nvPr/>
        </p:nvSpPr>
        <p:spPr>
          <a:xfrm>
            <a:off x="1109183" y="4954565"/>
            <a:ext cx="1339579" cy="615553"/>
          </a:xfrm>
          <a:prstGeom prst="rect">
            <a:avLst/>
          </a:prstGeom>
          <a:noFill/>
        </p:spPr>
        <p:txBody>
          <a:bodyPr wrap="square" lIns="0" tIns="0" rIns="0" bIns="0" rtlCol="0">
            <a:spAutoFit/>
          </a:bodyPr>
          <a:lstStyle/>
          <a:p>
            <a:r>
              <a:rPr lang="en-US" sz="1000" b="1" i="1" err="1">
                <a:latin typeface="Calibri Light" charset="0"/>
                <a:ea typeface="Calibri Light" charset="0"/>
                <a:cs typeface="Calibri Light" charset="0"/>
              </a:rPr>
              <a:t>DataBridge</a:t>
            </a:r>
            <a:endParaRPr lang="en-US" sz="1000" b="1" i="1">
              <a:latin typeface="Calibri Light" charset="0"/>
              <a:ea typeface="Calibri Light" charset="0"/>
              <a:cs typeface="Calibri Light" charset="0"/>
            </a:endParaRPr>
          </a:p>
          <a:p>
            <a:r>
              <a:rPr lang="en-US" sz="1000" i="1">
                <a:latin typeface="Calibri Light" charset="0"/>
                <a:ea typeface="Calibri Light" charset="0"/>
                <a:cs typeface="Calibri Light" charset="0"/>
              </a:rPr>
              <a:t>200+ </a:t>
            </a:r>
            <a:r>
              <a:rPr lang="en-US" sz="1000" i="1" err="1">
                <a:latin typeface="Calibri Light" charset="0"/>
                <a:ea typeface="Calibri Light" charset="0"/>
                <a:cs typeface="Calibri Light" charset="0"/>
              </a:rPr>
              <a:t>PreBuilt</a:t>
            </a:r>
            <a:r>
              <a:rPr lang="en-US" sz="1000" i="1">
                <a:latin typeface="Calibri Light" charset="0"/>
                <a:ea typeface="Calibri Light" charset="0"/>
                <a:cs typeface="Calibri Light" charset="0"/>
              </a:rPr>
              <a:t> Security/integrations </a:t>
            </a:r>
          </a:p>
          <a:p>
            <a:r>
              <a:rPr lang="en-US" sz="1000" i="1">
                <a:latin typeface="Calibri Light" charset="0"/>
                <a:ea typeface="Calibri Light" charset="0"/>
                <a:cs typeface="Calibri Light" charset="0"/>
              </a:rPr>
              <a:t>AI Connector Builder</a:t>
            </a:r>
          </a:p>
        </p:txBody>
      </p:sp>
    </p:spTree>
    <p:extLst>
      <p:ext uri="{BB962C8B-B14F-4D97-AF65-F5344CB8AC3E}">
        <p14:creationId xmlns:p14="http://schemas.microsoft.com/office/powerpoint/2010/main" val="25360439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B23D0EE-D6E0-29BB-5FB8-337D9543BBCC}"/>
              </a:ext>
            </a:extLst>
          </p:cNvPr>
          <p:cNvSpPr/>
          <p:nvPr/>
        </p:nvSpPr>
        <p:spPr>
          <a:xfrm>
            <a:off x="5715000" y="2295334"/>
            <a:ext cx="5806017" cy="2346554"/>
          </a:xfrm>
          <a:prstGeom prst="rect">
            <a:avLst/>
          </a:prstGeom>
        </p:spPr>
        <p:style>
          <a:lnRef idx="2">
            <a:schemeClr val="accent5"/>
          </a:lnRef>
          <a:fillRef idx="1">
            <a:schemeClr val="lt1"/>
          </a:fillRef>
          <a:effectRef idx="0">
            <a:schemeClr val="accent5"/>
          </a:effectRef>
          <a:fontRef idx="minor">
            <a:schemeClr val="dk1"/>
          </a:fontRef>
        </p:style>
        <p:txBody>
          <a:bodyPr rtlCol="0" anchor="b"/>
          <a:lstStyle/>
          <a:p>
            <a:r>
              <a:rPr lang="en-US" sz="1000" b="1"/>
              <a:t>Databricks + PAI Data Fabric</a:t>
            </a:r>
          </a:p>
        </p:txBody>
      </p:sp>
      <p:sp>
        <p:nvSpPr>
          <p:cNvPr id="2" name="Title 1">
            <a:extLst>
              <a:ext uri="{FF2B5EF4-FFF2-40B4-BE49-F238E27FC236}">
                <a16:creationId xmlns:a16="http://schemas.microsoft.com/office/drawing/2014/main" id="{1D779497-B192-C033-1EDA-C780B1436E32}"/>
              </a:ext>
            </a:extLst>
          </p:cNvPr>
          <p:cNvSpPr>
            <a:spLocks noGrp="1"/>
          </p:cNvSpPr>
          <p:nvPr>
            <p:ph type="title"/>
          </p:nvPr>
        </p:nvSpPr>
        <p:spPr/>
        <p:txBody>
          <a:bodyPr/>
          <a:lstStyle/>
          <a:p>
            <a:r>
              <a:rPr lang="en-US"/>
              <a:t>PAI Data Fabric &amp; Databricks - SIEM Cost Reduction Deep Dive</a:t>
            </a:r>
          </a:p>
        </p:txBody>
      </p:sp>
      <p:sp>
        <p:nvSpPr>
          <p:cNvPr id="3" name="Text Placeholder 2">
            <a:extLst>
              <a:ext uri="{FF2B5EF4-FFF2-40B4-BE49-F238E27FC236}">
                <a16:creationId xmlns:a16="http://schemas.microsoft.com/office/drawing/2014/main" id="{7E23EC30-6066-60B0-8F63-C9AB986FFBFC}"/>
              </a:ext>
            </a:extLst>
          </p:cNvPr>
          <p:cNvSpPr>
            <a:spLocks noGrp="1"/>
          </p:cNvSpPr>
          <p:nvPr>
            <p:ph type="body" sz="quarter" idx="12"/>
          </p:nvPr>
        </p:nvSpPr>
        <p:spPr/>
        <p:txBody>
          <a:bodyPr/>
          <a:lstStyle/>
          <a:p>
            <a:endParaRPr lang="en-GB"/>
          </a:p>
        </p:txBody>
      </p:sp>
      <p:sp>
        <p:nvSpPr>
          <p:cNvPr id="6" name="Rectangle 5">
            <a:extLst>
              <a:ext uri="{FF2B5EF4-FFF2-40B4-BE49-F238E27FC236}">
                <a16:creationId xmlns:a16="http://schemas.microsoft.com/office/drawing/2014/main" id="{C9C5EBA7-C9E4-BAF0-7D3A-625E96857F62}"/>
              </a:ext>
            </a:extLst>
          </p:cNvPr>
          <p:cNvSpPr/>
          <p:nvPr/>
        </p:nvSpPr>
        <p:spPr>
          <a:xfrm>
            <a:off x="6154610" y="2912767"/>
            <a:ext cx="2570153" cy="274320"/>
          </a:xfrm>
          <a:prstGeom prst="rect">
            <a:avLst/>
          </a:prstGeom>
          <a:solidFill>
            <a:schemeClr val="accent5">
              <a:lumMod val="20000"/>
              <a:lumOff val="80000"/>
            </a:schemeClr>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000"/>
              <a:t>Security Data Lake (Delta)</a:t>
            </a:r>
          </a:p>
        </p:txBody>
      </p:sp>
      <p:sp>
        <p:nvSpPr>
          <p:cNvPr id="7" name="Rectangle 6">
            <a:extLst>
              <a:ext uri="{FF2B5EF4-FFF2-40B4-BE49-F238E27FC236}">
                <a16:creationId xmlns:a16="http://schemas.microsoft.com/office/drawing/2014/main" id="{9852D50B-49B0-4D84-778E-2C5685DAC736}"/>
              </a:ext>
            </a:extLst>
          </p:cNvPr>
          <p:cNvSpPr/>
          <p:nvPr/>
        </p:nvSpPr>
        <p:spPr>
          <a:xfrm>
            <a:off x="9294585" y="2912767"/>
            <a:ext cx="1888704" cy="274320"/>
          </a:xfrm>
          <a:prstGeom prst="rect">
            <a:avLst/>
          </a:prstGeom>
          <a:solidFill>
            <a:schemeClr val="tx1">
              <a:lumMod val="20000"/>
              <a:lumOff val="80000"/>
            </a:schemeClr>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000"/>
              <a:t>Knowledge Graph</a:t>
            </a:r>
          </a:p>
        </p:txBody>
      </p:sp>
      <p:sp>
        <p:nvSpPr>
          <p:cNvPr id="24" name="Rectangle 23">
            <a:extLst>
              <a:ext uri="{FF2B5EF4-FFF2-40B4-BE49-F238E27FC236}">
                <a16:creationId xmlns:a16="http://schemas.microsoft.com/office/drawing/2014/main" id="{8B2F16A5-224A-5B3A-7D40-6A116D070876}"/>
              </a:ext>
            </a:extLst>
          </p:cNvPr>
          <p:cNvSpPr/>
          <p:nvPr/>
        </p:nvSpPr>
        <p:spPr>
          <a:xfrm>
            <a:off x="6923519" y="3472777"/>
            <a:ext cx="1028920" cy="274320"/>
          </a:xfrm>
          <a:prstGeom prst="rect">
            <a:avLst/>
          </a:prstGeom>
          <a:solidFill>
            <a:schemeClr val="tx1">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000" err="1"/>
              <a:t>DataBridge</a:t>
            </a:r>
            <a:endParaRPr lang="en-US" sz="1000"/>
          </a:p>
        </p:txBody>
      </p:sp>
      <p:sp>
        <p:nvSpPr>
          <p:cNvPr id="25" name="Rectangle 24">
            <a:extLst>
              <a:ext uri="{FF2B5EF4-FFF2-40B4-BE49-F238E27FC236}">
                <a16:creationId xmlns:a16="http://schemas.microsoft.com/office/drawing/2014/main" id="{64F7A6B5-B11E-3B7D-9D01-BDF14B9B2AE7}"/>
              </a:ext>
            </a:extLst>
          </p:cNvPr>
          <p:cNvSpPr/>
          <p:nvPr/>
        </p:nvSpPr>
        <p:spPr>
          <a:xfrm>
            <a:off x="9724473" y="3476615"/>
            <a:ext cx="1028920" cy="274320"/>
          </a:xfrm>
          <a:prstGeom prst="rect">
            <a:avLst/>
          </a:prstGeom>
          <a:solidFill>
            <a:schemeClr val="tx1">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000"/>
              <a:t>Entity Resolution</a:t>
            </a:r>
          </a:p>
        </p:txBody>
      </p:sp>
      <p:cxnSp>
        <p:nvCxnSpPr>
          <p:cNvPr id="27" name="Straight Arrow Connector 26">
            <a:extLst>
              <a:ext uri="{FF2B5EF4-FFF2-40B4-BE49-F238E27FC236}">
                <a16:creationId xmlns:a16="http://schemas.microsoft.com/office/drawing/2014/main" id="{7827006B-377F-D9CB-0C17-787D86454085}"/>
              </a:ext>
            </a:extLst>
          </p:cNvPr>
          <p:cNvCxnSpPr>
            <a:cxnSpLocks/>
          </p:cNvCxnSpPr>
          <p:nvPr/>
        </p:nvCxnSpPr>
        <p:spPr>
          <a:xfrm>
            <a:off x="2707180" y="3111082"/>
            <a:ext cx="2474529" cy="0"/>
          </a:xfrm>
          <a:prstGeom prst="straightConnector1">
            <a:avLst/>
          </a:prstGeom>
          <a:ln w="25400">
            <a:tailEnd type="triangle" w="lg" len="med"/>
          </a:ln>
        </p:spPr>
        <p:style>
          <a:lnRef idx="1">
            <a:schemeClr val="accent2"/>
          </a:lnRef>
          <a:fillRef idx="0">
            <a:schemeClr val="accent2"/>
          </a:fillRef>
          <a:effectRef idx="0">
            <a:schemeClr val="accent2"/>
          </a:effectRef>
          <a:fontRef idx="minor">
            <a:schemeClr val="tx1"/>
          </a:fontRef>
        </p:style>
      </p:cxnSp>
      <p:cxnSp>
        <p:nvCxnSpPr>
          <p:cNvPr id="33" name="Straight Arrow Connector 29">
            <a:extLst>
              <a:ext uri="{FF2B5EF4-FFF2-40B4-BE49-F238E27FC236}">
                <a16:creationId xmlns:a16="http://schemas.microsoft.com/office/drawing/2014/main" id="{7D33B2F8-8D56-9441-71F6-02117CDC645A}"/>
              </a:ext>
            </a:extLst>
          </p:cNvPr>
          <p:cNvCxnSpPr>
            <a:cxnSpLocks/>
            <a:endCxn id="41" idx="1"/>
          </p:cNvCxnSpPr>
          <p:nvPr/>
        </p:nvCxnSpPr>
        <p:spPr>
          <a:xfrm rot="5400000" flipH="1" flipV="1">
            <a:off x="6583442" y="2599306"/>
            <a:ext cx="461060" cy="223886"/>
          </a:xfrm>
          <a:prstGeom prst="bentConnector2">
            <a:avLst/>
          </a:prstGeom>
          <a:ln w="25400">
            <a:tailEnd type="triangle" w="lg" len="med"/>
          </a:ln>
        </p:spPr>
        <p:style>
          <a:lnRef idx="1">
            <a:schemeClr val="accent2"/>
          </a:lnRef>
          <a:fillRef idx="0">
            <a:schemeClr val="accent2"/>
          </a:fillRef>
          <a:effectRef idx="0">
            <a:schemeClr val="accent2"/>
          </a:effectRef>
          <a:fontRef idx="minor">
            <a:schemeClr val="tx1"/>
          </a:fontRef>
        </p:style>
      </p:cxnSp>
      <p:sp>
        <p:nvSpPr>
          <p:cNvPr id="41" name="Rectangle 40">
            <a:extLst>
              <a:ext uri="{FF2B5EF4-FFF2-40B4-BE49-F238E27FC236}">
                <a16:creationId xmlns:a16="http://schemas.microsoft.com/office/drawing/2014/main" id="{E82D2C72-77B6-25C9-A492-CA0B1B0F39AD}"/>
              </a:ext>
            </a:extLst>
          </p:cNvPr>
          <p:cNvSpPr/>
          <p:nvPr/>
        </p:nvSpPr>
        <p:spPr>
          <a:xfrm>
            <a:off x="6925915" y="2343559"/>
            <a:ext cx="1028920" cy="274320"/>
          </a:xfrm>
          <a:prstGeom prst="rect">
            <a:avLst/>
          </a:prstGeom>
          <a:solidFill>
            <a:schemeClr val="tx1">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000"/>
              <a:t>Alert Generation</a:t>
            </a:r>
          </a:p>
        </p:txBody>
      </p:sp>
      <p:sp>
        <p:nvSpPr>
          <p:cNvPr id="42" name="Rectangle 41">
            <a:extLst>
              <a:ext uri="{FF2B5EF4-FFF2-40B4-BE49-F238E27FC236}">
                <a16:creationId xmlns:a16="http://schemas.microsoft.com/office/drawing/2014/main" id="{DF772268-E890-5EC6-EA76-03CB767684D6}"/>
              </a:ext>
            </a:extLst>
          </p:cNvPr>
          <p:cNvSpPr/>
          <p:nvPr/>
        </p:nvSpPr>
        <p:spPr>
          <a:xfrm>
            <a:off x="5715000" y="1331569"/>
            <a:ext cx="5806017" cy="725607"/>
          </a:xfrm>
          <a:prstGeom prst="rect">
            <a:avLst/>
          </a:prstGeom>
        </p:spPr>
        <p:style>
          <a:lnRef idx="2">
            <a:schemeClr val="accent5"/>
          </a:lnRef>
          <a:fillRef idx="1">
            <a:schemeClr val="lt1"/>
          </a:fillRef>
          <a:effectRef idx="0">
            <a:schemeClr val="accent5"/>
          </a:effectRef>
          <a:fontRef idx="minor">
            <a:schemeClr val="dk1"/>
          </a:fontRef>
        </p:style>
        <p:txBody>
          <a:bodyPr rtlCol="0" anchor="b"/>
          <a:lstStyle/>
          <a:p>
            <a:r>
              <a:rPr lang="en-US" sz="1000"/>
              <a:t>Splunk</a:t>
            </a:r>
          </a:p>
        </p:txBody>
      </p:sp>
      <p:cxnSp>
        <p:nvCxnSpPr>
          <p:cNvPr id="43" name="Straight Arrow Connector 29">
            <a:extLst>
              <a:ext uri="{FF2B5EF4-FFF2-40B4-BE49-F238E27FC236}">
                <a16:creationId xmlns:a16="http://schemas.microsoft.com/office/drawing/2014/main" id="{E91A38EE-E1EC-0DE3-B8DB-0AD6FA5D6C4E}"/>
              </a:ext>
            </a:extLst>
          </p:cNvPr>
          <p:cNvCxnSpPr>
            <a:cxnSpLocks/>
            <a:stCxn id="24" idx="0"/>
            <a:endCxn id="6" idx="2"/>
          </p:cNvCxnSpPr>
          <p:nvPr/>
        </p:nvCxnSpPr>
        <p:spPr>
          <a:xfrm flipV="1">
            <a:off x="7437979" y="3187087"/>
            <a:ext cx="1708" cy="285690"/>
          </a:xfrm>
          <a:prstGeom prst="straightConnector1">
            <a:avLst/>
          </a:prstGeom>
          <a:ln w="25400">
            <a:tailEnd type="triangle" w="lg" len="med"/>
          </a:ln>
        </p:spPr>
        <p:style>
          <a:lnRef idx="1">
            <a:schemeClr val="accent2"/>
          </a:lnRef>
          <a:fillRef idx="0">
            <a:schemeClr val="accent2"/>
          </a:fillRef>
          <a:effectRef idx="0">
            <a:schemeClr val="accent2"/>
          </a:effectRef>
          <a:fontRef idx="minor">
            <a:schemeClr val="tx1"/>
          </a:fontRef>
        </p:style>
      </p:cxnSp>
      <p:cxnSp>
        <p:nvCxnSpPr>
          <p:cNvPr id="47" name="Straight Arrow Connector 29">
            <a:extLst>
              <a:ext uri="{FF2B5EF4-FFF2-40B4-BE49-F238E27FC236}">
                <a16:creationId xmlns:a16="http://schemas.microsoft.com/office/drawing/2014/main" id="{74667FC6-F8AE-F7E4-4390-4A1EA4C6F43E}"/>
              </a:ext>
            </a:extLst>
          </p:cNvPr>
          <p:cNvCxnSpPr>
            <a:cxnSpLocks/>
            <a:endCxn id="159" idx="3"/>
          </p:cNvCxnSpPr>
          <p:nvPr/>
        </p:nvCxnSpPr>
        <p:spPr>
          <a:xfrm rot="16200000" flipV="1">
            <a:off x="10399471" y="2545569"/>
            <a:ext cx="461060" cy="331359"/>
          </a:xfrm>
          <a:prstGeom prst="bentConnector2">
            <a:avLst/>
          </a:prstGeom>
          <a:ln w="25400">
            <a:headEnd type="triangle" w="lg" len="med"/>
            <a:tailEnd type="triangle" w="lg" len="med"/>
          </a:ln>
        </p:spPr>
        <p:style>
          <a:lnRef idx="1">
            <a:schemeClr val="accent2"/>
          </a:lnRef>
          <a:fillRef idx="0">
            <a:schemeClr val="accent2"/>
          </a:fillRef>
          <a:effectRef idx="0">
            <a:schemeClr val="accent2"/>
          </a:effectRef>
          <a:fontRef idx="minor">
            <a:schemeClr val="tx1"/>
          </a:fontRef>
        </p:style>
      </p:cxnSp>
      <p:cxnSp>
        <p:nvCxnSpPr>
          <p:cNvPr id="53" name="Straight Arrow Connector 52">
            <a:extLst>
              <a:ext uri="{FF2B5EF4-FFF2-40B4-BE49-F238E27FC236}">
                <a16:creationId xmlns:a16="http://schemas.microsoft.com/office/drawing/2014/main" id="{1E5D3DBA-EEBB-6BD9-8AF6-7DA12B8481E1}"/>
              </a:ext>
            </a:extLst>
          </p:cNvPr>
          <p:cNvCxnSpPr>
            <a:cxnSpLocks/>
            <a:stCxn id="159" idx="0"/>
            <a:endCxn id="110" idx="2"/>
          </p:cNvCxnSpPr>
          <p:nvPr/>
        </p:nvCxnSpPr>
        <p:spPr>
          <a:xfrm flipV="1">
            <a:off x="9949861" y="1735003"/>
            <a:ext cx="745" cy="608556"/>
          </a:xfrm>
          <a:prstGeom prst="straightConnector1">
            <a:avLst/>
          </a:prstGeom>
          <a:ln w="25400">
            <a:tailEnd type="triangle" w="lg" len="med"/>
          </a:ln>
        </p:spPr>
        <p:style>
          <a:lnRef idx="1">
            <a:schemeClr val="accent2"/>
          </a:lnRef>
          <a:fillRef idx="0">
            <a:schemeClr val="accent2"/>
          </a:fillRef>
          <a:effectRef idx="0">
            <a:schemeClr val="accent2"/>
          </a:effectRef>
          <a:fontRef idx="minor">
            <a:schemeClr val="tx1"/>
          </a:fontRef>
        </p:style>
      </p:cxnSp>
      <p:sp>
        <p:nvSpPr>
          <p:cNvPr id="56" name="TextBox 55">
            <a:extLst>
              <a:ext uri="{FF2B5EF4-FFF2-40B4-BE49-F238E27FC236}">
                <a16:creationId xmlns:a16="http://schemas.microsoft.com/office/drawing/2014/main" id="{0F23338F-F67A-A8CE-CA94-6BB7F84A6F6D}"/>
              </a:ext>
            </a:extLst>
          </p:cNvPr>
          <p:cNvSpPr txBox="1"/>
          <p:nvPr/>
        </p:nvSpPr>
        <p:spPr>
          <a:xfrm>
            <a:off x="8228585" y="1898404"/>
            <a:ext cx="1952739" cy="308597"/>
          </a:xfrm>
          <a:prstGeom prst="rect">
            <a:avLst/>
          </a:prstGeom>
          <a:noFill/>
        </p:spPr>
        <p:txBody>
          <a:bodyPr wrap="square" lIns="0" tIns="0" rIns="0" bIns="0" rtlCol="0">
            <a:spAutoFit/>
          </a:bodyPr>
          <a:lstStyle/>
          <a:p>
            <a:r>
              <a:rPr lang="en-US" sz="1000" i="1">
                <a:latin typeface="Calibri Light" charset="0"/>
                <a:ea typeface="Calibri Light" charset="0"/>
                <a:cs typeface="Calibri Light" charset="0"/>
              </a:rPr>
              <a:t>Notables sent to Splunk with rich context from Knowledge Graph</a:t>
            </a:r>
          </a:p>
        </p:txBody>
      </p:sp>
      <p:sp>
        <p:nvSpPr>
          <p:cNvPr id="59" name="Rectangle 58">
            <a:extLst>
              <a:ext uri="{FF2B5EF4-FFF2-40B4-BE49-F238E27FC236}">
                <a16:creationId xmlns:a16="http://schemas.microsoft.com/office/drawing/2014/main" id="{B3A74D21-AD0B-4B7C-B475-7E479B974648}"/>
              </a:ext>
            </a:extLst>
          </p:cNvPr>
          <p:cNvSpPr/>
          <p:nvPr/>
        </p:nvSpPr>
        <p:spPr>
          <a:xfrm>
            <a:off x="710740" y="1298405"/>
            <a:ext cx="4530493" cy="3343484"/>
          </a:xfrm>
          <a:prstGeom prst="rect">
            <a:avLst/>
          </a:prstGeom>
        </p:spPr>
        <p:style>
          <a:lnRef idx="2">
            <a:schemeClr val="accent5"/>
          </a:lnRef>
          <a:fillRef idx="1">
            <a:schemeClr val="lt1"/>
          </a:fillRef>
          <a:effectRef idx="0">
            <a:schemeClr val="accent5"/>
          </a:effectRef>
          <a:fontRef idx="minor">
            <a:schemeClr val="dk1"/>
          </a:fontRef>
        </p:style>
        <p:txBody>
          <a:bodyPr rtlCol="0" anchor="b"/>
          <a:lstStyle/>
          <a:p>
            <a:r>
              <a:rPr lang="en-US" sz="1000" b="1"/>
              <a:t>Splunk</a:t>
            </a:r>
          </a:p>
        </p:txBody>
      </p:sp>
      <p:cxnSp>
        <p:nvCxnSpPr>
          <p:cNvPr id="60" name="Straight Arrow Connector 59">
            <a:extLst>
              <a:ext uri="{FF2B5EF4-FFF2-40B4-BE49-F238E27FC236}">
                <a16:creationId xmlns:a16="http://schemas.microsoft.com/office/drawing/2014/main" id="{F6E10063-1747-B3D7-838C-A639BD0609F3}"/>
              </a:ext>
            </a:extLst>
          </p:cNvPr>
          <p:cNvCxnSpPr>
            <a:cxnSpLocks/>
            <a:stCxn id="62" idx="1"/>
            <a:endCxn id="64" idx="1"/>
          </p:cNvCxnSpPr>
          <p:nvPr/>
        </p:nvCxnSpPr>
        <p:spPr>
          <a:xfrm flipV="1">
            <a:off x="29399" y="2038693"/>
            <a:ext cx="758587" cy="23530"/>
          </a:xfrm>
          <a:prstGeom prst="straightConnector1">
            <a:avLst/>
          </a:prstGeom>
          <a:ln w="25400">
            <a:tailEnd type="triangle" w="lg" len="med"/>
          </a:ln>
        </p:spPr>
        <p:style>
          <a:lnRef idx="1">
            <a:schemeClr val="accent2"/>
          </a:lnRef>
          <a:fillRef idx="0">
            <a:schemeClr val="accent2"/>
          </a:fillRef>
          <a:effectRef idx="0">
            <a:schemeClr val="accent2"/>
          </a:effectRef>
          <a:fontRef idx="minor">
            <a:schemeClr val="tx1"/>
          </a:fontRef>
        </p:style>
      </p:cxnSp>
      <p:sp>
        <p:nvSpPr>
          <p:cNvPr id="62" name="TextBox 61">
            <a:extLst>
              <a:ext uri="{FF2B5EF4-FFF2-40B4-BE49-F238E27FC236}">
                <a16:creationId xmlns:a16="http://schemas.microsoft.com/office/drawing/2014/main" id="{7611BE11-FAB3-DA4D-A2B8-21EEF0CBFFE4}"/>
              </a:ext>
            </a:extLst>
          </p:cNvPr>
          <p:cNvSpPr txBox="1"/>
          <p:nvPr/>
        </p:nvSpPr>
        <p:spPr>
          <a:xfrm>
            <a:off x="29399" y="1908334"/>
            <a:ext cx="635185" cy="307777"/>
          </a:xfrm>
          <a:prstGeom prst="rect">
            <a:avLst/>
          </a:prstGeom>
          <a:noFill/>
        </p:spPr>
        <p:txBody>
          <a:bodyPr wrap="square" lIns="0" tIns="0" rIns="0" bIns="0" rtlCol="0">
            <a:spAutoFit/>
          </a:bodyPr>
          <a:lstStyle/>
          <a:p>
            <a:r>
              <a:rPr lang="en-US" sz="1000" i="1">
                <a:latin typeface="Calibri Light" charset="0"/>
                <a:ea typeface="Calibri Light" charset="0"/>
                <a:cs typeface="Calibri Light" charset="0"/>
              </a:rPr>
              <a:t>Events Data Ingestion</a:t>
            </a:r>
          </a:p>
        </p:txBody>
      </p:sp>
      <p:sp>
        <p:nvSpPr>
          <p:cNvPr id="64" name="Rectangle 63">
            <a:extLst>
              <a:ext uri="{FF2B5EF4-FFF2-40B4-BE49-F238E27FC236}">
                <a16:creationId xmlns:a16="http://schemas.microsoft.com/office/drawing/2014/main" id="{B9B3F9CA-BA2C-96B4-DD47-C2F955A5B8E9}"/>
              </a:ext>
            </a:extLst>
          </p:cNvPr>
          <p:cNvSpPr/>
          <p:nvPr/>
        </p:nvSpPr>
        <p:spPr>
          <a:xfrm>
            <a:off x="787986" y="1901533"/>
            <a:ext cx="908919" cy="2743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000"/>
              <a:t>Splunk Ingestion</a:t>
            </a:r>
          </a:p>
        </p:txBody>
      </p:sp>
      <p:sp>
        <p:nvSpPr>
          <p:cNvPr id="66" name="Rectangle 65">
            <a:extLst>
              <a:ext uri="{FF2B5EF4-FFF2-40B4-BE49-F238E27FC236}">
                <a16:creationId xmlns:a16="http://schemas.microsoft.com/office/drawing/2014/main" id="{1626D67F-B796-8CEF-2707-6EFE503655F3}"/>
              </a:ext>
            </a:extLst>
          </p:cNvPr>
          <p:cNvSpPr/>
          <p:nvPr/>
        </p:nvSpPr>
        <p:spPr>
          <a:xfrm>
            <a:off x="1864200" y="1891319"/>
            <a:ext cx="997031" cy="2743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000"/>
              <a:t>Pre-Processing</a:t>
            </a:r>
          </a:p>
        </p:txBody>
      </p:sp>
      <p:sp>
        <p:nvSpPr>
          <p:cNvPr id="68" name="Rectangle 67">
            <a:extLst>
              <a:ext uri="{FF2B5EF4-FFF2-40B4-BE49-F238E27FC236}">
                <a16:creationId xmlns:a16="http://schemas.microsoft.com/office/drawing/2014/main" id="{A2B2031B-360C-44C9-992D-3DAD66CF445D}"/>
              </a:ext>
            </a:extLst>
          </p:cNvPr>
          <p:cNvSpPr/>
          <p:nvPr/>
        </p:nvSpPr>
        <p:spPr>
          <a:xfrm>
            <a:off x="787987" y="3065167"/>
            <a:ext cx="4357192" cy="2743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000"/>
              <a:t>Splunk Indexes</a:t>
            </a:r>
          </a:p>
        </p:txBody>
      </p:sp>
      <p:cxnSp>
        <p:nvCxnSpPr>
          <p:cNvPr id="71" name="Straight Arrow Connector 70">
            <a:extLst>
              <a:ext uri="{FF2B5EF4-FFF2-40B4-BE49-F238E27FC236}">
                <a16:creationId xmlns:a16="http://schemas.microsoft.com/office/drawing/2014/main" id="{DDF29BBE-5552-A08A-9B8A-0E62AA975016}"/>
              </a:ext>
            </a:extLst>
          </p:cNvPr>
          <p:cNvCxnSpPr>
            <a:cxnSpLocks/>
            <a:stCxn id="64" idx="2"/>
          </p:cNvCxnSpPr>
          <p:nvPr/>
        </p:nvCxnSpPr>
        <p:spPr>
          <a:xfrm flipH="1">
            <a:off x="1242445" y="2175853"/>
            <a:ext cx="1" cy="889314"/>
          </a:xfrm>
          <a:prstGeom prst="straightConnector1">
            <a:avLst/>
          </a:prstGeom>
          <a:ln w="25400">
            <a:tailEnd type="triangle" w="lg" len="med"/>
          </a:ln>
        </p:spPr>
        <p:style>
          <a:lnRef idx="1">
            <a:schemeClr val="accent2"/>
          </a:lnRef>
          <a:fillRef idx="0">
            <a:schemeClr val="accent2"/>
          </a:fillRef>
          <a:effectRef idx="0">
            <a:schemeClr val="accent2"/>
          </a:effectRef>
          <a:fontRef idx="minor">
            <a:schemeClr val="tx1"/>
          </a:fontRef>
        </p:style>
      </p:cxnSp>
      <p:sp>
        <p:nvSpPr>
          <p:cNvPr id="79" name="TextBox 78">
            <a:extLst>
              <a:ext uri="{FF2B5EF4-FFF2-40B4-BE49-F238E27FC236}">
                <a16:creationId xmlns:a16="http://schemas.microsoft.com/office/drawing/2014/main" id="{AFD457EE-D468-EF21-9EC4-0A9416EAB2B9}"/>
              </a:ext>
            </a:extLst>
          </p:cNvPr>
          <p:cNvSpPr txBox="1"/>
          <p:nvPr/>
        </p:nvSpPr>
        <p:spPr>
          <a:xfrm>
            <a:off x="1449339" y="2254428"/>
            <a:ext cx="997027" cy="307777"/>
          </a:xfrm>
          <a:prstGeom prst="rect">
            <a:avLst/>
          </a:prstGeom>
          <a:noFill/>
        </p:spPr>
        <p:txBody>
          <a:bodyPr wrap="square" lIns="0" tIns="0" rIns="0" bIns="0" rtlCol="0">
            <a:spAutoFit/>
          </a:bodyPr>
          <a:lstStyle/>
          <a:p>
            <a:r>
              <a:rPr lang="en-US" sz="1000" i="1" err="1">
                <a:latin typeface="Calibri Light" charset="0"/>
                <a:ea typeface="Calibri Light" charset="0"/>
                <a:cs typeface="Calibri Light" charset="0"/>
              </a:rPr>
              <a:t>Normalisation</a:t>
            </a:r>
            <a:r>
              <a:rPr lang="en-US" sz="1000" i="1">
                <a:latin typeface="Calibri Light" charset="0"/>
                <a:ea typeface="Calibri Light" charset="0"/>
                <a:cs typeface="Calibri Light" charset="0"/>
              </a:rPr>
              <a:t>, Enrichment </a:t>
            </a:r>
          </a:p>
        </p:txBody>
      </p:sp>
      <p:sp>
        <p:nvSpPr>
          <p:cNvPr id="80" name="TextBox 79">
            <a:extLst>
              <a:ext uri="{FF2B5EF4-FFF2-40B4-BE49-F238E27FC236}">
                <a16:creationId xmlns:a16="http://schemas.microsoft.com/office/drawing/2014/main" id="{B96CDA5F-61C5-B074-8958-8C669B3A4658}"/>
              </a:ext>
            </a:extLst>
          </p:cNvPr>
          <p:cNvSpPr txBox="1"/>
          <p:nvPr/>
        </p:nvSpPr>
        <p:spPr>
          <a:xfrm>
            <a:off x="870626" y="2744098"/>
            <a:ext cx="410561" cy="307777"/>
          </a:xfrm>
          <a:prstGeom prst="rect">
            <a:avLst/>
          </a:prstGeom>
          <a:noFill/>
        </p:spPr>
        <p:txBody>
          <a:bodyPr wrap="square" lIns="0" tIns="0" rIns="0" bIns="0" rtlCol="0">
            <a:spAutoFit/>
          </a:bodyPr>
          <a:lstStyle/>
          <a:p>
            <a:r>
              <a:rPr lang="en-US" sz="1000" i="1">
                <a:latin typeface="Calibri Light" charset="0"/>
                <a:ea typeface="Calibri Light" charset="0"/>
                <a:cs typeface="Calibri Light" charset="0"/>
              </a:rPr>
              <a:t>Raw Events</a:t>
            </a:r>
          </a:p>
        </p:txBody>
      </p:sp>
      <p:sp>
        <p:nvSpPr>
          <p:cNvPr id="81" name="TextBox 80">
            <a:extLst>
              <a:ext uri="{FF2B5EF4-FFF2-40B4-BE49-F238E27FC236}">
                <a16:creationId xmlns:a16="http://schemas.microsoft.com/office/drawing/2014/main" id="{3730270A-FD34-91D4-3D56-4953EE570D7B}"/>
              </a:ext>
            </a:extLst>
          </p:cNvPr>
          <p:cNvSpPr txBox="1"/>
          <p:nvPr/>
        </p:nvSpPr>
        <p:spPr>
          <a:xfrm>
            <a:off x="1878837" y="2744098"/>
            <a:ext cx="561911" cy="307777"/>
          </a:xfrm>
          <a:prstGeom prst="rect">
            <a:avLst/>
          </a:prstGeom>
          <a:noFill/>
        </p:spPr>
        <p:txBody>
          <a:bodyPr wrap="square" lIns="0" tIns="0" rIns="0" bIns="0" rtlCol="0">
            <a:spAutoFit/>
          </a:bodyPr>
          <a:lstStyle/>
          <a:p>
            <a:r>
              <a:rPr lang="en-US" sz="1000" i="1">
                <a:latin typeface="Calibri Light" charset="0"/>
                <a:ea typeface="Calibri Light" charset="0"/>
                <a:cs typeface="Calibri Light" charset="0"/>
              </a:rPr>
              <a:t>Enriched Events</a:t>
            </a:r>
          </a:p>
        </p:txBody>
      </p:sp>
      <p:cxnSp>
        <p:nvCxnSpPr>
          <p:cNvPr id="82" name="Straight Arrow Connector 81">
            <a:extLst>
              <a:ext uri="{FF2B5EF4-FFF2-40B4-BE49-F238E27FC236}">
                <a16:creationId xmlns:a16="http://schemas.microsoft.com/office/drawing/2014/main" id="{4FA01B1E-A84F-62E8-459F-F5A604175FA4}"/>
              </a:ext>
            </a:extLst>
          </p:cNvPr>
          <p:cNvCxnSpPr>
            <a:cxnSpLocks/>
            <a:stCxn id="64" idx="3"/>
            <a:endCxn id="66" idx="1"/>
          </p:cNvCxnSpPr>
          <p:nvPr/>
        </p:nvCxnSpPr>
        <p:spPr>
          <a:xfrm flipV="1">
            <a:off x="1696905" y="2028479"/>
            <a:ext cx="167295" cy="10214"/>
          </a:xfrm>
          <a:prstGeom prst="straightConnector1">
            <a:avLst/>
          </a:prstGeom>
          <a:ln w="25400">
            <a:tailEnd type="triangle" w="lg" len="med"/>
          </a:ln>
        </p:spPr>
        <p:style>
          <a:lnRef idx="1">
            <a:schemeClr val="accent2"/>
          </a:lnRef>
          <a:fillRef idx="0">
            <a:schemeClr val="accent2"/>
          </a:fillRef>
          <a:effectRef idx="0">
            <a:schemeClr val="accent2"/>
          </a:effectRef>
          <a:fontRef idx="minor">
            <a:schemeClr val="tx1"/>
          </a:fontRef>
        </p:style>
      </p:cxnSp>
      <p:cxnSp>
        <p:nvCxnSpPr>
          <p:cNvPr id="85" name="Straight Arrow Connector 84">
            <a:extLst>
              <a:ext uri="{FF2B5EF4-FFF2-40B4-BE49-F238E27FC236}">
                <a16:creationId xmlns:a16="http://schemas.microsoft.com/office/drawing/2014/main" id="{C5E776E6-16DE-ACF5-1EB1-EFCABE468DDE}"/>
              </a:ext>
            </a:extLst>
          </p:cNvPr>
          <p:cNvCxnSpPr>
            <a:cxnSpLocks/>
            <a:stCxn id="66" idx="2"/>
          </p:cNvCxnSpPr>
          <p:nvPr/>
        </p:nvCxnSpPr>
        <p:spPr>
          <a:xfrm flipH="1">
            <a:off x="2362715" y="2165639"/>
            <a:ext cx="1" cy="877740"/>
          </a:xfrm>
          <a:prstGeom prst="straightConnector1">
            <a:avLst/>
          </a:prstGeom>
          <a:ln w="25400">
            <a:tailEnd type="triangle" w="lg" len="med"/>
          </a:ln>
        </p:spPr>
        <p:style>
          <a:lnRef idx="1">
            <a:schemeClr val="accent2"/>
          </a:lnRef>
          <a:fillRef idx="0">
            <a:schemeClr val="accent2"/>
          </a:fillRef>
          <a:effectRef idx="0">
            <a:schemeClr val="accent2"/>
          </a:effectRef>
          <a:fontRef idx="minor">
            <a:schemeClr val="tx1"/>
          </a:fontRef>
        </p:style>
      </p:cxnSp>
      <p:cxnSp>
        <p:nvCxnSpPr>
          <p:cNvPr id="88" name="Straight Arrow Connector 87">
            <a:extLst>
              <a:ext uri="{FF2B5EF4-FFF2-40B4-BE49-F238E27FC236}">
                <a16:creationId xmlns:a16="http://schemas.microsoft.com/office/drawing/2014/main" id="{F1571D8E-E712-5D01-507D-1045408A087C}"/>
              </a:ext>
            </a:extLst>
          </p:cNvPr>
          <p:cNvCxnSpPr>
            <a:cxnSpLocks/>
            <a:stCxn id="93" idx="3"/>
            <a:endCxn id="94" idx="1"/>
          </p:cNvCxnSpPr>
          <p:nvPr/>
        </p:nvCxnSpPr>
        <p:spPr>
          <a:xfrm>
            <a:off x="4025557" y="2028479"/>
            <a:ext cx="123402" cy="10213"/>
          </a:xfrm>
          <a:prstGeom prst="straightConnector1">
            <a:avLst/>
          </a:prstGeom>
          <a:ln w="25400">
            <a:tailEnd type="triangle" w="lg" len="med"/>
          </a:ln>
        </p:spPr>
        <p:style>
          <a:lnRef idx="1">
            <a:schemeClr val="accent2"/>
          </a:lnRef>
          <a:fillRef idx="0">
            <a:schemeClr val="accent2"/>
          </a:fillRef>
          <a:effectRef idx="0">
            <a:schemeClr val="accent2"/>
          </a:effectRef>
          <a:fontRef idx="minor">
            <a:schemeClr val="tx1"/>
          </a:fontRef>
        </p:style>
      </p:cxnSp>
      <p:sp>
        <p:nvSpPr>
          <p:cNvPr id="93" name="Rectangle 92">
            <a:extLst>
              <a:ext uri="{FF2B5EF4-FFF2-40B4-BE49-F238E27FC236}">
                <a16:creationId xmlns:a16="http://schemas.microsoft.com/office/drawing/2014/main" id="{A0DC594C-7EFE-696C-C2C1-A078832A678D}"/>
              </a:ext>
            </a:extLst>
          </p:cNvPr>
          <p:cNvSpPr/>
          <p:nvPr/>
        </p:nvSpPr>
        <p:spPr>
          <a:xfrm>
            <a:off x="3028526" y="1891319"/>
            <a:ext cx="997031" cy="2743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000"/>
              <a:t>Alert Generation</a:t>
            </a:r>
          </a:p>
        </p:txBody>
      </p:sp>
      <p:sp>
        <p:nvSpPr>
          <p:cNvPr id="94" name="Rectangle 93">
            <a:extLst>
              <a:ext uri="{FF2B5EF4-FFF2-40B4-BE49-F238E27FC236}">
                <a16:creationId xmlns:a16="http://schemas.microsoft.com/office/drawing/2014/main" id="{BA9C45D5-B3F8-C74D-19B9-205E45AF6047}"/>
              </a:ext>
            </a:extLst>
          </p:cNvPr>
          <p:cNvSpPr/>
          <p:nvPr/>
        </p:nvSpPr>
        <p:spPr>
          <a:xfrm>
            <a:off x="4148959" y="1901532"/>
            <a:ext cx="997031" cy="2743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000"/>
              <a:t>Incident Resolution</a:t>
            </a:r>
          </a:p>
        </p:txBody>
      </p:sp>
      <p:cxnSp>
        <p:nvCxnSpPr>
          <p:cNvPr id="96" name="Straight Arrow Connector 95">
            <a:extLst>
              <a:ext uri="{FF2B5EF4-FFF2-40B4-BE49-F238E27FC236}">
                <a16:creationId xmlns:a16="http://schemas.microsoft.com/office/drawing/2014/main" id="{F0A957DE-F909-D76E-0B17-8FE52DB7D039}"/>
              </a:ext>
            </a:extLst>
          </p:cNvPr>
          <p:cNvCxnSpPr>
            <a:cxnSpLocks/>
            <a:stCxn id="66" idx="3"/>
            <a:endCxn id="93" idx="1"/>
          </p:cNvCxnSpPr>
          <p:nvPr/>
        </p:nvCxnSpPr>
        <p:spPr>
          <a:xfrm>
            <a:off x="2861231" y="2028479"/>
            <a:ext cx="167295" cy="0"/>
          </a:xfrm>
          <a:prstGeom prst="straightConnector1">
            <a:avLst/>
          </a:prstGeom>
          <a:ln w="25400">
            <a:tailEnd type="triangle" w="lg" len="med"/>
          </a:ln>
        </p:spPr>
        <p:style>
          <a:lnRef idx="1">
            <a:schemeClr val="accent2"/>
          </a:lnRef>
          <a:fillRef idx="0">
            <a:schemeClr val="accent2"/>
          </a:fillRef>
          <a:effectRef idx="0">
            <a:schemeClr val="accent2"/>
          </a:effectRef>
          <a:fontRef idx="minor">
            <a:schemeClr val="tx1"/>
          </a:fontRef>
        </p:style>
      </p:cxnSp>
      <p:cxnSp>
        <p:nvCxnSpPr>
          <p:cNvPr id="101" name="Straight Arrow Connector 100">
            <a:extLst>
              <a:ext uri="{FF2B5EF4-FFF2-40B4-BE49-F238E27FC236}">
                <a16:creationId xmlns:a16="http://schemas.microsoft.com/office/drawing/2014/main" id="{4D506C1B-0A20-9E2A-00D6-8EFCF863D2B5}"/>
              </a:ext>
            </a:extLst>
          </p:cNvPr>
          <p:cNvCxnSpPr>
            <a:cxnSpLocks/>
            <a:endCxn id="93" idx="2"/>
          </p:cNvCxnSpPr>
          <p:nvPr/>
        </p:nvCxnSpPr>
        <p:spPr>
          <a:xfrm flipV="1">
            <a:off x="3527042" y="2165639"/>
            <a:ext cx="0" cy="877740"/>
          </a:xfrm>
          <a:prstGeom prst="straightConnector1">
            <a:avLst/>
          </a:prstGeom>
          <a:ln w="25400">
            <a:tailEnd type="triangle" w="lg" len="med"/>
          </a:ln>
        </p:spPr>
        <p:style>
          <a:lnRef idx="1">
            <a:schemeClr val="accent2"/>
          </a:lnRef>
          <a:fillRef idx="0">
            <a:schemeClr val="accent2"/>
          </a:fillRef>
          <a:effectRef idx="0">
            <a:schemeClr val="accent2"/>
          </a:effectRef>
          <a:fontRef idx="minor">
            <a:schemeClr val="tx1"/>
          </a:fontRef>
        </p:style>
      </p:cxnSp>
      <p:cxnSp>
        <p:nvCxnSpPr>
          <p:cNvPr id="104" name="Straight Arrow Connector 103">
            <a:extLst>
              <a:ext uri="{FF2B5EF4-FFF2-40B4-BE49-F238E27FC236}">
                <a16:creationId xmlns:a16="http://schemas.microsoft.com/office/drawing/2014/main" id="{B5C9D68A-CC72-C0F6-F940-51F238C5EBEE}"/>
              </a:ext>
            </a:extLst>
          </p:cNvPr>
          <p:cNvCxnSpPr>
            <a:cxnSpLocks/>
            <a:endCxn id="94" idx="2"/>
          </p:cNvCxnSpPr>
          <p:nvPr/>
        </p:nvCxnSpPr>
        <p:spPr>
          <a:xfrm flipV="1">
            <a:off x="4647475" y="2175852"/>
            <a:ext cx="0" cy="889315"/>
          </a:xfrm>
          <a:prstGeom prst="straightConnector1">
            <a:avLst/>
          </a:prstGeom>
          <a:ln w="25400">
            <a:headEnd type="triangle" w="lg" len="med"/>
            <a:tailEnd type="triangle" w="lg" len="med"/>
          </a:ln>
        </p:spPr>
        <p:style>
          <a:lnRef idx="1">
            <a:schemeClr val="accent2"/>
          </a:lnRef>
          <a:fillRef idx="0">
            <a:schemeClr val="accent2"/>
          </a:fillRef>
          <a:effectRef idx="0">
            <a:schemeClr val="accent2"/>
          </a:effectRef>
          <a:fontRef idx="minor">
            <a:schemeClr val="tx1"/>
          </a:fontRef>
        </p:style>
      </p:cxnSp>
      <p:sp>
        <p:nvSpPr>
          <p:cNvPr id="107" name="TextBox 106">
            <a:extLst>
              <a:ext uri="{FF2B5EF4-FFF2-40B4-BE49-F238E27FC236}">
                <a16:creationId xmlns:a16="http://schemas.microsoft.com/office/drawing/2014/main" id="{85B735F5-2CBA-3DB3-B0D4-8306DC868B8F}"/>
              </a:ext>
            </a:extLst>
          </p:cNvPr>
          <p:cNvSpPr txBox="1"/>
          <p:nvPr/>
        </p:nvSpPr>
        <p:spPr>
          <a:xfrm>
            <a:off x="3855260" y="2742381"/>
            <a:ext cx="880077" cy="307777"/>
          </a:xfrm>
          <a:prstGeom prst="rect">
            <a:avLst/>
          </a:prstGeom>
          <a:noFill/>
        </p:spPr>
        <p:txBody>
          <a:bodyPr wrap="square" lIns="0" tIns="0" rIns="0" bIns="0" rtlCol="0">
            <a:spAutoFit/>
          </a:bodyPr>
          <a:lstStyle/>
          <a:p>
            <a:r>
              <a:rPr lang="en-US" sz="1000" i="1">
                <a:latin typeface="Calibri Light" charset="0"/>
                <a:ea typeface="Calibri Light" charset="0"/>
                <a:cs typeface="Calibri Light" charset="0"/>
              </a:rPr>
              <a:t>Manual Search for context</a:t>
            </a:r>
          </a:p>
        </p:txBody>
      </p:sp>
      <p:sp>
        <p:nvSpPr>
          <p:cNvPr id="110" name="Rectangle 109">
            <a:extLst>
              <a:ext uri="{FF2B5EF4-FFF2-40B4-BE49-F238E27FC236}">
                <a16:creationId xmlns:a16="http://schemas.microsoft.com/office/drawing/2014/main" id="{09A6D496-7B39-6EAD-15B3-A1A68EA91519}"/>
              </a:ext>
            </a:extLst>
          </p:cNvPr>
          <p:cNvSpPr/>
          <p:nvPr/>
        </p:nvSpPr>
        <p:spPr>
          <a:xfrm>
            <a:off x="9452090" y="1460683"/>
            <a:ext cx="997031" cy="2743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000"/>
              <a:t>Incident Resolution</a:t>
            </a:r>
          </a:p>
        </p:txBody>
      </p:sp>
      <p:cxnSp>
        <p:nvCxnSpPr>
          <p:cNvPr id="113" name="Straight Arrow Connector 112">
            <a:extLst>
              <a:ext uri="{FF2B5EF4-FFF2-40B4-BE49-F238E27FC236}">
                <a16:creationId xmlns:a16="http://schemas.microsoft.com/office/drawing/2014/main" id="{2B6E0814-99F7-4F7D-A56D-808C31E80BA9}"/>
              </a:ext>
            </a:extLst>
          </p:cNvPr>
          <p:cNvCxnSpPr>
            <a:cxnSpLocks/>
            <a:endCxn id="24" idx="1"/>
          </p:cNvCxnSpPr>
          <p:nvPr/>
        </p:nvCxnSpPr>
        <p:spPr>
          <a:xfrm>
            <a:off x="5595990" y="3609937"/>
            <a:ext cx="1327529" cy="0"/>
          </a:xfrm>
          <a:prstGeom prst="straightConnector1">
            <a:avLst/>
          </a:prstGeom>
          <a:ln w="25400">
            <a:tailEnd type="triangle" w="lg" len="med"/>
          </a:ln>
        </p:spPr>
        <p:style>
          <a:lnRef idx="1">
            <a:schemeClr val="accent2"/>
          </a:lnRef>
          <a:fillRef idx="0">
            <a:schemeClr val="accent2"/>
          </a:fillRef>
          <a:effectRef idx="0">
            <a:schemeClr val="accent2"/>
          </a:effectRef>
          <a:fontRef idx="minor">
            <a:schemeClr val="tx1"/>
          </a:fontRef>
        </p:style>
      </p:cxnSp>
      <p:sp>
        <p:nvSpPr>
          <p:cNvPr id="119" name="TextBox 118">
            <a:extLst>
              <a:ext uri="{FF2B5EF4-FFF2-40B4-BE49-F238E27FC236}">
                <a16:creationId xmlns:a16="http://schemas.microsoft.com/office/drawing/2014/main" id="{6D52DBA1-1FFA-A7B4-4987-873478EBAD45}"/>
              </a:ext>
            </a:extLst>
          </p:cNvPr>
          <p:cNvSpPr txBox="1"/>
          <p:nvPr/>
        </p:nvSpPr>
        <p:spPr>
          <a:xfrm>
            <a:off x="670983" y="4641889"/>
            <a:ext cx="4638378" cy="1107996"/>
          </a:xfrm>
          <a:prstGeom prst="rect">
            <a:avLst/>
          </a:prstGeom>
          <a:noFill/>
        </p:spPr>
        <p:txBody>
          <a:bodyPr wrap="square" lIns="0" tIns="0" rIns="0" bIns="0" rtlCol="0">
            <a:spAutoFit/>
          </a:bodyPr>
          <a:lstStyle/>
          <a:p>
            <a:r>
              <a:rPr lang="en-US" sz="1200" b="1">
                <a:latin typeface="Calibri Light" charset="0"/>
                <a:ea typeface="Calibri Light" charset="0"/>
                <a:cs typeface="Calibri Light" charset="0"/>
              </a:rPr>
              <a:t>Challenges </a:t>
            </a:r>
          </a:p>
          <a:p>
            <a:pPr marL="171450" indent="-171450">
              <a:buFont typeface="Arial" panose="020B0604020202020204" pitchFamily="34" charset="0"/>
              <a:buChar char="•"/>
            </a:pPr>
            <a:r>
              <a:rPr lang="en-US" sz="1200">
                <a:latin typeface="Calibri Light" charset="0"/>
                <a:ea typeface="Calibri Light" charset="0"/>
                <a:cs typeface="Calibri Light" charset="0"/>
              </a:rPr>
              <a:t>Entire Data (Raw &amp; enriched events) in Splunk =&gt; Huge Storage Cost</a:t>
            </a:r>
          </a:p>
          <a:p>
            <a:pPr marL="171450" indent="-171450">
              <a:buFont typeface="Arial" panose="020B0604020202020204" pitchFamily="34" charset="0"/>
              <a:buChar char="•"/>
            </a:pPr>
            <a:r>
              <a:rPr lang="en-US" sz="1200">
                <a:latin typeface="Calibri Light" charset="0"/>
                <a:ea typeface="Calibri Light" charset="0"/>
                <a:cs typeface="Calibri Light" charset="0"/>
              </a:rPr>
              <a:t>Ingestion based pricing =&gt; High License cost</a:t>
            </a:r>
          </a:p>
          <a:p>
            <a:pPr marL="171450" indent="-171450">
              <a:buFont typeface="Arial" panose="020B0604020202020204" pitchFamily="34" charset="0"/>
              <a:buChar char="•"/>
            </a:pPr>
            <a:r>
              <a:rPr lang="en-US" sz="1200">
                <a:latin typeface="Calibri Light" charset="0"/>
                <a:ea typeface="Calibri Light" charset="0"/>
                <a:cs typeface="Calibri Light" charset="0"/>
              </a:rPr>
              <a:t>Large Number of False Positives =&gt; Wasted Effort</a:t>
            </a:r>
          </a:p>
          <a:p>
            <a:pPr marL="171450" indent="-171450">
              <a:buFont typeface="Arial" panose="020B0604020202020204" pitchFamily="34" charset="0"/>
              <a:buChar char="•"/>
            </a:pPr>
            <a:r>
              <a:rPr lang="en-US" sz="1200">
                <a:latin typeface="Calibri Light" charset="0"/>
                <a:ea typeface="Calibri Light" charset="0"/>
                <a:cs typeface="Calibri Light" charset="0"/>
              </a:rPr>
              <a:t>Lack of context =&gt; Very High Investigation &amp; Resolution time.</a:t>
            </a:r>
          </a:p>
          <a:p>
            <a:pPr marL="171450" indent="-171450">
              <a:buFont typeface="Arial" panose="020B0604020202020204" pitchFamily="34" charset="0"/>
              <a:buChar char="•"/>
            </a:pPr>
            <a:endParaRPr lang="en-US" sz="1200">
              <a:latin typeface="Calibri Light" charset="0"/>
              <a:ea typeface="Calibri Light" charset="0"/>
              <a:cs typeface="Calibri Light" charset="0"/>
            </a:endParaRPr>
          </a:p>
        </p:txBody>
      </p:sp>
      <p:sp>
        <p:nvSpPr>
          <p:cNvPr id="120" name="TextBox 119">
            <a:extLst>
              <a:ext uri="{FF2B5EF4-FFF2-40B4-BE49-F238E27FC236}">
                <a16:creationId xmlns:a16="http://schemas.microsoft.com/office/drawing/2014/main" id="{2DBD855A-9DE9-7C7B-CEAB-860F16FA2844}"/>
              </a:ext>
            </a:extLst>
          </p:cNvPr>
          <p:cNvSpPr txBox="1"/>
          <p:nvPr/>
        </p:nvSpPr>
        <p:spPr>
          <a:xfrm>
            <a:off x="5591050" y="3444359"/>
            <a:ext cx="1233382" cy="307777"/>
          </a:xfrm>
          <a:prstGeom prst="rect">
            <a:avLst/>
          </a:prstGeom>
          <a:noFill/>
        </p:spPr>
        <p:txBody>
          <a:bodyPr wrap="square" lIns="0" tIns="0" rIns="0" bIns="0" rtlCol="0">
            <a:spAutoFit/>
          </a:bodyPr>
          <a:lstStyle/>
          <a:p>
            <a:r>
              <a:rPr lang="en-US" sz="1000" i="1">
                <a:latin typeface="Calibri Light" charset="0"/>
                <a:ea typeface="Calibri Light" charset="0"/>
                <a:cs typeface="Calibri Light" charset="0"/>
              </a:rPr>
              <a:t>Events &amp; </a:t>
            </a:r>
            <a:r>
              <a:rPr lang="en-US" sz="1000" i="1" err="1">
                <a:latin typeface="Calibri Light" charset="0"/>
                <a:ea typeface="Calibri Light" charset="0"/>
                <a:cs typeface="Calibri Light" charset="0"/>
              </a:rPr>
              <a:t>Organisational</a:t>
            </a:r>
            <a:endParaRPr lang="en-US" sz="1000" i="1">
              <a:latin typeface="Calibri Light" charset="0"/>
              <a:ea typeface="Calibri Light" charset="0"/>
              <a:cs typeface="Calibri Light" charset="0"/>
            </a:endParaRPr>
          </a:p>
          <a:p>
            <a:r>
              <a:rPr lang="en-US" sz="1000" i="1">
                <a:latin typeface="Calibri Light" charset="0"/>
                <a:ea typeface="Calibri Light" charset="0"/>
                <a:cs typeface="Calibri Light" charset="0"/>
              </a:rPr>
              <a:t>Data Ingestion</a:t>
            </a:r>
          </a:p>
        </p:txBody>
      </p:sp>
      <p:cxnSp>
        <p:nvCxnSpPr>
          <p:cNvPr id="126" name="Straight Arrow Connector 125">
            <a:extLst>
              <a:ext uri="{FF2B5EF4-FFF2-40B4-BE49-F238E27FC236}">
                <a16:creationId xmlns:a16="http://schemas.microsoft.com/office/drawing/2014/main" id="{AFEED7A2-D834-4AAE-DC02-8C66C6E410BA}"/>
              </a:ext>
            </a:extLst>
          </p:cNvPr>
          <p:cNvCxnSpPr>
            <a:cxnSpLocks/>
            <a:stCxn id="24" idx="3"/>
            <a:endCxn id="25" idx="1"/>
          </p:cNvCxnSpPr>
          <p:nvPr/>
        </p:nvCxnSpPr>
        <p:spPr>
          <a:xfrm>
            <a:off x="7952439" y="3609937"/>
            <a:ext cx="1772034" cy="3838"/>
          </a:xfrm>
          <a:prstGeom prst="straightConnector1">
            <a:avLst/>
          </a:prstGeom>
          <a:ln w="25400">
            <a:tailEnd type="triangle" w="lg" len="med"/>
          </a:ln>
        </p:spPr>
        <p:style>
          <a:lnRef idx="1">
            <a:schemeClr val="accent2"/>
          </a:lnRef>
          <a:fillRef idx="0">
            <a:schemeClr val="accent2"/>
          </a:fillRef>
          <a:effectRef idx="0">
            <a:schemeClr val="accent2"/>
          </a:effectRef>
          <a:fontRef idx="minor">
            <a:schemeClr val="tx1"/>
          </a:fontRef>
        </p:style>
      </p:cxnSp>
      <p:sp>
        <p:nvSpPr>
          <p:cNvPr id="138" name="TextBox 137">
            <a:extLst>
              <a:ext uri="{FF2B5EF4-FFF2-40B4-BE49-F238E27FC236}">
                <a16:creationId xmlns:a16="http://schemas.microsoft.com/office/drawing/2014/main" id="{8DD5C7B4-2C6A-D3E5-E734-E19DA8F3C738}"/>
              </a:ext>
            </a:extLst>
          </p:cNvPr>
          <p:cNvSpPr txBox="1"/>
          <p:nvPr/>
        </p:nvSpPr>
        <p:spPr>
          <a:xfrm>
            <a:off x="8285080" y="3439320"/>
            <a:ext cx="1450806" cy="307777"/>
          </a:xfrm>
          <a:prstGeom prst="rect">
            <a:avLst/>
          </a:prstGeom>
          <a:noFill/>
        </p:spPr>
        <p:txBody>
          <a:bodyPr wrap="square" lIns="0" tIns="0" rIns="0" bIns="0" rtlCol="0">
            <a:spAutoFit/>
          </a:bodyPr>
          <a:lstStyle/>
          <a:p>
            <a:r>
              <a:rPr lang="en-US" sz="1000" i="1" err="1">
                <a:latin typeface="Calibri Light" charset="0"/>
                <a:ea typeface="Calibri Light" charset="0"/>
                <a:cs typeface="Calibri Light" charset="0"/>
              </a:rPr>
              <a:t>Normalisation</a:t>
            </a:r>
            <a:r>
              <a:rPr lang="en-US" sz="1000" i="1">
                <a:latin typeface="Calibri Light" charset="0"/>
                <a:ea typeface="Calibri Light" charset="0"/>
                <a:cs typeface="Calibri Light" charset="0"/>
              </a:rPr>
              <a:t>, Correlation, Resolution, Enrichment </a:t>
            </a:r>
          </a:p>
        </p:txBody>
      </p:sp>
      <p:cxnSp>
        <p:nvCxnSpPr>
          <p:cNvPr id="139" name="Straight Arrow Connector 29">
            <a:extLst>
              <a:ext uri="{FF2B5EF4-FFF2-40B4-BE49-F238E27FC236}">
                <a16:creationId xmlns:a16="http://schemas.microsoft.com/office/drawing/2014/main" id="{F22B981E-66B7-873F-4490-5EAF51B7E5E0}"/>
              </a:ext>
            </a:extLst>
          </p:cNvPr>
          <p:cNvCxnSpPr>
            <a:cxnSpLocks/>
            <a:stCxn id="25" idx="0"/>
            <a:endCxn id="7" idx="2"/>
          </p:cNvCxnSpPr>
          <p:nvPr/>
        </p:nvCxnSpPr>
        <p:spPr>
          <a:xfrm flipV="1">
            <a:off x="10238933" y="3187087"/>
            <a:ext cx="4" cy="289528"/>
          </a:xfrm>
          <a:prstGeom prst="straightConnector1">
            <a:avLst/>
          </a:prstGeom>
          <a:ln w="25400">
            <a:tailEnd type="triangle" w="lg" len="med"/>
          </a:ln>
        </p:spPr>
        <p:style>
          <a:lnRef idx="1">
            <a:schemeClr val="accent2"/>
          </a:lnRef>
          <a:fillRef idx="0">
            <a:schemeClr val="accent2"/>
          </a:fillRef>
          <a:effectRef idx="0">
            <a:schemeClr val="accent2"/>
          </a:effectRef>
          <a:fontRef idx="minor">
            <a:schemeClr val="tx1"/>
          </a:fontRef>
        </p:style>
      </p:cxnSp>
      <p:sp>
        <p:nvSpPr>
          <p:cNvPr id="152" name="TextBox 151">
            <a:extLst>
              <a:ext uri="{FF2B5EF4-FFF2-40B4-BE49-F238E27FC236}">
                <a16:creationId xmlns:a16="http://schemas.microsoft.com/office/drawing/2014/main" id="{C2EB40C6-8FE8-E60C-A4BB-E6A359B53A13}"/>
              </a:ext>
            </a:extLst>
          </p:cNvPr>
          <p:cNvSpPr txBox="1"/>
          <p:nvPr/>
        </p:nvSpPr>
        <p:spPr>
          <a:xfrm>
            <a:off x="2603105" y="2267292"/>
            <a:ext cx="997027" cy="307777"/>
          </a:xfrm>
          <a:prstGeom prst="rect">
            <a:avLst/>
          </a:prstGeom>
          <a:noFill/>
        </p:spPr>
        <p:txBody>
          <a:bodyPr wrap="square" lIns="0" tIns="0" rIns="0" bIns="0" rtlCol="0">
            <a:spAutoFit/>
          </a:bodyPr>
          <a:lstStyle/>
          <a:p>
            <a:r>
              <a:rPr lang="en-US" sz="1000" i="1">
                <a:latin typeface="Calibri Light" charset="0"/>
                <a:ea typeface="Calibri Light" charset="0"/>
                <a:cs typeface="Calibri Light" charset="0"/>
              </a:rPr>
              <a:t>Rule/ML based detection</a:t>
            </a:r>
          </a:p>
        </p:txBody>
      </p:sp>
      <p:sp>
        <p:nvSpPr>
          <p:cNvPr id="159" name="Rectangle 158">
            <a:extLst>
              <a:ext uri="{FF2B5EF4-FFF2-40B4-BE49-F238E27FC236}">
                <a16:creationId xmlns:a16="http://schemas.microsoft.com/office/drawing/2014/main" id="{B7B0DF5C-C94F-BDC8-1037-F3CC72FFC617}"/>
              </a:ext>
            </a:extLst>
          </p:cNvPr>
          <p:cNvSpPr/>
          <p:nvPr/>
        </p:nvSpPr>
        <p:spPr>
          <a:xfrm>
            <a:off x="9435401" y="2343559"/>
            <a:ext cx="1028920" cy="274320"/>
          </a:xfrm>
          <a:prstGeom prst="rect">
            <a:avLst/>
          </a:prstGeom>
          <a:solidFill>
            <a:schemeClr val="tx1">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000"/>
              <a:t>Alert Triage</a:t>
            </a:r>
          </a:p>
        </p:txBody>
      </p:sp>
      <p:cxnSp>
        <p:nvCxnSpPr>
          <p:cNvPr id="165" name="Straight Arrow Connector 29">
            <a:extLst>
              <a:ext uri="{FF2B5EF4-FFF2-40B4-BE49-F238E27FC236}">
                <a16:creationId xmlns:a16="http://schemas.microsoft.com/office/drawing/2014/main" id="{55207881-4C45-30CF-772C-1702550C6C48}"/>
              </a:ext>
            </a:extLst>
          </p:cNvPr>
          <p:cNvCxnSpPr>
            <a:cxnSpLocks/>
            <a:stCxn id="41" idx="3"/>
            <a:endCxn id="159" idx="1"/>
          </p:cNvCxnSpPr>
          <p:nvPr/>
        </p:nvCxnSpPr>
        <p:spPr>
          <a:xfrm>
            <a:off x="7954835" y="2480719"/>
            <a:ext cx="1480566" cy="0"/>
          </a:xfrm>
          <a:prstGeom prst="straightConnector1">
            <a:avLst/>
          </a:prstGeom>
          <a:ln w="25400">
            <a:tailEnd type="triangle" w="lg" len="med"/>
          </a:ln>
        </p:spPr>
        <p:style>
          <a:lnRef idx="1">
            <a:schemeClr val="accent2"/>
          </a:lnRef>
          <a:fillRef idx="0">
            <a:schemeClr val="accent2"/>
          </a:fillRef>
          <a:effectRef idx="0">
            <a:schemeClr val="accent2"/>
          </a:effectRef>
          <a:fontRef idx="minor">
            <a:schemeClr val="tx1"/>
          </a:fontRef>
        </p:style>
      </p:cxnSp>
      <p:sp>
        <p:nvSpPr>
          <p:cNvPr id="170" name="TextBox 169">
            <a:extLst>
              <a:ext uri="{FF2B5EF4-FFF2-40B4-BE49-F238E27FC236}">
                <a16:creationId xmlns:a16="http://schemas.microsoft.com/office/drawing/2014/main" id="{5E726EFA-267D-BE94-6787-31849475A35F}"/>
              </a:ext>
            </a:extLst>
          </p:cNvPr>
          <p:cNvSpPr txBox="1"/>
          <p:nvPr/>
        </p:nvSpPr>
        <p:spPr>
          <a:xfrm>
            <a:off x="5886822" y="2572455"/>
            <a:ext cx="798386" cy="307777"/>
          </a:xfrm>
          <a:prstGeom prst="rect">
            <a:avLst/>
          </a:prstGeom>
          <a:noFill/>
        </p:spPr>
        <p:txBody>
          <a:bodyPr wrap="square" lIns="0" tIns="0" rIns="0" bIns="0" rtlCol="0">
            <a:spAutoFit/>
          </a:bodyPr>
          <a:lstStyle/>
          <a:p>
            <a:r>
              <a:rPr lang="en-US" sz="1000" i="1">
                <a:latin typeface="Calibri Light" charset="0"/>
                <a:ea typeface="Calibri Light" charset="0"/>
                <a:cs typeface="Calibri Light" charset="0"/>
              </a:rPr>
              <a:t>Rule/ML based detection</a:t>
            </a:r>
          </a:p>
        </p:txBody>
      </p:sp>
      <p:sp>
        <p:nvSpPr>
          <p:cNvPr id="197" name="TextBox 196">
            <a:extLst>
              <a:ext uri="{FF2B5EF4-FFF2-40B4-BE49-F238E27FC236}">
                <a16:creationId xmlns:a16="http://schemas.microsoft.com/office/drawing/2014/main" id="{948911A4-374D-C740-D4A6-729C3FD4059F}"/>
              </a:ext>
            </a:extLst>
          </p:cNvPr>
          <p:cNvSpPr txBox="1"/>
          <p:nvPr/>
        </p:nvSpPr>
        <p:spPr>
          <a:xfrm>
            <a:off x="8286194" y="2572455"/>
            <a:ext cx="1952739" cy="307777"/>
          </a:xfrm>
          <a:prstGeom prst="rect">
            <a:avLst/>
          </a:prstGeom>
          <a:noFill/>
        </p:spPr>
        <p:txBody>
          <a:bodyPr wrap="square" lIns="0" tIns="0" rIns="0" bIns="0" rtlCol="0">
            <a:spAutoFit/>
          </a:bodyPr>
          <a:lstStyle/>
          <a:p>
            <a:r>
              <a:rPr lang="en-US" sz="1000" i="1">
                <a:latin typeface="Calibri Light" charset="0"/>
                <a:ea typeface="Calibri Light" charset="0"/>
                <a:cs typeface="Calibri Light" charset="0"/>
              </a:rPr>
              <a:t>Context Enrichment &amp; </a:t>
            </a:r>
          </a:p>
          <a:p>
            <a:r>
              <a:rPr lang="en-US" sz="1000" i="1">
                <a:latin typeface="Calibri Light" charset="0"/>
                <a:ea typeface="Calibri Light" charset="0"/>
                <a:cs typeface="Calibri Light" charset="0"/>
              </a:rPr>
              <a:t>False Positive Reduction</a:t>
            </a:r>
          </a:p>
        </p:txBody>
      </p:sp>
      <p:sp>
        <p:nvSpPr>
          <p:cNvPr id="198" name="TextBox 197">
            <a:extLst>
              <a:ext uri="{FF2B5EF4-FFF2-40B4-BE49-F238E27FC236}">
                <a16:creationId xmlns:a16="http://schemas.microsoft.com/office/drawing/2014/main" id="{78086799-6D0D-81BF-FDE4-E6910F2A656C}"/>
              </a:ext>
            </a:extLst>
          </p:cNvPr>
          <p:cNvSpPr txBox="1"/>
          <p:nvPr/>
        </p:nvSpPr>
        <p:spPr>
          <a:xfrm>
            <a:off x="10820725" y="2572455"/>
            <a:ext cx="1031651" cy="307777"/>
          </a:xfrm>
          <a:prstGeom prst="rect">
            <a:avLst/>
          </a:prstGeom>
          <a:noFill/>
        </p:spPr>
        <p:txBody>
          <a:bodyPr wrap="square" lIns="0" tIns="0" rIns="0" bIns="0" rtlCol="0">
            <a:spAutoFit/>
          </a:bodyPr>
          <a:lstStyle/>
          <a:p>
            <a:r>
              <a:rPr lang="en-US" sz="1000" i="1">
                <a:latin typeface="Calibri Light" charset="0"/>
                <a:ea typeface="Calibri Light" charset="0"/>
                <a:cs typeface="Calibri Light" charset="0"/>
              </a:rPr>
              <a:t>Automated context enrichment</a:t>
            </a:r>
          </a:p>
        </p:txBody>
      </p:sp>
      <p:sp>
        <p:nvSpPr>
          <p:cNvPr id="201" name="TextBox 200">
            <a:extLst>
              <a:ext uri="{FF2B5EF4-FFF2-40B4-BE49-F238E27FC236}">
                <a16:creationId xmlns:a16="http://schemas.microsoft.com/office/drawing/2014/main" id="{41A978D0-2961-7C82-555D-29CCF0F98807}"/>
              </a:ext>
            </a:extLst>
          </p:cNvPr>
          <p:cNvSpPr txBox="1"/>
          <p:nvPr/>
        </p:nvSpPr>
        <p:spPr>
          <a:xfrm>
            <a:off x="5810743" y="4646251"/>
            <a:ext cx="5710274" cy="2031325"/>
          </a:xfrm>
          <a:prstGeom prst="rect">
            <a:avLst/>
          </a:prstGeom>
          <a:noFill/>
        </p:spPr>
        <p:txBody>
          <a:bodyPr wrap="square" lIns="0" tIns="0" rIns="0" bIns="0" rtlCol="0">
            <a:spAutoFit/>
          </a:bodyPr>
          <a:lstStyle/>
          <a:p>
            <a:r>
              <a:rPr lang="en-US" sz="1200" b="1">
                <a:latin typeface="Calibri Light" charset="0"/>
                <a:ea typeface="Calibri Light" charset="0"/>
                <a:cs typeface="Calibri Light" charset="0"/>
              </a:rPr>
              <a:t>Advantages compared to current state</a:t>
            </a:r>
          </a:p>
          <a:p>
            <a:pPr marL="171450" indent="-171450">
              <a:buFont typeface="Arial" panose="020B0604020202020204" pitchFamily="34" charset="0"/>
              <a:buChar char="•"/>
            </a:pPr>
            <a:r>
              <a:rPr lang="en-US" sz="1200">
                <a:latin typeface="Calibri Light" charset="0"/>
                <a:ea typeface="Calibri Light" charset="0"/>
                <a:cs typeface="Calibri Light" charset="0"/>
              </a:rPr>
              <a:t>High volume data in cheap data lake storage. Only filtered alerts stored in Splunk for Incident Review &amp; Resolution. =&gt; Lower Storage Cost (50-80% savings)</a:t>
            </a:r>
          </a:p>
          <a:p>
            <a:pPr marL="171450" indent="-171450">
              <a:buFont typeface="Arial" panose="020B0604020202020204" pitchFamily="34" charset="0"/>
              <a:buChar char="•"/>
            </a:pPr>
            <a:r>
              <a:rPr lang="en-US" sz="1200">
                <a:latin typeface="Calibri Light" charset="0"/>
                <a:ea typeface="Calibri Light" charset="0"/>
                <a:cs typeface="Calibri Light" charset="0"/>
              </a:rPr>
              <a:t>Ingestion decoupled from Splunk =&gt; No license cost for Ingestion</a:t>
            </a:r>
          </a:p>
          <a:p>
            <a:pPr marL="171450" indent="-171450">
              <a:buFont typeface="Arial" panose="020B0604020202020204" pitchFamily="34" charset="0"/>
              <a:buChar char="•"/>
            </a:pPr>
            <a:r>
              <a:rPr lang="en-US" sz="1200">
                <a:latin typeface="Calibri Light" charset="0"/>
                <a:ea typeface="Calibri Light" charset="0"/>
                <a:cs typeface="Calibri Light" charset="0"/>
              </a:rPr>
              <a:t>Analysts look only into true positives =&gt; Huge Effort Savings (60-90% savings)</a:t>
            </a:r>
          </a:p>
          <a:p>
            <a:pPr marL="171450" indent="-171450">
              <a:buFont typeface="Arial" panose="020B0604020202020204" pitchFamily="34" charset="0"/>
              <a:buChar char="•"/>
            </a:pPr>
            <a:r>
              <a:rPr lang="en-US" sz="1200">
                <a:latin typeface="Calibri Light" charset="0"/>
                <a:ea typeface="Calibri Light" charset="0"/>
                <a:cs typeface="Calibri Light" charset="0"/>
              </a:rPr>
              <a:t>Alerts already enriched with rich context from Knowledge Graph =&gt; Low Investigation &amp; Resolution time. (60-80% savings)</a:t>
            </a:r>
          </a:p>
          <a:p>
            <a:r>
              <a:rPr lang="en-US" sz="1200" b="1">
                <a:latin typeface="Calibri Light" charset="0"/>
                <a:ea typeface="Calibri Light" charset="0"/>
                <a:cs typeface="Calibri Light" charset="0"/>
              </a:rPr>
              <a:t>Other Advantages of approach - </a:t>
            </a:r>
          </a:p>
          <a:p>
            <a:pPr marL="171450" indent="-171450">
              <a:buFont typeface="Arial" panose="020B0604020202020204" pitchFamily="34" charset="0"/>
              <a:buChar char="•"/>
            </a:pPr>
            <a:r>
              <a:rPr lang="en-US" sz="1200">
                <a:latin typeface="Calibri Light" charset="0"/>
                <a:ea typeface="Calibri Light" charset="0"/>
                <a:cs typeface="Calibri Light" charset="0"/>
              </a:rPr>
              <a:t>Security Data Lake can be explored directly from Splunk using Databricks add-on for Splunk &amp; with Natural Language using PAI Agentic AI</a:t>
            </a:r>
          </a:p>
          <a:p>
            <a:pPr marL="171450" indent="-171450">
              <a:buFont typeface="Arial" panose="020B0604020202020204" pitchFamily="34" charset="0"/>
              <a:buChar char="•"/>
            </a:pPr>
            <a:r>
              <a:rPr lang="en-US" sz="1200">
                <a:latin typeface="Calibri Light" charset="0"/>
                <a:ea typeface="Calibri Light" charset="0"/>
                <a:cs typeface="Calibri Light" charset="0"/>
              </a:rPr>
              <a:t>No new training needed. Analysts continue to work with notables from Splunk</a:t>
            </a:r>
          </a:p>
        </p:txBody>
      </p:sp>
      <p:sp>
        <p:nvSpPr>
          <p:cNvPr id="207" name="TextBox 206">
            <a:extLst>
              <a:ext uri="{FF2B5EF4-FFF2-40B4-BE49-F238E27FC236}">
                <a16:creationId xmlns:a16="http://schemas.microsoft.com/office/drawing/2014/main" id="{F22B39FA-64A3-59E1-0738-B439EBF25B04}"/>
              </a:ext>
            </a:extLst>
          </p:cNvPr>
          <p:cNvSpPr txBox="1"/>
          <p:nvPr/>
        </p:nvSpPr>
        <p:spPr>
          <a:xfrm>
            <a:off x="709337" y="964746"/>
            <a:ext cx="4638378" cy="215444"/>
          </a:xfrm>
          <a:prstGeom prst="rect">
            <a:avLst/>
          </a:prstGeom>
          <a:noFill/>
        </p:spPr>
        <p:txBody>
          <a:bodyPr wrap="square" lIns="0" tIns="0" rIns="0" bIns="0" rtlCol="0">
            <a:spAutoFit/>
          </a:bodyPr>
          <a:lstStyle/>
          <a:p>
            <a:r>
              <a:rPr lang="en-US" sz="1400" b="1">
                <a:latin typeface="Calibri Light" charset="0"/>
                <a:ea typeface="Calibri Light" charset="0"/>
                <a:cs typeface="Calibri Light" charset="0"/>
              </a:rPr>
              <a:t>Current State: </a:t>
            </a:r>
            <a:r>
              <a:rPr lang="en-US" sz="1400">
                <a:latin typeface="Calibri Light" charset="0"/>
                <a:ea typeface="Calibri Light" charset="0"/>
                <a:cs typeface="Calibri Light" charset="0"/>
              </a:rPr>
              <a:t>Splunk as SIEM</a:t>
            </a:r>
          </a:p>
        </p:txBody>
      </p:sp>
      <p:sp>
        <p:nvSpPr>
          <p:cNvPr id="208" name="TextBox 207">
            <a:extLst>
              <a:ext uri="{FF2B5EF4-FFF2-40B4-BE49-F238E27FC236}">
                <a16:creationId xmlns:a16="http://schemas.microsoft.com/office/drawing/2014/main" id="{F098BAC5-1997-E839-D2CB-F05E04FB6A39}"/>
              </a:ext>
            </a:extLst>
          </p:cNvPr>
          <p:cNvSpPr txBox="1"/>
          <p:nvPr/>
        </p:nvSpPr>
        <p:spPr>
          <a:xfrm>
            <a:off x="5715000" y="964746"/>
            <a:ext cx="5766260" cy="215444"/>
          </a:xfrm>
          <a:prstGeom prst="rect">
            <a:avLst/>
          </a:prstGeom>
          <a:noFill/>
        </p:spPr>
        <p:txBody>
          <a:bodyPr wrap="square" lIns="0" tIns="0" rIns="0" bIns="0" rtlCol="0">
            <a:spAutoFit/>
          </a:bodyPr>
          <a:lstStyle/>
          <a:p>
            <a:r>
              <a:rPr lang="en-US" sz="1400" b="1">
                <a:latin typeface="Calibri Light" charset="0"/>
                <a:ea typeface="Calibri Light" charset="0"/>
                <a:cs typeface="Calibri Light" charset="0"/>
              </a:rPr>
              <a:t>Proposed State: </a:t>
            </a:r>
            <a:r>
              <a:rPr lang="en-US" sz="1400">
                <a:latin typeface="Calibri Light" charset="0"/>
                <a:ea typeface="Calibri Light" charset="0"/>
                <a:cs typeface="Calibri Light" charset="0"/>
              </a:rPr>
              <a:t>Databricks &amp; PAI to augment Splunk as SIEM data processing</a:t>
            </a:r>
          </a:p>
        </p:txBody>
      </p:sp>
      <p:cxnSp>
        <p:nvCxnSpPr>
          <p:cNvPr id="210" name="Straight Connector 209">
            <a:extLst>
              <a:ext uri="{FF2B5EF4-FFF2-40B4-BE49-F238E27FC236}">
                <a16:creationId xmlns:a16="http://schemas.microsoft.com/office/drawing/2014/main" id="{B4139B5C-4DF5-6573-AAF5-AFF8D560E171}"/>
              </a:ext>
            </a:extLst>
          </p:cNvPr>
          <p:cNvCxnSpPr/>
          <p:nvPr/>
        </p:nvCxnSpPr>
        <p:spPr>
          <a:xfrm>
            <a:off x="5466522" y="964746"/>
            <a:ext cx="0" cy="5605019"/>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F837F058-AA61-882A-EBD0-6ED4F69644B5}"/>
              </a:ext>
            </a:extLst>
          </p:cNvPr>
          <p:cNvSpPr/>
          <p:nvPr/>
        </p:nvSpPr>
        <p:spPr>
          <a:xfrm>
            <a:off x="6131030" y="4093410"/>
            <a:ext cx="1141998" cy="281937"/>
          </a:xfrm>
          <a:prstGeom prst="rect">
            <a:avLst/>
          </a:prstGeom>
          <a:solidFill>
            <a:schemeClr val="accent5">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000"/>
              <a:t>Databricks Compute Clusters</a:t>
            </a:r>
          </a:p>
        </p:txBody>
      </p:sp>
      <p:sp>
        <p:nvSpPr>
          <p:cNvPr id="12" name="Rectangle 11">
            <a:extLst>
              <a:ext uri="{FF2B5EF4-FFF2-40B4-BE49-F238E27FC236}">
                <a16:creationId xmlns:a16="http://schemas.microsoft.com/office/drawing/2014/main" id="{A77EB9A9-00C6-7F0D-BABC-20C48143FA90}"/>
              </a:ext>
            </a:extLst>
          </p:cNvPr>
          <p:cNvSpPr/>
          <p:nvPr/>
        </p:nvSpPr>
        <p:spPr>
          <a:xfrm>
            <a:off x="8086160" y="4093410"/>
            <a:ext cx="1141998" cy="281937"/>
          </a:xfrm>
          <a:prstGeom prst="rect">
            <a:avLst/>
          </a:prstGeom>
          <a:solidFill>
            <a:schemeClr val="accent5">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000"/>
              <a:t>Unity Catalog</a:t>
            </a:r>
          </a:p>
        </p:txBody>
      </p:sp>
      <p:sp>
        <p:nvSpPr>
          <p:cNvPr id="14" name="Rectangle 13">
            <a:extLst>
              <a:ext uri="{FF2B5EF4-FFF2-40B4-BE49-F238E27FC236}">
                <a16:creationId xmlns:a16="http://schemas.microsoft.com/office/drawing/2014/main" id="{6AB8CACE-82E4-D9E1-C33D-D78A7CF77616}"/>
              </a:ext>
            </a:extLst>
          </p:cNvPr>
          <p:cNvSpPr/>
          <p:nvPr/>
        </p:nvSpPr>
        <p:spPr>
          <a:xfrm>
            <a:off x="10041291" y="4093410"/>
            <a:ext cx="1141998" cy="281937"/>
          </a:xfrm>
          <a:prstGeom prst="rect">
            <a:avLst/>
          </a:prstGeom>
          <a:solidFill>
            <a:schemeClr val="accent5">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000"/>
              <a:t>Mosaic AI</a:t>
            </a:r>
          </a:p>
        </p:txBody>
      </p:sp>
      <p:sp>
        <p:nvSpPr>
          <p:cNvPr id="18" name="Rectangle 17">
            <a:extLst>
              <a:ext uri="{FF2B5EF4-FFF2-40B4-BE49-F238E27FC236}">
                <a16:creationId xmlns:a16="http://schemas.microsoft.com/office/drawing/2014/main" id="{A7E84DE5-A02A-230D-70D9-A0871E9CB6A8}"/>
              </a:ext>
            </a:extLst>
          </p:cNvPr>
          <p:cNvSpPr/>
          <p:nvPr/>
        </p:nvSpPr>
        <p:spPr>
          <a:xfrm>
            <a:off x="11588721" y="3960260"/>
            <a:ext cx="548640" cy="274320"/>
          </a:xfrm>
          <a:prstGeom prst="rect">
            <a:avLst/>
          </a:prstGeom>
          <a:solidFill>
            <a:schemeClr val="accent5">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000"/>
              <a:t>DB</a:t>
            </a:r>
          </a:p>
        </p:txBody>
      </p:sp>
      <p:sp>
        <p:nvSpPr>
          <p:cNvPr id="21" name="Rectangle 20">
            <a:extLst>
              <a:ext uri="{FF2B5EF4-FFF2-40B4-BE49-F238E27FC236}">
                <a16:creationId xmlns:a16="http://schemas.microsoft.com/office/drawing/2014/main" id="{FB18B91F-2988-0D8A-CDF8-24597F0F19BD}"/>
              </a:ext>
            </a:extLst>
          </p:cNvPr>
          <p:cNvSpPr/>
          <p:nvPr/>
        </p:nvSpPr>
        <p:spPr>
          <a:xfrm>
            <a:off x="11588721" y="4362222"/>
            <a:ext cx="548640" cy="274320"/>
          </a:xfrm>
          <a:prstGeom prst="rect">
            <a:avLst/>
          </a:prstGeom>
          <a:solidFill>
            <a:schemeClr val="tx1">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000"/>
              <a:t>PAI</a:t>
            </a:r>
          </a:p>
        </p:txBody>
      </p:sp>
      <p:sp>
        <p:nvSpPr>
          <p:cNvPr id="23" name="Rectangle 22">
            <a:extLst>
              <a:ext uri="{FF2B5EF4-FFF2-40B4-BE49-F238E27FC236}">
                <a16:creationId xmlns:a16="http://schemas.microsoft.com/office/drawing/2014/main" id="{3A92E5ED-18A0-3613-31AA-E9DA0106DBA5}"/>
              </a:ext>
            </a:extLst>
          </p:cNvPr>
          <p:cNvSpPr/>
          <p:nvPr/>
        </p:nvSpPr>
        <p:spPr>
          <a:xfrm>
            <a:off x="11588721" y="3583749"/>
            <a:ext cx="548640" cy="2743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000"/>
              <a:t>Splunk</a:t>
            </a:r>
          </a:p>
        </p:txBody>
      </p:sp>
    </p:spTree>
    <p:extLst>
      <p:ext uri="{BB962C8B-B14F-4D97-AF65-F5344CB8AC3E}">
        <p14:creationId xmlns:p14="http://schemas.microsoft.com/office/powerpoint/2010/main" val="42663729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29">
            <a:extLst>
              <a:ext uri="{FF2B5EF4-FFF2-40B4-BE49-F238E27FC236}">
                <a16:creationId xmlns:a16="http://schemas.microsoft.com/office/drawing/2014/main" id="{B8FC228A-AF09-2180-45BB-9B9F25048EA4}"/>
              </a:ext>
            </a:extLst>
          </p:cNvPr>
          <p:cNvSpPr>
            <a:spLocks noGrp="1"/>
          </p:cNvSpPr>
          <p:nvPr>
            <p:ph type="body" sz="quarter" idx="12"/>
          </p:nvPr>
        </p:nvSpPr>
        <p:spPr/>
        <p:txBody>
          <a:bodyPr lIns="0" tIns="0" rIns="0" bIns="0" anchor="t"/>
          <a:lstStyle/>
          <a:p>
            <a:pPr>
              <a:buNone/>
            </a:pPr>
            <a:r>
              <a:rPr lang="en-US" sz="1400" b="1"/>
              <a:t>Current State:</a:t>
            </a:r>
          </a:p>
          <a:p>
            <a:pPr marL="285750" indent="-285750">
              <a:buFont typeface="Arial" panose="020B0604020202020204" pitchFamily="34" charset="0"/>
              <a:buChar char="•"/>
            </a:pPr>
            <a:r>
              <a:rPr lang="en-US" sz="1200"/>
              <a:t>All raw + enriched data stored in Splunk</a:t>
            </a:r>
          </a:p>
          <a:p>
            <a:pPr marL="285750" indent="-285750">
              <a:buFont typeface="Arial" panose="020B0604020202020204" pitchFamily="34" charset="0"/>
              <a:buChar char="•"/>
            </a:pPr>
            <a:r>
              <a:rPr lang="en-US" sz="1200"/>
              <a:t>High storage &amp; compute costs</a:t>
            </a:r>
          </a:p>
          <a:p>
            <a:pPr marL="285750" indent="-285750">
              <a:buFont typeface="Arial" panose="020B0604020202020204" pitchFamily="34" charset="0"/>
              <a:buChar char="•"/>
            </a:pPr>
            <a:r>
              <a:rPr lang="en-US" sz="1200"/>
              <a:t>No context available with alert =&gt; Manual context gathering</a:t>
            </a:r>
          </a:p>
          <a:p>
            <a:pPr marL="285750" indent="-285750">
              <a:buFont typeface="Arial" panose="020B0604020202020204" pitchFamily="34" charset="0"/>
              <a:buChar char="•"/>
            </a:pPr>
            <a:r>
              <a:rPr lang="en-US" sz="1200"/>
              <a:t>High false positives</a:t>
            </a:r>
          </a:p>
          <a:p>
            <a:pPr marL="285750" indent="-285750">
              <a:buFont typeface="Arial" panose="020B0604020202020204" pitchFamily="34" charset="0"/>
              <a:buChar char="•"/>
            </a:pPr>
            <a:r>
              <a:rPr lang="en-US" sz="1200"/>
              <a:t>Limitation on using advanced analytics</a:t>
            </a:r>
          </a:p>
          <a:p>
            <a:pPr>
              <a:buFont typeface="Arial" panose="020B0604020202020204" pitchFamily="34" charset="0"/>
              <a:buChar char="•"/>
            </a:pPr>
            <a:endParaRPr lang="en-US" sz="1400" b="1"/>
          </a:p>
          <a:p>
            <a:pPr>
              <a:buNone/>
            </a:pPr>
            <a:r>
              <a:rPr lang="en-US" sz="1400" b="1"/>
              <a:t>Proposed State:</a:t>
            </a:r>
          </a:p>
          <a:p>
            <a:pPr marL="285750" indent="-285750">
              <a:buFont typeface="Arial" panose="020B0604020202020204" pitchFamily="34" charset="0"/>
              <a:buChar char="•"/>
            </a:pPr>
            <a:r>
              <a:rPr lang="en-US" sz="1200">
                <a:latin typeface="Calibri Light"/>
                <a:ea typeface="Calibri Light"/>
                <a:cs typeface="Calibri Light"/>
              </a:rPr>
              <a:t>Raw data ingested into Databricks Delta Lake via PAI </a:t>
            </a:r>
            <a:r>
              <a:rPr lang="en-US" sz="1200" err="1">
                <a:latin typeface="Calibri Light"/>
                <a:ea typeface="Calibri Light"/>
                <a:cs typeface="Calibri Light"/>
              </a:rPr>
              <a:t>DataBridge</a:t>
            </a:r>
            <a:r>
              <a:rPr lang="en-US" sz="1200">
                <a:latin typeface="Calibri Light"/>
                <a:ea typeface="Calibri Light"/>
                <a:cs typeface="Calibri Light"/>
              </a:rPr>
              <a:t>.</a:t>
            </a:r>
          </a:p>
          <a:p>
            <a:pPr marL="285750" indent="-285750">
              <a:buFont typeface="Arial" panose="020B0604020202020204" pitchFamily="34" charset="0"/>
              <a:buChar char="•"/>
            </a:pPr>
            <a:r>
              <a:rPr lang="en-US" sz="1200">
                <a:latin typeface="Calibri Light"/>
                <a:ea typeface="Calibri Light"/>
                <a:cs typeface="Calibri Light"/>
              </a:rPr>
              <a:t>Alerts generated using Databricks + PAI AI</a:t>
            </a:r>
          </a:p>
          <a:p>
            <a:pPr marL="285750" indent="-285750">
              <a:buFont typeface="Arial" panose="020B0604020202020204" pitchFamily="34" charset="0"/>
              <a:buChar char="•"/>
            </a:pPr>
            <a:r>
              <a:rPr lang="en-US" sz="1200">
                <a:latin typeface="Calibri Light"/>
                <a:ea typeface="Calibri Light"/>
                <a:cs typeface="Calibri Light"/>
              </a:rPr>
              <a:t>Knowledge Graph + Entity Resolution for rich context</a:t>
            </a:r>
          </a:p>
          <a:p>
            <a:pPr marL="285750" indent="-285750">
              <a:buFont typeface="Arial" panose="020B0604020202020204" pitchFamily="34" charset="0"/>
              <a:buChar char="•"/>
            </a:pPr>
            <a:r>
              <a:rPr lang="en-US" sz="1200">
                <a:latin typeface="Calibri Light"/>
                <a:ea typeface="Calibri Light"/>
                <a:cs typeface="Calibri Light"/>
              </a:rPr>
              <a:t>Filtered, enriched alerts &amp; advanced analytical insights sent to Splunk to support existing SOC workflows </a:t>
            </a:r>
          </a:p>
          <a:p>
            <a:pPr marL="285750" indent="-285750">
              <a:buFont typeface="Arial" panose="020B0604020202020204" pitchFamily="34" charset="0"/>
              <a:buChar char="•"/>
            </a:pPr>
            <a:r>
              <a:rPr lang="en-US" sz="1200">
                <a:latin typeface="Calibri Light"/>
                <a:ea typeface="Calibri Light"/>
                <a:cs typeface="Calibri Light"/>
              </a:rPr>
              <a:t>Analytics to support a range of cyber use cases beyond SIEM Cost Reduction (</a:t>
            </a:r>
            <a:r>
              <a:rPr lang="en-US" sz="1200" err="1">
                <a:latin typeface="Calibri Light"/>
                <a:ea typeface="Calibri Light"/>
                <a:cs typeface="Calibri Light"/>
              </a:rPr>
              <a:t>eg</a:t>
            </a:r>
            <a:r>
              <a:rPr lang="en-US" sz="1200">
                <a:latin typeface="Calibri Light"/>
                <a:ea typeface="Calibri Light"/>
                <a:cs typeface="Calibri Light"/>
              </a:rPr>
              <a:t> CTEM, CAASM, CSPM)</a:t>
            </a:r>
          </a:p>
          <a:p>
            <a:endParaRPr lang="en-US" sz="1400"/>
          </a:p>
          <a:p>
            <a:endParaRPr lang="en-US" sz="1400"/>
          </a:p>
        </p:txBody>
      </p:sp>
      <p:sp>
        <p:nvSpPr>
          <p:cNvPr id="5" name="Title 4">
            <a:extLst>
              <a:ext uri="{FF2B5EF4-FFF2-40B4-BE49-F238E27FC236}">
                <a16:creationId xmlns:a16="http://schemas.microsoft.com/office/drawing/2014/main" id="{ABB9C82F-6C2B-84FE-BD9C-E1786A883A1E}"/>
              </a:ext>
            </a:extLst>
          </p:cNvPr>
          <p:cNvSpPr>
            <a:spLocks noGrp="1"/>
          </p:cNvSpPr>
          <p:nvPr>
            <p:ph type="title"/>
          </p:nvPr>
        </p:nvSpPr>
        <p:spPr/>
        <p:txBody>
          <a:bodyPr/>
          <a:lstStyle/>
          <a:p>
            <a:r>
              <a:rPr lang="en-US"/>
              <a:t>Approach for SIEM Cost Reduction</a:t>
            </a:r>
          </a:p>
        </p:txBody>
      </p:sp>
      <p:sp>
        <p:nvSpPr>
          <p:cNvPr id="31" name="Text Placeholder 30">
            <a:extLst>
              <a:ext uri="{FF2B5EF4-FFF2-40B4-BE49-F238E27FC236}">
                <a16:creationId xmlns:a16="http://schemas.microsoft.com/office/drawing/2014/main" id="{E2EE88D1-33CF-3201-1D19-C7B4E69E07AD}"/>
              </a:ext>
            </a:extLst>
          </p:cNvPr>
          <p:cNvSpPr>
            <a:spLocks noGrp="1"/>
          </p:cNvSpPr>
          <p:nvPr>
            <p:ph type="body" sz="quarter" idx="15"/>
          </p:nvPr>
        </p:nvSpPr>
        <p:spPr/>
        <p:txBody>
          <a:bodyPr/>
          <a:lstStyle/>
          <a:p>
            <a:r>
              <a:rPr lang="en-US" altLang="en-US" sz="1400" b="1"/>
              <a:t>Key Benefits:</a:t>
            </a:r>
          </a:p>
          <a:p>
            <a:r>
              <a:rPr lang="en-US" sz="1400"/>
              <a:t>💰 </a:t>
            </a:r>
            <a:r>
              <a:rPr lang="en-US" sz="1200"/>
              <a:t>Cost</a:t>
            </a:r>
          </a:p>
          <a:p>
            <a:pPr marL="285750" indent="-285750">
              <a:buFont typeface="Arial" panose="020B0604020202020204" pitchFamily="34" charset="0"/>
              <a:buChar char="•"/>
            </a:pPr>
            <a:r>
              <a:rPr lang="en-US" sz="1200"/>
              <a:t>Up to 85% lower storage &amp; compute costs</a:t>
            </a:r>
          </a:p>
          <a:p>
            <a:pPr marL="285750" indent="-285750">
              <a:buFont typeface="Arial" panose="020B0604020202020204" pitchFamily="34" charset="0"/>
              <a:buChar char="•"/>
            </a:pPr>
            <a:r>
              <a:rPr lang="en-US" sz="1200"/>
              <a:t>Fixed License fee, not dependent on ingestion volume</a:t>
            </a:r>
          </a:p>
          <a:p>
            <a:endParaRPr lang="en-US" sz="500"/>
          </a:p>
          <a:p>
            <a:r>
              <a:rPr lang="en-US" sz="1200"/>
              <a:t>🧠 Analyst Efficiency</a:t>
            </a:r>
          </a:p>
          <a:p>
            <a:pPr marL="285750" indent="-285750">
              <a:buFont typeface="Arial" panose="020B0604020202020204" pitchFamily="34" charset="0"/>
              <a:buChar char="•"/>
            </a:pPr>
            <a:r>
              <a:rPr lang="en-US" sz="1200"/>
              <a:t>60–90% effort savings by providing rich context to the alerts, as well as providing advanced analytical insights</a:t>
            </a:r>
          </a:p>
          <a:p>
            <a:pPr marL="285750" indent="-285750">
              <a:buFont typeface="Arial" panose="020B0604020202020204" pitchFamily="34" charset="0"/>
              <a:buChar char="•"/>
            </a:pPr>
            <a:r>
              <a:rPr lang="en-US" sz="1200"/>
              <a:t>Focus on true positives</a:t>
            </a:r>
          </a:p>
          <a:p>
            <a:endParaRPr lang="en-US" sz="500"/>
          </a:p>
          <a:p>
            <a:r>
              <a:rPr lang="en-US" sz="1200"/>
              <a:t>⚡ Advanced Capabilities &amp; Faster Resolution</a:t>
            </a:r>
          </a:p>
          <a:p>
            <a:pPr marL="285750" indent="-285750">
              <a:buFont typeface="Arial" panose="020B0604020202020204" pitchFamily="34" charset="0"/>
              <a:buChar char="•"/>
            </a:pPr>
            <a:r>
              <a:rPr lang="en-US" sz="1200"/>
              <a:t>Alerts pre-enriched with context</a:t>
            </a:r>
          </a:p>
          <a:p>
            <a:pPr marL="285750" indent="-285750">
              <a:buFont typeface="Arial" panose="020B0604020202020204" pitchFamily="34" charset="0"/>
              <a:buChar char="•"/>
            </a:pPr>
            <a:r>
              <a:rPr lang="en-US" sz="1200"/>
              <a:t>Auto triage</a:t>
            </a:r>
          </a:p>
          <a:p>
            <a:pPr marL="285750" indent="-285750">
              <a:buFont typeface="Arial" panose="020B0604020202020204" pitchFamily="34" charset="0"/>
              <a:buChar char="•"/>
            </a:pPr>
            <a:r>
              <a:rPr lang="en-US" sz="1200"/>
              <a:t>Wider Cyber Coverage (outside of SIEM Incident Response)</a:t>
            </a:r>
          </a:p>
          <a:p>
            <a:endParaRPr lang="en-US" sz="500"/>
          </a:p>
          <a:p>
            <a:r>
              <a:rPr lang="en-US" sz="1200"/>
              <a:t>🔌 Seamless Adoption</a:t>
            </a:r>
          </a:p>
          <a:p>
            <a:pPr marL="171450" indent="-171450">
              <a:buFont typeface="Arial" panose="020B0604020202020204" pitchFamily="34" charset="0"/>
              <a:buChar char="•"/>
            </a:pPr>
            <a:r>
              <a:rPr lang="en-US" sz="1200"/>
              <a:t>No retraining required</a:t>
            </a:r>
          </a:p>
          <a:p>
            <a:pPr marL="171450" indent="-171450">
              <a:buFont typeface="Arial" panose="020B0604020202020204" pitchFamily="34" charset="0"/>
              <a:buChar char="•"/>
            </a:pPr>
            <a:r>
              <a:rPr lang="en-US" sz="1200"/>
              <a:t>Analysts can work with enriched alerts in Splunk UI</a:t>
            </a:r>
          </a:p>
          <a:p>
            <a:endParaRPr lang="en-US" sz="1200"/>
          </a:p>
          <a:p>
            <a:endParaRPr lang="en-US" sz="1400"/>
          </a:p>
        </p:txBody>
      </p:sp>
      <p:sp>
        <p:nvSpPr>
          <p:cNvPr id="10" name="TextBox 9">
            <a:extLst>
              <a:ext uri="{FF2B5EF4-FFF2-40B4-BE49-F238E27FC236}">
                <a16:creationId xmlns:a16="http://schemas.microsoft.com/office/drawing/2014/main" id="{F81440C4-C61B-B58C-7DD1-79921041D5A3}"/>
              </a:ext>
            </a:extLst>
          </p:cNvPr>
          <p:cNvSpPr txBox="1"/>
          <p:nvPr/>
        </p:nvSpPr>
        <p:spPr>
          <a:xfrm>
            <a:off x="606828" y="986282"/>
            <a:ext cx="10850031" cy="769441"/>
          </a:xfrm>
          <a:prstGeom prst="rect">
            <a:avLst/>
          </a:prstGeom>
          <a:noFill/>
        </p:spPr>
        <p:txBody>
          <a:bodyPr wrap="square">
            <a:spAutoFit/>
          </a:bodyPr>
          <a:lstStyle/>
          <a:p>
            <a:r>
              <a:rPr lang="en-US" altLang="en-US" sz="1600" b="1"/>
              <a:t>✅ </a:t>
            </a:r>
            <a:r>
              <a:rPr lang="en-US" sz="1600" b="1"/>
              <a:t>Key Focus: </a:t>
            </a:r>
            <a:r>
              <a:rPr lang="en-US" sz="1600"/>
              <a:t>Shift from Splunk-Centric to Hybrid Model</a:t>
            </a:r>
          </a:p>
          <a:p>
            <a:r>
              <a:rPr lang="en-US" sz="1400"/>
              <a:t>Offload raw event processing from Splunk to a scalable data lake using Databricks and PAI—enabling enriched, filtered alerts to be sent back for triage, reducing cost and improving efficiency</a:t>
            </a:r>
          </a:p>
        </p:txBody>
      </p:sp>
      <p:cxnSp>
        <p:nvCxnSpPr>
          <p:cNvPr id="20" name="Straight Connector 19">
            <a:extLst>
              <a:ext uri="{FF2B5EF4-FFF2-40B4-BE49-F238E27FC236}">
                <a16:creationId xmlns:a16="http://schemas.microsoft.com/office/drawing/2014/main" id="{779E8914-7434-1995-EA7B-0BE29EA46AF1}"/>
              </a:ext>
            </a:extLst>
          </p:cNvPr>
          <p:cNvCxnSpPr>
            <a:cxnSpLocks/>
          </p:cNvCxnSpPr>
          <p:nvPr/>
        </p:nvCxnSpPr>
        <p:spPr>
          <a:xfrm>
            <a:off x="6096000" y="1755723"/>
            <a:ext cx="0" cy="449282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39016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0024D3B-9C38-A6AC-908A-F410DAF1F3AF}"/>
              </a:ext>
            </a:extLst>
          </p:cNvPr>
          <p:cNvSpPr>
            <a:spLocks noGrp="1"/>
          </p:cNvSpPr>
          <p:nvPr>
            <p:ph type="body" sz="quarter" idx="10"/>
          </p:nvPr>
        </p:nvSpPr>
        <p:spPr/>
        <p:txBody>
          <a:bodyPr/>
          <a:lstStyle/>
          <a:p>
            <a:r>
              <a:rPr lang="en-US"/>
              <a:t>AI within the Platform</a:t>
            </a:r>
          </a:p>
        </p:txBody>
      </p:sp>
    </p:spTree>
    <p:extLst>
      <p:ext uri="{BB962C8B-B14F-4D97-AF65-F5344CB8AC3E}">
        <p14:creationId xmlns:p14="http://schemas.microsoft.com/office/powerpoint/2010/main" val="15526270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53AB9-0E37-5DB5-6D5C-CA615CDD3BA3}"/>
            </a:ext>
          </a:extLst>
        </p:cNvPr>
        <p:cNvGrpSpPr/>
        <p:nvPr/>
      </p:nvGrpSpPr>
      <p:grpSpPr>
        <a:xfrm>
          <a:off x="0" y="0"/>
          <a:ext cx="0" cy="0"/>
          <a:chOff x="0" y="0"/>
          <a:chExt cx="0" cy="0"/>
        </a:xfrm>
      </p:grpSpPr>
      <p:sp>
        <p:nvSpPr>
          <p:cNvPr id="4" name="object 8">
            <a:extLst>
              <a:ext uri="{FF2B5EF4-FFF2-40B4-BE49-F238E27FC236}">
                <a16:creationId xmlns:a16="http://schemas.microsoft.com/office/drawing/2014/main" id="{8FF6C978-3A32-CF59-83E5-6BF0B27CC93A}"/>
              </a:ext>
            </a:extLst>
          </p:cNvPr>
          <p:cNvSpPr txBox="1"/>
          <p:nvPr/>
        </p:nvSpPr>
        <p:spPr>
          <a:xfrm>
            <a:off x="647998" y="525983"/>
            <a:ext cx="10834941" cy="461665"/>
          </a:xfrm>
          <a:prstGeom prst="rect">
            <a:avLst/>
          </a:prstGeom>
        </p:spPr>
        <p:txBody>
          <a:bodyPr vert="horz" wrap="square" lIns="0" tIns="0" rIns="0" bIns="0" rtlCol="0">
            <a:spAutoFit/>
          </a:bodyPr>
          <a:lstStyle/>
          <a:p>
            <a:pPr marL="20319" marR="0" lvl="0" indent="0" algn="l" defTabSz="1219170" eaLnBrk="1" fontAlgn="auto" latinLnBrk="0" hangingPunct="1">
              <a:spcBef>
                <a:spcPts val="0"/>
              </a:spcBef>
              <a:spcAft>
                <a:spcPts val="0"/>
              </a:spcAft>
              <a:buClrTx/>
              <a:buSzTx/>
              <a:buFontTx/>
              <a:buNone/>
              <a:tabLst/>
              <a:defRPr/>
            </a:pPr>
            <a:r>
              <a:rPr lang="en-US" sz="3000" b="1" spc="-100">
                <a:solidFill>
                  <a:srgbClr val="060B25"/>
                </a:solidFill>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AI in Data Fabric</a:t>
            </a:r>
            <a:endParaRPr kumimoji="0" lang="en-US" sz="3000" b="1" i="0" u="none" strike="noStrike" kern="1200" cap="none" spc="-100" normalizeH="0" noProof="0">
              <a:ln>
                <a:noFill/>
              </a:ln>
              <a:solidFill>
                <a:srgbClr val="060B25"/>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endParaRPr>
          </a:p>
        </p:txBody>
      </p:sp>
      <p:sp>
        <p:nvSpPr>
          <p:cNvPr id="2" name="Rectangle: Rounded Corners 2">
            <a:extLst>
              <a:ext uri="{FF2B5EF4-FFF2-40B4-BE49-F238E27FC236}">
                <a16:creationId xmlns:a16="http://schemas.microsoft.com/office/drawing/2014/main" id="{4D0735B8-2EA0-CCD0-32DA-38A18B71FE32}"/>
              </a:ext>
            </a:extLst>
          </p:cNvPr>
          <p:cNvSpPr/>
          <p:nvPr/>
        </p:nvSpPr>
        <p:spPr>
          <a:xfrm>
            <a:off x="3073490" y="1272600"/>
            <a:ext cx="6064074" cy="4483446"/>
          </a:xfrm>
          <a:prstGeom prst="roundRect">
            <a:avLst>
              <a:gd name="adj" fmla="val 6469"/>
            </a:avLst>
          </a:prstGeom>
          <a:solidFill>
            <a:srgbClr val="060B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rgbClr val="FFFFFF"/>
              </a:solidFill>
              <a:latin typeface="Aptos" panose="020B0004020202020204" pitchFamily="34" charset="0"/>
            </a:endParaRPr>
          </a:p>
        </p:txBody>
      </p:sp>
      <p:sp>
        <p:nvSpPr>
          <p:cNvPr id="3" name="Rectangle: Rounded Corners 3">
            <a:extLst>
              <a:ext uri="{FF2B5EF4-FFF2-40B4-BE49-F238E27FC236}">
                <a16:creationId xmlns:a16="http://schemas.microsoft.com/office/drawing/2014/main" id="{67F0977B-B298-D27D-BB5B-4070590D1864}"/>
              </a:ext>
            </a:extLst>
          </p:cNvPr>
          <p:cNvSpPr/>
          <p:nvPr/>
        </p:nvSpPr>
        <p:spPr>
          <a:xfrm>
            <a:off x="3073490" y="1421577"/>
            <a:ext cx="6064074" cy="4334469"/>
          </a:xfrm>
          <a:prstGeom prst="roundRect">
            <a:avLst>
              <a:gd name="adj" fmla="val 5885"/>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rgbClr val="FFFFFF"/>
              </a:solidFill>
              <a:latin typeface="Aptos" panose="020B0004020202020204" pitchFamily="34" charset="0"/>
            </a:endParaRPr>
          </a:p>
        </p:txBody>
      </p:sp>
      <p:sp>
        <p:nvSpPr>
          <p:cNvPr id="22" name="Google Shape;709;p151">
            <a:extLst>
              <a:ext uri="{FF2B5EF4-FFF2-40B4-BE49-F238E27FC236}">
                <a16:creationId xmlns:a16="http://schemas.microsoft.com/office/drawing/2014/main" id="{540B6E25-8653-AE1D-D86E-C3BE3D11A59A}"/>
              </a:ext>
            </a:extLst>
          </p:cNvPr>
          <p:cNvSpPr/>
          <p:nvPr/>
        </p:nvSpPr>
        <p:spPr>
          <a:xfrm>
            <a:off x="5912907" y="1007469"/>
            <a:ext cx="568609" cy="530352"/>
          </a:xfrm>
          <a:prstGeom prst="ellipse">
            <a:avLst/>
          </a:prstGeom>
          <a:solidFill>
            <a:srgbClr val="060B25"/>
          </a:solidFill>
          <a:ln w="28575" cap="flat" cmpd="sng">
            <a:noFill/>
            <a:prstDash val="solid"/>
            <a:round/>
            <a:headEnd type="none" w="sm" len="sm"/>
            <a:tailEnd type="none" w="sm" len="sm"/>
          </a:ln>
          <a:effectLst>
            <a:outerShdw blurRad="50800" dist="38100" dir="2700000" algn="tl" rotWithShape="0">
              <a:prstClr val="black">
                <a:alpha val="40000"/>
              </a:prstClr>
            </a:outerShdw>
          </a:effectLst>
        </p:spPr>
        <p:txBody>
          <a:bodyPr spcFirstLastPara="1" lIns="68569" tIns="68569" rIns="68569" bIns="68569" anchor="ctr"/>
          <a:lstStyle/>
          <a:p>
            <a:pPr defTabSz="685766">
              <a:defRPr/>
            </a:pPr>
            <a:endParaRPr sz="1200">
              <a:solidFill>
                <a:srgbClr val="767171"/>
              </a:solidFill>
              <a:latin typeface="Aptos" panose="020B0004020202020204" pitchFamily="34" charset="0"/>
              <a:sym typeface="Lato" panose="020F0502020204030203" pitchFamily="34" charset="0"/>
            </a:endParaRPr>
          </a:p>
        </p:txBody>
      </p:sp>
      <p:pic>
        <p:nvPicPr>
          <p:cNvPr id="23" name="Picture 22" descr="A black background with purple border&#10;&#10;Description automatically generated">
            <a:extLst>
              <a:ext uri="{FF2B5EF4-FFF2-40B4-BE49-F238E27FC236}">
                <a16:creationId xmlns:a16="http://schemas.microsoft.com/office/drawing/2014/main" id="{06E6B0BE-81BE-81B8-A1CB-955F542576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0765" y="4385225"/>
            <a:ext cx="5765071" cy="472374"/>
          </a:xfrm>
          <a:prstGeom prst="rect">
            <a:avLst/>
          </a:prstGeom>
        </p:spPr>
      </p:pic>
      <p:pic>
        <p:nvPicPr>
          <p:cNvPr id="25" name="Picture 24" descr="A black background with purple border&#10;&#10;Description automatically generated">
            <a:extLst>
              <a:ext uri="{FF2B5EF4-FFF2-40B4-BE49-F238E27FC236}">
                <a16:creationId xmlns:a16="http://schemas.microsoft.com/office/drawing/2014/main" id="{3594DBB0-E28E-50F7-E00F-EEEF8356DE8B}"/>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4801121" y="2030963"/>
            <a:ext cx="1097280" cy="475488"/>
          </a:xfrm>
          <a:prstGeom prst="rect">
            <a:avLst/>
          </a:prstGeom>
        </p:spPr>
      </p:pic>
      <p:sp>
        <p:nvSpPr>
          <p:cNvPr id="26" name="Oval 25">
            <a:extLst>
              <a:ext uri="{FF2B5EF4-FFF2-40B4-BE49-F238E27FC236}">
                <a16:creationId xmlns:a16="http://schemas.microsoft.com/office/drawing/2014/main" id="{379ADC16-EE44-5B57-F192-5A32C4D30317}"/>
              </a:ext>
            </a:extLst>
          </p:cNvPr>
          <p:cNvSpPr>
            <a:spLocks noChangeAspect="1"/>
          </p:cNvSpPr>
          <p:nvPr/>
        </p:nvSpPr>
        <p:spPr>
          <a:xfrm>
            <a:off x="610338" y="1734714"/>
            <a:ext cx="274320" cy="274320"/>
          </a:xfrm>
          <a:prstGeom prst="ellipse">
            <a:avLst/>
          </a:prstGeom>
          <a:solidFill>
            <a:srgbClr val="6360D8"/>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solidFill>
                <a:srgbClr val="FF0000"/>
              </a:solidFill>
              <a:latin typeface="Aptos" panose="020B0004020202020204" pitchFamily="34" charset="0"/>
              <a:sym typeface="Aptos" panose="020B0004020202020204" pitchFamily="34" charset="0"/>
            </a:endParaRPr>
          </a:p>
        </p:txBody>
      </p:sp>
      <p:sp>
        <p:nvSpPr>
          <p:cNvPr id="27" name="Rectangle: Rounded Corners 30">
            <a:extLst>
              <a:ext uri="{FF2B5EF4-FFF2-40B4-BE49-F238E27FC236}">
                <a16:creationId xmlns:a16="http://schemas.microsoft.com/office/drawing/2014/main" id="{DBA0F980-03FA-21B8-0FE4-22D07E8476C1}"/>
              </a:ext>
            </a:extLst>
          </p:cNvPr>
          <p:cNvSpPr/>
          <p:nvPr/>
        </p:nvSpPr>
        <p:spPr>
          <a:xfrm>
            <a:off x="290550" y="1265025"/>
            <a:ext cx="2534232" cy="2025212"/>
          </a:xfrm>
          <a:prstGeom prst="roundRect">
            <a:avLst/>
          </a:prstGeom>
          <a:solidFill>
            <a:srgbClr val="636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rgbClr val="FFFFFF"/>
              </a:solidFill>
              <a:latin typeface="Aptos" panose="020B0004020202020204" pitchFamily="34" charset="0"/>
            </a:endParaRPr>
          </a:p>
        </p:txBody>
      </p:sp>
      <p:sp>
        <p:nvSpPr>
          <p:cNvPr id="28" name="Rectangle: Rounded Corners 31">
            <a:extLst>
              <a:ext uri="{FF2B5EF4-FFF2-40B4-BE49-F238E27FC236}">
                <a16:creationId xmlns:a16="http://schemas.microsoft.com/office/drawing/2014/main" id="{5B2F9A0C-0F1B-C67E-2A57-37D7EA64F80C}"/>
              </a:ext>
            </a:extLst>
          </p:cNvPr>
          <p:cNvSpPr/>
          <p:nvPr/>
        </p:nvSpPr>
        <p:spPr>
          <a:xfrm>
            <a:off x="290550" y="1414002"/>
            <a:ext cx="2534232" cy="4342043"/>
          </a:xfrm>
          <a:prstGeom prst="roundRect">
            <a:avLst>
              <a:gd name="adj" fmla="val 11455"/>
            </a:avLst>
          </a:prstGeom>
          <a:solidFill>
            <a:srgbClr val="D7D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rgbClr val="FFFFFF"/>
              </a:solidFill>
              <a:latin typeface="Aptos" panose="020B0004020202020204" pitchFamily="34" charset="0"/>
            </a:endParaRPr>
          </a:p>
        </p:txBody>
      </p:sp>
      <p:sp>
        <p:nvSpPr>
          <p:cNvPr id="29" name="TextBox 28">
            <a:extLst>
              <a:ext uri="{FF2B5EF4-FFF2-40B4-BE49-F238E27FC236}">
                <a16:creationId xmlns:a16="http://schemas.microsoft.com/office/drawing/2014/main" id="{62E27819-AD4C-0B5C-FC89-B5E616EB634E}"/>
              </a:ext>
            </a:extLst>
          </p:cNvPr>
          <p:cNvSpPr txBox="1"/>
          <p:nvPr/>
        </p:nvSpPr>
        <p:spPr>
          <a:xfrm>
            <a:off x="370349" y="1677555"/>
            <a:ext cx="2374635" cy="215444"/>
          </a:xfrm>
          <a:prstGeom prst="rect">
            <a:avLst/>
          </a:prstGeom>
          <a:noFill/>
        </p:spPr>
        <p:txBody>
          <a:bodyPr wrap="square" lIns="0" tIns="0" rIns="0" bIns="0" rtlCol="0" anchor="ctr">
            <a:spAutoFit/>
          </a:bodyPr>
          <a:lstStyle/>
          <a:p>
            <a:pPr algn="ctr"/>
            <a:r>
              <a:rPr lang="en-US" sz="1400" b="1">
                <a:latin typeface="Aptos" panose="020B0004020202020204" pitchFamily="34" charset="0"/>
              </a:rPr>
              <a:t>Data Bridge</a:t>
            </a:r>
          </a:p>
        </p:txBody>
      </p:sp>
      <p:sp>
        <p:nvSpPr>
          <p:cNvPr id="30" name="Google Shape;709;p151">
            <a:extLst>
              <a:ext uri="{FF2B5EF4-FFF2-40B4-BE49-F238E27FC236}">
                <a16:creationId xmlns:a16="http://schemas.microsoft.com/office/drawing/2014/main" id="{A843791C-B4FD-4FCA-4332-CF1654953A88}"/>
              </a:ext>
            </a:extLst>
          </p:cNvPr>
          <p:cNvSpPr/>
          <p:nvPr/>
        </p:nvSpPr>
        <p:spPr>
          <a:xfrm>
            <a:off x="1273362" y="1007468"/>
            <a:ext cx="568609" cy="530352"/>
          </a:xfrm>
          <a:prstGeom prst="ellipse">
            <a:avLst/>
          </a:prstGeom>
          <a:solidFill>
            <a:srgbClr val="6360D8"/>
          </a:solidFill>
          <a:ln w="28575" cap="flat" cmpd="sng">
            <a:noFill/>
            <a:prstDash val="solid"/>
            <a:round/>
            <a:headEnd type="none" w="sm" len="sm"/>
            <a:tailEnd type="none" w="sm" len="sm"/>
          </a:ln>
          <a:effectLst>
            <a:outerShdw blurRad="50800" dist="38100" dir="2700000" algn="tl" rotWithShape="0">
              <a:prstClr val="black">
                <a:alpha val="40000"/>
              </a:prstClr>
            </a:outerShdw>
          </a:effectLst>
        </p:spPr>
        <p:txBody>
          <a:bodyPr spcFirstLastPara="1" lIns="68569" tIns="68569" rIns="68569" bIns="68569" anchor="ctr"/>
          <a:lstStyle/>
          <a:p>
            <a:pPr defTabSz="685766">
              <a:defRPr/>
            </a:pPr>
            <a:endParaRPr sz="1200">
              <a:solidFill>
                <a:srgbClr val="767171"/>
              </a:solidFill>
              <a:latin typeface="Aptos" panose="020B0004020202020204" pitchFamily="34" charset="0"/>
              <a:sym typeface="Lato" panose="020F0502020204030203" pitchFamily="34" charset="0"/>
            </a:endParaRPr>
          </a:p>
        </p:txBody>
      </p:sp>
      <p:pic>
        <p:nvPicPr>
          <p:cNvPr id="31" name="Picture 30">
            <a:extLst>
              <a:ext uri="{FF2B5EF4-FFF2-40B4-BE49-F238E27FC236}">
                <a16:creationId xmlns:a16="http://schemas.microsoft.com/office/drawing/2014/main" id="{F0E0ED81-EC11-C139-8DAE-79CD066C427E}"/>
              </a:ext>
            </a:extLst>
          </p:cNvPr>
          <p:cNvPicPr>
            <a:picLocks noChangeAspect="1"/>
          </p:cNvPicPr>
          <p:nvPr/>
        </p:nvPicPr>
        <p:blipFill>
          <a:blip r:embed="rId3"/>
          <a:srcRect/>
          <a:stretch/>
        </p:blipFill>
        <p:spPr>
          <a:xfrm>
            <a:off x="1349485" y="1052136"/>
            <a:ext cx="441012" cy="441012"/>
          </a:xfrm>
          <a:prstGeom prst="rect">
            <a:avLst/>
          </a:prstGeom>
        </p:spPr>
      </p:pic>
      <p:pic>
        <p:nvPicPr>
          <p:cNvPr id="32" name="Picture 31" descr="A black background with purple border&#10;&#10;Description automatically generated">
            <a:extLst>
              <a:ext uri="{FF2B5EF4-FFF2-40B4-BE49-F238E27FC236}">
                <a16:creationId xmlns:a16="http://schemas.microsoft.com/office/drawing/2014/main" id="{C6214A09-1511-DA25-11B5-BEC9E55EDE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407" y="2054859"/>
            <a:ext cx="2111813" cy="472374"/>
          </a:xfrm>
          <a:prstGeom prst="rect">
            <a:avLst/>
          </a:prstGeom>
        </p:spPr>
      </p:pic>
      <p:pic>
        <p:nvPicPr>
          <p:cNvPr id="33" name="Picture 32" descr="A black background with purple border&#10;&#10;Description automatically generated">
            <a:extLst>
              <a:ext uri="{FF2B5EF4-FFF2-40B4-BE49-F238E27FC236}">
                <a16:creationId xmlns:a16="http://schemas.microsoft.com/office/drawing/2014/main" id="{9A2AD76F-DE90-6185-0577-D2BB9529DB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524" y="4407566"/>
            <a:ext cx="2111813" cy="472374"/>
          </a:xfrm>
          <a:prstGeom prst="rect">
            <a:avLst/>
          </a:prstGeom>
        </p:spPr>
      </p:pic>
      <p:sp>
        <p:nvSpPr>
          <p:cNvPr id="34" name="TextBox 33">
            <a:extLst>
              <a:ext uri="{FF2B5EF4-FFF2-40B4-BE49-F238E27FC236}">
                <a16:creationId xmlns:a16="http://schemas.microsoft.com/office/drawing/2014/main" id="{D5152D31-D82C-C829-AF9C-EF393FCB3524}"/>
              </a:ext>
            </a:extLst>
          </p:cNvPr>
          <p:cNvSpPr txBox="1"/>
          <p:nvPr/>
        </p:nvSpPr>
        <p:spPr>
          <a:xfrm>
            <a:off x="733101" y="2167936"/>
            <a:ext cx="1775567" cy="246221"/>
          </a:xfrm>
          <a:prstGeom prst="rect">
            <a:avLst/>
          </a:prstGeom>
          <a:noFill/>
        </p:spPr>
        <p:txBody>
          <a:bodyPr wrap="square">
            <a:spAutoFit/>
          </a:bodyPr>
          <a:lstStyle/>
          <a:p>
            <a:pPr algn="ctr"/>
            <a:r>
              <a:rPr lang="en-US" sz="1000"/>
              <a:t>AnyConnect</a:t>
            </a:r>
          </a:p>
        </p:txBody>
      </p:sp>
      <p:sp>
        <p:nvSpPr>
          <p:cNvPr id="35" name="TextBox 34">
            <a:extLst>
              <a:ext uri="{FF2B5EF4-FFF2-40B4-BE49-F238E27FC236}">
                <a16:creationId xmlns:a16="http://schemas.microsoft.com/office/drawing/2014/main" id="{18A46FEB-9701-5EC8-A372-3332C4066332}"/>
              </a:ext>
            </a:extLst>
          </p:cNvPr>
          <p:cNvSpPr txBox="1"/>
          <p:nvPr/>
        </p:nvSpPr>
        <p:spPr>
          <a:xfrm>
            <a:off x="456161" y="4520643"/>
            <a:ext cx="2304062" cy="246221"/>
          </a:xfrm>
          <a:prstGeom prst="rect">
            <a:avLst/>
          </a:prstGeom>
          <a:noFill/>
        </p:spPr>
        <p:txBody>
          <a:bodyPr wrap="square">
            <a:spAutoFit/>
          </a:bodyPr>
          <a:lstStyle/>
          <a:p>
            <a:pPr algn="ctr"/>
            <a:r>
              <a:rPr lang="en-US" sz="1000"/>
              <a:t>Ingestion</a:t>
            </a:r>
          </a:p>
        </p:txBody>
      </p:sp>
      <p:pic>
        <p:nvPicPr>
          <p:cNvPr id="41" name="Picture 40">
            <a:extLst>
              <a:ext uri="{FF2B5EF4-FFF2-40B4-BE49-F238E27FC236}">
                <a16:creationId xmlns:a16="http://schemas.microsoft.com/office/drawing/2014/main" id="{0EBC9489-8472-9C5E-6BFB-114C37D551D2}"/>
              </a:ext>
            </a:extLst>
          </p:cNvPr>
          <p:cNvPicPr>
            <a:picLocks noChangeAspect="1"/>
          </p:cNvPicPr>
          <p:nvPr/>
        </p:nvPicPr>
        <p:blipFill>
          <a:blip r:embed="rId4"/>
          <a:stretch>
            <a:fillRect/>
          </a:stretch>
        </p:blipFill>
        <p:spPr>
          <a:xfrm>
            <a:off x="6014207" y="1101954"/>
            <a:ext cx="366007" cy="341381"/>
          </a:xfrm>
          <a:prstGeom prst="rect">
            <a:avLst/>
          </a:prstGeom>
        </p:spPr>
      </p:pic>
      <p:pic>
        <p:nvPicPr>
          <p:cNvPr id="42" name="Picture 41" descr="A black background with purple border&#10;&#10;Description automatically generated">
            <a:extLst>
              <a:ext uri="{FF2B5EF4-FFF2-40B4-BE49-F238E27FC236}">
                <a16:creationId xmlns:a16="http://schemas.microsoft.com/office/drawing/2014/main" id="{E0BDE39B-372C-A092-30B6-010C9362851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250765" y="2039261"/>
            <a:ext cx="1097280" cy="475488"/>
          </a:xfrm>
          <a:prstGeom prst="rect">
            <a:avLst/>
          </a:prstGeom>
        </p:spPr>
      </p:pic>
      <p:sp>
        <p:nvSpPr>
          <p:cNvPr id="43" name="TextBox 42">
            <a:extLst>
              <a:ext uri="{FF2B5EF4-FFF2-40B4-BE49-F238E27FC236}">
                <a16:creationId xmlns:a16="http://schemas.microsoft.com/office/drawing/2014/main" id="{03412779-40AA-97F0-380C-1900EB4EAB6D}"/>
              </a:ext>
            </a:extLst>
          </p:cNvPr>
          <p:cNvSpPr txBox="1"/>
          <p:nvPr/>
        </p:nvSpPr>
        <p:spPr>
          <a:xfrm>
            <a:off x="3269161" y="2167936"/>
            <a:ext cx="1079876" cy="246221"/>
          </a:xfrm>
          <a:prstGeom prst="rect">
            <a:avLst/>
          </a:prstGeom>
          <a:noFill/>
        </p:spPr>
        <p:txBody>
          <a:bodyPr wrap="square">
            <a:spAutoFit/>
          </a:bodyPr>
          <a:lstStyle/>
          <a:p>
            <a:pPr algn="ctr"/>
            <a:r>
              <a:rPr lang="en-US" sz="1000"/>
              <a:t>Entity Extraction</a:t>
            </a:r>
          </a:p>
        </p:txBody>
      </p:sp>
      <p:sp>
        <p:nvSpPr>
          <p:cNvPr id="44" name="TextBox 43">
            <a:extLst>
              <a:ext uri="{FF2B5EF4-FFF2-40B4-BE49-F238E27FC236}">
                <a16:creationId xmlns:a16="http://schemas.microsoft.com/office/drawing/2014/main" id="{71CDB2FB-9C71-E2A0-CF7B-A4F3A29B2B7F}"/>
              </a:ext>
            </a:extLst>
          </p:cNvPr>
          <p:cNvSpPr txBox="1"/>
          <p:nvPr/>
        </p:nvSpPr>
        <p:spPr>
          <a:xfrm>
            <a:off x="4833436" y="2167936"/>
            <a:ext cx="1068034" cy="246221"/>
          </a:xfrm>
          <a:prstGeom prst="rect">
            <a:avLst/>
          </a:prstGeom>
          <a:noFill/>
        </p:spPr>
        <p:txBody>
          <a:bodyPr wrap="square">
            <a:spAutoFit/>
          </a:bodyPr>
          <a:lstStyle/>
          <a:p>
            <a:pPr algn="ctr"/>
            <a:r>
              <a:rPr lang="en-US" sz="1000"/>
              <a:t>Normalisation</a:t>
            </a:r>
          </a:p>
        </p:txBody>
      </p:sp>
      <p:sp>
        <p:nvSpPr>
          <p:cNvPr id="45" name="TextBox 44">
            <a:extLst>
              <a:ext uri="{FF2B5EF4-FFF2-40B4-BE49-F238E27FC236}">
                <a16:creationId xmlns:a16="http://schemas.microsoft.com/office/drawing/2014/main" id="{6553929B-BA6B-A361-5E1B-CA555D39E082}"/>
              </a:ext>
            </a:extLst>
          </p:cNvPr>
          <p:cNvSpPr txBox="1"/>
          <p:nvPr/>
        </p:nvSpPr>
        <p:spPr>
          <a:xfrm>
            <a:off x="4231182" y="4498302"/>
            <a:ext cx="3725474" cy="246221"/>
          </a:xfrm>
          <a:prstGeom prst="rect">
            <a:avLst/>
          </a:prstGeom>
          <a:noFill/>
        </p:spPr>
        <p:txBody>
          <a:bodyPr wrap="square">
            <a:spAutoFit/>
          </a:bodyPr>
          <a:lstStyle/>
          <a:p>
            <a:pPr algn="ctr"/>
            <a:r>
              <a:rPr lang="en-US" sz="1000"/>
              <a:t>Data Quality</a:t>
            </a:r>
          </a:p>
        </p:txBody>
      </p:sp>
      <p:pic>
        <p:nvPicPr>
          <p:cNvPr id="46" name="Picture 45" descr="A black background with purple border&#10;&#10;Description automatically generated">
            <a:extLst>
              <a:ext uri="{FF2B5EF4-FFF2-40B4-BE49-F238E27FC236}">
                <a16:creationId xmlns:a16="http://schemas.microsoft.com/office/drawing/2014/main" id="{25A236C1-FDF9-D939-7782-8A4DF077055C}"/>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351477" y="2030963"/>
            <a:ext cx="1097280" cy="475488"/>
          </a:xfrm>
          <a:prstGeom prst="rect">
            <a:avLst/>
          </a:prstGeom>
        </p:spPr>
      </p:pic>
      <p:pic>
        <p:nvPicPr>
          <p:cNvPr id="47" name="Picture 46" descr="A black background with purple border&#10;&#10;Description automatically generated">
            <a:extLst>
              <a:ext uri="{FF2B5EF4-FFF2-40B4-BE49-F238E27FC236}">
                <a16:creationId xmlns:a16="http://schemas.microsoft.com/office/drawing/2014/main" id="{0BAD0D6A-3446-4324-A4D4-9145E94FEFF6}"/>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7901832" y="2039773"/>
            <a:ext cx="1097280" cy="475488"/>
          </a:xfrm>
          <a:prstGeom prst="rect">
            <a:avLst/>
          </a:prstGeom>
        </p:spPr>
      </p:pic>
      <p:sp>
        <p:nvSpPr>
          <p:cNvPr id="48" name="TextBox 47">
            <a:extLst>
              <a:ext uri="{FF2B5EF4-FFF2-40B4-BE49-F238E27FC236}">
                <a16:creationId xmlns:a16="http://schemas.microsoft.com/office/drawing/2014/main" id="{813F43E4-F27E-1019-31F6-A0947F32F74F}"/>
              </a:ext>
            </a:extLst>
          </p:cNvPr>
          <p:cNvSpPr txBox="1"/>
          <p:nvPr/>
        </p:nvSpPr>
        <p:spPr>
          <a:xfrm>
            <a:off x="5023377" y="1690255"/>
            <a:ext cx="2374635" cy="215444"/>
          </a:xfrm>
          <a:prstGeom prst="rect">
            <a:avLst/>
          </a:prstGeom>
          <a:noFill/>
        </p:spPr>
        <p:txBody>
          <a:bodyPr wrap="square" lIns="0" tIns="0" rIns="0" bIns="0" rtlCol="0" anchor="ctr">
            <a:spAutoFit/>
          </a:bodyPr>
          <a:lstStyle/>
          <a:p>
            <a:pPr algn="ctr"/>
            <a:r>
              <a:rPr lang="en-US" sz="1400" b="1">
                <a:latin typeface="Aptos" panose="020B0004020202020204" pitchFamily="34" charset="0"/>
              </a:rPr>
              <a:t>Entity Resolution</a:t>
            </a:r>
          </a:p>
        </p:txBody>
      </p:sp>
      <p:sp>
        <p:nvSpPr>
          <p:cNvPr id="49" name="Rectangle: Rounded Corners 12">
            <a:extLst>
              <a:ext uri="{FF2B5EF4-FFF2-40B4-BE49-F238E27FC236}">
                <a16:creationId xmlns:a16="http://schemas.microsoft.com/office/drawing/2014/main" id="{54F9D312-2B91-5334-84EA-B4CD3B3AAA05}"/>
              </a:ext>
            </a:extLst>
          </p:cNvPr>
          <p:cNvSpPr/>
          <p:nvPr/>
        </p:nvSpPr>
        <p:spPr>
          <a:xfrm>
            <a:off x="9316085" y="1251822"/>
            <a:ext cx="2534232" cy="2331838"/>
          </a:xfrm>
          <a:prstGeom prst="roundRect">
            <a:avLst/>
          </a:prstGeom>
          <a:solidFill>
            <a:srgbClr val="636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rgbClr val="FFFFFF"/>
              </a:solidFill>
              <a:latin typeface="Aptos" panose="020B0004020202020204" pitchFamily="34" charset="0"/>
            </a:endParaRPr>
          </a:p>
        </p:txBody>
      </p:sp>
      <p:sp>
        <p:nvSpPr>
          <p:cNvPr id="50" name="Rectangle: Rounded Corners 13">
            <a:extLst>
              <a:ext uri="{FF2B5EF4-FFF2-40B4-BE49-F238E27FC236}">
                <a16:creationId xmlns:a16="http://schemas.microsoft.com/office/drawing/2014/main" id="{88C2BBF6-25ED-D67B-27D7-F3FD49C284D7}"/>
              </a:ext>
            </a:extLst>
          </p:cNvPr>
          <p:cNvSpPr/>
          <p:nvPr/>
        </p:nvSpPr>
        <p:spPr>
          <a:xfrm>
            <a:off x="9316085" y="1400799"/>
            <a:ext cx="2534232" cy="4334469"/>
          </a:xfrm>
          <a:prstGeom prst="roundRect">
            <a:avLst/>
          </a:prstGeom>
          <a:solidFill>
            <a:srgbClr val="D7D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rgbClr val="FFFFFF"/>
              </a:solidFill>
              <a:latin typeface="Aptos" panose="020B0004020202020204" pitchFamily="34" charset="0"/>
            </a:endParaRPr>
          </a:p>
        </p:txBody>
      </p:sp>
      <p:sp>
        <p:nvSpPr>
          <p:cNvPr id="51" name="Google Shape;709;p151">
            <a:extLst>
              <a:ext uri="{FF2B5EF4-FFF2-40B4-BE49-F238E27FC236}">
                <a16:creationId xmlns:a16="http://schemas.microsoft.com/office/drawing/2014/main" id="{28450E05-66B4-8FBA-B270-FA6B5D733630}"/>
              </a:ext>
            </a:extLst>
          </p:cNvPr>
          <p:cNvSpPr/>
          <p:nvPr/>
        </p:nvSpPr>
        <p:spPr>
          <a:xfrm>
            <a:off x="10298897" y="994265"/>
            <a:ext cx="568609" cy="530352"/>
          </a:xfrm>
          <a:prstGeom prst="ellipse">
            <a:avLst/>
          </a:prstGeom>
          <a:solidFill>
            <a:srgbClr val="636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1000">
              <a:solidFill>
                <a:srgbClr val="FFFFFF"/>
              </a:solidFill>
              <a:latin typeface="Aptos" panose="020B0004020202020204" pitchFamily="34" charset="0"/>
              <a:sym typeface="Lato" panose="020F0502020204030203" pitchFamily="34" charset="0"/>
            </a:endParaRPr>
          </a:p>
        </p:txBody>
      </p:sp>
      <p:sp>
        <p:nvSpPr>
          <p:cNvPr id="52" name="TextBox 51">
            <a:extLst>
              <a:ext uri="{FF2B5EF4-FFF2-40B4-BE49-F238E27FC236}">
                <a16:creationId xmlns:a16="http://schemas.microsoft.com/office/drawing/2014/main" id="{DBA67AA8-7770-ACAA-04C3-EE1BA0ECE638}"/>
              </a:ext>
            </a:extLst>
          </p:cNvPr>
          <p:cNvSpPr txBox="1"/>
          <p:nvPr/>
        </p:nvSpPr>
        <p:spPr>
          <a:xfrm>
            <a:off x="9395884" y="1654363"/>
            <a:ext cx="2374635" cy="215444"/>
          </a:xfrm>
          <a:prstGeom prst="rect">
            <a:avLst/>
          </a:prstGeom>
          <a:noFill/>
        </p:spPr>
        <p:txBody>
          <a:bodyPr wrap="square" lIns="0" tIns="0" rIns="0" bIns="0" rtlCol="0" anchor="ctr">
            <a:spAutoFit/>
          </a:bodyPr>
          <a:lstStyle/>
          <a:p>
            <a:pPr algn="ctr"/>
            <a:r>
              <a:rPr lang="en-US" sz="1400" b="1">
                <a:solidFill>
                  <a:srgbClr val="000000"/>
                </a:solidFill>
                <a:latin typeface="Aptos" panose="020B0004020202020204" pitchFamily="34" charset="0"/>
              </a:rPr>
              <a:t>Navigator</a:t>
            </a:r>
          </a:p>
        </p:txBody>
      </p:sp>
      <p:pic>
        <p:nvPicPr>
          <p:cNvPr id="54" name="Picture 53" descr="A white stars on a black background&#10;&#10;AI-generated content may be incorrect.">
            <a:extLst>
              <a:ext uri="{FF2B5EF4-FFF2-40B4-BE49-F238E27FC236}">
                <a16:creationId xmlns:a16="http://schemas.microsoft.com/office/drawing/2014/main" id="{B7B59DFC-EE19-DCA0-4DEF-55ED92AAF76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81275" y="1045289"/>
            <a:ext cx="433930" cy="433930"/>
          </a:xfrm>
          <a:prstGeom prst="rect">
            <a:avLst/>
          </a:prstGeom>
        </p:spPr>
      </p:pic>
      <p:sp>
        <p:nvSpPr>
          <p:cNvPr id="55" name="TextBox 54">
            <a:extLst>
              <a:ext uri="{FF2B5EF4-FFF2-40B4-BE49-F238E27FC236}">
                <a16:creationId xmlns:a16="http://schemas.microsoft.com/office/drawing/2014/main" id="{AB157E2B-461E-29DD-A6BB-48F12BC03147}"/>
              </a:ext>
            </a:extLst>
          </p:cNvPr>
          <p:cNvSpPr txBox="1"/>
          <p:nvPr/>
        </p:nvSpPr>
        <p:spPr>
          <a:xfrm>
            <a:off x="6399556" y="2167936"/>
            <a:ext cx="1021105" cy="246221"/>
          </a:xfrm>
          <a:prstGeom prst="rect">
            <a:avLst/>
          </a:prstGeom>
          <a:noFill/>
        </p:spPr>
        <p:txBody>
          <a:bodyPr wrap="square">
            <a:spAutoFit/>
          </a:bodyPr>
          <a:lstStyle/>
          <a:p>
            <a:pPr algn="ctr"/>
            <a:r>
              <a:rPr lang="en-US" sz="1000"/>
              <a:t>Resolution</a:t>
            </a:r>
          </a:p>
        </p:txBody>
      </p:sp>
      <p:sp>
        <p:nvSpPr>
          <p:cNvPr id="56" name="TextBox 55">
            <a:extLst>
              <a:ext uri="{FF2B5EF4-FFF2-40B4-BE49-F238E27FC236}">
                <a16:creationId xmlns:a16="http://schemas.microsoft.com/office/drawing/2014/main" id="{A2A347F7-3E10-71AC-DECF-1BB84DB70C84}"/>
              </a:ext>
            </a:extLst>
          </p:cNvPr>
          <p:cNvSpPr txBox="1"/>
          <p:nvPr/>
        </p:nvSpPr>
        <p:spPr>
          <a:xfrm>
            <a:off x="7984777" y="2167936"/>
            <a:ext cx="937352" cy="246221"/>
          </a:xfrm>
          <a:prstGeom prst="rect">
            <a:avLst/>
          </a:prstGeom>
          <a:noFill/>
        </p:spPr>
        <p:txBody>
          <a:bodyPr wrap="square">
            <a:spAutoFit/>
          </a:bodyPr>
          <a:lstStyle/>
          <a:p>
            <a:pPr algn="ctr"/>
            <a:r>
              <a:rPr lang="en-US" sz="1000"/>
              <a:t>Merge</a:t>
            </a:r>
          </a:p>
        </p:txBody>
      </p:sp>
      <p:grpSp>
        <p:nvGrpSpPr>
          <p:cNvPr id="57" name="Group 56">
            <a:extLst>
              <a:ext uri="{FF2B5EF4-FFF2-40B4-BE49-F238E27FC236}">
                <a16:creationId xmlns:a16="http://schemas.microsoft.com/office/drawing/2014/main" id="{E9AAC4A9-5CA3-7247-7F78-73086E43AE05}"/>
              </a:ext>
            </a:extLst>
          </p:cNvPr>
          <p:cNvGrpSpPr/>
          <p:nvPr/>
        </p:nvGrpSpPr>
        <p:grpSpPr>
          <a:xfrm>
            <a:off x="3135133" y="1923472"/>
            <a:ext cx="274320" cy="274320"/>
            <a:chOff x="4054689" y="4598336"/>
            <a:chExt cx="274320" cy="274320"/>
          </a:xfrm>
        </p:grpSpPr>
        <p:pic>
          <p:nvPicPr>
            <p:cNvPr id="58" name="Picture 57" descr="A purple circle with white circle in center&#10;&#10;Description automatically generated">
              <a:extLst>
                <a:ext uri="{FF2B5EF4-FFF2-40B4-BE49-F238E27FC236}">
                  <a16:creationId xmlns:a16="http://schemas.microsoft.com/office/drawing/2014/main" id="{23E801EF-5C98-9E47-69E2-5E144D44D98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54689" y="4598336"/>
              <a:ext cx="274320" cy="274320"/>
            </a:xfrm>
            <a:prstGeom prst="rect">
              <a:avLst/>
            </a:prstGeom>
          </p:spPr>
        </p:pic>
        <p:pic>
          <p:nvPicPr>
            <p:cNvPr id="59" name="Picture 58" descr="A white star and a black background&#10;&#10;AI-generated content may be incorrect.">
              <a:extLst>
                <a:ext uri="{FF2B5EF4-FFF2-40B4-BE49-F238E27FC236}">
                  <a16:creationId xmlns:a16="http://schemas.microsoft.com/office/drawing/2014/main" id="{CD64DD0C-9E7C-389A-85B0-57BDDA6CD82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17040" y="4668980"/>
              <a:ext cx="137160" cy="137160"/>
            </a:xfrm>
            <a:prstGeom prst="rect">
              <a:avLst/>
            </a:prstGeom>
          </p:spPr>
        </p:pic>
      </p:grpSp>
      <p:grpSp>
        <p:nvGrpSpPr>
          <p:cNvPr id="60" name="Group 59">
            <a:extLst>
              <a:ext uri="{FF2B5EF4-FFF2-40B4-BE49-F238E27FC236}">
                <a16:creationId xmlns:a16="http://schemas.microsoft.com/office/drawing/2014/main" id="{5732F252-33D5-C6EE-94E2-4F63AF92EBB9}"/>
              </a:ext>
            </a:extLst>
          </p:cNvPr>
          <p:cNvGrpSpPr/>
          <p:nvPr/>
        </p:nvGrpSpPr>
        <p:grpSpPr>
          <a:xfrm>
            <a:off x="4717509" y="1923472"/>
            <a:ext cx="274320" cy="274320"/>
            <a:chOff x="4054689" y="4598336"/>
            <a:chExt cx="274320" cy="274320"/>
          </a:xfrm>
        </p:grpSpPr>
        <p:pic>
          <p:nvPicPr>
            <p:cNvPr id="61" name="Picture 60" descr="A purple circle with white circle in center&#10;&#10;Description automatically generated">
              <a:extLst>
                <a:ext uri="{FF2B5EF4-FFF2-40B4-BE49-F238E27FC236}">
                  <a16:creationId xmlns:a16="http://schemas.microsoft.com/office/drawing/2014/main" id="{00FCF10D-0AF0-F27E-AEFF-79375F01E39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54689" y="4598336"/>
              <a:ext cx="274320" cy="274320"/>
            </a:xfrm>
            <a:prstGeom prst="rect">
              <a:avLst/>
            </a:prstGeom>
          </p:spPr>
        </p:pic>
        <p:pic>
          <p:nvPicPr>
            <p:cNvPr id="62" name="Picture 61" descr="A white star and a black background&#10;&#10;AI-generated content may be incorrect.">
              <a:extLst>
                <a:ext uri="{FF2B5EF4-FFF2-40B4-BE49-F238E27FC236}">
                  <a16:creationId xmlns:a16="http://schemas.microsoft.com/office/drawing/2014/main" id="{67D56CD7-DEEF-2B38-C35C-A9BFB01143D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17040" y="4668980"/>
              <a:ext cx="137160" cy="137160"/>
            </a:xfrm>
            <a:prstGeom prst="rect">
              <a:avLst/>
            </a:prstGeom>
          </p:spPr>
        </p:pic>
      </p:grpSp>
      <p:grpSp>
        <p:nvGrpSpPr>
          <p:cNvPr id="63" name="Group 62">
            <a:extLst>
              <a:ext uri="{FF2B5EF4-FFF2-40B4-BE49-F238E27FC236}">
                <a16:creationId xmlns:a16="http://schemas.microsoft.com/office/drawing/2014/main" id="{9792D141-097F-77C2-2617-51AD849661FC}"/>
              </a:ext>
            </a:extLst>
          </p:cNvPr>
          <p:cNvGrpSpPr/>
          <p:nvPr/>
        </p:nvGrpSpPr>
        <p:grpSpPr>
          <a:xfrm>
            <a:off x="6247156" y="1923472"/>
            <a:ext cx="274320" cy="274320"/>
            <a:chOff x="4054689" y="4598336"/>
            <a:chExt cx="274320" cy="274320"/>
          </a:xfrm>
        </p:grpSpPr>
        <p:pic>
          <p:nvPicPr>
            <p:cNvPr id="64" name="Picture 63" descr="A purple circle with white circle in center&#10;&#10;Description automatically generated">
              <a:extLst>
                <a:ext uri="{FF2B5EF4-FFF2-40B4-BE49-F238E27FC236}">
                  <a16:creationId xmlns:a16="http://schemas.microsoft.com/office/drawing/2014/main" id="{5C73ABB1-AEE8-36B2-B46B-4C15BE0E90B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54689" y="4598336"/>
              <a:ext cx="274320" cy="274320"/>
            </a:xfrm>
            <a:prstGeom prst="rect">
              <a:avLst/>
            </a:prstGeom>
          </p:spPr>
        </p:pic>
        <p:pic>
          <p:nvPicPr>
            <p:cNvPr id="65" name="Picture 64" descr="A white star and a black background&#10;&#10;AI-generated content may be incorrect.">
              <a:extLst>
                <a:ext uri="{FF2B5EF4-FFF2-40B4-BE49-F238E27FC236}">
                  <a16:creationId xmlns:a16="http://schemas.microsoft.com/office/drawing/2014/main" id="{B50ADD99-A799-C110-0EF1-1857D524064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17040" y="4668980"/>
              <a:ext cx="137160" cy="137160"/>
            </a:xfrm>
            <a:prstGeom prst="rect">
              <a:avLst/>
            </a:prstGeom>
          </p:spPr>
        </p:pic>
      </p:grpSp>
      <p:grpSp>
        <p:nvGrpSpPr>
          <p:cNvPr id="66" name="Group 65">
            <a:extLst>
              <a:ext uri="{FF2B5EF4-FFF2-40B4-BE49-F238E27FC236}">
                <a16:creationId xmlns:a16="http://schemas.microsoft.com/office/drawing/2014/main" id="{2EA5A4D0-C1DC-6071-822E-5FDFD02643E4}"/>
              </a:ext>
            </a:extLst>
          </p:cNvPr>
          <p:cNvGrpSpPr/>
          <p:nvPr/>
        </p:nvGrpSpPr>
        <p:grpSpPr>
          <a:xfrm>
            <a:off x="3212806" y="4297166"/>
            <a:ext cx="274320" cy="274320"/>
            <a:chOff x="4054689" y="4598336"/>
            <a:chExt cx="274320" cy="274320"/>
          </a:xfrm>
        </p:grpSpPr>
        <p:pic>
          <p:nvPicPr>
            <p:cNvPr id="67" name="Picture 66" descr="A purple circle with white circle in center&#10;&#10;Description automatically generated">
              <a:extLst>
                <a:ext uri="{FF2B5EF4-FFF2-40B4-BE49-F238E27FC236}">
                  <a16:creationId xmlns:a16="http://schemas.microsoft.com/office/drawing/2014/main" id="{601D49A7-630A-350C-F29E-66A9A5F0F33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54689" y="4598336"/>
              <a:ext cx="274320" cy="274320"/>
            </a:xfrm>
            <a:prstGeom prst="rect">
              <a:avLst/>
            </a:prstGeom>
          </p:spPr>
        </p:pic>
        <p:pic>
          <p:nvPicPr>
            <p:cNvPr id="68" name="Picture 67" descr="A white star and a black background&#10;&#10;AI-generated content may be incorrect.">
              <a:extLst>
                <a:ext uri="{FF2B5EF4-FFF2-40B4-BE49-F238E27FC236}">
                  <a16:creationId xmlns:a16="http://schemas.microsoft.com/office/drawing/2014/main" id="{F4B257F5-4F47-1B2B-38D0-B5EBAE03177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17040" y="4668980"/>
              <a:ext cx="137160" cy="137160"/>
            </a:xfrm>
            <a:prstGeom prst="rect">
              <a:avLst/>
            </a:prstGeom>
          </p:spPr>
        </p:pic>
      </p:grpSp>
      <p:grpSp>
        <p:nvGrpSpPr>
          <p:cNvPr id="69" name="Group 68">
            <a:extLst>
              <a:ext uri="{FF2B5EF4-FFF2-40B4-BE49-F238E27FC236}">
                <a16:creationId xmlns:a16="http://schemas.microsoft.com/office/drawing/2014/main" id="{109C798B-78EF-0F6A-A9CB-3BE163883D34}"/>
              </a:ext>
            </a:extLst>
          </p:cNvPr>
          <p:cNvGrpSpPr/>
          <p:nvPr/>
        </p:nvGrpSpPr>
        <p:grpSpPr>
          <a:xfrm>
            <a:off x="597504" y="1923472"/>
            <a:ext cx="274320" cy="274320"/>
            <a:chOff x="4054689" y="4598336"/>
            <a:chExt cx="274320" cy="274320"/>
          </a:xfrm>
        </p:grpSpPr>
        <p:pic>
          <p:nvPicPr>
            <p:cNvPr id="70" name="Picture 69" descr="A purple circle with white circle in center&#10;&#10;Description automatically generated">
              <a:extLst>
                <a:ext uri="{FF2B5EF4-FFF2-40B4-BE49-F238E27FC236}">
                  <a16:creationId xmlns:a16="http://schemas.microsoft.com/office/drawing/2014/main" id="{19FA5E2C-45F7-4119-589D-8DDA0922CB5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54689" y="4598336"/>
              <a:ext cx="274320" cy="274320"/>
            </a:xfrm>
            <a:prstGeom prst="rect">
              <a:avLst/>
            </a:prstGeom>
          </p:spPr>
        </p:pic>
        <p:pic>
          <p:nvPicPr>
            <p:cNvPr id="71" name="Picture 70" descr="A white star and a black background&#10;&#10;AI-generated content may be incorrect.">
              <a:extLst>
                <a:ext uri="{FF2B5EF4-FFF2-40B4-BE49-F238E27FC236}">
                  <a16:creationId xmlns:a16="http://schemas.microsoft.com/office/drawing/2014/main" id="{E2B35275-7BC6-EF9A-8560-21B55E158D8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17040" y="4668980"/>
              <a:ext cx="137160" cy="137160"/>
            </a:xfrm>
            <a:prstGeom prst="rect">
              <a:avLst/>
            </a:prstGeom>
          </p:spPr>
        </p:pic>
      </p:grpSp>
      <p:grpSp>
        <p:nvGrpSpPr>
          <p:cNvPr id="76" name="Group 75">
            <a:extLst>
              <a:ext uri="{FF2B5EF4-FFF2-40B4-BE49-F238E27FC236}">
                <a16:creationId xmlns:a16="http://schemas.microsoft.com/office/drawing/2014/main" id="{9F1550AD-9BD4-051C-A7B9-64AD45B37ED0}"/>
              </a:ext>
            </a:extLst>
          </p:cNvPr>
          <p:cNvGrpSpPr/>
          <p:nvPr/>
        </p:nvGrpSpPr>
        <p:grpSpPr>
          <a:xfrm>
            <a:off x="9795884" y="1588336"/>
            <a:ext cx="274320" cy="274320"/>
            <a:chOff x="4054689" y="4598336"/>
            <a:chExt cx="274320" cy="274320"/>
          </a:xfrm>
        </p:grpSpPr>
        <p:pic>
          <p:nvPicPr>
            <p:cNvPr id="77" name="Picture 76" descr="A purple circle with white circle in center&#10;&#10;Description automatically generated">
              <a:extLst>
                <a:ext uri="{FF2B5EF4-FFF2-40B4-BE49-F238E27FC236}">
                  <a16:creationId xmlns:a16="http://schemas.microsoft.com/office/drawing/2014/main" id="{49E23865-7F7A-9A2F-EBD7-038E08759E0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54689" y="4598336"/>
              <a:ext cx="274320" cy="274320"/>
            </a:xfrm>
            <a:prstGeom prst="rect">
              <a:avLst/>
            </a:prstGeom>
          </p:spPr>
        </p:pic>
        <p:pic>
          <p:nvPicPr>
            <p:cNvPr id="83" name="Picture 82" descr="A white star and a black background&#10;&#10;AI-generated content may be incorrect.">
              <a:extLst>
                <a:ext uri="{FF2B5EF4-FFF2-40B4-BE49-F238E27FC236}">
                  <a16:creationId xmlns:a16="http://schemas.microsoft.com/office/drawing/2014/main" id="{D3A1058F-5352-25C0-7C7E-EA2CF61A902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17040" y="4668980"/>
              <a:ext cx="137160" cy="137160"/>
            </a:xfrm>
            <a:prstGeom prst="rect">
              <a:avLst/>
            </a:prstGeom>
          </p:spPr>
        </p:pic>
      </p:grpSp>
      <p:sp>
        <p:nvSpPr>
          <p:cNvPr id="84" name="TextBox 83">
            <a:extLst>
              <a:ext uri="{FF2B5EF4-FFF2-40B4-BE49-F238E27FC236}">
                <a16:creationId xmlns:a16="http://schemas.microsoft.com/office/drawing/2014/main" id="{2F25592E-89D3-DA45-B7B5-2FEAA59637E0}"/>
              </a:ext>
            </a:extLst>
          </p:cNvPr>
          <p:cNvSpPr txBox="1"/>
          <p:nvPr/>
        </p:nvSpPr>
        <p:spPr>
          <a:xfrm>
            <a:off x="3277677" y="5004805"/>
            <a:ext cx="5652968" cy="553998"/>
          </a:xfrm>
          <a:prstGeom prst="rect">
            <a:avLst/>
          </a:prstGeom>
          <a:noFill/>
        </p:spPr>
        <p:txBody>
          <a:bodyPr wrap="square" lIns="0" tIns="0" rIns="0" bIns="0" rtlCol="0">
            <a:spAutoFit/>
          </a:bodyPr>
          <a:lstStyle/>
          <a:p>
            <a:r>
              <a:rPr lang="en-US" sz="1200"/>
              <a:t>Statistical pattern-based outlier detection and frequency-based models optimized for high-volume data, enabling efficient identification of </a:t>
            </a:r>
            <a:r>
              <a:rPr lang="en-US" sz="1200" b="1"/>
              <a:t>Data Quality </a:t>
            </a:r>
            <a:r>
              <a:rPr lang="en-US" sz="1200"/>
              <a:t>issues across large data without compromising performance.</a:t>
            </a:r>
            <a:endParaRPr lang="en-GB" sz="1200">
              <a:latin typeface="Calibri Light" charset="0"/>
              <a:ea typeface="Calibri Light" charset="0"/>
              <a:cs typeface="Calibri Light" charset="0"/>
            </a:endParaRPr>
          </a:p>
        </p:txBody>
      </p:sp>
      <p:sp>
        <p:nvSpPr>
          <p:cNvPr id="85" name="TextBox 84">
            <a:extLst>
              <a:ext uri="{FF2B5EF4-FFF2-40B4-BE49-F238E27FC236}">
                <a16:creationId xmlns:a16="http://schemas.microsoft.com/office/drawing/2014/main" id="{4A1225D2-CF2E-9FF6-86FA-4CBA7CAE4781}"/>
              </a:ext>
            </a:extLst>
          </p:cNvPr>
          <p:cNvSpPr txBox="1"/>
          <p:nvPr/>
        </p:nvSpPr>
        <p:spPr>
          <a:xfrm>
            <a:off x="3192486" y="3026572"/>
            <a:ext cx="1828800" cy="1107996"/>
          </a:xfrm>
          <a:prstGeom prst="rect">
            <a:avLst/>
          </a:prstGeom>
          <a:noFill/>
        </p:spPr>
        <p:txBody>
          <a:bodyPr wrap="square" lIns="0" tIns="0" rIns="0" bIns="0" rtlCol="0">
            <a:spAutoFit/>
          </a:bodyPr>
          <a:lstStyle/>
          <a:p>
            <a:pPr algn="just"/>
            <a:r>
              <a:rPr lang="en-US" sz="1200"/>
              <a:t>Supervised learning on labeled data to predict target attributes, scaled with high-performance algorithms like </a:t>
            </a:r>
            <a:r>
              <a:rPr lang="en-US" sz="1200" err="1"/>
              <a:t>XGBoost</a:t>
            </a:r>
            <a:r>
              <a:rPr lang="en-US" sz="1200"/>
              <a:t> and lightweight language models</a:t>
            </a:r>
            <a:endParaRPr lang="en-GB" sz="1200"/>
          </a:p>
        </p:txBody>
      </p:sp>
      <p:sp>
        <p:nvSpPr>
          <p:cNvPr id="86" name="TextBox 85">
            <a:extLst>
              <a:ext uri="{FF2B5EF4-FFF2-40B4-BE49-F238E27FC236}">
                <a16:creationId xmlns:a16="http://schemas.microsoft.com/office/drawing/2014/main" id="{7D021949-4A39-16CD-32D4-E05A5A001AB9}"/>
              </a:ext>
            </a:extLst>
          </p:cNvPr>
          <p:cNvSpPr txBox="1"/>
          <p:nvPr/>
        </p:nvSpPr>
        <p:spPr>
          <a:xfrm>
            <a:off x="5189761" y="2827131"/>
            <a:ext cx="1828800" cy="184666"/>
          </a:xfrm>
          <a:prstGeom prst="rect">
            <a:avLst/>
          </a:prstGeom>
          <a:noFill/>
        </p:spPr>
        <p:txBody>
          <a:bodyPr wrap="square" lIns="0" tIns="0" rIns="0" bIns="0" rtlCol="0" anchor="ctr">
            <a:spAutoFit/>
          </a:bodyPr>
          <a:lstStyle/>
          <a:p>
            <a:pPr algn="ctr"/>
            <a:r>
              <a:rPr lang="en-US" sz="1200" b="1">
                <a:latin typeface="Aptos" panose="020B0004020202020204" pitchFamily="34" charset="0"/>
              </a:rPr>
              <a:t>Text Processing</a:t>
            </a:r>
          </a:p>
        </p:txBody>
      </p:sp>
      <p:sp>
        <p:nvSpPr>
          <p:cNvPr id="87" name="TextBox 86">
            <a:extLst>
              <a:ext uri="{FF2B5EF4-FFF2-40B4-BE49-F238E27FC236}">
                <a16:creationId xmlns:a16="http://schemas.microsoft.com/office/drawing/2014/main" id="{EF23409C-F585-44F0-9EF1-73BFF042A398}"/>
              </a:ext>
            </a:extLst>
          </p:cNvPr>
          <p:cNvSpPr txBox="1"/>
          <p:nvPr/>
        </p:nvSpPr>
        <p:spPr>
          <a:xfrm>
            <a:off x="5189761" y="3028690"/>
            <a:ext cx="1828800" cy="923330"/>
          </a:xfrm>
          <a:prstGeom prst="rect">
            <a:avLst/>
          </a:prstGeom>
          <a:noFill/>
        </p:spPr>
        <p:txBody>
          <a:bodyPr wrap="square" lIns="0" tIns="0" rIns="0" bIns="0" rtlCol="0">
            <a:spAutoFit/>
          </a:bodyPr>
          <a:lstStyle/>
          <a:p>
            <a:pPr algn="just"/>
            <a:r>
              <a:rPr lang="en-US" sz="1200"/>
              <a:t>Fuzzy matching algorithms to extract entity information from raw text and normalize it into a consistent format across the knowledge graph.</a:t>
            </a:r>
            <a:endParaRPr lang="en-GB" sz="1200"/>
          </a:p>
        </p:txBody>
      </p:sp>
      <p:sp>
        <p:nvSpPr>
          <p:cNvPr id="97" name="TextBox 96">
            <a:extLst>
              <a:ext uri="{FF2B5EF4-FFF2-40B4-BE49-F238E27FC236}">
                <a16:creationId xmlns:a16="http://schemas.microsoft.com/office/drawing/2014/main" id="{7357B668-6C5F-4198-1CFB-2DC1C7EC13AA}"/>
              </a:ext>
            </a:extLst>
          </p:cNvPr>
          <p:cNvSpPr txBox="1"/>
          <p:nvPr/>
        </p:nvSpPr>
        <p:spPr>
          <a:xfrm>
            <a:off x="436392" y="2564802"/>
            <a:ext cx="2242548" cy="923330"/>
          </a:xfrm>
          <a:prstGeom prst="rect">
            <a:avLst/>
          </a:prstGeom>
          <a:noFill/>
        </p:spPr>
        <p:txBody>
          <a:bodyPr wrap="square" lIns="0" tIns="0" rIns="0" bIns="0" rtlCol="0">
            <a:spAutoFit/>
          </a:bodyPr>
          <a:lstStyle/>
          <a:p>
            <a:pPr algn="just"/>
            <a:r>
              <a:rPr lang="en-US" sz="1200" b="1"/>
              <a:t>AnyConnect</a:t>
            </a:r>
            <a:r>
              <a:rPr lang="en-US" sz="1200"/>
              <a:t> Uses a combination of </a:t>
            </a:r>
            <a:r>
              <a:rPr lang="en-US" sz="1200" b="1"/>
              <a:t>LLMs</a:t>
            </a:r>
            <a:r>
              <a:rPr lang="en-US" sz="1200"/>
              <a:t> and proprietary algorithms to search for public documentations of vendor tools and auto-generate integrations </a:t>
            </a:r>
            <a:endParaRPr lang="en-GB" sz="1200"/>
          </a:p>
        </p:txBody>
      </p:sp>
      <p:sp>
        <p:nvSpPr>
          <p:cNvPr id="99" name="TextBox 98">
            <a:extLst>
              <a:ext uri="{FF2B5EF4-FFF2-40B4-BE49-F238E27FC236}">
                <a16:creationId xmlns:a16="http://schemas.microsoft.com/office/drawing/2014/main" id="{14933F35-4F1D-4341-E5CF-28143F765547}"/>
              </a:ext>
            </a:extLst>
          </p:cNvPr>
          <p:cNvSpPr txBox="1"/>
          <p:nvPr/>
        </p:nvSpPr>
        <p:spPr>
          <a:xfrm>
            <a:off x="3192486" y="2827131"/>
            <a:ext cx="1828800" cy="184666"/>
          </a:xfrm>
          <a:prstGeom prst="rect">
            <a:avLst/>
          </a:prstGeom>
          <a:noFill/>
        </p:spPr>
        <p:txBody>
          <a:bodyPr wrap="square" lIns="0" tIns="0" rIns="0" bIns="0" rtlCol="0" anchor="ctr">
            <a:spAutoFit/>
          </a:bodyPr>
          <a:lstStyle/>
          <a:p>
            <a:pPr algn="ctr"/>
            <a:r>
              <a:rPr lang="en-US" sz="1200" b="1">
                <a:latin typeface="Aptos" panose="020B0004020202020204" pitchFamily="34" charset="0"/>
              </a:rPr>
              <a:t>Machine Learning</a:t>
            </a:r>
          </a:p>
        </p:txBody>
      </p:sp>
      <p:sp>
        <p:nvSpPr>
          <p:cNvPr id="101" name="TextBox 100">
            <a:extLst>
              <a:ext uri="{FF2B5EF4-FFF2-40B4-BE49-F238E27FC236}">
                <a16:creationId xmlns:a16="http://schemas.microsoft.com/office/drawing/2014/main" id="{26493E41-9358-DCEF-3DFC-0FCA60AF2881}"/>
              </a:ext>
            </a:extLst>
          </p:cNvPr>
          <p:cNvSpPr txBox="1"/>
          <p:nvPr/>
        </p:nvSpPr>
        <p:spPr>
          <a:xfrm>
            <a:off x="7187037" y="2827131"/>
            <a:ext cx="1828800" cy="184666"/>
          </a:xfrm>
          <a:prstGeom prst="rect">
            <a:avLst/>
          </a:prstGeom>
          <a:noFill/>
        </p:spPr>
        <p:txBody>
          <a:bodyPr wrap="square" lIns="0" tIns="0" rIns="0" bIns="0" rtlCol="0" anchor="ctr">
            <a:spAutoFit/>
          </a:bodyPr>
          <a:lstStyle/>
          <a:p>
            <a:pPr algn="ctr"/>
            <a:r>
              <a:rPr lang="en-US" sz="1200" b="1">
                <a:latin typeface="Aptos" panose="020B0004020202020204" pitchFamily="34" charset="0"/>
              </a:rPr>
              <a:t>Stat modelling &amp; Gen AI</a:t>
            </a:r>
          </a:p>
        </p:txBody>
      </p:sp>
      <p:sp>
        <p:nvSpPr>
          <p:cNvPr id="106" name="TextBox 105">
            <a:extLst>
              <a:ext uri="{FF2B5EF4-FFF2-40B4-BE49-F238E27FC236}">
                <a16:creationId xmlns:a16="http://schemas.microsoft.com/office/drawing/2014/main" id="{E62F8DBF-F894-62D8-BB41-47A79A33C0D5}"/>
              </a:ext>
            </a:extLst>
          </p:cNvPr>
          <p:cNvSpPr txBox="1"/>
          <p:nvPr/>
        </p:nvSpPr>
        <p:spPr>
          <a:xfrm>
            <a:off x="7187036" y="3030633"/>
            <a:ext cx="1828800" cy="1107996"/>
          </a:xfrm>
          <a:prstGeom prst="rect">
            <a:avLst/>
          </a:prstGeom>
          <a:noFill/>
        </p:spPr>
        <p:txBody>
          <a:bodyPr wrap="square" lIns="0" tIns="0" rIns="0" bIns="0" rtlCol="0">
            <a:spAutoFit/>
          </a:bodyPr>
          <a:lstStyle/>
          <a:p>
            <a:pPr algn="just"/>
            <a:r>
              <a:rPr lang="en-US" sz="1200"/>
              <a:t>Combination of Statistical modelling and Generative AI used to identify candidate keys for matching and merging disjoint entities via the graph algorithm.</a:t>
            </a:r>
            <a:endParaRPr lang="en-GB" sz="1200"/>
          </a:p>
        </p:txBody>
      </p:sp>
      <p:sp>
        <p:nvSpPr>
          <p:cNvPr id="107" name="TextBox 106">
            <a:extLst>
              <a:ext uri="{FF2B5EF4-FFF2-40B4-BE49-F238E27FC236}">
                <a16:creationId xmlns:a16="http://schemas.microsoft.com/office/drawing/2014/main" id="{F6A54697-C225-D4B0-155A-C786E66F968E}"/>
              </a:ext>
            </a:extLst>
          </p:cNvPr>
          <p:cNvSpPr txBox="1"/>
          <p:nvPr/>
        </p:nvSpPr>
        <p:spPr>
          <a:xfrm>
            <a:off x="3135133" y="2569927"/>
            <a:ext cx="5880703" cy="184666"/>
          </a:xfrm>
          <a:prstGeom prst="rect">
            <a:avLst/>
          </a:prstGeom>
          <a:noFill/>
        </p:spPr>
        <p:txBody>
          <a:bodyPr wrap="square" lIns="0" tIns="0" rIns="0" bIns="0" rtlCol="0">
            <a:spAutoFit/>
          </a:bodyPr>
          <a:lstStyle/>
          <a:p>
            <a:pPr algn="ctr"/>
            <a:r>
              <a:rPr lang="en-US" sz="1200"/>
              <a:t>A variety of techniques to automate various stages of the Knowledge Graph build process</a:t>
            </a:r>
            <a:endParaRPr lang="en-GB" sz="1200"/>
          </a:p>
        </p:txBody>
      </p:sp>
      <p:sp>
        <p:nvSpPr>
          <p:cNvPr id="110" name="TextBox 109">
            <a:extLst>
              <a:ext uri="{FF2B5EF4-FFF2-40B4-BE49-F238E27FC236}">
                <a16:creationId xmlns:a16="http://schemas.microsoft.com/office/drawing/2014/main" id="{0174F072-74D7-F144-5A23-DE25BBDC7E32}"/>
              </a:ext>
            </a:extLst>
          </p:cNvPr>
          <p:cNvSpPr txBox="1"/>
          <p:nvPr/>
        </p:nvSpPr>
        <p:spPr>
          <a:xfrm>
            <a:off x="9447017" y="2193523"/>
            <a:ext cx="2308591" cy="1477328"/>
          </a:xfrm>
          <a:prstGeom prst="rect">
            <a:avLst/>
          </a:prstGeom>
          <a:noFill/>
        </p:spPr>
        <p:txBody>
          <a:bodyPr wrap="square" lIns="0" tIns="0" rIns="0" bIns="0" rtlCol="0">
            <a:spAutoFit/>
          </a:bodyPr>
          <a:lstStyle/>
          <a:p>
            <a:pPr algn="just"/>
            <a:r>
              <a:rPr lang="en-US" sz="1200" b="1"/>
              <a:t>Navigator</a:t>
            </a:r>
            <a:r>
              <a:rPr lang="en-US" sz="1200"/>
              <a:t> uses Large Language Models combined with agentic architecture and proprietary algorithms in automating manual tasks as well as in extracting relevant content or translating complex queries into knowledge graph representations.</a:t>
            </a:r>
            <a:endParaRPr lang="en-GB" sz="1200"/>
          </a:p>
        </p:txBody>
      </p:sp>
    </p:spTree>
    <p:extLst>
      <p:ext uri="{BB962C8B-B14F-4D97-AF65-F5344CB8AC3E}">
        <p14:creationId xmlns:p14="http://schemas.microsoft.com/office/powerpoint/2010/main" val="4052102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D2DBC-7E02-5175-E07F-795531C67630}"/>
            </a:ext>
          </a:extLst>
        </p:cNvPr>
        <p:cNvGrpSpPr/>
        <p:nvPr/>
      </p:nvGrpSpPr>
      <p:grpSpPr>
        <a:xfrm>
          <a:off x="0" y="0"/>
          <a:ext cx="0" cy="0"/>
          <a:chOff x="0" y="0"/>
          <a:chExt cx="0" cy="0"/>
        </a:xfrm>
      </p:grpSpPr>
      <p:cxnSp>
        <p:nvCxnSpPr>
          <p:cNvPr id="108" name="Straight Arrow Connector 107">
            <a:extLst>
              <a:ext uri="{FF2B5EF4-FFF2-40B4-BE49-F238E27FC236}">
                <a16:creationId xmlns:a16="http://schemas.microsoft.com/office/drawing/2014/main" id="{32F65DCF-2184-DD3E-3DF9-93CD0EF473CF}"/>
              </a:ext>
            </a:extLst>
          </p:cNvPr>
          <p:cNvCxnSpPr>
            <a:cxnSpLocks/>
          </p:cNvCxnSpPr>
          <p:nvPr/>
        </p:nvCxnSpPr>
        <p:spPr>
          <a:xfrm>
            <a:off x="8497809" y="1942340"/>
            <a:ext cx="8666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ounded Rectangle 17">
            <a:extLst>
              <a:ext uri="{FF2B5EF4-FFF2-40B4-BE49-F238E27FC236}">
                <a16:creationId xmlns:a16="http://schemas.microsoft.com/office/drawing/2014/main" id="{59F6684B-8A87-A777-FB38-6D1C841AF7F2}"/>
              </a:ext>
            </a:extLst>
          </p:cNvPr>
          <p:cNvSpPr>
            <a:spLocks/>
          </p:cNvSpPr>
          <p:nvPr/>
        </p:nvSpPr>
        <p:spPr>
          <a:xfrm>
            <a:off x="3765265" y="1556474"/>
            <a:ext cx="2590650" cy="771731"/>
          </a:xfrm>
          <a:prstGeom prst="roundRect">
            <a:avLst>
              <a:gd name="adj" fmla="val 9262"/>
            </a:avLst>
          </a:prstGeom>
          <a:solidFill>
            <a:schemeClr val="bg1">
              <a:lumMod val="95000"/>
            </a:schemeClr>
          </a:solidFill>
          <a:ln w="3175">
            <a:noFill/>
            <a:prstDash val="dash"/>
          </a:ln>
          <a:effectLst>
            <a:glow rad="101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630">
              <a:solidFill>
                <a:schemeClr val="tx2">
                  <a:lumMod val="85000"/>
                  <a:lumOff val="15000"/>
                </a:schemeClr>
              </a:solidFill>
              <a:latin typeface="Calibri" panose="020F0502020204030204" pitchFamily="34" charset="0"/>
              <a:cs typeface="Calibri" panose="020F0502020204030204" pitchFamily="34" charset="0"/>
            </a:endParaRPr>
          </a:p>
        </p:txBody>
      </p:sp>
      <p:sp>
        <p:nvSpPr>
          <p:cNvPr id="94" name="Rectangle: Rounded Corners 42">
            <a:extLst>
              <a:ext uri="{FF2B5EF4-FFF2-40B4-BE49-F238E27FC236}">
                <a16:creationId xmlns:a16="http://schemas.microsoft.com/office/drawing/2014/main" id="{1FC39050-9C3F-7B6B-EA77-898D73CAFF59}"/>
              </a:ext>
            </a:extLst>
          </p:cNvPr>
          <p:cNvSpPr>
            <a:spLocks/>
          </p:cNvSpPr>
          <p:nvPr/>
        </p:nvSpPr>
        <p:spPr>
          <a:xfrm>
            <a:off x="5060591" y="1550756"/>
            <a:ext cx="1304699" cy="777449"/>
          </a:xfrm>
          <a:prstGeom prst="roundRect">
            <a:avLst>
              <a:gd name="adj" fmla="val 7846"/>
            </a:avLst>
          </a:prstGeom>
          <a:solidFill>
            <a:srgbClr val="B3DCC2"/>
          </a:solidFill>
          <a:ln>
            <a:solidFill>
              <a:srgbClr val="F5EFFB"/>
            </a:solidFill>
          </a:ln>
        </p:spPr>
        <p:style>
          <a:lnRef idx="2">
            <a:schemeClr val="accent2">
              <a:shade val="50000"/>
            </a:schemeClr>
          </a:lnRef>
          <a:fillRef idx="1">
            <a:schemeClr val="accent2"/>
          </a:fillRef>
          <a:effectRef idx="0">
            <a:schemeClr val="accent2"/>
          </a:effectRef>
          <a:fontRef idx="minor">
            <a:schemeClr val="lt1"/>
          </a:fontRef>
        </p:style>
        <p:txBody>
          <a:bodyPr lIns="51995" tIns="25997" rIns="51995" bIns="25997" rtlCol="0" anchor="ctr"/>
          <a:lstStyle/>
          <a:p>
            <a:pPr algn="ctr"/>
            <a:endParaRPr lang="en-US" sz="486">
              <a:solidFill>
                <a:schemeClr val="tx1"/>
              </a:solidFill>
              <a:cs typeface="Calibri"/>
            </a:endParaRPr>
          </a:p>
        </p:txBody>
      </p:sp>
      <p:cxnSp>
        <p:nvCxnSpPr>
          <p:cNvPr id="19" name="Straight Arrow Connector 18">
            <a:extLst>
              <a:ext uri="{FF2B5EF4-FFF2-40B4-BE49-F238E27FC236}">
                <a16:creationId xmlns:a16="http://schemas.microsoft.com/office/drawing/2014/main" id="{9BA86342-9C97-AFA5-981B-06E5631BFE7E}"/>
              </a:ext>
            </a:extLst>
          </p:cNvPr>
          <p:cNvCxnSpPr>
            <a:cxnSpLocks/>
          </p:cNvCxnSpPr>
          <p:nvPr/>
        </p:nvCxnSpPr>
        <p:spPr>
          <a:xfrm>
            <a:off x="2372127" y="1942340"/>
            <a:ext cx="13931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2" name="Picture 31" descr="A black and white rectangle with a black border&#10;&#10;AI-generated content may be incorrect.">
            <a:extLst>
              <a:ext uri="{FF2B5EF4-FFF2-40B4-BE49-F238E27FC236}">
                <a16:creationId xmlns:a16="http://schemas.microsoft.com/office/drawing/2014/main" id="{6EBF05D2-5A85-C162-7E5B-E107D3A4F8BF}"/>
              </a:ext>
            </a:extLst>
          </p:cNvPr>
          <p:cNvPicPr>
            <a:picLocks noChangeAspect="1"/>
          </p:cNvPicPr>
          <p:nvPr/>
        </p:nvPicPr>
        <p:blipFill>
          <a:blip r:embed="rId2"/>
          <a:stretch>
            <a:fillRect/>
          </a:stretch>
        </p:blipFill>
        <p:spPr>
          <a:xfrm>
            <a:off x="3750073" y="2867326"/>
            <a:ext cx="2638900" cy="771709"/>
          </a:xfrm>
          <a:prstGeom prst="rect">
            <a:avLst/>
          </a:prstGeom>
        </p:spPr>
      </p:pic>
      <p:pic>
        <p:nvPicPr>
          <p:cNvPr id="33" name="Picture 32" descr="A purple rectangular object with a purple border&#10;&#10;AI-generated content may be incorrect.">
            <a:extLst>
              <a:ext uri="{FF2B5EF4-FFF2-40B4-BE49-F238E27FC236}">
                <a16:creationId xmlns:a16="http://schemas.microsoft.com/office/drawing/2014/main" id="{F71DEA6F-D508-8900-8C70-D7DD77D17B94}"/>
              </a:ext>
            </a:extLst>
          </p:cNvPr>
          <p:cNvPicPr>
            <a:picLocks noChangeAspect="1"/>
          </p:cNvPicPr>
          <p:nvPr/>
        </p:nvPicPr>
        <p:blipFill>
          <a:blip r:embed="rId3"/>
          <a:stretch>
            <a:fillRect/>
          </a:stretch>
        </p:blipFill>
        <p:spPr>
          <a:xfrm>
            <a:off x="3101810" y="5362767"/>
            <a:ext cx="1199213" cy="498593"/>
          </a:xfrm>
          <a:prstGeom prst="rect">
            <a:avLst/>
          </a:prstGeom>
        </p:spPr>
      </p:pic>
      <p:sp>
        <p:nvSpPr>
          <p:cNvPr id="34" name="TextBox 33">
            <a:extLst>
              <a:ext uri="{FF2B5EF4-FFF2-40B4-BE49-F238E27FC236}">
                <a16:creationId xmlns:a16="http://schemas.microsoft.com/office/drawing/2014/main" id="{521F6AF5-A670-3F9A-A825-581A3B274C80}"/>
              </a:ext>
            </a:extLst>
          </p:cNvPr>
          <p:cNvSpPr txBox="1"/>
          <p:nvPr/>
        </p:nvSpPr>
        <p:spPr>
          <a:xfrm>
            <a:off x="3048946" y="5430504"/>
            <a:ext cx="1335506" cy="369332"/>
          </a:xfrm>
          <a:prstGeom prst="rect">
            <a:avLst/>
          </a:prstGeom>
          <a:noFill/>
        </p:spPr>
        <p:txBody>
          <a:bodyPr wrap="square">
            <a:spAutoFit/>
          </a:bodyPr>
          <a:lstStyle/>
          <a:p>
            <a:pPr algn="ctr"/>
            <a:r>
              <a:rPr lang="en-US" sz="900">
                <a:cs typeface="Calibri"/>
              </a:rPr>
              <a:t>RAG using Vector Databases</a:t>
            </a:r>
          </a:p>
        </p:txBody>
      </p:sp>
      <p:pic>
        <p:nvPicPr>
          <p:cNvPr id="35" name="Picture 34" descr="A purple rectangular object with a purple border&#10;&#10;AI-generated content may be incorrect.">
            <a:extLst>
              <a:ext uri="{FF2B5EF4-FFF2-40B4-BE49-F238E27FC236}">
                <a16:creationId xmlns:a16="http://schemas.microsoft.com/office/drawing/2014/main" id="{F78B2844-F93D-2D74-69BC-ACFCFB5B0D76}"/>
              </a:ext>
            </a:extLst>
          </p:cNvPr>
          <p:cNvPicPr>
            <a:picLocks noChangeAspect="1"/>
          </p:cNvPicPr>
          <p:nvPr/>
        </p:nvPicPr>
        <p:blipFill>
          <a:blip r:embed="rId3"/>
          <a:stretch>
            <a:fillRect/>
          </a:stretch>
        </p:blipFill>
        <p:spPr>
          <a:xfrm>
            <a:off x="4447281" y="5362767"/>
            <a:ext cx="1199213" cy="498593"/>
          </a:xfrm>
          <a:prstGeom prst="rect">
            <a:avLst/>
          </a:prstGeom>
        </p:spPr>
      </p:pic>
      <p:sp>
        <p:nvSpPr>
          <p:cNvPr id="38" name="TextBox 37">
            <a:extLst>
              <a:ext uri="{FF2B5EF4-FFF2-40B4-BE49-F238E27FC236}">
                <a16:creationId xmlns:a16="http://schemas.microsoft.com/office/drawing/2014/main" id="{A65FB5F3-90A4-55B3-1DAA-5C2032A8A399}"/>
              </a:ext>
            </a:extLst>
          </p:cNvPr>
          <p:cNvSpPr txBox="1"/>
          <p:nvPr/>
        </p:nvSpPr>
        <p:spPr>
          <a:xfrm>
            <a:off x="4405394" y="5368479"/>
            <a:ext cx="1335506" cy="507831"/>
          </a:xfrm>
          <a:prstGeom prst="rect">
            <a:avLst/>
          </a:prstGeom>
          <a:noFill/>
        </p:spPr>
        <p:txBody>
          <a:bodyPr wrap="square">
            <a:spAutoFit/>
          </a:bodyPr>
          <a:lstStyle/>
          <a:p>
            <a:pPr algn="ctr"/>
            <a:r>
              <a:rPr lang="en-US" sz="900">
                <a:cs typeface="Calibri"/>
              </a:rPr>
              <a:t>Agents with Cyber Knowledge Graph Metadata</a:t>
            </a:r>
          </a:p>
        </p:txBody>
      </p:sp>
      <p:pic>
        <p:nvPicPr>
          <p:cNvPr id="41" name="Picture 40" descr="A purple rectangular object with a purple border&#10;&#10;AI-generated content may be incorrect.">
            <a:extLst>
              <a:ext uri="{FF2B5EF4-FFF2-40B4-BE49-F238E27FC236}">
                <a16:creationId xmlns:a16="http://schemas.microsoft.com/office/drawing/2014/main" id="{1A1FDAF2-B1B5-63B6-AE7F-9BE9706EF5A8}"/>
              </a:ext>
            </a:extLst>
          </p:cNvPr>
          <p:cNvPicPr>
            <a:picLocks noChangeAspect="1"/>
          </p:cNvPicPr>
          <p:nvPr/>
        </p:nvPicPr>
        <p:blipFill>
          <a:blip r:embed="rId3"/>
          <a:stretch>
            <a:fillRect/>
          </a:stretch>
        </p:blipFill>
        <p:spPr>
          <a:xfrm>
            <a:off x="5807451" y="5362767"/>
            <a:ext cx="1199213" cy="498593"/>
          </a:xfrm>
          <a:prstGeom prst="rect">
            <a:avLst/>
          </a:prstGeom>
        </p:spPr>
      </p:pic>
      <p:sp>
        <p:nvSpPr>
          <p:cNvPr id="44" name="TextBox 43">
            <a:extLst>
              <a:ext uri="{FF2B5EF4-FFF2-40B4-BE49-F238E27FC236}">
                <a16:creationId xmlns:a16="http://schemas.microsoft.com/office/drawing/2014/main" id="{DF0FEBEF-6D8F-15D4-9F42-8CB454DB7D0C}"/>
              </a:ext>
            </a:extLst>
          </p:cNvPr>
          <p:cNvSpPr txBox="1"/>
          <p:nvPr/>
        </p:nvSpPr>
        <p:spPr>
          <a:xfrm>
            <a:off x="5740901" y="5430504"/>
            <a:ext cx="1335506" cy="369332"/>
          </a:xfrm>
          <a:prstGeom prst="rect">
            <a:avLst/>
          </a:prstGeom>
          <a:noFill/>
        </p:spPr>
        <p:txBody>
          <a:bodyPr wrap="square">
            <a:spAutoFit/>
          </a:bodyPr>
          <a:lstStyle/>
          <a:p>
            <a:pPr algn="ctr"/>
            <a:r>
              <a:rPr lang="en-US" sz="900">
                <a:cs typeface="Calibri"/>
              </a:rPr>
              <a:t>Prompt Engineered Models</a:t>
            </a:r>
          </a:p>
        </p:txBody>
      </p:sp>
      <p:cxnSp>
        <p:nvCxnSpPr>
          <p:cNvPr id="45" name="Straight Arrow Connector 44">
            <a:extLst>
              <a:ext uri="{FF2B5EF4-FFF2-40B4-BE49-F238E27FC236}">
                <a16:creationId xmlns:a16="http://schemas.microsoft.com/office/drawing/2014/main" id="{238DE8CE-BCCD-46EA-EC6C-F588A09C96CE}"/>
              </a:ext>
            </a:extLst>
          </p:cNvPr>
          <p:cNvCxnSpPr>
            <a:cxnSpLocks/>
            <a:endCxn id="32" idx="0"/>
          </p:cNvCxnSpPr>
          <p:nvPr/>
        </p:nvCxnSpPr>
        <p:spPr>
          <a:xfrm>
            <a:off x="5060590" y="2328205"/>
            <a:ext cx="8933" cy="539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Elbow Connector 64">
            <a:extLst>
              <a:ext uri="{FF2B5EF4-FFF2-40B4-BE49-F238E27FC236}">
                <a16:creationId xmlns:a16="http://schemas.microsoft.com/office/drawing/2014/main" id="{B15982F2-1F4F-8523-AD49-1877D61F6138}"/>
              </a:ext>
            </a:extLst>
          </p:cNvPr>
          <p:cNvCxnSpPr>
            <a:cxnSpLocks/>
            <a:endCxn id="41" idx="0"/>
          </p:cNvCxnSpPr>
          <p:nvPr/>
        </p:nvCxnSpPr>
        <p:spPr>
          <a:xfrm rot="16200000" flipH="1">
            <a:off x="5416432" y="4372141"/>
            <a:ext cx="624298" cy="1356953"/>
          </a:xfrm>
          <a:prstGeom prst="bentConnector3">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7" name="Elbow Connector 66">
            <a:extLst>
              <a:ext uri="{FF2B5EF4-FFF2-40B4-BE49-F238E27FC236}">
                <a16:creationId xmlns:a16="http://schemas.microsoft.com/office/drawing/2014/main" id="{E6F3F912-089F-7E5E-4CF5-B65D729262AF}"/>
              </a:ext>
            </a:extLst>
          </p:cNvPr>
          <p:cNvCxnSpPr>
            <a:cxnSpLocks/>
            <a:endCxn id="35" idx="0"/>
          </p:cNvCxnSpPr>
          <p:nvPr/>
        </p:nvCxnSpPr>
        <p:spPr>
          <a:xfrm rot="5400000">
            <a:off x="4736348" y="5049011"/>
            <a:ext cx="624298" cy="3217"/>
          </a:xfrm>
          <a:prstGeom prst="bentConnector3">
            <a:avLst>
              <a:gd name="adj1" fmla="val 50000"/>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0" name="Elbow Connector 69">
            <a:extLst>
              <a:ext uri="{FF2B5EF4-FFF2-40B4-BE49-F238E27FC236}">
                <a16:creationId xmlns:a16="http://schemas.microsoft.com/office/drawing/2014/main" id="{C47A989E-022C-6CDF-9305-8C9032D28D93}"/>
              </a:ext>
            </a:extLst>
          </p:cNvPr>
          <p:cNvCxnSpPr>
            <a:cxnSpLocks/>
            <a:endCxn id="33" idx="0"/>
          </p:cNvCxnSpPr>
          <p:nvPr/>
        </p:nvCxnSpPr>
        <p:spPr>
          <a:xfrm rot="5400000">
            <a:off x="4063612" y="4376273"/>
            <a:ext cx="624298" cy="1348690"/>
          </a:xfrm>
          <a:prstGeom prst="bentConnector3">
            <a:avLst>
              <a:gd name="adj1" fmla="val 50000"/>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79" name="Picture 78" descr="A black and white rectangle&#10;&#10;AI-generated content may be incorrect.">
            <a:extLst>
              <a:ext uri="{FF2B5EF4-FFF2-40B4-BE49-F238E27FC236}">
                <a16:creationId xmlns:a16="http://schemas.microsoft.com/office/drawing/2014/main" id="{E438165B-3880-0147-B5A1-55621BFB1058}"/>
              </a:ext>
            </a:extLst>
          </p:cNvPr>
          <p:cNvPicPr>
            <a:picLocks noChangeAspect="1"/>
          </p:cNvPicPr>
          <p:nvPr/>
        </p:nvPicPr>
        <p:blipFill>
          <a:blip r:embed="rId4"/>
          <a:stretch>
            <a:fillRect/>
          </a:stretch>
        </p:blipFill>
        <p:spPr>
          <a:xfrm>
            <a:off x="1344337" y="1603642"/>
            <a:ext cx="1679080" cy="702268"/>
          </a:xfrm>
          <a:prstGeom prst="rect">
            <a:avLst/>
          </a:prstGeom>
        </p:spPr>
      </p:pic>
      <p:sp>
        <p:nvSpPr>
          <p:cNvPr id="80" name="TextBox 79">
            <a:extLst>
              <a:ext uri="{FF2B5EF4-FFF2-40B4-BE49-F238E27FC236}">
                <a16:creationId xmlns:a16="http://schemas.microsoft.com/office/drawing/2014/main" id="{455A9C3A-2CFD-15D7-D6A9-B1DA02830726}"/>
              </a:ext>
            </a:extLst>
          </p:cNvPr>
          <p:cNvSpPr txBox="1"/>
          <p:nvPr/>
        </p:nvSpPr>
        <p:spPr>
          <a:xfrm>
            <a:off x="1462466" y="1753604"/>
            <a:ext cx="1103425" cy="369332"/>
          </a:xfrm>
          <a:prstGeom prst="rect">
            <a:avLst/>
          </a:prstGeom>
          <a:noFill/>
        </p:spPr>
        <p:txBody>
          <a:bodyPr wrap="square">
            <a:spAutoFit/>
          </a:bodyPr>
          <a:lstStyle/>
          <a:p>
            <a:pPr algn="ctr"/>
            <a:r>
              <a:rPr lang="en-US" sz="900" b="1">
                <a:cs typeface="Calibri"/>
              </a:rPr>
              <a:t>Natural Language Prompt</a:t>
            </a:r>
          </a:p>
        </p:txBody>
      </p:sp>
      <p:sp>
        <p:nvSpPr>
          <p:cNvPr id="81" name="TextBox 80">
            <a:extLst>
              <a:ext uri="{FF2B5EF4-FFF2-40B4-BE49-F238E27FC236}">
                <a16:creationId xmlns:a16="http://schemas.microsoft.com/office/drawing/2014/main" id="{5BA0E5A6-9499-088C-50F5-09AEB4B403DA}"/>
              </a:ext>
            </a:extLst>
          </p:cNvPr>
          <p:cNvSpPr txBox="1"/>
          <p:nvPr/>
        </p:nvSpPr>
        <p:spPr>
          <a:xfrm>
            <a:off x="4089671" y="3088923"/>
            <a:ext cx="1949864" cy="230832"/>
          </a:xfrm>
          <a:prstGeom prst="rect">
            <a:avLst/>
          </a:prstGeom>
          <a:noFill/>
        </p:spPr>
        <p:txBody>
          <a:bodyPr wrap="square">
            <a:spAutoFit/>
          </a:bodyPr>
          <a:lstStyle/>
          <a:p>
            <a:pPr algn="ctr"/>
            <a:r>
              <a:rPr lang="en-GB" sz="900" b="1"/>
              <a:t>Use Case-Driven Inferencing Layer</a:t>
            </a:r>
            <a:endParaRPr lang="en-GB" sz="720" b="1">
              <a:latin typeface="Calibri Light" charset="0"/>
              <a:ea typeface="Calibri Light" charset="0"/>
              <a:cs typeface="Calibri Light" charset="0"/>
            </a:endParaRPr>
          </a:p>
        </p:txBody>
      </p:sp>
      <p:sp>
        <p:nvSpPr>
          <p:cNvPr id="82" name="TextBox 81">
            <a:extLst>
              <a:ext uri="{FF2B5EF4-FFF2-40B4-BE49-F238E27FC236}">
                <a16:creationId xmlns:a16="http://schemas.microsoft.com/office/drawing/2014/main" id="{AB30EBBE-E1F5-3967-9F95-69C959DB0803}"/>
              </a:ext>
            </a:extLst>
          </p:cNvPr>
          <p:cNvSpPr txBox="1"/>
          <p:nvPr/>
        </p:nvSpPr>
        <p:spPr>
          <a:xfrm>
            <a:off x="1759224" y="3011003"/>
            <a:ext cx="2035228" cy="424732"/>
          </a:xfrm>
          <a:prstGeom prst="rect">
            <a:avLst/>
          </a:prstGeom>
          <a:noFill/>
        </p:spPr>
        <p:txBody>
          <a:bodyPr wrap="square">
            <a:spAutoFit/>
          </a:bodyPr>
          <a:lstStyle/>
          <a:p>
            <a:pPr algn="ctr"/>
            <a:r>
              <a:rPr lang="en-US" sz="720" i="1"/>
              <a:t>This highlights the decision-making process driven by the use case, guiding the choice between RAG and Agentic approaches.</a:t>
            </a:r>
            <a:endParaRPr lang="en-GB" sz="720" i="1"/>
          </a:p>
        </p:txBody>
      </p:sp>
      <p:sp>
        <p:nvSpPr>
          <p:cNvPr id="83" name="TextBox 82">
            <a:extLst>
              <a:ext uri="{FF2B5EF4-FFF2-40B4-BE49-F238E27FC236}">
                <a16:creationId xmlns:a16="http://schemas.microsoft.com/office/drawing/2014/main" id="{ECC336F7-36D9-B744-E484-ED9127A436B7}"/>
              </a:ext>
            </a:extLst>
          </p:cNvPr>
          <p:cNvSpPr txBox="1"/>
          <p:nvPr/>
        </p:nvSpPr>
        <p:spPr>
          <a:xfrm>
            <a:off x="3788841" y="1759429"/>
            <a:ext cx="1003386" cy="369332"/>
          </a:xfrm>
          <a:prstGeom prst="rect">
            <a:avLst/>
          </a:prstGeom>
          <a:noFill/>
        </p:spPr>
        <p:txBody>
          <a:bodyPr wrap="square">
            <a:spAutoFit/>
          </a:bodyPr>
          <a:lstStyle/>
          <a:p>
            <a:pPr algn="ctr"/>
            <a:r>
              <a:rPr lang="en-US" sz="900" b="1">
                <a:cs typeface="Calibri"/>
              </a:rPr>
              <a:t>Foundational</a:t>
            </a:r>
          </a:p>
          <a:p>
            <a:pPr algn="ctr"/>
            <a:r>
              <a:rPr lang="en-US" sz="900" b="1">
                <a:cs typeface="Calibri"/>
              </a:rPr>
              <a:t>Models</a:t>
            </a:r>
          </a:p>
        </p:txBody>
      </p:sp>
      <p:pic>
        <p:nvPicPr>
          <p:cNvPr id="95" name="Picture 94" descr="A black and white rectangle with a black border&#10;&#10;AI-generated content may be incorrect.">
            <a:extLst>
              <a:ext uri="{FF2B5EF4-FFF2-40B4-BE49-F238E27FC236}">
                <a16:creationId xmlns:a16="http://schemas.microsoft.com/office/drawing/2014/main" id="{E7474694-8A3B-4943-5ECC-D007D18F0307}"/>
              </a:ext>
            </a:extLst>
          </p:cNvPr>
          <p:cNvPicPr>
            <a:picLocks noChangeAspect="1"/>
          </p:cNvPicPr>
          <p:nvPr/>
        </p:nvPicPr>
        <p:blipFill>
          <a:blip r:embed="rId5"/>
          <a:stretch>
            <a:fillRect/>
          </a:stretch>
        </p:blipFill>
        <p:spPr>
          <a:xfrm>
            <a:off x="9283799" y="1583794"/>
            <a:ext cx="1679080" cy="771730"/>
          </a:xfrm>
          <a:prstGeom prst="rect">
            <a:avLst/>
          </a:prstGeom>
        </p:spPr>
      </p:pic>
      <p:pic>
        <p:nvPicPr>
          <p:cNvPr id="96" name="Picture 95" descr="A black and white rectangle with a black border&#10;&#10;AI-generated content may be incorrect.">
            <a:extLst>
              <a:ext uri="{FF2B5EF4-FFF2-40B4-BE49-F238E27FC236}">
                <a16:creationId xmlns:a16="http://schemas.microsoft.com/office/drawing/2014/main" id="{3FF17639-00F6-E897-2A1F-848723A3B3B0}"/>
              </a:ext>
            </a:extLst>
          </p:cNvPr>
          <p:cNvPicPr>
            <a:picLocks noChangeAspect="1"/>
          </p:cNvPicPr>
          <p:nvPr/>
        </p:nvPicPr>
        <p:blipFill>
          <a:blip r:embed="rId6"/>
          <a:stretch>
            <a:fillRect/>
          </a:stretch>
        </p:blipFill>
        <p:spPr>
          <a:xfrm>
            <a:off x="7076406" y="1593558"/>
            <a:ext cx="1679080" cy="771730"/>
          </a:xfrm>
          <a:prstGeom prst="rect">
            <a:avLst/>
          </a:prstGeom>
        </p:spPr>
      </p:pic>
      <p:sp>
        <p:nvSpPr>
          <p:cNvPr id="97" name="TextBox 62">
            <a:extLst>
              <a:ext uri="{FF2B5EF4-FFF2-40B4-BE49-F238E27FC236}">
                <a16:creationId xmlns:a16="http://schemas.microsoft.com/office/drawing/2014/main" id="{E4E60BF7-0739-7F29-0F18-5F1DA5ABCC97}"/>
              </a:ext>
            </a:extLst>
          </p:cNvPr>
          <p:cNvSpPr txBox="1"/>
          <p:nvPr/>
        </p:nvSpPr>
        <p:spPr>
          <a:xfrm>
            <a:off x="7229599" y="1738061"/>
            <a:ext cx="1085162" cy="415498"/>
          </a:xfrm>
          <a:prstGeom prst="rect">
            <a:avLst/>
          </a:prstGeom>
          <a:noFill/>
        </p:spPr>
        <p:txBody>
          <a:bodyPr wrap="square" lIns="0" tIns="0" rIns="0" bIns="0" rtlCol="0">
            <a:spAutoFit/>
          </a:bodyPr>
          <a:lstStyle>
            <a:defPPr>
              <a:defRPr lang="en-US"/>
            </a:defPPr>
            <a:lvl1pPr marL="0" algn="l" defTabSz="713203" rtl="0" eaLnBrk="1" latinLnBrk="0" hangingPunct="1">
              <a:defRPr sz="1404" kern="1200">
                <a:solidFill>
                  <a:schemeClr val="tx1"/>
                </a:solidFill>
                <a:latin typeface="+mn-lt"/>
                <a:ea typeface="+mn-ea"/>
                <a:cs typeface="+mn-cs"/>
              </a:defRPr>
            </a:lvl1pPr>
            <a:lvl2pPr marL="356602" algn="l" defTabSz="713203" rtl="0" eaLnBrk="1" latinLnBrk="0" hangingPunct="1">
              <a:defRPr sz="1404" kern="1200">
                <a:solidFill>
                  <a:schemeClr val="tx1"/>
                </a:solidFill>
                <a:latin typeface="+mn-lt"/>
                <a:ea typeface="+mn-ea"/>
                <a:cs typeface="+mn-cs"/>
              </a:defRPr>
            </a:lvl2pPr>
            <a:lvl3pPr marL="713203" algn="l" defTabSz="713203" rtl="0" eaLnBrk="1" latinLnBrk="0" hangingPunct="1">
              <a:defRPr sz="1404" kern="1200">
                <a:solidFill>
                  <a:schemeClr val="tx1"/>
                </a:solidFill>
                <a:latin typeface="+mn-lt"/>
                <a:ea typeface="+mn-ea"/>
                <a:cs typeface="+mn-cs"/>
              </a:defRPr>
            </a:lvl3pPr>
            <a:lvl4pPr marL="1069805" algn="l" defTabSz="713203" rtl="0" eaLnBrk="1" latinLnBrk="0" hangingPunct="1">
              <a:defRPr sz="1404" kern="1200">
                <a:solidFill>
                  <a:schemeClr val="tx1"/>
                </a:solidFill>
                <a:latin typeface="+mn-lt"/>
                <a:ea typeface="+mn-ea"/>
                <a:cs typeface="+mn-cs"/>
              </a:defRPr>
            </a:lvl4pPr>
            <a:lvl5pPr marL="1426407" algn="l" defTabSz="713203" rtl="0" eaLnBrk="1" latinLnBrk="0" hangingPunct="1">
              <a:defRPr sz="1404" kern="1200">
                <a:solidFill>
                  <a:schemeClr val="tx1"/>
                </a:solidFill>
                <a:latin typeface="+mn-lt"/>
                <a:ea typeface="+mn-ea"/>
                <a:cs typeface="+mn-cs"/>
              </a:defRPr>
            </a:lvl5pPr>
            <a:lvl6pPr marL="1783009" algn="l" defTabSz="713203" rtl="0" eaLnBrk="1" latinLnBrk="0" hangingPunct="1">
              <a:defRPr sz="1404" kern="1200">
                <a:solidFill>
                  <a:schemeClr val="tx1"/>
                </a:solidFill>
                <a:latin typeface="+mn-lt"/>
                <a:ea typeface="+mn-ea"/>
                <a:cs typeface="+mn-cs"/>
              </a:defRPr>
            </a:lvl6pPr>
            <a:lvl7pPr marL="2139610" algn="l" defTabSz="713203" rtl="0" eaLnBrk="1" latinLnBrk="0" hangingPunct="1">
              <a:defRPr sz="1404" kern="1200">
                <a:solidFill>
                  <a:schemeClr val="tx1"/>
                </a:solidFill>
                <a:latin typeface="+mn-lt"/>
                <a:ea typeface="+mn-ea"/>
                <a:cs typeface="+mn-cs"/>
              </a:defRPr>
            </a:lvl7pPr>
            <a:lvl8pPr marL="2496212" algn="l" defTabSz="713203" rtl="0" eaLnBrk="1" latinLnBrk="0" hangingPunct="1">
              <a:defRPr sz="1404" kern="1200">
                <a:solidFill>
                  <a:schemeClr val="tx1"/>
                </a:solidFill>
                <a:latin typeface="+mn-lt"/>
                <a:ea typeface="+mn-ea"/>
                <a:cs typeface="+mn-cs"/>
              </a:defRPr>
            </a:lvl8pPr>
            <a:lvl9pPr marL="2852814" algn="l" defTabSz="713203" rtl="0" eaLnBrk="1" latinLnBrk="0" hangingPunct="1">
              <a:defRPr sz="1404" kern="1200">
                <a:solidFill>
                  <a:schemeClr val="tx1"/>
                </a:solidFill>
                <a:latin typeface="+mn-lt"/>
                <a:ea typeface="+mn-ea"/>
                <a:cs typeface="+mn-cs"/>
              </a:defRPr>
            </a:lvl9pPr>
          </a:lstStyle>
          <a:p>
            <a:pPr algn="ctr"/>
            <a:r>
              <a:rPr lang="en-US" sz="900" b="1">
                <a:solidFill>
                  <a:schemeClr val="accent1">
                    <a:lumMod val="50000"/>
                  </a:schemeClr>
                </a:solidFill>
                <a:cs typeface="Calibri"/>
              </a:rPr>
              <a:t>Knowledge Graph Traversal and  Retrieval</a:t>
            </a:r>
          </a:p>
        </p:txBody>
      </p:sp>
      <p:sp>
        <p:nvSpPr>
          <p:cNvPr id="98" name="TextBox 62">
            <a:extLst>
              <a:ext uri="{FF2B5EF4-FFF2-40B4-BE49-F238E27FC236}">
                <a16:creationId xmlns:a16="http://schemas.microsoft.com/office/drawing/2014/main" id="{A886D887-FCA3-C66C-1E89-74ED54217116}"/>
              </a:ext>
            </a:extLst>
          </p:cNvPr>
          <p:cNvSpPr txBox="1"/>
          <p:nvPr/>
        </p:nvSpPr>
        <p:spPr>
          <a:xfrm>
            <a:off x="9444339" y="1850807"/>
            <a:ext cx="970019" cy="138499"/>
          </a:xfrm>
          <a:prstGeom prst="rect">
            <a:avLst/>
          </a:prstGeom>
          <a:noFill/>
        </p:spPr>
        <p:txBody>
          <a:bodyPr wrap="square" lIns="0" tIns="0" rIns="0" bIns="0" rtlCol="0">
            <a:spAutoFit/>
          </a:bodyPr>
          <a:lstStyle>
            <a:defPPr>
              <a:defRPr lang="en-US"/>
            </a:defPPr>
            <a:lvl1pPr marL="0" algn="l" defTabSz="713203" rtl="0" eaLnBrk="1" latinLnBrk="0" hangingPunct="1">
              <a:defRPr sz="1404" kern="1200">
                <a:solidFill>
                  <a:schemeClr val="tx1"/>
                </a:solidFill>
                <a:latin typeface="+mn-lt"/>
                <a:ea typeface="+mn-ea"/>
                <a:cs typeface="+mn-cs"/>
              </a:defRPr>
            </a:lvl1pPr>
            <a:lvl2pPr marL="356602" algn="l" defTabSz="713203" rtl="0" eaLnBrk="1" latinLnBrk="0" hangingPunct="1">
              <a:defRPr sz="1404" kern="1200">
                <a:solidFill>
                  <a:schemeClr val="tx1"/>
                </a:solidFill>
                <a:latin typeface="+mn-lt"/>
                <a:ea typeface="+mn-ea"/>
                <a:cs typeface="+mn-cs"/>
              </a:defRPr>
            </a:lvl2pPr>
            <a:lvl3pPr marL="713203" algn="l" defTabSz="713203" rtl="0" eaLnBrk="1" latinLnBrk="0" hangingPunct="1">
              <a:defRPr sz="1404" kern="1200">
                <a:solidFill>
                  <a:schemeClr val="tx1"/>
                </a:solidFill>
                <a:latin typeface="+mn-lt"/>
                <a:ea typeface="+mn-ea"/>
                <a:cs typeface="+mn-cs"/>
              </a:defRPr>
            </a:lvl3pPr>
            <a:lvl4pPr marL="1069805" algn="l" defTabSz="713203" rtl="0" eaLnBrk="1" latinLnBrk="0" hangingPunct="1">
              <a:defRPr sz="1404" kern="1200">
                <a:solidFill>
                  <a:schemeClr val="tx1"/>
                </a:solidFill>
                <a:latin typeface="+mn-lt"/>
                <a:ea typeface="+mn-ea"/>
                <a:cs typeface="+mn-cs"/>
              </a:defRPr>
            </a:lvl4pPr>
            <a:lvl5pPr marL="1426407" algn="l" defTabSz="713203" rtl="0" eaLnBrk="1" latinLnBrk="0" hangingPunct="1">
              <a:defRPr sz="1404" kern="1200">
                <a:solidFill>
                  <a:schemeClr val="tx1"/>
                </a:solidFill>
                <a:latin typeface="+mn-lt"/>
                <a:ea typeface="+mn-ea"/>
                <a:cs typeface="+mn-cs"/>
              </a:defRPr>
            </a:lvl5pPr>
            <a:lvl6pPr marL="1783009" algn="l" defTabSz="713203" rtl="0" eaLnBrk="1" latinLnBrk="0" hangingPunct="1">
              <a:defRPr sz="1404" kern="1200">
                <a:solidFill>
                  <a:schemeClr val="tx1"/>
                </a:solidFill>
                <a:latin typeface="+mn-lt"/>
                <a:ea typeface="+mn-ea"/>
                <a:cs typeface="+mn-cs"/>
              </a:defRPr>
            </a:lvl6pPr>
            <a:lvl7pPr marL="2139610" algn="l" defTabSz="713203" rtl="0" eaLnBrk="1" latinLnBrk="0" hangingPunct="1">
              <a:defRPr sz="1404" kern="1200">
                <a:solidFill>
                  <a:schemeClr val="tx1"/>
                </a:solidFill>
                <a:latin typeface="+mn-lt"/>
                <a:ea typeface="+mn-ea"/>
                <a:cs typeface="+mn-cs"/>
              </a:defRPr>
            </a:lvl7pPr>
            <a:lvl8pPr marL="2496212" algn="l" defTabSz="713203" rtl="0" eaLnBrk="1" latinLnBrk="0" hangingPunct="1">
              <a:defRPr sz="1404" kern="1200">
                <a:solidFill>
                  <a:schemeClr val="tx1"/>
                </a:solidFill>
                <a:latin typeface="+mn-lt"/>
                <a:ea typeface="+mn-ea"/>
                <a:cs typeface="+mn-cs"/>
              </a:defRPr>
            </a:lvl8pPr>
            <a:lvl9pPr marL="2852814" algn="l" defTabSz="713203" rtl="0" eaLnBrk="1" latinLnBrk="0" hangingPunct="1">
              <a:defRPr sz="1404" kern="1200">
                <a:solidFill>
                  <a:schemeClr val="tx1"/>
                </a:solidFill>
                <a:latin typeface="+mn-lt"/>
                <a:ea typeface="+mn-ea"/>
                <a:cs typeface="+mn-cs"/>
              </a:defRPr>
            </a:lvl9pPr>
          </a:lstStyle>
          <a:p>
            <a:pPr algn="ctr"/>
            <a:r>
              <a:rPr lang="en-US" sz="900" b="1">
                <a:solidFill>
                  <a:schemeClr val="accent1">
                    <a:lumMod val="50000"/>
                  </a:schemeClr>
                </a:solidFill>
                <a:cs typeface="Calibri"/>
              </a:rPr>
              <a:t>User Insights </a:t>
            </a:r>
          </a:p>
        </p:txBody>
      </p:sp>
      <p:cxnSp>
        <p:nvCxnSpPr>
          <p:cNvPr id="107" name="Straight Arrow Connector 106">
            <a:extLst>
              <a:ext uri="{FF2B5EF4-FFF2-40B4-BE49-F238E27FC236}">
                <a16:creationId xmlns:a16="http://schemas.microsoft.com/office/drawing/2014/main" id="{865523D4-C1D6-9415-641D-94B22CAF0A87}"/>
              </a:ext>
            </a:extLst>
          </p:cNvPr>
          <p:cNvCxnSpPr>
            <a:cxnSpLocks/>
          </p:cNvCxnSpPr>
          <p:nvPr/>
        </p:nvCxnSpPr>
        <p:spPr>
          <a:xfrm>
            <a:off x="6355916" y="1942340"/>
            <a:ext cx="8274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0" name="Graphic 109" descr="Flowchart with solid fill">
            <a:extLst>
              <a:ext uri="{FF2B5EF4-FFF2-40B4-BE49-F238E27FC236}">
                <a16:creationId xmlns:a16="http://schemas.microsoft.com/office/drawing/2014/main" id="{6DD0A07A-CDE6-F330-BAA1-A05521B4A33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14762" y="1820348"/>
            <a:ext cx="238264" cy="238264"/>
          </a:xfrm>
          <a:prstGeom prst="rect">
            <a:avLst/>
          </a:prstGeom>
        </p:spPr>
      </p:pic>
      <p:pic>
        <p:nvPicPr>
          <p:cNvPr id="117" name="Picture 116" descr="A black background with a black square&#10;&#10;AI-generated content may be incorrect.">
            <a:extLst>
              <a:ext uri="{FF2B5EF4-FFF2-40B4-BE49-F238E27FC236}">
                <a16:creationId xmlns:a16="http://schemas.microsoft.com/office/drawing/2014/main" id="{CB9CD6D6-029E-DA24-B64D-43C7A88D2CE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16818" y="1826596"/>
            <a:ext cx="205996" cy="205996"/>
          </a:xfrm>
          <a:prstGeom prst="rect">
            <a:avLst/>
          </a:prstGeom>
        </p:spPr>
      </p:pic>
      <p:sp>
        <p:nvSpPr>
          <p:cNvPr id="127" name="Rectangle: Rounded Corners 42">
            <a:extLst>
              <a:ext uri="{FF2B5EF4-FFF2-40B4-BE49-F238E27FC236}">
                <a16:creationId xmlns:a16="http://schemas.microsoft.com/office/drawing/2014/main" id="{EBC25EF8-36A7-E187-4BC5-270468D6BFD5}"/>
              </a:ext>
            </a:extLst>
          </p:cNvPr>
          <p:cNvSpPr>
            <a:spLocks/>
          </p:cNvSpPr>
          <p:nvPr/>
        </p:nvSpPr>
        <p:spPr>
          <a:xfrm>
            <a:off x="4766580" y="1719252"/>
            <a:ext cx="513089" cy="457558"/>
          </a:xfrm>
          <a:prstGeom prst="roundRect">
            <a:avLst>
              <a:gd name="adj" fmla="val 6675"/>
            </a:avLst>
          </a:prstGeom>
          <a:solidFill>
            <a:schemeClr val="bg1"/>
          </a:solidFill>
          <a:ln>
            <a:solidFill>
              <a:srgbClr val="F5EFFB"/>
            </a:solidFill>
          </a:ln>
        </p:spPr>
        <p:style>
          <a:lnRef idx="2">
            <a:schemeClr val="accent2">
              <a:shade val="50000"/>
            </a:schemeClr>
          </a:lnRef>
          <a:fillRef idx="1">
            <a:schemeClr val="accent2"/>
          </a:fillRef>
          <a:effectRef idx="0">
            <a:schemeClr val="accent2"/>
          </a:effectRef>
          <a:fontRef idx="minor">
            <a:schemeClr val="lt1"/>
          </a:fontRef>
        </p:style>
        <p:txBody>
          <a:bodyPr lIns="51995" tIns="25997" rIns="51995" bIns="25997" rtlCol="0" anchor="ctr"/>
          <a:lstStyle/>
          <a:p>
            <a:pPr algn="ctr"/>
            <a:endParaRPr lang="en-US" sz="486">
              <a:solidFill>
                <a:schemeClr val="tx1"/>
              </a:solidFill>
              <a:cs typeface="Calibri"/>
            </a:endParaRPr>
          </a:p>
        </p:txBody>
      </p:sp>
      <p:sp>
        <p:nvSpPr>
          <p:cNvPr id="84" name="TextBox 83">
            <a:extLst>
              <a:ext uri="{FF2B5EF4-FFF2-40B4-BE49-F238E27FC236}">
                <a16:creationId xmlns:a16="http://schemas.microsoft.com/office/drawing/2014/main" id="{4176C056-4E1D-3F00-C68D-88F00CCD0AA6}"/>
              </a:ext>
            </a:extLst>
          </p:cNvPr>
          <p:cNvSpPr txBox="1"/>
          <p:nvPr/>
        </p:nvSpPr>
        <p:spPr>
          <a:xfrm>
            <a:off x="5239631" y="1753604"/>
            <a:ext cx="1003386" cy="369332"/>
          </a:xfrm>
          <a:prstGeom prst="rect">
            <a:avLst/>
          </a:prstGeom>
          <a:noFill/>
        </p:spPr>
        <p:txBody>
          <a:bodyPr wrap="square">
            <a:spAutoFit/>
          </a:bodyPr>
          <a:lstStyle/>
          <a:p>
            <a:pPr algn="ctr"/>
            <a:r>
              <a:rPr lang="en-US" sz="900" b="1" err="1">
                <a:cs typeface="Calibri"/>
              </a:rPr>
              <a:t>LangChain</a:t>
            </a:r>
            <a:endParaRPr lang="en-US" sz="900" b="1">
              <a:cs typeface="Calibri"/>
            </a:endParaRPr>
          </a:p>
          <a:p>
            <a:pPr algn="ctr"/>
            <a:r>
              <a:rPr lang="en-US" sz="900" b="1">
                <a:cs typeface="Calibri"/>
              </a:rPr>
              <a:t>Framework</a:t>
            </a:r>
          </a:p>
        </p:txBody>
      </p:sp>
      <p:pic>
        <p:nvPicPr>
          <p:cNvPr id="126" name="Picture 125" descr="A logo with a brain and lines&#10;&#10;AI-generated content may be incorrect.">
            <a:extLst>
              <a:ext uri="{FF2B5EF4-FFF2-40B4-BE49-F238E27FC236}">
                <a16:creationId xmlns:a16="http://schemas.microsoft.com/office/drawing/2014/main" id="{E4B802F5-505A-7023-AF25-FD004AD3512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872101" y="1782369"/>
            <a:ext cx="314218" cy="314218"/>
          </a:xfrm>
          <a:prstGeom prst="rect">
            <a:avLst/>
          </a:prstGeom>
        </p:spPr>
      </p:pic>
      <p:pic>
        <p:nvPicPr>
          <p:cNvPr id="130" name="Graphic 134" descr="Scatterplot with solid fill">
            <a:extLst>
              <a:ext uri="{FF2B5EF4-FFF2-40B4-BE49-F238E27FC236}">
                <a16:creationId xmlns:a16="http://schemas.microsoft.com/office/drawing/2014/main" id="{14D27722-D935-3C89-C650-243F7264301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513222" y="1822549"/>
            <a:ext cx="249148" cy="252613"/>
          </a:xfrm>
          <a:prstGeom prst="rect">
            <a:avLst/>
          </a:prstGeom>
        </p:spPr>
      </p:pic>
      <p:sp>
        <p:nvSpPr>
          <p:cNvPr id="4" name="object 8">
            <a:extLst>
              <a:ext uri="{FF2B5EF4-FFF2-40B4-BE49-F238E27FC236}">
                <a16:creationId xmlns:a16="http://schemas.microsoft.com/office/drawing/2014/main" id="{5FAEA4A1-B045-B9FF-1567-8B8C836990BB}"/>
              </a:ext>
            </a:extLst>
          </p:cNvPr>
          <p:cNvSpPr txBox="1"/>
          <p:nvPr/>
        </p:nvSpPr>
        <p:spPr>
          <a:xfrm>
            <a:off x="647998" y="525983"/>
            <a:ext cx="10834941" cy="461665"/>
          </a:xfrm>
          <a:prstGeom prst="rect">
            <a:avLst/>
          </a:prstGeom>
        </p:spPr>
        <p:txBody>
          <a:bodyPr vert="horz" wrap="square" lIns="0" tIns="0" rIns="0" bIns="0" rtlCol="0">
            <a:spAutoFit/>
          </a:bodyPr>
          <a:lstStyle/>
          <a:p>
            <a:pPr marL="20319" marR="0" lvl="0" indent="0" algn="l" defTabSz="1219170" eaLnBrk="1" fontAlgn="auto" latinLnBrk="0" hangingPunct="1">
              <a:spcBef>
                <a:spcPts val="0"/>
              </a:spcBef>
              <a:spcAft>
                <a:spcPts val="0"/>
              </a:spcAft>
              <a:buClrTx/>
              <a:buSzTx/>
              <a:buFontTx/>
              <a:buNone/>
              <a:tabLst/>
              <a:defRPr/>
            </a:pPr>
            <a:r>
              <a:rPr lang="en-US" sz="3000" b="1" spc="-100">
                <a:solidFill>
                  <a:srgbClr val="060B25"/>
                </a:solidFill>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Navigator - Functional Architecture</a:t>
            </a:r>
            <a:endParaRPr kumimoji="0" lang="en-US" sz="3000" b="1" i="0" u="none" strike="noStrike" kern="1200" cap="none" spc="-100" normalizeH="0" noProof="0">
              <a:ln>
                <a:noFill/>
              </a:ln>
              <a:solidFill>
                <a:srgbClr val="060B25"/>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endParaRPr>
          </a:p>
        </p:txBody>
      </p:sp>
      <p:sp>
        <p:nvSpPr>
          <p:cNvPr id="5" name="TextBox 4">
            <a:extLst>
              <a:ext uri="{FF2B5EF4-FFF2-40B4-BE49-F238E27FC236}">
                <a16:creationId xmlns:a16="http://schemas.microsoft.com/office/drawing/2014/main" id="{45C77945-8A2B-8602-D270-30B84287AF07}"/>
              </a:ext>
            </a:extLst>
          </p:cNvPr>
          <p:cNvSpPr txBox="1"/>
          <p:nvPr/>
        </p:nvSpPr>
        <p:spPr>
          <a:xfrm>
            <a:off x="712956" y="3600893"/>
            <a:ext cx="1069581" cy="230832"/>
          </a:xfrm>
          <a:prstGeom prst="rect">
            <a:avLst/>
          </a:prstGeom>
          <a:noFill/>
        </p:spPr>
        <p:txBody>
          <a:bodyPr wrap="square">
            <a:spAutoFit/>
          </a:bodyPr>
          <a:lstStyle/>
          <a:p>
            <a:pPr algn="ctr"/>
            <a:r>
              <a:rPr lang="en-GB" sz="900" b="1"/>
              <a:t>Our Differentiator</a:t>
            </a:r>
            <a:endParaRPr lang="en-GB" sz="700" b="1">
              <a:latin typeface="Calibri Light" charset="0"/>
              <a:ea typeface="Calibri Light" charset="0"/>
              <a:cs typeface="Calibri Light" charset="0"/>
            </a:endParaRPr>
          </a:p>
        </p:txBody>
      </p:sp>
      <p:sp>
        <p:nvSpPr>
          <p:cNvPr id="6" name="Rounded Rectangle 17">
            <a:extLst>
              <a:ext uri="{FF2B5EF4-FFF2-40B4-BE49-F238E27FC236}">
                <a16:creationId xmlns:a16="http://schemas.microsoft.com/office/drawing/2014/main" id="{53C96FBC-0773-9471-1226-F2DED0F727C7}"/>
              </a:ext>
            </a:extLst>
          </p:cNvPr>
          <p:cNvSpPr>
            <a:spLocks/>
          </p:cNvSpPr>
          <p:nvPr/>
        </p:nvSpPr>
        <p:spPr>
          <a:xfrm>
            <a:off x="2869773" y="3959118"/>
            <a:ext cx="1687238" cy="592945"/>
          </a:xfrm>
          <a:prstGeom prst="roundRect">
            <a:avLst>
              <a:gd name="adj" fmla="val 9262"/>
            </a:avLst>
          </a:prstGeom>
          <a:solidFill>
            <a:schemeClr val="bg1">
              <a:lumMod val="95000"/>
            </a:schemeClr>
          </a:solidFill>
          <a:ln w="3175">
            <a:noFill/>
            <a:prstDash val="dash"/>
          </a:ln>
          <a:effectLst>
            <a:glow rad="101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900" b="1">
              <a:solidFill>
                <a:schemeClr val="tx1"/>
              </a:solidFill>
            </a:endParaRPr>
          </a:p>
          <a:p>
            <a:pPr algn="ctr"/>
            <a:r>
              <a:rPr lang="en-GB" sz="900" b="1">
                <a:solidFill>
                  <a:schemeClr val="tx1"/>
                </a:solidFill>
              </a:rPr>
              <a:t>No Data Exposure</a:t>
            </a:r>
          </a:p>
          <a:p>
            <a:pPr marL="171450" lvl="0" indent="-171450" eaLnBrk="0" fontAlgn="base" hangingPunct="0">
              <a:spcBef>
                <a:spcPct val="0"/>
              </a:spcBef>
              <a:spcAft>
                <a:spcPct val="0"/>
              </a:spcAft>
              <a:buFont typeface="Arial" panose="020B0604020202020204" pitchFamily="34" charset="0"/>
              <a:buChar char="•"/>
            </a:pPr>
            <a:r>
              <a:rPr lang="en-US" altLang="en-US" sz="700">
                <a:solidFill>
                  <a:srgbClr val="4D3B67"/>
                </a:solidFill>
              </a:rPr>
              <a:t>AI never sees raw customer data</a:t>
            </a:r>
          </a:p>
          <a:p>
            <a:pPr marL="171450" lvl="0" indent="-171450" eaLnBrk="0" fontAlgn="base" hangingPunct="0">
              <a:spcBef>
                <a:spcPct val="0"/>
              </a:spcBef>
              <a:spcAft>
                <a:spcPct val="0"/>
              </a:spcAft>
              <a:buFont typeface="Arial" panose="020B0604020202020204" pitchFamily="34" charset="0"/>
              <a:buChar char="•"/>
            </a:pPr>
            <a:r>
              <a:rPr lang="en-US" altLang="en-US" sz="700">
                <a:solidFill>
                  <a:srgbClr val="4D3B67"/>
                </a:solidFill>
              </a:rPr>
              <a:t>Only uses structure (schema) from the Knowledge Graph</a:t>
            </a:r>
            <a:endParaRPr lang="en-GB" sz="800">
              <a:solidFill>
                <a:srgbClr val="4D3B67"/>
              </a:solidFill>
            </a:endParaRPr>
          </a:p>
          <a:p>
            <a:pPr algn="ctr"/>
            <a:endParaRPr lang="en-GB" sz="800">
              <a:solidFill>
                <a:srgbClr val="4D3B67"/>
              </a:solidFill>
            </a:endParaRPr>
          </a:p>
          <a:p>
            <a:pPr algn="ctr"/>
            <a:endParaRPr lang="en-IN" sz="630">
              <a:solidFill>
                <a:srgbClr val="4D3B67"/>
              </a:solidFill>
              <a:latin typeface="Calibri" panose="020F0502020204030204" pitchFamily="34" charset="0"/>
              <a:cs typeface="Calibri" panose="020F0502020204030204" pitchFamily="34" charset="0"/>
            </a:endParaRPr>
          </a:p>
        </p:txBody>
      </p:sp>
      <p:sp>
        <p:nvSpPr>
          <p:cNvPr id="7" name="Rounded Rectangle 17">
            <a:extLst>
              <a:ext uri="{FF2B5EF4-FFF2-40B4-BE49-F238E27FC236}">
                <a16:creationId xmlns:a16="http://schemas.microsoft.com/office/drawing/2014/main" id="{60BA2E48-451B-7D5A-BB7A-1006E1C4AD06}"/>
              </a:ext>
            </a:extLst>
          </p:cNvPr>
          <p:cNvSpPr>
            <a:spLocks/>
          </p:cNvSpPr>
          <p:nvPr/>
        </p:nvSpPr>
        <p:spPr>
          <a:xfrm>
            <a:off x="1029598" y="3959118"/>
            <a:ext cx="1687238" cy="579973"/>
          </a:xfrm>
          <a:prstGeom prst="roundRect">
            <a:avLst>
              <a:gd name="adj" fmla="val 9262"/>
            </a:avLst>
          </a:prstGeom>
          <a:solidFill>
            <a:schemeClr val="bg1">
              <a:lumMod val="95000"/>
            </a:schemeClr>
          </a:solidFill>
          <a:ln w="3175">
            <a:noFill/>
            <a:prstDash val="dash"/>
          </a:ln>
          <a:effectLst>
            <a:glow rad="101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b="1">
                <a:solidFill>
                  <a:schemeClr val="tx1"/>
                </a:solidFill>
              </a:rPr>
              <a:t>Universal Translator</a:t>
            </a:r>
          </a:p>
          <a:p>
            <a:pPr marL="171450" indent="-171450" eaLnBrk="0" fontAlgn="base" hangingPunct="0">
              <a:spcBef>
                <a:spcPct val="0"/>
              </a:spcBef>
              <a:spcAft>
                <a:spcPct val="0"/>
              </a:spcAft>
              <a:buFont typeface="Arial" panose="020B0604020202020204" pitchFamily="34" charset="0"/>
              <a:buChar char="•"/>
            </a:pPr>
            <a:r>
              <a:rPr lang="en-GB" sz="700">
                <a:solidFill>
                  <a:srgbClr val="4D3B67"/>
                </a:solidFill>
              </a:rPr>
              <a:t>Knowledge Graph = Translator</a:t>
            </a:r>
          </a:p>
          <a:p>
            <a:pPr marL="171450" indent="-171450" eaLnBrk="0" fontAlgn="base" hangingPunct="0">
              <a:spcBef>
                <a:spcPct val="0"/>
              </a:spcBef>
              <a:spcAft>
                <a:spcPct val="0"/>
              </a:spcAft>
              <a:buFont typeface="Arial" panose="020B0604020202020204" pitchFamily="34" charset="0"/>
              <a:buChar char="•"/>
            </a:pPr>
            <a:r>
              <a:rPr lang="en-GB" sz="700">
                <a:solidFill>
                  <a:srgbClr val="4D3B67"/>
                </a:solidFill>
              </a:rPr>
              <a:t>Knowledge Graph combines all security tools into a unified view</a:t>
            </a:r>
            <a:endParaRPr lang="en-IN" sz="700">
              <a:solidFill>
                <a:srgbClr val="4D3B67"/>
              </a:solidFill>
            </a:endParaRPr>
          </a:p>
        </p:txBody>
      </p:sp>
      <p:sp>
        <p:nvSpPr>
          <p:cNvPr id="8" name="Rounded Rectangle 17">
            <a:extLst>
              <a:ext uri="{FF2B5EF4-FFF2-40B4-BE49-F238E27FC236}">
                <a16:creationId xmlns:a16="http://schemas.microsoft.com/office/drawing/2014/main" id="{A4B7688E-7282-BEC5-32E2-E383284948B1}"/>
              </a:ext>
            </a:extLst>
          </p:cNvPr>
          <p:cNvSpPr>
            <a:spLocks/>
          </p:cNvSpPr>
          <p:nvPr/>
        </p:nvSpPr>
        <p:spPr>
          <a:xfrm>
            <a:off x="4732578" y="3959117"/>
            <a:ext cx="1687238" cy="598661"/>
          </a:xfrm>
          <a:prstGeom prst="roundRect">
            <a:avLst>
              <a:gd name="adj" fmla="val 9262"/>
            </a:avLst>
          </a:prstGeom>
          <a:solidFill>
            <a:schemeClr val="bg1">
              <a:lumMod val="95000"/>
            </a:schemeClr>
          </a:solidFill>
          <a:ln w="3175">
            <a:noFill/>
            <a:prstDash val="dash"/>
          </a:ln>
          <a:effectLst>
            <a:glow rad="101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b="1">
                <a:solidFill>
                  <a:schemeClr val="tx1"/>
                </a:solidFill>
              </a:rPr>
              <a:t>No Model Training Needed</a:t>
            </a:r>
          </a:p>
          <a:p>
            <a:pPr marL="171450" indent="-171450" eaLnBrk="0" fontAlgn="base" hangingPunct="0">
              <a:spcBef>
                <a:spcPct val="0"/>
              </a:spcBef>
              <a:spcAft>
                <a:spcPct val="0"/>
              </a:spcAft>
              <a:buFont typeface="Arial" panose="020B0604020202020204" pitchFamily="34" charset="0"/>
              <a:buChar char="•"/>
            </a:pPr>
            <a:r>
              <a:rPr lang="en-GB" sz="700">
                <a:solidFill>
                  <a:srgbClr val="4D3B67"/>
                </a:solidFill>
              </a:rPr>
              <a:t>Navigator translates it on the fly</a:t>
            </a:r>
          </a:p>
          <a:p>
            <a:pPr marL="171450" indent="-171450" eaLnBrk="0" fontAlgn="base" hangingPunct="0">
              <a:spcBef>
                <a:spcPct val="0"/>
              </a:spcBef>
              <a:spcAft>
                <a:spcPct val="0"/>
              </a:spcAft>
              <a:buFont typeface="Arial" panose="020B0604020202020204" pitchFamily="34" charset="0"/>
              <a:buChar char="•"/>
            </a:pPr>
            <a:r>
              <a:rPr lang="en-GB" sz="700">
                <a:solidFill>
                  <a:srgbClr val="4D3B67"/>
                </a:solidFill>
              </a:rPr>
              <a:t>Fully schema driven query generation</a:t>
            </a:r>
          </a:p>
        </p:txBody>
      </p:sp>
      <p:sp>
        <p:nvSpPr>
          <p:cNvPr id="9" name="Rounded Rectangle 17">
            <a:extLst>
              <a:ext uri="{FF2B5EF4-FFF2-40B4-BE49-F238E27FC236}">
                <a16:creationId xmlns:a16="http://schemas.microsoft.com/office/drawing/2014/main" id="{1B5293BF-BD05-3BFE-EBDC-E3452F12B9AE}"/>
              </a:ext>
            </a:extLst>
          </p:cNvPr>
          <p:cNvSpPr>
            <a:spLocks/>
          </p:cNvSpPr>
          <p:nvPr/>
        </p:nvSpPr>
        <p:spPr>
          <a:xfrm>
            <a:off x="6572753" y="3959117"/>
            <a:ext cx="1687238" cy="591507"/>
          </a:xfrm>
          <a:prstGeom prst="roundRect">
            <a:avLst>
              <a:gd name="adj" fmla="val 9262"/>
            </a:avLst>
          </a:prstGeom>
          <a:solidFill>
            <a:schemeClr val="bg1">
              <a:lumMod val="95000"/>
            </a:schemeClr>
          </a:solidFill>
          <a:ln w="3175">
            <a:noFill/>
            <a:prstDash val="dash"/>
          </a:ln>
          <a:effectLst>
            <a:glow rad="101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00" b="1">
                <a:solidFill>
                  <a:schemeClr val="tx1"/>
                </a:solidFill>
              </a:rPr>
              <a:t>Dynamic Data Handling</a:t>
            </a:r>
          </a:p>
          <a:p>
            <a:pPr marL="171450" indent="-171450" eaLnBrk="0" fontAlgn="base" hangingPunct="0">
              <a:spcBef>
                <a:spcPct val="0"/>
              </a:spcBef>
              <a:spcAft>
                <a:spcPct val="0"/>
              </a:spcAft>
              <a:buFont typeface="Arial" panose="020B0604020202020204" pitchFamily="34" charset="0"/>
              <a:buChar char="•"/>
            </a:pPr>
            <a:r>
              <a:rPr lang="en-IN" sz="700">
                <a:solidFill>
                  <a:srgbClr val="4D3B67"/>
                </a:solidFill>
              </a:rPr>
              <a:t>Any additions in customer data flow through schema</a:t>
            </a:r>
          </a:p>
          <a:p>
            <a:pPr marL="171450" indent="-171450" eaLnBrk="0" fontAlgn="base" hangingPunct="0">
              <a:spcBef>
                <a:spcPct val="0"/>
              </a:spcBef>
              <a:spcAft>
                <a:spcPct val="0"/>
              </a:spcAft>
              <a:buFont typeface="Arial" panose="020B0604020202020204" pitchFamily="34" charset="0"/>
              <a:buChar char="•"/>
            </a:pPr>
            <a:r>
              <a:rPr lang="en-IN" sz="700">
                <a:solidFill>
                  <a:srgbClr val="4D3B67"/>
                </a:solidFill>
              </a:rPr>
              <a:t>No manual rework needed</a:t>
            </a:r>
          </a:p>
        </p:txBody>
      </p:sp>
      <p:sp>
        <p:nvSpPr>
          <p:cNvPr id="11" name="Rectangle 10">
            <a:extLst>
              <a:ext uri="{FF2B5EF4-FFF2-40B4-BE49-F238E27FC236}">
                <a16:creationId xmlns:a16="http://schemas.microsoft.com/office/drawing/2014/main" id="{81006A45-2F21-A87D-8558-EC7C8A8FDB17}"/>
              </a:ext>
            </a:extLst>
          </p:cNvPr>
          <p:cNvSpPr/>
          <p:nvPr/>
        </p:nvSpPr>
        <p:spPr>
          <a:xfrm>
            <a:off x="820956" y="3818230"/>
            <a:ext cx="7563314" cy="900795"/>
          </a:xfrm>
          <a:prstGeom prst="rect">
            <a:avLst/>
          </a:prstGeom>
          <a:noFill/>
          <a:ln>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1" name="Straight Arrow Connector 20">
            <a:extLst>
              <a:ext uri="{FF2B5EF4-FFF2-40B4-BE49-F238E27FC236}">
                <a16:creationId xmlns:a16="http://schemas.microsoft.com/office/drawing/2014/main" id="{02565B78-1C65-9128-46F2-5F5D65FB3F7D}"/>
              </a:ext>
            </a:extLst>
          </p:cNvPr>
          <p:cNvCxnSpPr>
            <a:cxnSpLocks/>
          </p:cNvCxnSpPr>
          <p:nvPr/>
        </p:nvCxnSpPr>
        <p:spPr>
          <a:xfrm flipV="1">
            <a:off x="5083403" y="3473654"/>
            <a:ext cx="0" cy="3445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921D45AD-5372-8758-B494-A7590826B0C4}"/>
              </a:ext>
            </a:extLst>
          </p:cNvPr>
          <p:cNvSpPr/>
          <p:nvPr/>
        </p:nvSpPr>
        <p:spPr>
          <a:xfrm>
            <a:off x="521110" y="1405115"/>
            <a:ext cx="10957934" cy="4847255"/>
          </a:xfrm>
          <a:prstGeom prst="rect">
            <a:avLst/>
          </a:prstGeom>
          <a:noFill/>
          <a:ln>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7F37918A-ABFF-9E5D-BF74-EE12812ACCF3}"/>
              </a:ext>
            </a:extLst>
          </p:cNvPr>
          <p:cNvSpPr txBox="1"/>
          <p:nvPr/>
        </p:nvSpPr>
        <p:spPr>
          <a:xfrm>
            <a:off x="8931121" y="1197028"/>
            <a:ext cx="2701825" cy="230832"/>
          </a:xfrm>
          <a:prstGeom prst="rect">
            <a:avLst/>
          </a:prstGeom>
          <a:noFill/>
        </p:spPr>
        <p:txBody>
          <a:bodyPr wrap="square">
            <a:spAutoFit/>
          </a:bodyPr>
          <a:lstStyle/>
          <a:p>
            <a:pPr algn="ctr"/>
            <a:r>
              <a:rPr lang="en-US" sz="900" b="1" i="1"/>
              <a:t>All within the Client Cloud Provider or Infrastructure</a:t>
            </a:r>
            <a:endParaRPr lang="en-GB" sz="900" b="1" i="1"/>
          </a:p>
        </p:txBody>
      </p:sp>
      <p:sp>
        <p:nvSpPr>
          <p:cNvPr id="28" name="Rectangle: Rounded Corners 87">
            <a:extLst>
              <a:ext uri="{FF2B5EF4-FFF2-40B4-BE49-F238E27FC236}">
                <a16:creationId xmlns:a16="http://schemas.microsoft.com/office/drawing/2014/main" id="{F443BC38-B98E-0173-377D-40CA8DB10480}"/>
              </a:ext>
            </a:extLst>
          </p:cNvPr>
          <p:cNvSpPr/>
          <p:nvPr/>
        </p:nvSpPr>
        <p:spPr>
          <a:xfrm>
            <a:off x="8592912" y="2553731"/>
            <a:ext cx="2758516" cy="3362984"/>
          </a:xfrm>
          <a:prstGeom prst="roundRect">
            <a:avLst>
              <a:gd name="adj" fmla="val 16363"/>
            </a:avLst>
          </a:prstGeom>
          <a:solidFill>
            <a:srgbClr val="B8C3EF">
              <a:alpha val="54902"/>
            </a:srgbClr>
          </a:solidFill>
          <a:ln>
            <a:noFill/>
          </a:ln>
        </p:spPr>
        <p:style>
          <a:lnRef idx="2">
            <a:schemeClr val="accent2">
              <a:shade val="50000"/>
            </a:schemeClr>
          </a:lnRef>
          <a:fillRef idx="1">
            <a:schemeClr val="accent2"/>
          </a:fillRef>
          <a:effectRef idx="0">
            <a:schemeClr val="accent2"/>
          </a:effectRef>
          <a:fontRef idx="minor">
            <a:schemeClr val="lt1"/>
          </a:fontRef>
        </p:style>
        <p:txBody>
          <a:bodyPr lIns="51995" tIns="25997" rIns="51995" bIns="25997" rtlCol="0" anchor="ctr"/>
          <a:lstStyle/>
          <a:p>
            <a:r>
              <a:rPr lang="en-US" sz="900" b="1">
                <a:solidFill>
                  <a:schemeClr val="accent1">
                    <a:lumMod val="50000"/>
                  </a:schemeClr>
                </a:solidFill>
                <a:cs typeface="Calibri"/>
              </a:rPr>
              <a:t>Beyond Fine Tuning: A smarter alternative</a:t>
            </a:r>
          </a:p>
          <a:p>
            <a:endParaRPr lang="en-US" sz="900" i="1">
              <a:solidFill>
                <a:schemeClr val="accent1">
                  <a:lumMod val="50000"/>
                </a:schemeClr>
              </a:solidFill>
              <a:cs typeface="Calibri"/>
            </a:endParaRPr>
          </a:p>
          <a:p>
            <a:pPr marL="171450" indent="-171450">
              <a:buFont typeface="Arial" panose="020B0604020202020204" pitchFamily="34" charset="0"/>
              <a:buChar char="•"/>
            </a:pPr>
            <a:r>
              <a:rPr lang="en-US" sz="900" i="1">
                <a:solidFill>
                  <a:schemeClr val="accent1">
                    <a:lumMod val="50000"/>
                  </a:schemeClr>
                </a:solidFill>
                <a:cs typeface="Calibri"/>
              </a:rPr>
              <a:t>Faster Deployment</a:t>
            </a:r>
          </a:p>
          <a:p>
            <a:pPr marL="628650" lvl="1" indent="-171450">
              <a:buFont typeface="Arial" panose="020B0604020202020204" pitchFamily="34" charset="0"/>
              <a:buChar char="•"/>
            </a:pPr>
            <a:r>
              <a:rPr lang="en-US" sz="900" i="1">
                <a:solidFill>
                  <a:schemeClr val="accent1">
                    <a:lumMod val="50000"/>
                  </a:schemeClr>
                </a:solidFill>
                <a:cs typeface="Calibri"/>
              </a:rPr>
              <a:t>AI Models adopted immediately</a:t>
            </a:r>
          </a:p>
          <a:p>
            <a:pPr marL="628650" lvl="1" indent="-171450">
              <a:buFont typeface="Arial" panose="020B0604020202020204" pitchFamily="34" charset="0"/>
              <a:buChar char="•"/>
            </a:pPr>
            <a:r>
              <a:rPr lang="en-US" sz="900" i="1">
                <a:solidFill>
                  <a:schemeClr val="accent1">
                    <a:lumMod val="50000"/>
                  </a:schemeClr>
                </a:solidFill>
                <a:cs typeface="Calibri"/>
              </a:rPr>
              <a:t>Fine Tuned Models takes time to train for each customer</a:t>
            </a:r>
          </a:p>
          <a:p>
            <a:pPr marL="171450" indent="-171450">
              <a:buFont typeface="Arial" panose="020B0604020202020204" pitchFamily="34" charset="0"/>
              <a:buChar char="•"/>
            </a:pPr>
            <a:r>
              <a:rPr lang="en-US" sz="900" i="1">
                <a:solidFill>
                  <a:schemeClr val="accent1">
                    <a:lumMod val="50000"/>
                  </a:schemeClr>
                </a:solidFill>
                <a:cs typeface="Calibri"/>
              </a:rPr>
              <a:t>Platform Independence</a:t>
            </a:r>
          </a:p>
          <a:p>
            <a:pPr marL="628650" lvl="1" indent="-171450">
              <a:buFont typeface="Arial" panose="020B0604020202020204" pitchFamily="34" charset="0"/>
              <a:buChar char="•"/>
            </a:pPr>
            <a:r>
              <a:rPr lang="en-US" sz="900" i="1">
                <a:solidFill>
                  <a:schemeClr val="accent1">
                    <a:lumMod val="50000"/>
                  </a:schemeClr>
                </a:solidFill>
                <a:cs typeface="Calibri"/>
              </a:rPr>
              <a:t>Works with any cloud provider / on-prem, customer data never leaves their environment</a:t>
            </a:r>
          </a:p>
          <a:p>
            <a:pPr marL="628650" lvl="1" indent="-171450">
              <a:buFont typeface="Arial" panose="020B0604020202020204" pitchFamily="34" charset="0"/>
              <a:buChar char="•"/>
            </a:pPr>
            <a:r>
              <a:rPr lang="en-US" sz="900" i="1">
                <a:solidFill>
                  <a:schemeClr val="accent1">
                    <a:lumMod val="50000"/>
                  </a:schemeClr>
                </a:solidFill>
                <a:cs typeface="Calibri"/>
              </a:rPr>
              <a:t>Fine tuning is often tied to specific platforms, require sending sensitive data</a:t>
            </a:r>
          </a:p>
          <a:p>
            <a:pPr marL="171450" indent="-171450">
              <a:buFont typeface="Arial" panose="020B0604020202020204" pitchFamily="34" charset="0"/>
              <a:buChar char="•"/>
            </a:pPr>
            <a:r>
              <a:rPr lang="en-US" sz="900" i="1">
                <a:solidFill>
                  <a:schemeClr val="accent1">
                    <a:lumMod val="50000"/>
                  </a:schemeClr>
                </a:solidFill>
                <a:cs typeface="Calibri"/>
              </a:rPr>
              <a:t>Cost Efficiency</a:t>
            </a:r>
          </a:p>
          <a:p>
            <a:pPr marL="628650" lvl="1" indent="-171450">
              <a:buFont typeface="Arial" panose="020B0604020202020204" pitchFamily="34" charset="0"/>
              <a:buChar char="•"/>
            </a:pPr>
            <a:r>
              <a:rPr lang="en-US" sz="900" i="1">
                <a:solidFill>
                  <a:schemeClr val="accent1">
                    <a:lumMod val="50000"/>
                  </a:schemeClr>
                </a:solidFill>
                <a:cs typeface="Calibri"/>
              </a:rPr>
              <a:t>Our approach has no expensive training compute cost</a:t>
            </a:r>
          </a:p>
          <a:p>
            <a:pPr marL="628650" lvl="1" indent="-171450">
              <a:buFont typeface="Arial" panose="020B0604020202020204" pitchFamily="34" charset="0"/>
              <a:buChar char="•"/>
            </a:pPr>
            <a:r>
              <a:rPr lang="en-US" sz="900" i="1">
                <a:solidFill>
                  <a:schemeClr val="accent1">
                    <a:lumMod val="50000"/>
                  </a:schemeClr>
                </a:solidFill>
                <a:cs typeface="Calibri"/>
              </a:rPr>
              <a:t>Fine tuning cost significant training cost</a:t>
            </a:r>
          </a:p>
          <a:p>
            <a:pPr marL="171450" indent="-171450">
              <a:buFont typeface="Arial" panose="020B0604020202020204" pitchFamily="34" charset="0"/>
              <a:buChar char="•"/>
            </a:pPr>
            <a:r>
              <a:rPr lang="en-US" sz="900" i="1">
                <a:solidFill>
                  <a:schemeClr val="accent1">
                    <a:lumMod val="50000"/>
                  </a:schemeClr>
                </a:solidFill>
                <a:cs typeface="Calibri"/>
              </a:rPr>
              <a:t>Model Agnostic Future Proofing</a:t>
            </a:r>
          </a:p>
          <a:p>
            <a:pPr marL="628650" lvl="1" indent="-171450">
              <a:buFont typeface="Arial" panose="020B0604020202020204" pitchFamily="34" charset="0"/>
              <a:buChar char="•"/>
            </a:pPr>
            <a:r>
              <a:rPr lang="en-US" sz="900" i="1">
                <a:solidFill>
                  <a:schemeClr val="accent1">
                    <a:lumMod val="50000"/>
                  </a:schemeClr>
                </a:solidFill>
                <a:cs typeface="Calibri"/>
              </a:rPr>
              <a:t>New AI model can be switched in days</a:t>
            </a:r>
          </a:p>
          <a:p>
            <a:pPr marL="628650" lvl="1" indent="-171450">
              <a:buFont typeface="Arial" panose="020B0604020202020204" pitchFamily="34" charset="0"/>
              <a:buChar char="•"/>
            </a:pPr>
            <a:r>
              <a:rPr lang="en-US" sz="900" i="1">
                <a:solidFill>
                  <a:schemeClr val="accent1">
                    <a:lumMod val="50000"/>
                  </a:schemeClr>
                </a:solidFill>
                <a:cs typeface="Calibri"/>
              </a:rPr>
              <a:t>For Fine tuned approach- this process should start from scratch</a:t>
            </a:r>
          </a:p>
          <a:p>
            <a:pPr marL="628650" lvl="1" indent="-171450">
              <a:buFont typeface="Arial" panose="020B0604020202020204" pitchFamily="34" charset="0"/>
              <a:buChar char="•"/>
            </a:pPr>
            <a:endParaRPr lang="en-US" sz="900" i="1">
              <a:solidFill>
                <a:schemeClr val="accent1">
                  <a:lumMod val="50000"/>
                </a:schemeClr>
              </a:solidFill>
              <a:cs typeface="Calibri"/>
            </a:endParaRPr>
          </a:p>
        </p:txBody>
      </p:sp>
    </p:spTree>
    <p:extLst>
      <p:ext uri="{BB962C8B-B14F-4D97-AF65-F5344CB8AC3E}">
        <p14:creationId xmlns:p14="http://schemas.microsoft.com/office/powerpoint/2010/main" val="12869852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CB2D9-6A13-45B4-67A7-0B79BD480B1A}"/>
            </a:ext>
          </a:extLst>
        </p:cNvPr>
        <p:cNvGrpSpPr/>
        <p:nvPr/>
      </p:nvGrpSpPr>
      <p:grpSpPr>
        <a:xfrm>
          <a:off x="0" y="0"/>
          <a:ext cx="0" cy="0"/>
          <a:chOff x="0" y="0"/>
          <a:chExt cx="0" cy="0"/>
        </a:xfrm>
      </p:grpSpPr>
      <p:graphicFrame>
        <p:nvGraphicFramePr>
          <p:cNvPr id="41" name="think-cell data - do not delete" hidden="1">
            <a:extLst>
              <a:ext uri="{FF2B5EF4-FFF2-40B4-BE49-F238E27FC236}">
                <a16:creationId xmlns:a16="http://schemas.microsoft.com/office/drawing/2014/main" id="{A500805F-AA8D-53CC-D9EA-2E8DC34CCF3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41" name="think-cell data - do not delete" hidden="1">
                        <a:extLst>
                          <a:ext uri="{FF2B5EF4-FFF2-40B4-BE49-F238E27FC236}">
                            <a16:creationId xmlns:a16="http://schemas.microsoft.com/office/drawing/2014/main" id="{A500805F-AA8D-53CC-D9EA-2E8DC34CCF3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object 8">
            <a:extLst>
              <a:ext uri="{FF2B5EF4-FFF2-40B4-BE49-F238E27FC236}">
                <a16:creationId xmlns:a16="http://schemas.microsoft.com/office/drawing/2014/main" id="{36BD2377-8A9B-405D-CB98-988109882708}"/>
              </a:ext>
            </a:extLst>
          </p:cNvPr>
          <p:cNvSpPr txBox="1"/>
          <p:nvPr/>
        </p:nvSpPr>
        <p:spPr>
          <a:xfrm>
            <a:off x="647998" y="525983"/>
            <a:ext cx="11074609" cy="743793"/>
          </a:xfrm>
          <a:prstGeom prst="rect">
            <a:avLst/>
          </a:prstGeom>
        </p:spPr>
        <p:txBody>
          <a:bodyPr vert="horz" wrap="square" lIns="0" tIns="0" rIns="0" bIns="0" rtlCol="0">
            <a:spAutoFit/>
          </a:bodyPr>
          <a:lstStyle/>
          <a:p>
            <a:pPr marL="20319" marR="0" lvl="0" indent="0" algn="l" defTabSz="1219170" eaLnBrk="1" fontAlgn="auto" latinLnBrk="0" hangingPunct="1">
              <a:lnSpc>
                <a:spcPts val="2180"/>
              </a:lnSpc>
              <a:spcBef>
                <a:spcPts val="0"/>
              </a:spcBef>
              <a:spcAft>
                <a:spcPts val="0"/>
              </a:spcAft>
              <a:buClrTx/>
              <a:buSzTx/>
              <a:buFontTx/>
              <a:buNone/>
              <a:tabLst/>
              <a:defRPr/>
            </a:pPr>
            <a:r>
              <a:rPr kumimoji="0" lang="en-US" sz="1400" i="0" u="none" strike="noStrike" kern="1200" cap="none" spc="-100" normalizeH="0" noProof="0">
                <a:ln>
                  <a:noFill/>
                </a:ln>
                <a:solidFill>
                  <a:srgbClr val="595959"/>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Post-session Questions</a:t>
            </a:r>
          </a:p>
          <a:p>
            <a:pPr marL="20319" marR="0" lvl="0" indent="0" algn="l" defTabSz="1219170" eaLnBrk="1" fontAlgn="auto" latinLnBrk="0" hangingPunct="1">
              <a:spcBef>
                <a:spcPts val="0"/>
              </a:spcBef>
              <a:spcAft>
                <a:spcPts val="0"/>
              </a:spcAft>
              <a:buClrTx/>
              <a:buSzTx/>
              <a:buFontTx/>
              <a:buNone/>
              <a:tabLst/>
              <a:defRPr/>
            </a:pPr>
            <a:r>
              <a:rPr kumimoji="0" lang="en-US" sz="3000" b="1" i="0" u="none" strike="noStrike" kern="1200" cap="none" spc="-100" normalizeH="0" noProof="0">
                <a:ln>
                  <a:noFill/>
                </a:ln>
                <a:solidFill>
                  <a:srgbClr val="060B25"/>
                </a:solidFill>
                <a:effectLst/>
                <a:uLnTx/>
                <a:uFillTx/>
                <a:latin typeface="Aptos" panose="020B0004020202020204" pitchFamily="34" charset="0"/>
                <a:ea typeface="Open Sans" panose="020B0606030504020204" pitchFamily="34" charset="0"/>
                <a:cs typeface="Open Sans" panose="020B0606030504020204" pitchFamily="34" charset="0"/>
                <a:sym typeface="Aptos" panose="020B0004020202020204" pitchFamily="34" charset="0"/>
              </a:rPr>
              <a:t>Differentiators / Competitors</a:t>
            </a:r>
          </a:p>
        </p:txBody>
      </p:sp>
      <p:sp>
        <p:nvSpPr>
          <p:cNvPr id="32" name="object 8">
            <a:extLst>
              <a:ext uri="{FF2B5EF4-FFF2-40B4-BE49-F238E27FC236}">
                <a16:creationId xmlns:a16="http://schemas.microsoft.com/office/drawing/2014/main" id="{E1FA1B8C-4288-3DA6-1C25-466770077ACD}"/>
              </a:ext>
            </a:extLst>
          </p:cNvPr>
          <p:cNvSpPr txBox="1"/>
          <p:nvPr/>
        </p:nvSpPr>
        <p:spPr>
          <a:xfrm>
            <a:off x="647998" y="1353677"/>
            <a:ext cx="10998571" cy="2348506"/>
          </a:xfrm>
          <a:prstGeom prst="rect">
            <a:avLst/>
          </a:prstGeom>
        </p:spPr>
        <p:txBody>
          <a:bodyPr vert="horz" wrap="square" lIns="0" tIns="16933" rIns="0" bIns="0" rtlCol="0">
            <a:spAutoFit/>
          </a:bodyPr>
          <a:lstStyle/>
          <a:p>
            <a:pPr marL="16933" marR="6773" defTabSz="1219170">
              <a:spcBef>
                <a:spcPts val="133"/>
              </a:spcBef>
              <a:tabLst>
                <a:tab pos="321725" algn="l"/>
                <a:tab pos="322572" algn="l"/>
              </a:tabLst>
            </a:pPr>
            <a:r>
              <a:rPr lang="en-GB" sz="1200">
                <a:solidFill>
                  <a:srgbClr val="595959"/>
                </a:solidFill>
                <a:latin typeface="Aptos" panose="020B0004020202020204" pitchFamily="34" charset="0"/>
                <a:cs typeface="Poppins" panose="00000500000000000000" pitchFamily="2" charset="0"/>
                <a:sym typeface="Aptos" panose="020B0004020202020204" pitchFamily="34" charset="0"/>
              </a:rPr>
              <a:t>We don’t believe there is a direct competitor in cyber for our Platform + Managed Services approach, based on several differentiators:</a:t>
            </a:r>
          </a:p>
          <a:p>
            <a:pPr marL="16933" marR="6773" defTabSz="1219170">
              <a:spcBef>
                <a:spcPts val="133"/>
              </a:spcBef>
              <a:tabLst>
                <a:tab pos="321725" algn="l"/>
                <a:tab pos="322572" algn="l"/>
              </a:tabLst>
            </a:pPr>
            <a:endParaRPr lang="en-GB" sz="1200">
              <a:solidFill>
                <a:srgbClr val="595959"/>
              </a:solidFill>
              <a:latin typeface="Aptos" panose="020B0004020202020204" pitchFamily="34" charset="0"/>
              <a:cs typeface="Poppins" panose="00000500000000000000" pitchFamily="2" charset="0"/>
              <a:sym typeface="Aptos" panose="020B0004020202020204" pitchFamily="34" charset="0"/>
            </a:endParaRPr>
          </a:p>
          <a:p>
            <a:pPr marL="188383" marR="6773" indent="-171450" defTabSz="1219170">
              <a:spcBef>
                <a:spcPts val="133"/>
              </a:spcBef>
              <a:buFont typeface="Arial" panose="020B0604020202020204" pitchFamily="34" charset="0"/>
              <a:buChar char="•"/>
              <a:tabLst>
                <a:tab pos="321725" algn="l"/>
                <a:tab pos="322572" algn="l"/>
              </a:tabLst>
            </a:pPr>
            <a:r>
              <a:rPr lang="en-GB" sz="1200">
                <a:solidFill>
                  <a:srgbClr val="595959"/>
                </a:solidFill>
                <a:latin typeface="Aptos" panose="020B0004020202020204" pitchFamily="34" charset="0"/>
                <a:cs typeface="Poppins" panose="00000500000000000000" pitchFamily="2" charset="0"/>
                <a:sym typeface="Aptos" panose="020B0004020202020204" pitchFamily="34" charset="0"/>
              </a:rPr>
              <a:t>We take a Data Fabric and Knowledge Graph-based Platform approach</a:t>
            </a:r>
          </a:p>
          <a:p>
            <a:pPr marL="188383" marR="6773" indent="-171450" defTabSz="1219170">
              <a:spcBef>
                <a:spcPts val="133"/>
              </a:spcBef>
              <a:buFont typeface="Arial" panose="020B0604020202020204" pitchFamily="34" charset="0"/>
              <a:buChar char="•"/>
              <a:tabLst>
                <a:tab pos="321725" algn="l"/>
                <a:tab pos="322572" algn="l"/>
              </a:tabLst>
            </a:pPr>
            <a:r>
              <a:rPr lang="en-GB" sz="1200">
                <a:solidFill>
                  <a:srgbClr val="595959"/>
                </a:solidFill>
                <a:latin typeface="Aptos" panose="020B0004020202020204" pitchFamily="34" charset="0"/>
                <a:cs typeface="Poppins" panose="00000500000000000000" pitchFamily="2" charset="0"/>
                <a:sym typeface="Aptos" panose="020B0004020202020204" pitchFamily="34" charset="0"/>
              </a:rPr>
              <a:t>The Platform enables an almost unlimited set of Cyber Use Cases (Solutions)</a:t>
            </a:r>
          </a:p>
          <a:p>
            <a:pPr marL="188383" marR="6773" indent="-171450" defTabSz="1219170">
              <a:spcBef>
                <a:spcPts val="133"/>
              </a:spcBef>
              <a:buFont typeface="Arial" panose="020B0604020202020204" pitchFamily="34" charset="0"/>
              <a:buChar char="•"/>
              <a:tabLst>
                <a:tab pos="321725" algn="l"/>
                <a:tab pos="322572" algn="l"/>
              </a:tabLst>
            </a:pPr>
            <a:r>
              <a:rPr lang="en-GB" sz="1200">
                <a:solidFill>
                  <a:srgbClr val="595959"/>
                </a:solidFill>
                <a:latin typeface="Aptos" panose="020B0004020202020204" pitchFamily="34" charset="0"/>
                <a:cs typeface="Poppins" panose="00000500000000000000" pitchFamily="2" charset="0"/>
                <a:sym typeface="Aptos" panose="020B0004020202020204" pitchFamily="34" charset="0"/>
              </a:rPr>
              <a:t>The Knowledge Graph provides a context-rich “golden source” that’s a key enabler for Agentic workflows</a:t>
            </a:r>
          </a:p>
          <a:p>
            <a:pPr marL="188383" marR="6773" indent="-171450" defTabSz="1219170">
              <a:spcBef>
                <a:spcPts val="133"/>
              </a:spcBef>
              <a:buFont typeface="Arial" panose="020B0604020202020204" pitchFamily="34" charset="0"/>
              <a:buChar char="•"/>
              <a:tabLst>
                <a:tab pos="321725" algn="l"/>
                <a:tab pos="322572" algn="l"/>
              </a:tabLst>
            </a:pPr>
            <a:r>
              <a:rPr lang="en-GB" sz="1200">
                <a:solidFill>
                  <a:srgbClr val="595959"/>
                </a:solidFill>
                <a:latin typeface="Aptos" panose="020B0004020202020204" pitchFamily="34" charset="0"/>
                <a:cs typeface="Poppins" panose="00000500000000000000" pitchFamily="2" charset="0"/>
                <a:sym typeface="Aptos" panose="020B0004020202020204" pitchFamily="34" charset="0"/>
              </a:rPr>
              <a:t>We wrap a Managed Service around the Platform, that provides each Client with a customised solution to their unique model.  We call this delivery approach “Build with” - giving Clients the advantages of both traditional buy and build approaches</a:t>
            </a:r>
          </a:p>
          <a:p>
            <a:pPr marL="16933" marR="6773" defTabSz="1219170">
              <a:spcBef>
                <a:spcPts val="133"/>
              </a:spcBef>
              <a:tabLst>
                <a:tab pos="321725" algn="l"/>
                <a:tab pos="322572" algn="l"/>
              </a:tabLst>
            </a:pPr>
            <a:endParaRPr lang="en-GB" sz="1200">
              <a:solidFill>
                <a:srgbClr val="595959"/>
              </a:solidFill>
              <a:latin typeface="Aptos" panose="020B0004020202020204" pitchFamily="34" charset="0"/>
              <a:cs typeface="Poppins" panose="00000500000000000000" pitchFamily="2" charset="0"/>
              <a:sym typeface="Aptos" panose="020B0004020202020204" pitchFamily="34" charset="0"/>
            </a:endParaRPr>
          </a:p>
          <a:p>
            <a:pPr marL="16933" marR="6773" defTabSz="1219170">
              <a:spcBef>
                <a:spcPts val="133"/>
              </a:spcBef>
              <a:tabLst>
                <a:tab pos="321725" algn="l"/>
                <a:tab pos="322572" algn="l"/>
              </a:tabLst>
            </a:pPr>
            <a:r>
              <a:rPr lang="en-GB" sz="1200">
                <a:solidFill>
                  <a:srgbClr val="595959"/>
                </a:solidFill>
                <a:latin typeface="Aptos" panose="020B0004020202020204" pitchFamily="34" charset="0"/>
                <a:cs typeface="Poppins" panose="00000500000000000000" pitchFamily="2" charset="0"/>
                <a:sym typeface="Aptos" panose="020B0004020202020204" pitchFamily="34" charset="0"/>
              </a:rPr>
              <a:t>The closest comparison outside of Cyber is Palantir: a pre-built core infrastructure layer, configurable use cases, and an expert team to tailor and extend. </a:t>
            </a:r>
          </a:p>
          <a:p>
            <a:pPr marL="16933" marR="6773" defTabSz="1219170">
              <a:spcBef>
                <a:spcPts val="133"/>
              </a:spcBef>
              <a:tabLst>
                <a:tab pos="321725" algn="l"/>
                <a:tab pos="322572" algn="l"/>
              </a:tabLst>
            </a:pPr>
            <a:endParaRPr lang="en-GB" sz="1200">
              <a:solidFill>
                <a:srgbClr val="595959"/>
              </a:solidFill>
              <a:latin typeface="Aptos" panose="020B0004020202020204" pitchFamily="34" charset="0"/>
              <a:cs typeface="Poppins" panose="00000500000000000000" pitchFamily="2" charset="0"/>
              <a:sym typeface="Aptos" panose="020B0004020202020204" pitchFamily="34" charset="0"/>
            </a:endParaRPr>
          </a:p>
          <a:p>
            <a:pPr marL="16933" marR="6773" defTabSz="1219170">
              <a:spcBef>
                <a:spcPts val="133"/>
              </a:spcBef>
              <a:tabLst>
                <a:tab pos="321725" algn="l"/>
                <a:tab pos="322572" algn="l"/>
              </a:tabLst>
            </a:pPr>
            <a:r>
              <a:rPr lang="en-GB" sz="1200">
                <a:solidFill>
                  <a:srgbClr val="595959"/>
                </a:solidFill>
                <a:latin typeface="Aptos" panose="020B0004020202020204" pitchFamily="34" charset="0"/>
                <a:cs typeface="Poppins" panose="00000500000000000000" pitchFamily="2" charset="0"/>
                <a:sym typeface="Aptos" panose="020B0004020202020204" pitchFamily="34" charset="0"/>
              </a:rPr>
              <a:t>Within Cyber, if you map by Solution area, we’re most often compared against Panaseer (CCM), Axonius and JupiterOne (CAASM), and Nucleus Security and XM Cyber (RBVM / exposure analysis).</a:t>
            </a:r>
            <a:endParaRPr lang="en-US" sz="1200">
              <a:solidFill>
                <a:srgbClr val="595959"/>
              </a:solidFill>
              <a:latin typeface="Aptos" panose="020B0004020202020204" pitchFamily="34" charset="0"/>
              <a:cs typeface="Poppins" panose="00000500000000000000" pitchFamily="2" charset="0"/>
              <a:sym typeface="Aptos" panose="020B0004020202020204" pitchFamily="34" charset="0"/>
            </a:endParaRPr>
          </a:p>
        </p:txBody>
      </p:sp>
    </p:spTree>
    <p:extLst>
      <p:ext uri="{BB962C8B-B14F-4D97-AF65-F5344CB8AC3E}">
        <p14:creationId xmlns:p14="http://schemas.microsoft.com/office/powerpoint/2010/main" val="35651781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338A8-5D9D-454A-AD88-47FBC0B34A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0E5AA7-5803-6153-6018-1E91D10A1894}"/>
              </a:ext>
            </a:extLst>
          </p:cNvPr>
          <p:cNvSpPr>
            <a:spLocks noGrp="1"/>
          </p:cNvSpPr>
          <p:nvPr>
            <p:ph type="title"/>
          </p:nvPr>
        </p:nvSpPr>
        <p:spPr/>
        <p:txBody>
          <a:bodyPr/>
          <a:lstStyle/>
          <a:p>
            <a:r>
              <a:rPr lang="en-US"/>
              <a:t>Knowledge Graph</a:t>
            </a:r>
            <a:endParaRPr lang="en-IN"/>
          </a:p>
        </p:txBody>
      </p:sp>
      <p:sp>
        <p:nvSpPr>
          <p:cNvPr id="6" name="Text Placeholder 2">
            <a:extLst>
              <a:ext uri="{FF2B5EF4-FFF2-40B4-BE49-F238E27FC236}">
                <a16:creationId xmlns:a16="http://schemas.microsoft.com/office/drawing/2014/main" id="{77DF6582-66DB-CEF8-657C-6EEE1683AECE}"/>
              </a:ext>
            </a:extLst>
          </p:cNvPr>
          <p:cNvSpPr>
            <a:spLocks noGrp="1"/>
          </p:cNvSpPr>
          <p:nvPr>
            <p:ph type="body" sz="quarter" idx="12"/>
          </p:nvPr>
        </p:nvSpPr>
        <p:spPr/>
        <p:txBody>
          <a:bodyPr lIns="0" tIns="0" rIns="0" bIns="0" anchor="t"/>
          <a:lstStyle/>
          <a:p>
            <a:r>
              <a:rPr lang="en-GB" sz="1400" b="1">
                <a:latin typeface="Calibri Light"/>
                <a:cs typeface="Calibri Light"/>
              </a:rPr>
              <a:t>How a Knowledge Graph simplifies it</a:t>
            </a:r>
            <a:endParaRPr lang="en-GB" sz="1400" b="1">
              <a:cs typeface="Calibri Light"/>
            </a:endParaRPr>
          </a:p>
          <a:p>
            <a:pPr marL="285750" indent="-285750" algn="l">
              <a:buFont typeface="Arial" panose="020B0604020202020204" pitchFamily="34" charset="0"/>
              <a:buChar char="•"/>
            </a:pPr>
            <a:r>
              <a:rPr lang="en-US" sz="1400"/>
              <a:t>Easily adapt the model by adding nodes and edges, without foreign keys or complex reloads</a:t>
            </a:r>
          </a:p>
          <a:p>
            <a:pPr marL="285750" indent="-285750" algn="l">
              <a:buFont typeface="Arial" panose="020B0604020202020204" pitchFamily="34" charset="0"/>
              <a:buChar char="•"/>
            </a:pPr>
            <a:r>
              <a:rPr lang="en-US" sz="1400"/>
              <a:t>Traversals &amp; aggregations on terabyte-scale volumes across multiple entities have latencies of &lt;5s. </a:t>
            </a:r>
          </a:p>
          <a:p>
            <a:pPr marL="285750" indent="-285750" algn="l">
              <a:buFont typeface="Arial" panose="020B0604020202020204" pitchFamily="34" charset="0"/>
              <a:buChar char="•"/>
            </a:pPr>
            <a:r>
              <a:rPr lang="en-US" sz="1400"/>
              <a:t>Allows independent pipelines for fixing parts of the graph without needing a full re-computation</a:t>
            </a:r>
          </a:p>
        </p:txBody>
      </p:sp>
      <p:sp>
        <p:nvSpPr>
          <p:cNvPr id="7" name="Text Placeholder 2">
            <a:extLst>
              <a:ext uri="{FF2B5EF4-FFF2-40B4-BE49-F238E27FC236}">
                <a16:creationId xmlns:a16="http://schemas.microsoft.com/office/drawing/2014/main" id="{26180378-C96B-97E6-A04D-99A13D3D773D}"/>
              </a:ext>
            </a:extLst>
          </p:cNvPr>
          <p:cNvSpPr txBox="1">
            <a:spLocks/>
          </p:cNvSpPr>
          <p:nvPr/>
        </p:nvSpPr>
        <p:spPr>
          <a:xfrm>
            <a:off x="7953829" y="4238170"/>
            <a:ext cx="4015475" cy="2380344"/>
          </a:xfrm>
          <a:prstGeom prst="rect">
            <a:avLst/>
          </a:prstGeom>
        </p:spPr>
        <p:txBody>
          <a:bodyPr lIns="0" tIns="0" rIns="0" bIns="0" anchor="t"/>
          <a:lstStyle>
            <a:lvl1pPr marL="0" indent="0" algn="l" defTabSz="822960" rtl="0" eaLnBrk="1" latinLnBrk="0" hangingPunct="1">
              <a:lnSpc>
                <a:spcPct val="100000"/>
              </a:lnSpc>
              <a:spcBef>
                <a:spcPts val="0"/>
              </a:spcBef>
              <a:spcAft>
                <a:spcPts val="480"/>
              </a:spcAft>
              <a:buFont typeface="Arial" panose="020B0604020202020204" pitchFamily="34" charset="0"/>
              <a:buNone/>
              <a:defRPr sz="1440" b="0" i="0" kern="1200">
                <a:solidFill>
                  <a:schemeClr val="tx1"/>
                </a:solidFill>
                <a:latin typeface="Calibri Light" charset="0"/>
                <a:ea typeface="Calibri Light" charset="0"/>
                <a:cs typeface="Calibri Light" charset="0"/>
              </a:defRPr>
            </a:lvl1pPr>
            <a:lvl2pPr marL="604800" indent="-259200" algn="l" defTabSz="822960" rtl="0" eaLnBrk="1" latinLnBrk="0" hangingPunct="1">
              <a:lnSpc>
                <a:spcPct val="100000"/>
              </a:lnSpc>
              <a:spcBef>
                <a:spcPts val="0"/>
              </a:spcBef>
              <a:spcAft>
                <a:spcPts val="480"/>
              </a:spcAft>
              <a:buFont typeface="Arial" panose="020B0604020202020204" pitchFamily="34" charset="0"/>
              <a:buChar char="•"/>
              <a:defRPr sz="1260" b="0" i="0" kern="1200">
                <a:solidFill>
                  <a:schemeClr val="tx1"/>
                </a:solidFill>
                <a:latin typeface="Calibri Light" charset="0"/>
                <a:ea typeface="Calibri Light" charset="0"/>
                <a:cs typeface="Calibri Light" charset="0"/>
              </a:defRPr>
            </a:lvl2pPr>
            <a:lvl3pPr marL="950400" indent="-259200" algn="l" defTabSz="822960" rtl="0" eaLnBrk="1" latinLnBrk="0" hangingPunct="1">
              <a:lnSpc>
                <a:spcPct val="100000"/>
              </a:lnSpc>
              <a:spcBef>
                <a:spcPts val="0"/>
              </a:spcBef>
              <a:spcAft>
                <a:spcPts val="480"/>
              </a:spcAft>
              <a:buFont typeface="Arial" panose="020B0604020202020204" pitchFamily="34" charset="0"/>
              <a:buChar char="•"/>
              <a:defRPr sz="1260" b="0" i="0" kern="1200">
                <a:solidFill>
                  <a:schemeClr val="tx1"/>
                </a:solidFill>
                <a:latin typeface="Calibri Light" charset="0"/>
                <a:ea typeface="Calibri Light" charset="0"/>
                <a:cs typeface="Calibri Light" charset="0"/>
              </a:defRPr>
            </a:lvl3pPr>
            <a:lvl4pPr marL="1296000" indent="-259200" algn="l" defTabSz="822960" rtl="0" eaLnBrk="1" latinLnBrk="0" hangingPunct="1">
              <a:lnSpc>
                <a:spcPct val="100000"/>
              </a:lnSpc>
              <a:spcBef>
                <a:spcPts val="0"/>
              </a:spcBef>
              <a:spcAft>
                <a:spcPts val="480"/>
              </a:spcAft>
              <a:buFont typeface="Arial" panose="020B0604020202020204" pitchFamily="34" charset="0"/>
              <a:buChar char="•"/>
              <a:defRPr sz="1200" b="0" i="0" kern="1200">
                <a:solidFill>
                  <a:schemeClr val="tx1"/>
                </a:solidFill>
                <a:latin typeface="Calibri Light" charset="0"/>
                <a:ea typeface="Calibri Light" charset="0"/>
                <a:cs typeface="Calibri Light" charset="0"/>
              </a:defRPr>
            </a:lvl4pPr>
            <a:lvl5pPr marL="1641600" indent="-259200" algn="l" defTabSz="822960" rtl="0" eaLnBrk="1" latinLnBrk="0" hangingPunct="1">
              <a:lnSpc>
                <a:spcPct val="100000"/>
              </a:lnSpc>
              <a:spcBef>
                <a:spcPts val="0"/>
              </a:spcBef>
              <a:spcAft>
                <a:spcPts val="480"/>
              </a:spcAft>
              <a:buFont typeface="Arial" panose="020B0604020202020204" pitchFamily="34" charset="0"/>
              <a:buChar char="•"/>
              <a:defRPr sz="1200" b="0" i="0" kern="1200">
                <a:solidFill>
                  <a:schemeClr val="tx1"/>
                </a:solidFill>
                <a:latin typeface="Calibri Light" charset="0"/>
                <a:ea typeface="Calibri Light" charset="0"/>
                <a:cs typeface="Calibri Light" charset="0"/>
              </a:defRPr>
            </a:lvl5pPr>
            <a:lvl6pPr marL="226314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62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610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5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a:lstStyle>
          <a:p>
            <a:r>
              <a:rPr lang="en-GB" sz="1400" b="1">
                <a:latin typeface="Calibri Light"/>
                <a:cs typeface="Calibri Light"/>
              </a:rPr>
              <a:t>Typical client Metrics</a:t>
            </a:r>
            <a:endParaRPr lang="en-GB" sz="1400" b="1">
              <a:cs typeface="Calibri Light"/>
            </a:endParaRPr>
          </a:p>
          <a:p>
            <a:pPr marL="285750" indent="-285750">
              <a:buFont typeface="Arial" panose="020B0604020202020204" pitchFamily="34" charset="0"/>
              <a:buChar char="•"/>
            </a:pPr>
            <a:r>
              <a:rPr lang="en-GB" sz="1400"/>
              <a:t>&gt; 5M nodes &amp; &gt; 30M edges in the knowledge graph</a:t>
            </a:r>
          </a:p>
          <a:p>
            <a:pPr marL="285750" indent="-285750">
              <a:buFont typeface="Arial" panose="020B0604020202020204" pitchFamily="34" charset="0"/>
              <a:buChar char="•"/>
            </a:pPr>
            <a:r>
              <a:rPr lang="en-GB" sz="1400"/>
              <a:t>&gt; 1B records considering history</a:t>
            </a:r>
          </a:p>
          <a:p>
            <a:pPr marL="285750" indent="-285750">
              <a:buFont typeface="Arial" panose="020B0604020202020204" pitchFamily="34" charset="0"/>
              <a:buChar char="•"/>
            </a:pPr>
            <a:r>
              <a:rPr lang="en-GB" sz="1400"/>
              <a:t>&gt;100 data pipelines monitored for failures</a:t>
            </a:r>
          </a:p>
          <a:p>
            <a:pPr marL="285750" indent="-285750">
              <a:buFont typeface="Arial" panose="020B0604020202020204" pitchFamily="34" charset="0"/>
              <a:buChar char="•"/>
            </a:pPr>
            <a:r>
              <a:rPr lang="en-GB" sz="1400"/>
              <a:t>&gt; 20 data sources into a single entity </a:t>
            </a:r>
            <a:br>
              <a:rPr lang="en-GB" sz="1400"/>
            </a:br>
            <a:r>
              <a:rPr lang="en-GB" sz="1400"/>
              <a:t>(largest entity tested on 54 data sources)</a:t>
            </a:r>
          </a:p>
          <a:p>
            <a:pPr marL="285750" indent="-285750">
              <a:buFont typeface="Arial" panose="020B0604020202020204" pitchFamily="34" charset="0"/>
              <a:buChar char="•"/>
            </a:pPr>
            <a:r>
              <a:rPr lang="en-GB" sz="1400"/>
              <a:t>&gt; 1000 attributes across all entities and relationships</a:t>
            </a:r>
          </a:p>
          <a:p>
            <a:pPr marL="285750" indent="-285750">
              <a:buFont typeface="Arial" panose="020B0604020202020204" pitchFamily="34" charset="0"/>
              <a:buChar char="•"/>
            </a:pPr>
            <a:r>
              <a:rPr lang="en-GB" sz="1400"/>
              <a:t>1TB of raw volume reduced to ~50GB in the graph</a:t>
            </a:r>
          </a:p>
          <a:p>
            <a:pPr marL="171450" indent="-171450">
              <a:buChar char="•"/>
            </a:pPr>
            <a:endParaRPr lang="en-GB" sz="1400"/>
          </a:p>
        </p:txBody>
      </p:sp>
      <p:sp>
        <p:nvSpPr>
          <p:cNvPr id="10" name="Rectangle: Rounded Corners 16">
            <a:extLst>
              <a:ext uri="{FF2B5EF4-FFF2-40B4-BE49-F238E27FC236}">
                <a16:creationId xmlns:a16="http://schemas.microsoft.com/office/drawing/2014/main" id="{8C18CA31-A3F0-5B8F-B0D2-A3DFF9C2CFB6}"/>
              </a:ext>
            </a:extLst>
          </p:cNvPr>
          <p:cNvSpPr/>
          <p:nvPr/>
        </p:nvSpPr>
        <p:spPr>
          <a:xfrm>
            <a:off x="2409372" y="930373"/>
            <a:ext cx="6758382" cy="3063375"/>
          </a:xfrm>
          <a:prstGeom prst="roundRect">
            <a:avLst>
              <a:gd name="adj" fmla="val 3633"/>
            </a:avLst>
          </a:prstGeom>
          <a:noFill/>
          <a:ln w="6350">
            <a:solidFill>
              <a:schemeClr val="bg1">
                <a:lumMod val="75000"/>
              </a:schemeClr>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80">
              <a:noFill/>
            </a:endParaRPr>
          </a:p>
        </p:txBody>
      </p:sp>
      <p:pic>
        <p:nvPicPr>
          <p:cNvPr id="12" name="Picture 11" descr="A diagram of a flowchart&#10;&#10;Description automatically generated">
            <a:extLst>
              <a:ext uri="{FF2B5EF4-FFF2-40B4-BE49-F238E27FC236}">
                <a16:creationId xmlns:a16="http://schemas.microsoft.com/office/drawing/2014/main" id="{0B5DE475-2F56-D9D0-78FE-472EAFF5F7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1441" y="959127"/>
            <a:ext cx="6554243" cy="3034621"/>
          </a:xfrm>
          <a:prstGeom prst="rect">
            <a:avLst/>
          </a:prstGeom>
        </p:spPr>
      </p:pic>
      <p:sp>
        <p:nvSpPr>
          <p:cNvPr id="3" name="Text Placeholder 2">
            <a:extLst>
              <a:ext uri="{FF2B5EF4-FFF2-40B4-BE49-F238E27FC236}">
                <a16:creationId xmlns:a16="http://schemas.microsoft.com/office/drawing/2014/main" id="{C49ADA10-AF13-862F-D432-203CCD1BB341}"/>
              </a:ext>
            </a:extLst>
          </p:cNvPr>
          <p:cNvSpPr txBox="1">
            <a:spLocks/>
          </p:cNvSpPr>
          <p:nvPr/>
        </p:nvSpPr>
        <p:spPr>
          <a:xfrm>
            <a:off x="353326" y="4238169"/>
            <a:ext cx="3667131" cy="2133601"/>
          </a:xfrm>
          <a:prstGeom prst="rect">
            <a:avLst/>
          </a:prstGeom>
        </p:spPr>
        <p:txBody>
          <a:bodyPr lIns="0" tIns="0" rIns="0" bIns="0" anchor="t"/>
          <a:lstStyle>
            <a:lvl1pPr marL="0" indent="0" algn="l" defTabSz="822960" rtl="0" eaLnBrk="1" latinLnBrk="0" hangingPunct="1">
              <a:lnSpc>
                <a:spcPct val="100000"/>
              </a:lnSpc>
              <a:spcBef>
                <a:spcPts val="0"/>
              </a:spcBef>
              <a:spcAft>
                <a:spcPts val="480"/>
              </a:spcAft>
              <a:buFont typeface="Arial" panose="020B0604020202020204" pitchFamily="34" charset="0"/>
              <a:buNone/>
              <a:defRPr sz="1440" b="0" i="0" kern="1200">
                <a:solidFill>
                  <a:schemeClr val="tx1"/>
                </a:solidFill>
                <a:latin typeface="Calibri Light" charset="0"/>
                <a:ea typeface="Calibri Light" charset="0"/>
                <a:cs typeface="Calibri Light" charset="0"/>
              </a:defRPr>
            </a:lvl1pPr>
            <a:lvl2pPr marL="604800" indent="-259200" algn="l" defTabSz="822960" rtl="0" eaLnBrk="1" latinLnBrk="0" hangingPunct="1">
              <a:lnSpc>
                <a:spcPct val="100000"/>
              </a:lnSpc>
              <a:spcBef>
                <a:spcPts val="0"/>
              </a:spcBef>
              <a:spcAft>
                <a:spcPts val="480"/>
              </a:spcAft>
              <a:buFont typeface="Arial" panose="020B0604020202020204" pitchFamily="34" charset="0"/>
              <a:buChar char="•"/>
              <a:defRPr sz="1260" b="0" i="0" kern="1200">
                <a:solidFill>
                  <a:schemeClr val="tx1"/>
                </a:solidFill>
                <a:latin typeface="Calibri Light" charset="0"/>
                <a:ea typeface="Calibri Light" charset="0"/>
                <a:cs typeface="Calibri Light" charset="0"/>
              </a:defRPr>
            </a:lvl2pPr>
            <a:lvl3pPr marL="950400" indent="-259200" algn="l" defTabSz="822960" rtl="0" eaLnBrk="1" latinLnBrk="0" hangingPunct="1">
              <a:lnSpc>
                <a:spcPct val="100000"/>
              </a:lnSpc>
              <a:spcBef>
                <a:spcPts val="0"/>
              </a:spcBef>
              <a:spcAft>
                <a:spcPts val="480"/>
              </a:spcAft>
              <a:buFont typeface="Arial" panose="020B0604020202020204" pitchFamily="34" charset="0"/>
              <a:buChar char="•"/>
              <a:defRPr sz="1260" b="0" i="0" kern="1200">
                <a:solidFill>
                  <a:schemeClr val="tx1"/>
                </a:solidFill>
                <a:latin typeface="Calibri Light" charset="0"/>
                <a:ea typeface="Calibri Light" charset="0"/>
                <a:cs typeface="Calibri Light" charset="0"/>
              </a:defRPr>
            </a:lvl3pPr>
            <a:lvl4pPr marL="1296000" indent="-259200" algn="l" defTabSz="822960" rtl="0" eaLnBrk="1" latinLnBrk="0" hangingPunct="1">
              <a:lnSpc>
                <a:spcPct val="100000"/>
              </a:lnSpc>
              <a:spcBef>
                <a:spcPts val="0"/>
              </a:spcBef>
              <a:spcAft>
                <a:spcPts val="480"/>
              </a:spcAft>
              <a:buFont typeface="Arial" panose="020B0604020202020204" pitchFamily="34" charset="0"/>
              <a:buChar char="•"/>
              <a:defRPr sz="1200" b="0" i="0" kern="1200">
                <a:solidFill>
                  <a:schemeClr val="tx1"/>
                </a:solidFill>
                <a:latin typeface="Calibri Light" charset="0"/>
                <a:ea typeface="Calibri Light" charset="0"/>
                <a:cs typeface="Calibri Light" charset="0"/>
              </a:defRPr>
            </a:lvl4pPr>
            <a:lvl5pPr marL="1641600" indent="-259200" algn="l" defTabSz="822960" rtl="0" eaLnBrk="1" latinLnBrk="0" hangingPunct="1">
              <a:lnSpc>
                <a:spcPct val="100000"/>
              </a:lnSpc>
              <a:spcBef>
                <a:spcPts val="0"/>
              </a:spcBef>
              <a:spcAft>
                <a:spcPts val="480"/>
              </a:spcAft>
              <a:buFont typeface="Arial" panose="020B0604020202020204" pitchFamily="34" charset="0"/>
              <a:buChar char="•"/>
              <a:defRPr sz="1200" b="0" i="0" kern="1200">
                <a:solidFill>
                  <a:schemeClr val="tx1"/>
                </a:solidFill>
                <a:latin typeface="Calibri Light" charset="0"/>
                <a:ea typeface="Calibri Light" charset="0"/>
                <a:cs typeface="Calibri Light" charset="0"/>
              </a:defRPr>
            </a:lvl5pPr>
            <a:lvl6pPr marL="226314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62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610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5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a:lstStyle>
          <a:p>
            <a:r>
              <a:rPr lang="en-GB" sz="1400" b="1">
                <a:latin typeface="Calibri Light"/>
                <a:cs typeface="Calibri Light"/>
              </a:rPr>
              <a:t>Key Challenges</a:t>
            </a:r>
          </a:p>
          <a:p>
            <a:pPr marL="111125" indent="-111125">
              <a:buFont typeface="Arial" panose="020B0604020202020204" pitchFamily="34" charset="0"/>
              <a:buChar char="•"/>
            </a:pPr>
            <a:r>
              <a:rPr lang="en-US" sz="1400" b="1"/>
              <a:t>Flexibility</a:t>
            </a:r>
            <a:r>
              <a:rPr lang="en-US" sz="1400"/>
              <a:t>: Adapting to new threats, domains and technologies</a:t>
            </a:r>
          </a:p>
          <a:p>
            <a:pPr marL="111125" indent="-111125">
              <a:buFont typeface="Arial" panose="020B0604020202020204" pitchFamily="34" charset="0"/>
              <a:buChar char="•"/>
            </a:pPr>
            <a:r>
              <a:rPr lang="en-US" sz="1400" b="1"/>
              <a:t>Performance and scalability</a:t>
            </a:r>
            <a:r>
              <a:rPr lang="en-US" sz="1400"/>
              <a:t>: Performance on millions of nodes and edges  </a:t>
            </a:r>
          </a:p>
          <a:p>
            <a:pPr marL="111125" indent="-111125">
              <a:buFont typeface="Arial" panose="020B0604020202020204" pitchFamily="34" charset="0"/>
              <a:buChar char="•"/>
            </a:pPr>
            <a:r>
              <a:rPr lang="en-GB" sz="1400" b="1"/>
              <a:t>Quality</a:t>
            </a:r>
            <a:r>
              <a:rPr lang="en-GB" sz="1400"/>
              <a:t>: Variety, incompleteness &amp; inconsistency </a:t>
            </a:r>
            <a:r>
              <a:rPr lang="en-US" sz="1400"/>
              <a:t>across diverse data sources</a:t>
            </a:r>
            <a:endParaRPr lang="en-GB" sz="1400"/>
          </a:p>
        </p:txBody>
      </p:sp>
    </p:spTree>
    <p:extLst>
      <p:ext uri="{BB962C8B-B14F-4D97-AF65-F5344CB8AC3E}">
        <p14:creationId xmlns:p14="http://schemas.microsoft.com/office/powerpoint/2010/main" val="15613817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3526-1D90-5B77-AEFE-ABCF5FBBF4A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1D81FFB-7468-8726-F32E-E3680382971A}"/>
              </a:ext>
            </a:extLst>
          </p:cNvPr>
          <p:cNvSpPr>
            <a:spLocks noGrp="1"/>
          </p:cNvSpPr>
          <p:nvPr>
            <p:ph type="body" sz="quarter" idx="10"/>
          </p:nvPr>
        </p:nvSpPr>
        <p:spPr/>
        <p:txBody>
          <a:bodyPr/>
          <a:lstStyle/>
          <a:p>
            <a:r>
              <a:rPr lang="en-GB" b="0">
                <a:solidFill>
                  <a:schemeClr val="bg1"/>
                </a:solidFill>
              </a:rPr>
              <a:t>Exposure Management</a:t>
            </a:r>
          </a:p>
        </p:txBody>
      </p:sp>
    </p:spTree>
    <p:extLst>
      <p:ext uri="{BB962C8B-B14F-4D97-AF65-F5344CB8AC3E}">
        <p14:creationId xmlns:p14="http://schemas.microsoft.com/office/powerpoint/2010/main" val="26775599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B1926-900C-02FB-21EF-7355F7D8FB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CD5CD6-3637-B1CF-A2A7-1B5723D660C1}"/>
              </a:ext>
            </a:extLst>
          </p:cNvPr>
          <p:cNvSpPr>
            <a:spLocks noGrp="1"/>
          </p:cNvSpPr>
          <p:nvPr>
            <p:ph type="title"/>
          </p:nvPr>
        </p:nvSpPr>
        <p:spPr/>
        <p:txBody>
          <a:bodyPr/>
          <a:lstStyle/>
          <a:p>
            <a:r>
              <a:rPr lang="en-GB"/>
              <a:t>Traditional Vulnerability Management cannot keep up</a:t>
            </a:r>
          </a:p>
        </p:txBody>
      </p:sp>
      <p:sp>
        <p:nvSpPr>
          <p:cNvPr id="7" name="Text Placeholder 2">
            <a:extLst>
              <a:ext uri="{FF2B5EF4-FFF2-40B4-BE49-F238E27FC236}">
                <a16:creationId xmlns:a16="http://schemas.microsoft.com/office/drawing/2014/main" id="{673149DC-7EE7-1B52-D84D-CFAC46F517D5}"/>
              </a:ext>
            </a:extLst>
          </p:cNvPr>
          <p:cNvSpPr>
            <a:spLocks noGrp="1"/>
          </p:cNvSpPr>
          <p:nvPr>
            <p:ph type="body" sz="quarter" idx="12"/>
          </p:nvPr>
        </p:nvSpPr>
        <p:spPr/>
        <p:txBody>
          <a:bodyPr/>
          <a:lstStyle/>
          <a:p>
            <a:pPr rtl="0"/>
            <a:r>
              <a:rPr lang="en-GB" sz="1400">
                <a:solidFill>
                  <a:schemeClr val="tx2">
                    <a:lumMod val="85000"/>
                    <a:lumOff val="15000"/>
                  </a:schemeClr>
                </a:solidFill>
              </a:rPr>
              <a:t> Limitations of traditional VM tools:</a:t>
            </a:r>
          </a:p>
          <a:p>
            <a:pPr marL="286740" indent="-342900">
              <a:buFont typeface="+mj-lt"/>
              <a:buAutoNum type="arabicPeriod"/>
            </a:pPr>
            <a:r>
              <a:rPr lang="en-GB" sz="1400">
                <a:solidFill>
                  <a:schemeClr val="tx2">
                    <a:lumMod val="85000"/>
                    <a:lumOff val="15000"/>
                  </a:schemeClr>
                </a:solidFill>
              </a:rPr>
              <a:t>Limited attack surface visibility –&gt; if you can’t see it, you can’t secure it</a:t>
            </a:r>
          </a:p>
          <a:p>
            <a:pPr marL="286740" indent="-342900">
              <a:buFont typeface="+mj-lt"/>
              <a:buAutoNum type="arabicPeriod"/>
            </a:pPr>
            <a:r>
              <a:rPr lang="en-GB" sz="1400">
                <a:solidFill>
                  <a:schemeClr val="tx2">
                    <a:lumMod val="85000"/>
                    <a:lumOff val="15000"/>
                  </a:schemeClr>
                </a:solidFill>
              </a:rPr>
              <a:t>Blind to control weaknesses -&gt; only seeing half the picture</a:t>
            </a:r>
          </a:p>
          <a:p>
            <a:pPr marL="286740" indent="-342900">
              <a:buFont typeface="+mj-lt"/>
              <a:buAutoNum type="arabicPeriod"/>
            </a:pPr>
            <a:r>
              <a:rPr lang="en-GB" sz="1400">
                <a:solidFill>
                  <a:schemeClr val="tx2">
                    <a:lumMod val="85000"/>
                    <a:lumOff val="15000"/>
                  </a:schemeClr>
                </a:solidFill>
              </a:rPr>
              <a:t>Minimal context -&gt; limits prioritisation, leads to “whack a mole”</a:t>
            </a:r>
          </a:p>
          <a:p>
            <a:pPr marL="286740" indent="-342900">
              <a:buFont typeface="+mj-lt"/>
              <a:buAutoNum type="arabicPeriod"/>
            </a:pPr>
            <a:r>
              <a:rPr lang="en-GB" sz="1400">
                <a:solidFill>
                  <a:schemeClr val="tx2">
                    <a:lumMod val="85000"/>
                    <a:lumOff val="15000"/>
                  </a:schemeClr>
                </a:solidFill>
              </a:rPr>
              <a:t>No remediation capability -&gt; problems without solutions </a:t>
            </a:r>
          </a:p>
          <a:p>
            <a:endParaRPr lang="en-GB" sz="1400">
              <a:solidFill>
                <a:schemeClr val="tx2">
                  <a:lumMod val="85000"/>
                  <a:lumOff val="15000"/>
                </a:schemeClr>
              </a:solidFill>
            </a:endParaRPr>
          </a:p>
        </p:txBody>
      </p:sp>
      <p:sp>
        <p:nvSpPr>
          <p:cNvPr id="10" name="TextBox 9">
            <a:extLst>
              <a:ext uri="{FF2B5EF4-FFF2-40B4-BE49-F238E27FC236}">
                <a16:creationId xmlns:a16="http://schemas.microsoft.com/office/drawing/2014/main" id="{C6977E53-7174-8720-71C9-EC858BF4BB84}"/>
              </a:ext>
            </a:extLst>
          </p:cNvPr>
          <p:cNvSpPr txBox="1"/>
          <p:nvPr/>
        </p:nvSpPr>
        <p:spPr>
          <a:xfrm>
            <a:off x="6096000" y="6344912"/>
            <a:ext cx="234038" cy="147733"/>
          </a:xfrm>
          <a:prstGeom prst="rect">
            <a:avLst/>
          </a:prstGeom>
          <a:noFill/>
        </p:spPr>
        <p:txBody>
          <a:bodyPr wrap="none" lIns="0" tIns="0" rIns="0" bIns="0" rtlCol="0">
            <a:spAutoFit/>
          </a:bodyPr>
          <a:lstStyle/>
          <a:p>
            <a:r>
              <a:rPr lang="en-US" sz="960">
                <a:solidFill>
                  <a:schemeClr val="tx2">
                    <a:lumMod val="85000"/>
                    <a:lumOff val="15000"/>
                  </a:schemeClr>
                </a:solidFill>
                <a:latin typeface="Calibri Light" charset="0"/>
                <a:ea typeface="Calibri Light" charset="0"/>
                <a:cs typeface="Calibri Light" charset="0"/>
              </a:rPr>
              <a:t>Date</a:t>
            </a:r>
          </a:p>
        </p:txBody>
      </p:sp>
      <p:sp>
        <p:nvSpPr>
          <p:cNvPr id="11" name="TextBox 10">
            <a:extLst>
              <a:ext uri="{FF2B5EF4-FFF2-40B4-BE49-F238E27FC236}">
                <a16:creationId xmlns:a16="http://schemas.microsoft.com/office/drawing/2014/main" id="{6659A92F-12B7-0B7F-8F74-DB2F1FE21158}"/>
              </a:ext>
            </a:extLst>
          </p:cNvPr>
          <p:cNvSpPr txBox="1"/>
          <p:nvPr/>
        </p:nvSpPr>
        <p:spPr>
          <a:xfrm rot="16200000">
            <a:off x="1616072" y="4572093"/>
            <a:ext cx="496931" cy="147733"/>
          </a:xfrm>
          <a:prstGeom prst="rect">
            <a:avLst/>
          </a:prstGeom>
          <a:noFill/>
        </p:spPr>
        <p:txBody>
          <a:bodyPr wrap="none" lIns="0" tIns="0" rIns="0" bIns="0" rtlCol="0">
            <a:spAutoFit/>
          </a:bodyPr>
          <a:lstStyle/>
          <a:p>
            <a:r>
              <a:rPr lang="en-US" sz="960">
                <a:solidFill>
                  <a:schemeClr val="tx2">
                    <a:lumMod val="85000"/>
                    <a:lumOff val="15000"/>
                  </a:schemeClr>
                </a:solidFill>
                <a:latin typeface="Calibri Light" charset="0"/>
                <a:ea typeface="Calibri Light" charset="0"/>
                <a:cs typeface="Calibri Light" charset="0"/>
              </a:rPr>
              <a:t>New CVEs</a:t>
            </a:r>
          </a:p>
        </p:txBody>
      </p:sp>
      <p:sp>
        <p:nvSpPr>
          <p:cNvPr id="12" name="TextBox 11">
            <a:extLst>
              <a:ext uri="{FF2B5EF4-FFF2-40B4-BE49-F238E27FC236}">
                <a16:creationId xmlns:a16="http://schemas.microsoft.com/office/drawing/2014/main" id="{3FAB5EEE-FBFD-F202-7F55-17CBF2450745}"/>
              </a:ext>
            </a:extLst>
          </p:cNvPr>
          <p:cNvSpPr txBox="1"/>
          <p:nvPr/>
        </p:nvSpPr>
        <p:spPr>
          <a:xfrm>
            <a:off x="2297951" y="5953154"/>
            <a:ext cx="62518" cy="147733"/>
          </a:xfrm>
          <a:prstGeom prst="rect">
            <a:avLst/>
          </a:prstGeom>
          <a:noFill/>
        </p:spPr>
        <p:txBody>
          <a:bodyPr wrap="none" lIns="0" tIns="0" rIns="0" bIns="0" rtlCol="0">
            <a:spAutoFit/>
          </a:bodyPr>
          <a:lstStyle/>
          <a:p>
            <a:pPr algn="r"/>
            <a:r>
              <a:rPr lang="en-US" sz="960">
                <a:solidFill>
                  <a:schemeClr val="tx2">
                    <a:lumMod val="85000"/>
                    <a:lumOff val="15000"/>
                  </a:schemeClr>
                </a:solidFill>
                <a:latin typeface="Calibri Light" charset="0"/>
                <a:ea typeface="Calibri Light" charset="0"/>
                <a:cs typeface="Calibri Light" charset="0"/>
              </a:rPr>
              <a:t>0</a:t>
            </a:r>
          </a:p>
        </p:txBody>
      </p:sp>
      <p:sp>
        <p:nvSpPr>
          <p:cNvPr id="13" name="TextBox 12">
            <a:extLst>
              <a:ext uri="{FF2B5EF4-FFF2-40B4-BE49-F238E27FC236}">
                <a16:creationId xmlns:a16="http://schemas.microsoft.com/office/drawing/2014/main" id="{DB6DA27E-E659-0F15-C9CE-EDBBE6EC43B1}"/>
              </a:ext>
            </a:extLst>
          </p:cNvPr>
          <p:cNvSpPr txBox="1"/>
          <p:nvPr/>
        </p:nvSpPr>
        <p:spPr>
          <a:xfrm>
            <a:off x="2002985" y="5568569"/>
            <a:ext cx="357484" cy="147733"/>
          </a:xfrm>
          <a:prstGeom prst="rect">
            <a:avLst/>
          </a:prstGeom>
          <a:noFill/>
        </p:spPr>
        <p:txBody>
          <a:bodyPr wrap="square" lIns="0" tIns="0" rIns="0" bIns="0" rtlCol="0">
            <a:spAutoFit/>
          </a:bodyPr>
          <a:lstStyle/>
          <a:p>
            <a:pPr algn="r"/>
            <a:r>
              <a:rPr lang="en-US" sz="960">
                <a:solidFill>
                  <a:schemeClr val="tx2">
                    <a:lumMod val="85000"/>
                    <a:lumOff val="15000"/>
                  </a:schemeClr>
                </a:solidFill>
                <a:latin typeface="Calibri Light" charset="0"/>
                <a:ea typeface="Calibri Light" charset="0"/>
                <a:cs typeface="Calibri Light" charset="0"/>
              </a:rPr>
              <a:t>5000</a:t>
            </a:r>
          </a:p>
        </p:txBody>
      </p:sp>
      <p:sp>
        <p:nvSpPr>
          <p:cNvPr id="14" name="TextBox 13">
            <a:extLst>
              <a:ext uri="{FF2B5EF4-FFF2-40B4-BE49-F238E27FC236}">
                <a16:creationId xmlns:a16="http://schemas.microsoft.com/office/drawing/2014/main" id="{610A6A54-48C7-2664-CF15-2A046012AC6A}"/>
              </a:ext>
            </a:extLst>
          </p:cNvPr>
          <p:cNvSpPr txBox="1"/>
          <p:nvPr/>
        </p:nvSpPr>
        <p:spPr>
          <a:xfrm>
            <a:off x="2047883" y="5137246"/>
            <a:ext cx="312585" cy="147733"/>
          </a:xfrm>
          <a:prstGeom prst="rect">
            <a:avLst/>
          </a:prstGeom>
          <a:noFill/>
        </p:spPr>
        <p:txBody>
          <a:bodyPr wrap="none" lIns="0" tIns="0" rIns="0" bIns="0" rtlCol="0">
            <a:spAutoFit/>
          </a:bodyPr>
          <a:lstStyle/>
          <a:p>
            <a:pPr algn="r"/>
            <a:r>
              <a:rPr lang="en-US" sz="960">
                <a:solidFill>
                  <a:schemeClr val="tx2">
                    <a:lumMod val="85000"/>
                    <a:lumOff val="15000"/>
                  </a:schemeClr>
                </a:solidFill>
                <a:latin typeface="Calibri Light" charset="0"/>
                <a:ea typeface="Calibri Light" charset="0"/>
                <a:cs typeface="Calibri Light" charset="0"/>
              </a:rPr>
              <a:t>10000</a:t>
            </a:r>
          </a:p>
        </p:txBody>
      </p:sp>
      <p:sp>
        <p:nvSpPr>
          <p:cNvPr id="17" name="TextBox 16">
            <a:extLst>
              <a:ext uri="{FF2B5EF4-FFF2-40B4-BE49-F238E27FC236}">
                <a16:creationId xmlns:a16="http://schemas.microsoft.com/office/drawing/2014/main" id="{9038B8F4-F232-52E9-1A94-96DC26A9BC7B}"/>
              </a:ext>
            </a:extLst>
          </p:cNvPr>
          <p:cNvSpPr txBox="1"/>
          <p:nvPr/>
        </p:nvSpPr>
        <p:spPr>
          <a:xfrm>
            <a:off x="2047883" y="3542534"/>
            <a:ext cx="312585" cy="147733"/>
          </a:xfrm>
          <a:prstGeom prst="rect">
            <a:avLst/>
          </a:prstGeom>
          <a:noFill/>
        </p:spPr>
        <p:txBody>
          <a:bodyPr wrap="none" lIns="0" tIns="0" rIns="0" bIns="0" rtlCol="0">
            <a:spAutoFit/>
          </a:bodyPr>
          <a:lstStyle/>
          <a:p>
            <a:pPr algn="r"/>
            <a:r>
              <a:rPr lang="en-US" sz="960">
                <a:solidFill>
                  <a:schemeClr val="tx2">
                    <a:lumMod val="85000"/>
                    <a:lumOff val="15000"/>
                  </a:schemeClr>
                </a:solidFill>
                <a:latin typeface="Calibri Light" charset="0"/>
                <a:ea typeface="Calibri Light" charset="0"/>
                <a:cs typeface="Calibri Light" charset="0"/>
              </a:rPr>
              <a:t>30000</a:t>
            </a:r>
          </a:p>
        </p:txBody>
      </p:sp>
      <p:sp>
        <p:nvSpPr>
          <p:cNvPr id="18" name="TextBox 17">
            <a:extLst>
              <a:ext uri="{FF2B5EF4-FFF2-40B4-BE49-F238E27FC236}">
                <a16:creationId xmlns:a16="http://schemas.microsoft.com/office/drawing/2014/main" id="{36CB5875-8F30-61C5-C887-6B3D9FF7164B}"/>
              </a:ext>
            </a:extLst>
          </p:cNvPr>
          <p:cNvSpPr txBox="1"/>
          <p:nvPr/>
        </p:nvSpPr>
        <p:spPr>
          <a:xfrm>
            <a:off x="1938404" y="3152127"/>
            <a:ext cx="422064" cy="147733"/>
          </a:xfrm>
          <a:prstGeom prst="rect">
            <a:avLst/>
          </a:prstGeom>
          <a:noFill/>
        </p:spPr>
        <p:txBody>
          <a:bodyPr wrap="square" lIns="0" tIns="0" rIns="0" bIns="0" rtlCol="0">
            <a:spAutoFit/>
          </a:bodyPr>
          <a:lstStyle/>
          <a:p>
            <a:pPr algn="r"/>
            <a:r>
              <a:rPr lang="en-US" sz="960">
                <a:solidFill>
                  <a:schemeClr val="tx2">
                    <a:lumMod val="85000"/>
                    <a:lumOff val="15000"/>
                  </a:schemeClr>
                </a:solidFill>
                <a:latin typeface="Calibri Light" charset="0"/>
                <a:ea typeface="Calibri Light" charset="0"/>
                <a:cs typeface="Calibri Light" charset="0"/>
              </a:rPr>
              <a:t>35000</a:t>
            </a:r>
          </a:p>
        </p:txBody>
      </p:sp>
      <p:sp>
        <p:nvSpPr>
          <p:cNvPr id="22" name="TextBox 21">
            <a:extLst>
              <a:ext uri="{FF2B5EF4-FFF2-40B4-BE49-F238E27FC236}">
                <a16:creationId xmlns:a16="http://schemas.microsoft.com/office/drawing/2014/main" id="{8B42AC15-BA9F-A5D2-B940-DDDE7CF137B4}"/>
              </a:ext>
            </a:extLst>
          </p:cNvPr>
          <p:cNvSpPr txBox="1"/>
          <p:nvPr/>
        </p:nvSpPr>
        <p:spPr>
          <a:xfrm>
            <a:off x="2047883" y="3945891"/>
            <a:ext cx="312585" cy="147733"/>
          </a:xfrm>
          <a:prstGeom prst="rect">
            <a:avLst/>
          </a:prstGeom>
          <a:noFill/>
        </p:spPr>
        <p:txBody>
          <a:bodyPr wrap="none" lIns="0" tIns="0" rIns="0" bIns="0" rtlCol="0">
            <a:spAutoFit/>
          </a:bodyPr>
          <a:lstStyle/>
          <a:p>
            <a:pPr algn="r"/>
            <a:r>
              <a:rPr lang="en-US" sz="960">
                <a:solidFill>
                  <a:schemeClr val="tx2">
                    <a:lumMod val="85000"/>
                    <a:lumOff val="15000"/>
                  </a:schemeClr>
                </a:solidFill>
                <a:latin typeface="Calibri Light" charset="0"/>
                <a:ea typeface="Calibri Light" charset="0"/>
                <a:cs typeface="Calibri Light" charset="0"/>
              </a:rPr>
              <a:t>25000</a:t>
            </a:r>
          </a:p>
        </p:txBody>
      </p:sp>
      <p:sp>
        <p:nvSpPr>
          <p:cNvPr id="23" name="TextBox 22">
            <a:extLst>
              <a:ext uri="{FF2B5EF4-FFF2-40B4-BE49-F238E27FC236}">
                <a16:creationId xmlns:a16="http://schemas.microsoft.com/office/drawing/2014/main" id="{5DEECF2E-FCA6-7865-1F26-EBADF968C212}"/>
              </a:ext>
            </a:extLst>
          </p:cNvPr>
          <p:cNvSpPr txBox="1"/>
          <p:nvPr/>
        </p:nvSpPr>
        <p:spPr>
          <a:xfrm>
            <a:off x="2047883" y="4752662"/>
            <a:ext cx="312585" cy="147733"/>
          </a:xfrm>
          <a:prstGeom prst="rect">
            <a:avLst/>
          </a:prstGeom>
          <a:noFill/>
        </p:spPr>
        <p:txBody>
          <a:bodyPr wrap="none" lIns="0" tIns="0" rIns="0" bIns="0" rtlCol="0">
            <a:spAutoFit/>
          </a:bodyPr>
          <a:lstStyle/>
          <a:p>
            <a:pPr algn="r"/>
            <a:r>
              <a:rPr lang="en-US" sz="960">
                <a:solidFill>
                  <a:schemeClr val="tx2">
                    <a:lumMod val="85000"/>
                    <a:lumOff val="15000"/>
                  </a:schemeClr>
                </a:solidFill>
                <a:latin typeface="Calibri Light" charset="0"/>
                <a:ea typeface="Calibri Light" charset="0"/>
                <a:cs typeface="Calibri Light" charset="0"/>
              </a:rPr>
              <a:t>15000</a:t>
            </a:r>
          </a:p>
        </p:txBody>
      </p:sp>
      <p:sp>
        <p:nvSpPr>
          <p:cNvPr id="24" name="TextBox 23">
            <a:extLst>
              <a:ext uri="{FF2B5EF4-FFF2-40B4-BE49-F238E27FC236}">
                <a16:creationId xmlns:a16="http://schemas.microsoft.com/office/drawing/2014/main" id="{6E32A803-E10B-4E41-FF01-84A1495BC83A}"/>
              </a:ext>
            </a:extLst>
          </p:cNvPr>
          <p:cNvSpPr txBox="1"/>
          <p:nvPr/>
        </p:nvSpPr>
        <p:spPr>
          <a:xfrm>
            <a:off x="2047883" y="4354628"/>
            <a:ext cx="312585" cy="147733"/>
          </a:xfrm>
          <a:prstGeom prst="rect">
            <a:avLst/>
          </a:prstGeom>
          <a:noFill/>
        </p:spPr>
        <p:txBody>
          <a:bodyPr wrap="none" lIns="0" tIns="0" rIns="0" bIns="0" rtlCol="0">
            <a:spAutoFit/>
          </a:bodyPr>
          <a:lstStyle/>
          <a:p>
            <a:pPr algn="r"/>
            <a:r>
              <a:rPr lang="en-US" sz="960">
                <a:solidFill>
                  <a:schemeClr val="tx2">
                    <a:lumMod val="85000"/>
                    <a:lumOff val="15000"/>
                  </a:schemeClr>
                </a:solidFill>
                <a:latin typeface="Calibri Light" charset="0"/>
                <a:ea typeface="Calibri Light" charset="0"/>
                <a:cs typeface="Calibri Light" charset="0"/>
              </a:rPr>
              <a:t>20000</a:t>
            </a:r>
          </a:p>
        </p:txBody>
      </p:sp>
      <p:sp>
        <p:nvSpPr>
          <p:cNvPr id="25" name="TextBox 24">
            <a:extLst>
              <a:ext uri="{FF2B5EF4-FFF2-40B4-BE49-F238E27FC236}">
                <a16:creationId xmlns:a16="http://schemas.microsoft.com/office/drawing/2014/main" id="{EC791B86-EA6F-C775-2748-18A8497D6CEC}"/>
              </a:ext>
            </a:extLst>
          </p:cNvPr>
          <p:cNvSpPr txBox="1"/>
          <p:nvPr/>
        </p:nvSpPr>
        <p:spPr>
          <a:xfrm>
            <a:off x="2701871" y="6142947"/>
            <a:ext cx="357484" cy="147733"/>
          </a:xfrm>
          <a:prstGeom prst="rect">
            <a:avLst/>
          </a:prstGeom>
          <a:noFill/>
        </p:spPr>
        <p:txBody>
          <a:bodyPr wrap="square" lIns="0" tIns="0" rIns="0" bIns="0" rtlCol="0">
            <a:spAutoFit/>
          </a:bodyPr>
          <a:lstStyle/>
          <a:p>
            <a:pPr algn="r"/>
            <a:r>
              <a:rPr lang="en-US" sz="960">
                <a:solidFill>
                  <a:schemeClr val="tx2">
                    <a:lumMod val="85000"/>
                    <a:lumOff val="15000"/>
                  </a:schemeClr>
                </a:solidFill>
                <a:latin typeface="Calibri Light" charset="0"/>
                <a:ea typeface="Calibri Light" charset="0"/>
                <a:cs typeface="Calibri Light" charset="0"/>
              </a:rPr>
              <a:t>1990</a:t>
            </a:r>
          </a:p>
        </p:txBody>
      </p:sp>
      <p:sp>
        <p:nvSpPr>
          <p:cNvPr id="26" name="TextBox 25">
            <a:extLst>
              <a:ext uri="{FF2B5EF4-FFF2-40B4-BE49-F238E27FC236}">
                <a16:creationId xmlns:a16="http://schemas.microsoft.com/office/drawing/2014/main" id="{DCC68506-F2CC-F874-01DB-18585D331ED6}"/>
              </a:ext>
            </a:extLst>
          </p:cNvPr>
          <p:cNvSpPr txBox="1"/>
          <p:nvPr/>
        </p:nvSpPr>
        <p:spPr>
          <a:xfrm>
            <a:off x="3864066" y="6146205"/>
            <a:ext cx="357484" cy="147733"/>
          </a:xfrm>
          <a:prstGeom prst="rect">
            <a:avLst/>
          </a:prstGeom>
          <a:noFill/>
        </p:spPr>
        <p:txBody>
          <a:bodyPr wrap="square" lIns="0" tIns="0" rIns="0" bIns="0" rtlCol="0">
            <a:spAutoFit/>
          </a:bodyPr>
          <a:lstStyle/>
          <a:p>
            <a:pPr algn="r"/>
            <a:r>
              <a:rPr lang="en-US" sz="960">
                <a:solidFill>
                  <a:schemeClr val="tx2">
                    <a:lumMod val="85000"/>
                    <a:lumOff val="15000"/>
                  </a:schemeClr>
                </a:solidFill>
                <a:latin typeface="Calibri Light" charset="0"/>
                <a:ea typeface="Calibri Light" charset="0"/>
                <a:cs typeface="Calibri Light" charset="0"/>
              </a:rPr>
              <a:t>1995</a:t>
            </a:r>
          </a:p>
        </p:txBody>
      </p:sp>
      <p:sp>
        <p:nvSpPr>
          <p:cNvPr id="27" name="TextBox 26">
            <a:extLst>
              <a:ext uri="{FF2B5EF4-FFF2-40B4-BE49-F238E27FC236}">
                <a16:creationId xmlns:a16="http://schemas.microsoft.com/office/drawing/2014/main" id="{2958FEE7-ABC4-BDD6-90D0-D758D8FF6914}"/>
              </a:ext>
            </a:extLst>
          </p:cNvPr>
          <p:cNvSpPr txBox="1"/>
          <p:nvPr/>
        </p:nvSpPr>
        <p:spPr>
          <a:xfrm>
            <a:off x="5085188" y="6146205"/>
            <a:ext cx="357484" cy="147733"/>
          </a:xfrm>
          <a:prstGeom prst="rect">
            <a:avLst/>
          </a:prstGeom>
          <a:noFill/>
        </p:spPr>
        <p:txBody>
          <a:bodyPr wrap="square" lIns="0" tIns="0" rIns="0" bIns="0" rtlCol="0">
            <a:spAutoFit/>
          </a:bodyPr>
          <a:lstStyle/>
          <a:p>
            <a:pPr algn="r"/>
            <a:r>
              <a:rPr lang="en-US" sz="960">
                <a:solidFill>
                  <a:schemeClr val="tx2">
                    <a:lumMod val="85000"/>
                    <a:lumOff val="15000"/>
                  </a:schemeClr>
                </a:solidFill>
                <a:latin typeface="Calibri Light" charset="0"/>
                <a:ea typeface="Calibri Light" charset="0"/>
                <a:cs typeface="Calibri Light" charset="0"/>
              </a:rPr>
              <a:t>2000</a:t>
            </a:r>
          </a:p>
        </p:txBody>
      </p:sp>
      <p:sp>
        <p:nvSpPr>
          <p:cNvPr id="28" name="TextBox 27">
            <a:extLst>
              <a:ext uri="{FF2B5EF4-FFF2-40B4-BE49-F238E27FC236}">
                <a16:creationId xmlns:a16="http://schemas.microsoft.com/office/drawing/2014/main" id="{C89FC193-87A7-3B3A-94D8-2D64288B2259}"/>
              </a:ext>
            </a:extLst>
          </p:cNvPr>
          <p:cNvSpPr txBox="1"/>
          <p:nvPr/>
        </p:nvSpPr>
        <p:spPr>
          <a:xfrm>
            <a:off x="6268606" y="6146392"/>
            <a:ext cx="357484" cy="147733"/>
          </a:xfrm>
          <a:prstGeom prst="rect">
            <a:avLst/>
          </a:prstGeom>
          <a:noFill/>
        </p:spPr>
        <p:txBody>
          <a:bodyPr wrap="square" lIns="0" tIns="0" rIns="0" bIns="0" rtlCol="0">
            <a:spAutoFit/>
          </a:bodyPr>
          <a:lstStyle/>
          <a:p>
            <a:pPr algn="r"/>
            <a:r>
              <a:rPr lang="en-US" sz="960">
                <a:solidFill>
                  <a:schemeClr val="tx2">
                    <a:lumMod val="85000"/>
                    <a:lumOff val="15000"/>
                  </a:schemeClr>
                </a:solidFill>
                <a:latin typeface="Calibri Light" charset="0"/>
                <a:ea typeface="Calibri Light" charset="0"/>
                <a:cs typeface="Calibri Light" charset="0"/>
              </a:rPr>
              <a:t>2005</a:t>
            </a:r>
          </a:p>
        </p:txBody>
      </p:sp>
      <p:sp>
        <p:nvSpPr>
          <p:cNvPr id="29" name="TextBox 28">
            <a:extLst>
              <a:ext uri="{FF2B5EF4-FFF2-40B4-BE49-F238E27FC236}">
                <a16:creationId xmlns:a16="http://schemas.microsoft.com/office/drawing/2014/main" id="{40D9DECF-8E8A-794A-8181-D5C3C8DA57B8}"/>
              </a:ext>
            </a:extLst>
          </p:cNvPr>
          <p:cNvSpPr txBox="1"/>
          <p:nvPr/>
        </p:nvSpPr>
        <p:spPr>
          <a:xfrm>
            <a:off x="7340166" y="6152698"/>
            <a:ext cx="432554" cy="147733"/>
          </a:xfrm>
          <a:prstGeom prst="rect">
            <a:avLst/>
          </a:prstGeom>
          <a:noFill/>
        </p:spPr>
        <p:txBody>
          <a:bodyPr wrap="square" lIns="0" tIns="0" rIns="0" bIns="0" rtlCol="0">
            <a:spAutoFit/>
          </a:bodyPr>
          <a:lstStyle/>
          <a:p>
            <a:pPr algn="r"/>
            <a:r>
              <a:rPr lang="en-US" sz="960">
                <a:solidFill>
                  <a:schemeClr val="tx2">
                    <a:lumMod val="85000"/>
                    <a:lumOff val="15000"/>
                  </a:schemeClr>
                </a:solidFill>
                <a:latin typeface="Calibri Light" charset="0"/>
                <a:ea typeface="Calibri Light" charset="0"/>
                <a:cs typeface="Calibri Light" charset="0"/>
              </a:rPr>
              <a:t>2010</a:t>
            </a:r>
          </a:p>
        </p:txBody>
      </p:sp>
      <p:sp>
        <p:nvSpPr>
          <p:cNvPr id="30" name="TextBox 29">
            <a:extLst>
              <a:ext uri="{FF2B5EF4-FFF2-40B4-BE49-F238E27FC236}">
                <a16:creationId xmlns:a16="http://schemas.microsoft.com/office/drawing/2014/main" id="{F42243BD-AED3-F80E-DF70-137754C827B2}"/>
              </a:ext>
            </a:extLst>
          </p:cNvPr>
          <p:cNvSpPr txBox="1"/>
          <p:nvPr/>
        </p:nvSpPr>
        <p:spPr>
          <a:xfrm>
            <a:off x="8608443" y="6146205"/>
            <a:ext cx="357484" cy="147733"/>
          </a:xfrm>
          <a:prstGeom prst="rect">
            <a:avLst/>
          </a:prstGeom>
          <a:noFill/>
        </p:spPr>
        <p:txBody>
          <a:bodyPr wrap="square" lIns="0" tIns="0" rIns="0" bIns="0" rtlCol="0">
            <a:spAutoFit/>
          </a:bodyPr>
          <a:lstStyle/>
          <a:p>
            <a:pPr algn="r"/>
            <a:r>
              <a:rPr lang="en-US" sz="960">
                <a:solidFill>
                  <a:schemeClr val="tx2">
                    <a:lumMod val="85000"/>
                    <a:lumOff val="15000"/>
                  </a:schemeClr>
                </a:solidFill>
                <a:latin typeface="Calibri Light" charset="0"/>
                <a:ea typeface="Calibri Light" charset="0"/>
                <a:cs typeface="Calibri Light" charset="0"/>
              </a:rPr>
              <a:t>2015</a:t>
            </a:r>
          </a:p>
        </p:txBody>
      </p:sp>
      <p:sp>
        <p:nvSpPr>
          <p:cNvPr id="31" name="TextBox 30">
            <a:extLst>
              <a:ext uri="{FF2B5EF4-FFF2-40B4-BE49-F238E27FC236}">
                <a16:creationId xmlns:a16="http://schemas.microsoft.com/office/drawing/2014/main" id="{89553453-93D5-D566-671D-B3C9A05F5FA8}"/>
              </a:ext>
            </a:extLst>
          </p:cNvPr>
          <p:cNvSpPr txBox="1"/>
          <p:nvPr/>
        </p:nvSpPr>
        <p:spPr>
          <a:xfrm>
            <a:off x="9770638" y="6140086"/>
            <a:ext cx="357484" cy="147733"/>
          </a:xfrm>
          <a:prstGeom prst="rect">
            <a:avLst/>
          </a:prstGeom>
          <a:noFill/>
        </p:spPr>
        <p:txBody>
          <a:bodyPr wrap="square" lIns="0" tIns="0" rIns="0" bIns="0" rtlCol="0">
            <a:spAutoFit/>
          </a:bodyPr>
          <a:lstStyle/>
          <a:p>
            <a:pPr algn="r"/>
            <a:r>
              <a:rPr lang="en-US" sz="960">
                <a:solidFill>
                  <a:schemeClr val="tx2">
                    <a:lumMod val="85000"/>
                    <a:lumOff val="15000"/>
                  </a:schemeClr>
                </a:solidFill>
                <a:latin typeface="Calibri Light" charset="0"/>
                <a:ea typeface="Calibri Light" charset="0"/>
                <a:cs typeface="Calibri Light" charset="0"/>
              </a:rPr>
              <a:t>2020</a:t>
            </a:r>
          </a:p>
        </p:txBody>
      </p:sp>
      <p:pic>
        <p:nvPicPr>
          <p:cNvPr id="15" name="Picture 14" descr="A black background with a black square&#10;&#10;Description automatically generated with medium confidence">
            <a:extLst>
              <a:ext uri="{FF2B5EF4-FFF2-40B4-BE49-F238E27FC236}">
                <a16:creationId xmlns:a16="http://schemas.microsoft.com/office/drawing/2014/main" id="{682EF553-5749-F254-7EDA-93902BD50582}"/>
              </a:ext>
            </a:extLst>
          </p:cNvPr>
          <p:cNvPicPr>
            <a:picLocks noChangeAspect="1"/>
          </p:cNvPicPr>
          <p:nvPr/>
        </p:nvPicPr>
        <p:blipFill>
          <a:blip r:embed="rId2"/>
          <a:stretch>
            <a:fillRect/>
          </a:stretch>
        </p:blipFill>
        <p:spPr>
          <a:xfrm>
            <a:off x="2474757" y="3185677"/>
            <a:ext cx="8503758" cy="2767477"/>
          </a:xfrm>
          <a:prstGeom prst="rect">
            <a:avLst/>
          </a:prstGeom>
        </p:spPr>
      </p:pic>
      <p:pic>
        <p:nvPicPr>
          <p:cNvPr id="19" name="Picture 18" descr="A black background with mountains&#10;&#10;Description automatically generated">
            <a:extLst>
              <a:ext uri="{FF2B5EF4-FFF2-40B4-BE49-F238E27FC236}">
                <a16:creationId xmlns:a16="http://schemas.microsoft.com/office/drawing/2014/main" id="{1E44782C-32DC-E0C9-6389-E800D95D6135}"/>
              </a:ext>
            </a:extLst>
          </p:cNvPr>
          <p:cNvPicPr>
            <a:picLocks noChangeAspect="1"/>
          </p:cNvPicPr>
          <p:nvPr/>
        </p:nvPicPr>
        <p:blipFill>
          <a:blip r:embed="rId3"/>
          <a:stretch>
            <a:fillRect/>
          </a:stretch>
        </p:blipFill>
        <p:spPr>
          <a:xfrm>
            <a:off x="2474757" y="3241550"/>
            <a:ext cx="8503758" cy="2651260"/>
          </a:xfrm>
          <a:prstGeom prst="rect">
            <a:avLst/>
          </a:prstGeom>
        </p:spPr>
      </p:pic>
    </p:spTree>
    <p:extLst>
      <p:ext uri="{BB962C8B-B14F-4D97-AF65-F5344CB8AC3E}">
        <p14:creationId xmlns:p14="http://schemas.microsoft.com/office/powerpoint/2010/main" val="25566439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43" descr="A circle with different colored circles&#10;&#10;Description automatically generated">
            <a:extLst>
              <a:ext uri="{FF2B5EF4-FFF2-40B4-BE49-F238E27FC236}">
                <a16:creationId xmlns:a16="http://schemas.microsoft.com/office/drawing/2014/main" id="{2AC10627-7046-246C-1C68-C669E35228E3}"/>
              </a:ext>
            </a:extLst>
          </p:cNvPr>
          <p:cNvPicPr>
            <a:picLocks noChangeAspect="1"/>
          </p:cNvPicPr>
          <p:nvPr/>
        </p:nvPicPr>
        <p:blipFill>
          <a:blip r:embed="rId2"/>
          <a:stretch>
            <a:fillRect/>
          </a:stretch>
        </p:blipFill>
        <p:spPr>
          <a:xfrm>
            <a:off x="1350886" y="1465380"/>
            <a:ext cx="4048201" cy="4048201"/>
          </a:xfrm>
          <a:prstGeom prst="rect">
            <a:avLst/>
          </a:prstGeom>
        </p:spPr>
      </p:pic>
      <p:sp>
        <p:nvSpPr>
          <p:cNvPr id="5" name="Text Placeholder 4">
            <a:extLst>
              <a:ext uri="{FF2B5EF4-FFF2-40B4-BE49-F238E27FC236}">
                <a16:creationId xmlns:a16="http://schemas.microsoft.com/office/drawing/2014/main" id="{FAC68414-1A7A-E61B-6526-D6AE6E4A3436}"/>
              </a:ext>
            </a:extLst>
          </p:cNvPr>
          <p:cNvSpPr>
            <a:spLocks noGrp="1"/>
          </p:cNvSpPr>
          <p:nvPr>
            <p:ph type="body" sz="quarter" idx="12"/>
          </p:nvPr>
        </p:nvSpPr>
        <p:spPr/>
        <p:txBody>
          <a:bodyPr/>
          <a:lstStyle/>
          <a:p>
            <a:endParaRPr lang="en-GB"/>
          </a:p>
        </p:txBody>
      </p:sp>
      <p:sp>
        <p:nvSpPr>
          <p:cNvPr id="3" name="Title 2">
            <a:extLst>
              <a:ext uri="{FF2B5EF4-FFF2-40B4-BE49-F238E27FC236}">
                <a16:creationId xmlns:a16="http://schemas.microsoft.com/office/drawing/2014/main" id="{E89B65EC-D5F0-1AC5-47CE-D26BA5D2B854}"/>
              </a:ext>
            </a:extLst>
          </p:cNvPr>
          <p:cNvSpPr>
            <a:spLocks noGrp="1"/>
          </p:cNvSpPr>
          <p:nvPr>
            <p:ph type="title"/>
          </p:nvPr>
        </p:nvSpPr>
        <p:spPr/>
        <p:txBody>
          <a:bodyPr/>
          <a:lstStyle/>
          <a:p>
            <a:r>
              <a:rPr lang="en-GB" sz="2400"/>
              <a:t>Exposure Management – Consolidating related cyber solutions</a:t>
            </a:r>
          </a:p>
        </p:txBody>
      </p:sp>
      <p:sp>
        <p:nvSpPr>
          <p:cNvPr id="6" name="Text Placeholder 5">
            <a:extLst>
              <a:ext uri="{FF2B5EF4-FFF2-40B4-BE49-F238E27FC236}">
                <a16:creationId xmlns:a16="http://schemas.microsoft.com/office/drawing/2014/main" id="{E2AB2698-FDC2-3A17-F5A2-F07FCCFC371F}"/>
              </a:ext>
            </a:extLst>
          </p:cNvPr>
          <p:cNvSpPr>
            <a:spLocks noGrp="1"/>
          </p:cNvSpPr>
          <p:nvPr>
            <p:ph type="body" sz="quarter" idx="15"/>
          </p:nvPr>
        </p:nvSpPr>
        <p:spPr/>
        <p:txBody>
          <a:bodyPr/>
          <a:lstStyle/>
          <a:p>
            <a:endParaRPr lang="en-GB"/>
          </a:p>
        </p:txBody>
      </p:sp>
      <p:sp>
        <p:nvSpPr>
          <p:cNvPr id="27" name="TextBox 26">
            <a:extLst>
              <a:ext uri="{FF2B5EF4-FFF2-40B4-BE49-F238E27FC236}">
                <a16:creationId xmlns:a16="http://schemas.microsoft.com/office/drawing/2014/main" id="{A94A2A95-AE7B-B5CA-183D-A4DD16EBC26A}"/>
              </a:ext>
            </a:extLst>
          </p:cNvPr>
          <p:cNvSpPr txBox="1"/>
          <p:nvPr/>
        </p:nvSpPr>
        <p:spPr>
          <a:xfrm>
            <a:off x="2832685" y="2324343"/>
            <a:ext cx="1084602" cy="291747"/>
          </a:xfrm>
          <a:prstGeom prst="rect">
            <a:avLst/>
          </a:prstGeom>
          <a:noFill/>
        </p:spPr>
        <p:txBody>
          <a:bodyPr wrap="square">
            <a:spAutoFit/>
          </a:bodyPr>
          <a:lstStyle/>
          <a:p>
            <a:pPr algn="ctr" defTabSz="480060">
              <a:lnSpc>
                <a:spcPct val="90000"/>
              </a:lnSpc>
              <a:spcBef>
                <a:spcPct val="0"/>
              </a:spcBef>
              <a:spcAft>
                <a:spcPct val="35000"/>
              </a:spcAft>
            </a:pPr>
            <a:r>
              <a:rPr lang="en-GB" sz="1440" b="1">
                <a:solidFill>
                  <a:schemeClr val="tx2">
                    <a:lumMod val="85000"/>
                    <a:lumOff val="15000"/>
                  </a:schemeClr>
                </a:solidFill>
              </a:rPr>
              <a:t>CAASM</a:t>
            </a:r>
          </a:p>
        </p:txBody>
      </p:sp>
      <p:sp>
        <p:nvSpPr>
          <p:cNvPr id="28" name="TextBox 27">
            <a:extLst>
              <a:ext uri="{FF2B5EF4-FFF2-40B4-BE49-F238E27FC236}">
                <a16:creationId xmlns:a16="http://schemas.microsoft.com/office/drawing/2014/main" id="{009F515F-6812-0A08-F072-652EA77B3090}"/>
              </a:ext>
            </a:extLst>
          </p:cNvPr>
          <p:cNvSpPr txBox="1"/>
          <p:nvPr/>
        </p:nvSpPr>
        <p:spPr>
          <a:xfrm>
            <a:off x="1937972" y="3049670"/>
            <a:ext cx="1084602" cy="291747"/>
          </a:xfrm>
          <a:prstGeom prst="rect">
            <a:avLst/>
          </a:prstGeom>
          <a:noFill/>
        </p:spPr>
        <p:txBody>
          <a:bodyPr wrap="square">
            <a:spAutoFit/>
          </a:bodyPr>
          <a:lstStyle/>
          <a:p>
            <a:pPr algn="ctr" defTabSz="480060">
              <a:lnSpc>
                <a:spcPct val="90000"/>
              </a:lnSpc>
              <a:spcBef>
                <a:spcPct val="0"/>
              </a:spcBef>
              <a:spcAft>
                <a:spcPct val="35000"/>
              </a:spcAft>
            </a:pPr>
            <a:r>
              <a:rPr lang="en-GB" sz="1440" b="1">
                <a:solidFill>
                  <a:schemeClr val="tx2">
                    <a:lumMod val="85000"/>
                    <a:lumOff val="15000"/>
                  </a:schemeClr>
                </a:solidFill>
              </a:rPr>
              <a:t>ASCA</a:t>
            </a:r>
          </a:p>
        </p:txBody>
      </p:sp>
      <p:sp>
        <p:nvSpPr>
          <p:cNvPr id="29" name="TextBox 28">
            <a:extLst>
              <a:ext uri="{FF2B5EF4-FFF2-40B4-BE49-F238E27FC236}">
                <a16:creationId xmlns:a16="http://schemas.microsoft.com/office/drawing/2014/main" id="{DD4492CA-C5BF-2144-DBBD-DEE0F1D9C5CA}"/>
              </a:ext>
            </a:extLst>
          </p:cNvPr>
          <p:cNvSpPr txBox="1"/>
          <p:nvPr/>
        </p:nvSpPr>
        <p:spPr>
          <a:xfrm>
            <a:off x="3774579" y="3068697"/>
            <a:ext cx="1084602" cy="291747"/>
          </a:xfrm>
          <a:prstGeom prst="rect">
            <a:avLst/>
          </a:prstGeom>
          <a:noFill/>
        </p:spPr>
        <p:txBody>
          <a:bodyPr wrap="square">
            <a:spAutoFit/>
          </a:bodyPr>
          <a:lstStyle/>
          <a:p>
            <a:pPr algn="ctr" defTabSz="480060">
              <a:lnSpc>
                <a:spcPct val="90000"/>
              </a:lnSpc>
              <a:spcBef>
                <a:spcPct val="0"/>
              </a:spcBef>
              <a:spcAft>
                <a:spcPct val="35000"/>
              </a:spcAft>
            </a:pPr>
            <a:r>
              <a:rPr lang="en-GB" sz="1440" b="1">
                <a:solidFill>
                  <a:schemeClr val="tx2">
                    <a:lumMod val="85000"/>
                    <a:lumOff val="15000"/>
                  </a:schemeClr>
                </a:solidFill>
              </a:rPr>
              <a:t>RBVM</a:t>
            </a:r>
          </a:p>
        </p:txBody>
      </p:sp>
      <p:sp>
        <p:nvSpPr>
          <p:cNvPr id="30" name="TextBox 29">
            <a:extLst>
              <a:ext uri="{FF2B5EF4-FFF2-40B4-BE49-F238E27FC236}">
                <a16:creationId xmlns:a16="http://schemas.microsoft.com/office/drawing/2014/main" id="{0CEB7600-1616-7D85-91FE-CB1B5013A34A}"/>
              </a:ext>
            </a:extLst>
          </p:cNvPr>
          <p:cNvSpPr txBox="1"/>
          <p:nvPr/>
        </p:nvSpPr>
        <p:spPr>
          <a:xfrm>
            <a:off x="2226971" y="4229404"/>
            <a:ext cx="1084602" cy="291747"/>
          </a:xfrm>
          <a:prstGeom prst="rect">
            <a:avLst/>
          </a:prstGeom>
          <a:noFill/>
        </p:spPr>
        <p:txBody>
          <a:bodyPr wrap="square">
            <a:spAutoFit/>
          </a:bodyPr>
          <a:lstStyle/>
          <a:p>
            <a:pPr algn="ctr" defTabSz="480060">
              <a:lnSpc>
                <a:spcPct val="90000"/>
              </a:lnSpc>
              <a:spcBef>
                <a:spcPct val="0"/>
              </a:spcBef>
              <a:spcAft>
                <a:spcPct val="35000"/>
              </a:spcAft>
            </a:pPr>
            <a:r>
              <a:rPr lang="en-GB" sz="1440" b="1">
                <a:solidFill>
                  <a:schemeClr val="tx2">
                    <a:lumMod val="85000"/>
                    <a:lumOff val="15000"/>
                  </a:schemeClr>
                </a:solidFill>
              </a:rPr>
              <a:t>CSPM</a:t>
            </a:r>
          </a:p>
        </p:txBody>
      </p:sp>
      <p:sp>
        <p:nvSpPr>
          <p:cNvPr id="31" name="TextBox 30">
            <a:extLst>
              <a:ext uri="{FF2B5EF4-FFF2-40B4-BE49-F238E27FC236}">
                <a16:creationId xmlns:a16="http://schemas.microsoft.com/office/drawing/2014/main" id="{38EA207D-75BE-75BB-6A03-B86663F5B247}"/>
              </a:ext>
            </a:extLst>
          </p:cNvPr>
          <p:cNvSpPr txBox="1"/>
          <p:nvPr/>
        </p:nvSpPr>
        <p:spPr>
          <a:xfrm>
            <a:off x="3476475" y="4235748"/>
            <a:ext cx="1084602" cy="291747"/>
          </a:xfrm>
          <a:prstGeom prst="rect">
            <a:avLst/>
          </a:prstGeom>
          <a:noFill/>
        </p:spPr>
        <p:txBody>
          <a:bodyPr wrap="square">
            <a:spAutoFit/>
          </a:bodyPr>
          <a:lstStyle/>
          <a:p>
            <a:pPr algn="ctr" defTabSz="480060">
              <a:lnSpc>
                <a:spcPct val="90000"/>
              </a:lnSpc>
              <a:spcBef>
                <a:spcPct val="0"/>
              </a:spcBef>
              <a:spcAft>
                <a:spcPct val="35000"/>
              </a:spcAft>
            </a:pPr>
            <a:r>
              <a:rPr lang="en-GB" sz="1440" b="1">
                <a:solidFill>
                  <a:schemeClr val="tx2">
                    <a:lumMod val="85000"/>
                    <a:lumOff val="15000"/>
                  </a:schemeClr>
                </a:solidFill>
              </a:rPr>
              <a:t>ISPM</a:t>
            </a:r>
          </a:p>
        </p:txBody>
      </p:sp>
      <p:sp>
        <p:nvSpPr>
          <p:cNvPr id="32" name="Oval 31">
            <a:extLst>
              <a:ext uri="{FF2B5EF4-FFF2-40B4-BE49-F238E27FC236}">
                <a16:creationId xmlns:a16="http://schemas.microsoft.com/office/drawing/2014/main" id="{C93A551E-5FCB-12C2-8F74-940DF5D39A8F}"/>
              </a:ext>
            </a:extLst>
          </p:cNvPr>
          <p:cNvSpPr/>
          <p:nvPr/>
        </p:nvSpPr>
        <p:spPr>
          <a:xfrm>
            <a:off x="6151092" y="1971622"/>
            <a:ext cx="132398" cy="132398"/>
          </a:xfrm>
          <a:prstGeom prst="ellipse">
            <a:avLst/>
          </a:prstGeom>
          <a:solidFill>
            <a:srgbClr val="B0BC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85"/>
          </a:p>
        </p:txBody>
      </p:sp>
      <p:sp>
        <p:nvSpPr>
          <p:cNvPr id="33" name="Oval 32">
            <a:extLst>
              <a:ext uri="{FF2B5EF4-FFF2-40B4-BE49-F238E27FC236}">
                <a16:creationId xmlns:a16="http://schemas.microsoft.com/office/drawing/2014/main" id="{EF977236-9128-284E-6346-3C46349C2ED6}"/>
              </a:ext>
            </a:extLst>
          </p:cNvPr>
          <p:cNvSpPr/>
          <p:nvPr/>
        </p:nvSpPr>
        <p:spPr>
          <a:xfrm>
            <a:off x="6151092" y="2650593"/>
            <a:ext cx="132398" cy="132398"/>
          </a:xfrm>
          <a:prstGeom prst="ellipse">
            <a:avLst/>
          </a:prstGeom>
          <a:solidFill>
            <a:srgbClr val="A3E3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85"/>
          </a:p>
        </p:txBody>
      </p:sp>
      <p:sp>
        <p:nvSpPr>
          <p:cNvPr id="34" name="Oval 33">
            <a:extLst>
              <a:ext uri="{FF2B5EF4-FFF2-40B4-BE49-F238E27FC236}">
                <a16:creationId xmlns:a16="http://schemas.microsoft.com/office/drawing/2014/main" id="{BA36EED2-D5BF-75E9-F4DD-E50451EF5682}"/>
              </a:ext>
            </a:extLst>
          </p:cNvPr>
          <p:cNvSpPr/>
          <p:nvPr/>
        </p:nvSpPr>
        <p:spPr>
          <a:xfrm>
            <a:off x="6151092" y="3278517"/>
            <a:ext cx="132398" cy="132398"/>
          </a:xfrm>
          <a:prstGeom prst="ellipse">
            <a:avLst/>
          </a:prstGeom>
          <a:solidFill>
            <a:srgbClr val="CFB3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85"/>
          </a:p>
        </p:txBody>
      </p:sp>
      <p:sp>
        <p:nvSpPr>
          <p:cNvPr id="35" name="Oval 34">
            <a:extLst>
              <a:ext uri="{FF2B5EF4-FFF2-40B4-BE49-F238E27FC236}">
                <a16:creationId xmlns:a16="http://schemas.microsoft.com/office/drawing/2014/main" id="{653221DF-45A9-72A2-7558-664DEEBF54FC}"/>
              </a:ext>
            </a:extLst>
          </p:cNvPr>
          <p:cNvSpPr/>
          <p:nvPr/>
        </p:nvSpPr>
        <p:spPr>
          <a:xfrm>
            <a:off x="6151092" y="3906441"/>
            <a:ext cx="132398" cy="132398"/>
          </a:xfrm>
          <a:prstGeom prst="ellipse">
            <a:avLst/>
          </a:prstGeom>
          <a:solidFill>
            <a:srgbClr val="F8BA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85"/>
          </a:p>
        </p:txBody>
      </p:sp>
      <p:sp>
        <p:nvSpPr>
          <p:cNvPr id="37" name="TextBox 36">
            <a:extLst>
              <a:ext uri="{FF2B5EF4-FFF2-40B4-BE49-F238E27FC236}">
                <a16:creationId xmlns:a16="http://schemas.microsoft.com/office/drawing/2014/main" id="{5F726568-3F28-FF00-54CD-F99DB69DA59F}"/>
              </a:ext>
            </a:extLst>
          </p:cNvPr>
          <p:cNvSpPr txBox="1"/>
          <p:nvPr/>
        </p:nvSpPr>
        <p:spPr>
          <a:xfrm>
            <a:off x="6393701" y="4482567"/>
            <a:ext cx="4380470" cy="291747"/>
          </a:xfrm>
          <a:prstGeom prst="rect">
            <a:avLst/>
          </a:prstGeom>
          <a:noFill/>
        </p:spPr>
        <p:txBody>
          <a:bodyPr wrap="square">
            <a:spAutoFit/>
          </a:bodyPr>
          <a:lstStyle/>
          <a:p>
            <a:pPr defTabSz="480060">
              <a:lnSpc>
                <a:spcPct val="90000"/>
              </a:lnSpc>
              <a:spcBef>
                <a:spcPct val="0"/>
              </a:spcBef>
              <a:spcAft>
                <a:spcPct val="35000"/>
              </a:spcAft>
            </a:pPr>
            <a:r>
              <a:rPr lang="en-GB" sz="1440" b="1">
                <a:solidFill>
                  <a:schemeClr val="tx2">
                    <a:lumMod val="85000"/>
                    <a:lumOff val="15000"/>
                  </a:schemeClr>
                </a:solidFill>
              </a:rPr>
              <a:t>ASCA  </a:t>
            </a:r>
            <a:r>
              <a:rPr lang="en-GB" sz="1440">
                <a:solidFill>
                  <a:schemeClr val="tx2">
                    <a:lumMod val="85000"/>
                    <a:lumOff val="15000"/>
                  </a:schemeClr>
                </a:solidFill>
                <a:latin typeface="Calibri Light" charset="0"/>
                <a:ea typeface="Calibri Light" charset="0"/>
                <a:cs typeface="Calibri Light" charset="0"/>
              </a:rPr>
              <a:t>Automated Security Control Assessment</a:t>
            </a:r>
            <a:r>
              <a:rPr lang="en-GB" sz="1440" b="1">
                <a:solidFill>
                  <a:schemeClr val="tx2">
                    <a:lumMod val="85000"/>
                    <a:lumOff val="15000"/>
                  </a:schemeClr>
                </a:solidFill>
              </a:rPr>
              <a:t> </a:t>
            </a:r>
          </a:p>
        </p:txBody>
      </p:sp>
      <p:sp>
        <p:nvSpPr>
          <p:cNvPr id="38" name="TextBox 37">
            <a:extLst>
              <a:ext uri="{FF2B5EF4-FFF2-40B4-BE49-F238E27FC236}">
                <a16:creationId xmlns:a16="http://schemas.microsoft.com/office/drawing/2014/main" id="{5C61B5D0-72CD-80AE-E203-63923E94E550}"/>
              </a:ext>
            </a:extLst>
          </p:cNvPr>
          <p:cNvSpPr txBox="1"/>
          <p:nvPr/>
        </p:nvSpPr>
        <p:spPr>
          <a:xfrm>
            <a:off x="6400043" y="2605865"/>
            <a:ext cx="4025942" cy="291747"/>
          </a:xfrm>
          <a:prstGeom prst="rect">
            <a:avLst/>
          </a:prstGeom>
          <a:noFill/>
        </p:spPr>
        <p:txBody>
          <a:bodyPr wrap="square">
            <a:spAutoFit/>
          </a:bodyPr>
          <a:lstStyle/>
          <a:p>
            <a:pPr defTabSz="480060">
              <a:lnSpc>
                <a:spcPct val="90000"/>
              </a:lnSpc>
              <a:spcBef>
                <a:spcPct val="0"/>
              </a:spcBef>
              <a:spcAft>
                <a:spcPct val="35000"/>
              </a:spcAft>
            </a:pPr>
            <a:r>
              <a:rPr lang="en-GB" sz="1440" b="1">
                <a:solidFill>
                  <a:schemeClr val="tx2">
                    <a:lumMod val="85000"/>
                    <a:lumOff val="15000"/>
                  </a:schemeClr>
                </a:solidFill>
              </a:rPr>
              <a:t>RBVM  </a:t>
            </a:r>
            <a:r>
              <a:rPr lang="en-GB" sz="1440">
                <a:solidFill>
                  <a:schemeClr val="tx2">
                    <a:lumMod val="85000"/>
                    <a:lumOff val="15000"/>
                  </a:schemeClr>
                </a:solidFill>
                <a:latin typeface="Calibri Light" charset="0"/>
                <a:ea typeface="Calibri Light" charset="0"/>
                <a:cs typeface="Calibri Light" charset="0"/>
              </a:rPr>
              <a:t>Risk Based Vulnerability Management</a:t>
            </a:r>
          </a:p>
        </p:txBody>
      </p:sp>
      <p:sp>
        <p:nvSpPr>
          <p:cNvPr id="39" name="TextBox 38">
            <a:extLst>
              <a:ext uri="{FF2B5EF4-FFF2-40B4-BE49-F238E27FC236}">
                <a16:creationId xmlns:a16="http://schemas.microsoft.com/office/drawing/2014/main" id="{BEFF0050-7265-556C-EA70-D1ABF11E0CAF}"/>
              </a:ext>
            </a:extLst>
          </p:cNvPr>
          <p:cNvSpPr txBox="1"/>
          <p:nvPr/>
        </p:nvSpPr>
        <p:spPr>
          <a:xfrm>
            <a:off x="6393701" y="3221104"/>
            <a:ext cx="4447414" cy="291747"/>
          </a:xfrm>
          <a:prstGeom prst="rect">
            <a:avLst/>
          </a:prstGeom>
          <a:noFill/>
        </p:spPr>
        <p:txBody>
          <a:bodyPr wrap="square">
            <a:spAutoFit/>
          </a:bodyPr>
          <a:lstStyle/>
          <a:p>
            <a:pPr defTabSz="480060">
              <a:lnSpc>
                <a:spcPct val="90000"/>
              </a:lnSpc>
              <a:spcBef>
                <a:spcPct val="0"/>
              </a:spcBef>
              <a:spcAft>
                <a:spcPct val="35000"/>
              </a:spcAft>
            </a:pPr>
            <a:r>
              <a:rPr lang="en-GB" sz="1440" b="1">
                <a:solidFill>
                  <a:schemeClr val="tx2">
                    <a:lumMod val="85000"/>
                    <a:lumOff val="15000"/>
                  </a:schemeClr>
                </a:solidFill>
              </a:rPr>
              <a:t>ISPM  </a:t>
            </a:r>
            <a:r>
              <a:rPr lang="en-GB" sz="1440">
                <a:solidFill>
                  <a:schemeClr val="tx2">
                    <a:lumMod val="85000"/>
                    <a:lumOff val="15000"/>
                  </a:schemeClr>
                </a:solidFill>
                <a:latin typeface="Calibri Light" charset="0"/>
                <a:ea typeface="Calibri Light" charset="0"/>
                <a:cs typeface="Calibri Light" charset="0"/>
              </a:rPr>
              <a:t>Identity Security Posture Management</a:t>
            </a:r>
            <a:r>
              <a:rPr lang="en-GB" sz="1440" b="1">
                <a:solidFill>
                  <a:schemeClr val="tx2">
                    <a:lumMod val="85000"/>
                    <a:lumOff val="15000"/>
                  </a:schemeClr>
                </a:solidFill>
              </a:rPr>
              <a:t> </a:t>
            </a:r>
          </a:p>
        </p:txBody>
      </p:sp>
      <p:sp>
        <p:nvSpPr>
          <p:cNvPr id="40" name="TextBox 39">
            <a:extLst>
              <a:ext uri="{FF2B5EF4-FFF2-40B4-BE49-F238E27FC236}">
                <a16:creationId xmlns:a16="http://schemas.microsoft.com/office/drawing/2014/main" id="{14A035B4-B37B-3F6A-DE7F-E76FBCA902AA}"/>
              </a:ext>
            </a:extLst>
          </p:cNvPr>
          <p:cNvSpPr txBox="1"/>
          <p:nvPr/>
        </p:nvSpPr>
        <p:spPr>
          <a:xfrm>
            <a:off x="6374672" y="3829999"/>
            <a:ext cx="4236678" cy="291747"/>
          </a:xfrm>
          <a:prstGeom prst="rect">
            <a:avLst/>
          </a:prstGeom>
          <a:noFill/>
        </p:spPr>
        <p:txBody>
          <a:bodyPr wrap="square">
            <a:spAutoFit/>
          </a:bodyPr>
          <a:lstStyle/>
          <a:p>
            <a:pPr defTabSz="480060">
              <a:lnSpc>
                <a:spcPct val="90000"/>
              </a:lnSpc>
              <a:spcBef>
                <a:spcPct val="0"/>
              </a:spcBef>
              <a:spcAft>
                <a:spcPct val="35000"/>
              </a:spcAft>
            </a:pPr>
            <a:r>
              <a:rPr lang="en-GB" sz="1440" b="1">
                <a:solidFill>
                  <a:schemeClr val="tx2">
                    <a:lumMod val="85000"/>
                    <a:lumOff val="15000"/>
                  </a:schemeClr>
                </a:solidFill>
              </a:rPr>
              <a:t>CSPM  </a:t>
            </a:r>
            <a:r>
              <a:rPr lang="en-GB" sz="1440">
                <a:solidFill>
                  <a:schemeClr val="tx2">
                    <a:lumMod val="85000"/>
                    <a:lumOff val="15000"/>
                  </a:schemeClr>
                </a:solidFill>
                <a:latin typeface="Calibri Light" charset="0"/>
                <a:ea typeface="Calibri Light" charset="0"/>
                <a:cs typeface="Calibri Light" charset="0"/>
              </a:rPr>
              <a:t>Cloud Security Posture Management</a:t>
            </a:r>
            <a:r>
              <a:rPr lang="en-GB" sz="1440" b="1">
                <a:solidFill>
                  <a:schemeClr val="tx2">
                    <a:lumMod val="85000"/>
                    <a:lumOff val="15000"/>
                  </a:schemeClr>
                </a:solidFill>
              </a:rPr>
              <a:t> </a:t>
            </a:r>
          </a:p>
        </p:txBody>
      </p:sp>
      <p:sp>
        <p:nvSpPr>
          <p:cNvPr id="42" name="TextBox 41">
            <a:extLst>
              <a:ext uri="{FF2B5EF4-FFF2-40B4-BE49-F238E27FC236}">
                <a16:creationId xmlns:a16="http://schemas.microsoft.com/office/drawing/2014/main" id="{98185E91-D72D-976B-9B0D-F878DD0B3673}"/>
              </a:ext>
            </a:extLst>
          </p:cNvPr>
          <p:cNvSpPr txBox="1"/>
          <p:nvPr/>
        </p:nvSpPr>
        <p:spPr>
          <a:xfrm>
            <a:off x="2570916" y="5673717"/>
            <a:ext cx="1811116" cy="221599"/>
          </a:xfrm>
          <a:prstGeom prst="rect">
            <a:avLst/>
          </a:prstGeom>
          <a:noFill/>
        </p:spPr>
        <p:txBody>
          <a:bodyPr wrap="square" lIns="0" tIns="0" rIns="0" bIns="0" rtlCol="0">
            <a:spAutoFit/>
          </a:bodyPr>
          <a:lstStyle/>
          <a:p>
            <a:r>
              <a:rPr lang="en-GB" sz="1440">
                <a:solidFill>
                  <a:schemeClr val="tx2">
                    <a:lumMod val="85000"/>
                    <a:lumOff val="15000"/>
                  </a:schemeClr>
                </a:solidFill>
                <a:latin typeface="Calibri Light" charset="0"/>
                <a:ea typeface="Calibri Light" charset="0"/>
                <a:cs typeface="Calibri Light" charset="0"/>
              </a:rPr>
              <a:t>Exposure Management</a:t>
            </a:r>
          </a:p>
        </p:txBody>
      </p:sp>
      <p:sp>
        <p:nvSpPr>
          <p:cNvPr id="2" name="Oval 1">
            <a:extLst>
              <a:ext uri="{FF2B5EF4-FFF2-40B4-BE49-F238E27FC236}">
                <a16:creationId xmlns:a16="http://schemas.microsoft.com/office/drawing/2014/main" id="{60C34862-3ED0-45FE-A1EE-77F9429A7128}"/>
              </a:ext>
            </a:extLst>
          </p:cNvPr>
          <p:cNvSpPr/>
          <p:nvPr/>
        </p:nvSpPr>
        <p:spPr>
          <a:xfrm>
            <a:off x="6151092" y="4546557"/>
            <a:ext cx="132398" cy="132398"/>
          </a:xfrm>
          <a:prstGeom prst="ellipse">
            <a:avLst/>
          </a:prstGeom>
          <a:solidFill>
            <a:srgbClr val="BDE3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85"/>
          </a:p>
        </p:txBody>
      </p:sp>
      <p:sp>
        <p:nvSpPr>
          <p:cNvPr id="4" name="TextBox 3">
            <a:extLst>
              <a:ext uri="{FF2B5EF4-FFF2-40B4-BE49-F238E27FC236}">
                <a16:creationId xmlns:a16="http://schemas.microsoft.com/office/drawing/2014/main" id="{81D0D9B3-D889-384E-5608-A4171CB0BFAC}"/>
              </a:ext>
            </a:extLst>
          </p:cNvPr>
          <p:cNvSpPr txBox="1"/>
          <p:nvPr/>
        </p:nvSpPr>
        <p:spPr>
          <a:xfrm>
            <a:off x="6386666" y="1907632"/>
            <a:ext cx="4544000" cy="291747"/>
          </a:xfrm>
          <a:prstGeom prst="rect">
            <a:avLst/>
          </a:prstGeom>
          <a:noFill/>
        </p:spPr>
        <p:txBody>
          <a:bodyPr wrap="square">
            <a:spAutoFit/>
          </a:bodyPr>
          <a:lstStyle/>
          <a:p>
            <a:pPr defTabSz="480060">
              <a:lnSpc>
                <a:spcPct val="90000"/>
              </a:lnSpc>
              <a:spcBef>
                <a:spcPct val="0"/>
              </a:spcBef>
              <a:spcAft>
                <a:spcPct val="35000"/>
              </a:spcAft>
            </a:pPr>
            <a:r>
              <a:rPr lang="en-GB" sz="1440" b="1">
                <a:solidFill>
                  <a:schemeClr val="tx2">
                    <a:lumMod val="85000"/>
                    <a:lumOff val="15000"/>
                  </a:schemeClr>
                </a:solidFill>
              </a:rPr>
              <a:t>CAASM </a:t>
            </a:r>
            <a:r>
              <a:rPr lang="en-GB" sz="1440">
                <a:solidFill>
                  <a:schemeClr val="tx2">
                    <a:lumMod val="85000"/>
                    <a:lumOff val="15000"/>
                  </a:schemeClr>
                </a:solidFill>
                <a:latin typeface="Calibri Light" charset="0"/>
                <a:ea typeface="Calibri Light" charset="0"/>
                <a:cs typeface="Calibri Light" charset="0"/>
              </a:rPr>
              <a:t>Cyber Asset Attack Surface Management </a:t>
            </a:r>
            <a:endParaRPr lang="en-GB" sz="1440" b="1">
              <a:solidFill>
                <a:schemeClr val="tx2">
                  <a:lumMod val="85000"/>
                  <a:lumOff val="15000"/>
                </a:schemeClr>
              </a:solidFill>
            </a:endParaRPr>
          </a:p>
        </p:txBody>
      </p:sp>
    </p:spTree>
    <p:extLst>
      <p:ext uri="{BB962C8B-B14F-4D97-AF65-F5344CB8AC3E}">
        <p14:creationId xmlns:p14="http://schemas.microsoft.com/office/powerpoint/2010/main" val="4087502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0903B-7958-0EAD-A503-FFCF12779873}"/>
            </a:ext>
          </a:extLst>
        </p:cNvPr>
        <p:cNvGrpSpPr/>
        <p:nvPr/>
      </p:nvGrpSpPr>
      <p:grpSpPr>
        <a:xfrm>
          <a:off x="0" y="0"/>
          <a:ext cx="0" cy="0"/>
          <a:chOff x="0" y="0"/>
          <a:chExt cx="0" cy="0"/>
        </a:xfrm>
      </p:grpSpPr>
      <p:pic>
        <p:nvPicPr>
          <p:cNvPr id="4" name="Picture 3" descr="A black circle with white lines&#10;&#10;Description automatically generated">
            <a:extLst>
              <a:ext uri="{FF2B5EF4-FFF2-40B4-BE49-F238E27FC236}">
                <a16:creationId xmlns:a16="http://schemas.microsoft.com/office/drawing/2014/main" id="{6DBF5892-2901-C101-9BB7-4F1505C39EC4}"/>
              </a:ext>
            </a:extLst>
          </p:cNvPr>
          <p:cNvPicPr>
            <a:picLocks noChangeAspect="1"/>
          </p:cNvPicPr>
          <p:nvPr/>
        </p:nvPicPr>
        <p:blipFill>
          <a:blip r:embed="rId2"/>
          <a:stretch>
            <a:fillRect/>
          </a:stretch>
        </p:blipFill>
        <p:spPr>
          <a:xfrm>
            <a:off x="4217185" y="1596103"/>
            <a:ext cx="3527699" cy="3527699"/>
          </a:xfrm>
          <a:prstGeom prst="rect">
            <a:avLst/>
          </a:prstGeom>
        </p:spPr>
      </p:pic>
      <p:pic>
        <p:nvPicPr>
          <p:cNvPr id="6" name="Picture 5" descr="A black background with a circle&#10;&#10;Description automatically generated">
            <a:extLst>
              <a:ext uri="{FF2B5EF4-FFF2-40B4-BE49-F238E27FC236}">
                <a16:creationId xmlns:a16="http://schemas.microsoft.com/office/drawing/2014/main" id="{1699D14F-9B1F-6EFB-F55F-C07166A9CC42}"/>
              </a:ext>
            </a:extLst>
          </p:cNvPr>
          <p:cNvPicPr>
            <a:picLocks noChangeAspect="1"/>
          </p:cNvPicPr>
          <p:nvPr/>
        </p:nvPicPr>
        <p:blipFill>
          <a:blip r:embed="rId3"/>
          <a:stretch>
            <a:fillRect/>
          </a:stretch>
        </p:blipFill>
        <p:spPr>
          <a:xfrm rot="2700000">
            <a:off x="4297845" y="1679266"/>
            <a:ext cx="3363416" cy="3363416"/>
          </a:xfrm>
          <a:prstGeom prst="rect">
            <a:avLst/>
          </a:prstGeom>
        </p:spPr>
      </p:pic>
      <p:pic>
        <p:nvPicPr>
          <p:cNvPr id="47" name="Picture 46" descr="A circle with different colored circles&#10;&#10;Description automatically generated">
            <a:extLst>
              <a:ext uri="{FF2B5EF4-FFF2-40B4-BE49-F238E27FC236}">
                <a16:creationId xmlns:a16="http://schemas.microsoft.com/office/drawing/2014/main" id="{0F746FCA-CD02-29CB-5C0B-840AA2B1CD28}"/>
              </a:ext>
            </a:extLst>
          </p:cNvPr>
          <p:cNvPicPr>
            <a:picLocks noChangeAspect="1"/>
          </p:cNvPicPr>
          <p:nvPr/>
        </p:nvPicPr>
        <p:blipFill>
          <a:blip r:embed="rId4"/>
          <a:stretch>
            <a:fillRect/>
          </a:stretch>
        </p:blipFill>
        <p:spPr>
          <a:xfrm rot="2700000">
            <a:off x="4421910" y="1869843"/>
            <a:ext cx="3010214" cy="3010214"/>
          </a:xfrm>
          <a:prstGeom prst="rect">
            <a:avLst/>
          </a:prstGeom>
        </p:spPr>
      </p:pic>
      <p:sp>
        <p:nvSpPr>
          <p:cNvPr id="2" name="Title 1">
            <a:extLst>
              <a:ext uri="{FF2B5EF4-FFF2-40B4-BE49-F238E27FC236}">
                <a16:creationId xmlns:a16="http://schemas.microsoft.com/office/drawing/2014/main" id="{A92CE0CB-0F32-0237-F7CC-848C1B6095DC}"/>
              </a:ext>
            </a:extLst>
          </p:cNvPr>
          <p:cNvSpPr>
            <a:spLocks noGrp="1"/>
          </p:cNvSpPr>
          <p:nvPr>
            <p:ph type="title"/>
          </p:nvPr>
        </p:nvSpPr>
        <p:spPr/>
        <p:txBody>
          <a:bodyPr/>
          <a:lstStyle/>
          <a:p>
            <a:r>
              <a:rPr lang="en-GB"/>
              <a:t>Prevalent AI Exposure Management Process</a:t>
            </a:r>
          </a:p>
        </p:txBody>
      </p:sp>
      <p:sp>
        <p:nvSpPr>
          <p:cNvPr id="3" name="Text Placeholder 2">
            <a:extLst>
              <a:ext uri="{FF2B5EF4-FFF2-40B4-BE49-F238E27FC236}">
                <a16:creationId xmlns:a16="http://schemas.microsoft.com/office/drawing/2014/main" id="{9E20DC27-493B-1FD3-D075-35CD973AE109}"/>
              </a:ext>
            </a:extLst>
          </p:cNvPr>
          <p:cNvSpPr>
            <a:spLocks noGrp="1"/>
          </p:cNvSpPr>
          <p:nvPr>
            <p:ph type="body" sz="quarter" idx="12"/>
          </p:nvPr>
        </p:nvSpPr>
        <p:spPr/>
        <p:txBody>
          <a:bodyPr/>
          <a:lstStyle/>
          <a:p>
            <a:endParaRPr lang="en-GB"/>
          </a:p>
        </p:txBody>
      </p:sp>
      <p:sp>
        <p:nvSpPr>
          <p:cNvPr id="10" name="TextBox 9">
            <a:extLst>
              <a:ext uri="{FF2B5EF4-FFF2-40B4-BE49-F238E27FC236}">
                <a16:creationId xmlns:a16="http://schemas.microsoft.com/office/drawing/2014/main" id="{DF206385-1030-750F-B0F1-5496ECAFA7BB}"/>
              </a:ext>
            </a:extLst>
          </p:cNvPr>
          <p:cNvSpPr txBox="1"/>
          <p:nvPr/>
        </p:nvSpPr>
        <p:spPr>
          <a:xfrm>
            <a:off x="4921811" y="3108298"/>
            <a:ext cx="2113691" cy="491160"/>
          </a:xfrm>
          <a:prstGeom prst="rect">
            <a:avLst/>
          </a:prstGeom>
          <a:noFill/>
        </p:spPr>
        <p:txBody>
          <a:bodyPr wrap="square">
            <a:spAutoFit/>
          </a:bodyPr>
          <a:lstStyle/>
          <a:p>
            <a:pPr algn="ctr" defTabSz="746760">
              <a:lnSpc>
                <a:spcPct val="90000"/>
              </a:lnSpc>
              <a:spcBef>
                <a:spcPct val="0"/>
              </a:spcBef>
              <a:spcAft>
                <a:spcPct val="35000"/>
              </a:spcAft>
            </a:pPr>
            <a:r>
              <a:rPr lang="en-GB" sz="1440" b="1">
                <a:solidFill>
                  <a:schemeClr val="tx2">
                    <a:lumMod val="85000"/>
                    <a:lumOff val="15000"/>
                  </a:schemeClr>
                </a:solidFill>
              </a:rPr>
              <a:t>EXPOSURE MANAGEMENT</a:t>
            </a:r>
          </a:p>
        </p:txBody>
      </p:sp>
      <p:sp>
        <p:nvSpPr>
          <p:cNvPr id="11" name="TextBox 10">
            <a:extLst>
              <a:ext uri="{FF2B5EF4-FFF2-40B4-BE49-F238E27FC236}">
                <a16:creationId xmlns:a16="http://schemas.microsoft.com/office/drawing/2014/main" id="{4BCBC991-13D3-E711-615F-C7BFED24C243}"/>
              </a:ext>
            </a:extLst>
          </p:cNvPr>
          <p:cNvSpPr txBox="1"/>
          <p:nvPr/>
        </p:nvSpPr>
        <p:spPr>
          <a:xfrm>
            <a:off x="6260592" y="1189069"/>
            <a:ext cx="2968582" cy="701731"/>
          </a:xfrm>
          <a:prstGeom prst="rect">
            <a:avLst/>
          </a:prstGeom>
          <a:noFill/>
        </p:spPr>
        <p:txBody>
          <a:bodyPr wrap="square">
            <a:spAutoFit/>
          </a:bodyPr>
          <a:lstStyle/>
          <a:p>
            <a:pPr algn="ctr" defTabSz="480060">
              <a:lnSpc>
                <a:spcPct val="90000"/>
              </a:lnSpc>
              <a:spcBef>
                <a:spcPct val="0"/>
              </a:spcBef>
              <a:spcAft>
                <a:spcPct val="35000"/>
              </a:spcAft>
            </a:pPr>
            <a:r>
              <a:rPr lang="en-GB" sz="1440" b="1">
                <a:solidFill>
                  <a:schemeClr val="tx2">
                    <a:lumMod val="85000"/>
                    <a:lumOff val="15000"/>
                  </a:schemeClr>
                </a:solidFill>
              </a:rPr>
              <a:t>DISCOVER</a:t>
            </a:r>
          </a:p>
          <a:p>
            <a:pPr algn="ctr" defTabSz="480060">
              <a:lnSpc>
                <a:spcPct val="90000"/>
              </a:lnSpc>
              <a:spcBef>
                <a:spcPct val="0"/>
              </a:spcBef>
              <a:spcAft>
                <a:spcPct val="35000"/>
              </a:spcAft>
            </a:pPr>
            <a:r>
              <a:rPr lang="en-GB" sz="1200">
                <a:solidFill>
                  <a:schemeClr val="tx2">
                    <a:lumMod val="85000"/>
                    <a:lumOff val="15000"/>
                  </a:schemeClr>
                </a:solidFill>
                <a:latin typeface="+mj-lt"/>
              </a:rPr>
              <a:t>(Complete Visibility and Context, across all Attack Surfaces)</a:t>
            </a:r>
          </a:p>
        </p:txBody>
      </p:sp>
      <p:sp>
        <p:nvSpPr>
          <p:cNvPr id="12" name="TextBox 11">
            <a:extLst>
              <a:ext uri="{FF2B5EF4-FFF2-40B4-BE49-F238E27FC236}">
                <a16:creationId xmlns:a16="http://schemas.microsoft.com/office/drawing/2014/main" id="{7A4F2EA8-CC16-AC48-C0D7-744B1CE1AE98}"/>
              </a:ext>
            </a:extLst>
          </p:cNvPr>
          <p:cNvSpPr txBox="1"/>
          <p:nvPr/>
        </p:nvSpPr>
        <p:spPr>
          <a:xfrm>
            <a:off x="992863" y="2934316"/>
            <a:ext cx="3146694" cy="701731"/>
          </a:xfrm>
          <a:prstGeom prst="rect">
            <a:avLst/>
          </a:prstGeom>
          <a:noFill/>
        </p:spPr>
        <p:txBody>
          <a:bodyPr wrap="square">
            <a:spAutoFit/>
          </a:bodyPr>
          <a:lstStyle/>
          <a:p>
            <a:pPr algn="ctr" defTabSz="480060">
              <a:lnSpc>
                <a:spcPct val="90000"/>
              </a:lnSpc>
              <a:spcBef>
                <a:spcPct val="0"/>
              </a:spcBef>
              <a:spcAft>
                <a:spcPct val="35000"/>
              </a:spcAft>
            </a:pPr>
            <a:r>
              <a:rPr lang="en-GB" sz="1440" b="1">
                <a:solidFill>
                  <a:schemeClr val="tx2">
                    <a:lumMod val="85000"/>
                    <a:lumOff val="15000"/>
                  </a:schemeClr>
                </a:solidFill>
              </a:rPr>
              <a:t>REMEDIATE &amp; REPORT </a:t>
            </a:r>
          </a:p>
          <a:p>
            <a:pPr algn="ctr" defTabSz="480060">
              <a:lnSpc>
                <a:spcPct val="90000"/>
              </a:lnSpc>
              <a:spcBef>
                <a:spcPct val="0"/>
              </a:spcBef>
              <a:spcAft>
                <a:spcPct val="35000"/>
              </a:spcAft>
            </a:pPr>
            <a:r>
              <a:rPr lang="en-GB" sz="1200">
                <a:solidFill>
                  <a:schemeClr val="tx2">
                    <a:lumMod val="85000"/>
                    <a:lumOff val="15000"/>
                  </a:schemeClr>
                </a:solidFill>
                <a:latin typeface="+mj-lt"/>
              </a:rPr>
              <a:t>(Accelerate fixes, stop attacks before they happen, automate reporting of posture) </a:t>
            </a:r>
          </a:p>
        </p:txBody>
      </p:sp>
      <p:sp>
        <p:nvSpPr>
          <p:cNvPr id="13" name="TextBox 12">
            <a:extLst>
              <a:ext uri="{FF2B5EF4-FFF2-40B4-BE49-F238E27FC236}">
                <a16:creationId xmlns:a16="http://schemas.microsoft.com/office/drawing/2014/main" id="{C12820CB-3A0A-8FA9-4402-74DBA46E3D96}"/>
              </a:ext>
            </a:extLst>
          </p:cNvPr>
          <p:cNvSpPr txBox="1"/>
          <p:nvPr/>
        </p:nvSpPr>
        <p:spPr>
          <a:xfrm>
            <a:off x="2310229" y="5217660"/>
            <a:ext cx="3471108" cy="701731"/>
          </a:xfrm>
          <a:prstGeom prst="rect">
            <a:avLst/>
          </a:prstGeom>
          <a:noFill/>
        </p:spPr>
        <p:txBody>
          <a:bodyPr wrap="square">
            <a:spAutoFit/>
          </a:bodyPr>
          <a:lstStyle/>
          <a:p>
            <a:pPr algn="ctr" defTabSz="480060">
              <a:lnSpc>
                <a:spcPct val="90000"/>
              </a:lnSpc>
              <a:spcBef>
                <a:spcPct val="0"/>
              </a:spcBef>
              <a:spcAft>
                <a:spcPct val="35000"/>
              </a:spcAft>
            </a:pPr>
            <a:r>
              <a:rPr lang="en-GB" sz="1440" b="1">
                <a:solidFill>
                  <a:schemeClr val="tx2">
                    <a:lumMod val="85000"/>
                    <a:lumOff val="15000"/>
                  </a:schemeClr>
                </a:solidFill>
              </a:rPr>
              <a:t>PRIORITISE</a:t>
            </a:r>
          </a:p>
          <a:p>
            <a:pPr algn="ctr" defTabSz="480060">
              <a:lnSpc>
                <a:spcPct val="90000"/>
              </a:lnSpc>
              <a:spcBef>
                <a:spcPct val="0"/>
              </a:spcBef>
              <a:spcAft>
                <a:spcPct val="35000"/>
              </a:spcAft>
            </a:pPr>
            <a:r>
              <a:rPr lang="en-GB" sz="1200">
                <a:solidFill>
                  <a:schemeClr val="tx2">
                    <a:lumMod val="85000"/>
                    <a:lumOff val="15000"/>
                  </a:schemeClr>
                </a:solidFill>
                <a:latin typeface="+mj-lt"/>
              </a:rPr>
              <a:t>(</a:t>
            </a:r>
            <a:r>
              <a:rPr lang="en-GB" sz="1200">
                <a:solidFill>
                  <a:schemeClr val="tx2">
                    <a:lumMod val="85000"/>
                    <a:lumOff val="15000"/>
                  </a:schemeClr>
                </a:solidFill>
                <a:latin typeface="Calibri Light" charset="0"/>
                <a:ea typeface="Calibri Light" charset="0"/>
                <a:cs typeface="Calibri Light" charset="0"/>
              </a:rPr>
              <a:t>Not all risks are created equal. Focus on the findings that matter</a:t>
            </a:r>
            <a:r>
              <a:rPr lang="en-GB" sz="1200">
                <a:solidFill>
                  <a:schemeClr val="tx2">
                    <a:lumMod val="85000"/>
                    <a:lumOff val="15000"/>
                  </a:schemeClr>
                </a:solidFill>
                <a:latin typeface="+mj-lt"/>
              </a:rPr>
              <a:t>)</a:t>
            </a:r>
          </a:p>
        </p:txBody>
      </p:sp>
      <p:sp>
        <p:nvSpPr>
          <p:cNvPr id="14" name="TextBox 13">
            <a:extLst>
              <a:ext uri="{FF2B5EF4-FFF2-40B4-BE49-F238E27FC236}">
                <a16:creationId xmlns:a16="http://schemas.microsoft.com/office/drawing/2014/main" id="{80952A51-2E8B-40A8-7640-D05B998851BA}"/>
              </a:ext>
            </a:extLst>
          </p:cNvPr>
          <p:cNvSpPr txBox="1"/>
          <p:nvPr/>
        </p:nvSpPr>
        <p:spPr>
          <a:xfrm>
            <a:off x="7621114" y="3460614"/>
            <a:ext cx="3173496" cy="701731"/>
          </a:xfrm>
          <a:prstGeom prst="rect">
            <a:avLst/>
          </a:prstGeom>
          <a:noFill/>
        </p:spPr>
        <p:txBody>
          <a:bodyPr wrap="square">
            <a:spAutoFit/>
          </a:bodyPr>
          <a:lstStyle/>
          <a:p>
            <a:pPr algn="ctr" defTabSz="480060">
              <a:lnSpc>
                <a:spcPct val="90000"/>
              </a:lnSpc>
              <a:spcBef>
                <a:spcPct val="0"/>
              </a:spcBef>
              <a:spcAft>
                <a:spcPct val="35000"/>
              </a:spcAft>
            </a:pPr>
            <a:r>
              <a:rPr lang="en-GB" sz="1440" b="1">
                <a:solidFill>
                  <a:schemeClr val="tx2">
                    <a:lumMod val="85000"/>
                    <a:lumOff val="15000"/>
                  </a:schemeClr>
                </a:solidFill>
              </a:rPr>
              <a:t>ASSESS</a:t>
            </a:r>
          </a:p>
          <a:p>
            <a:pPr algn="ctr" defTabSz="480060">
              <a:lnSpc>
                <a:spcPct val="90000"/>
              </a:lnSpc>
              <a:spcBef>
                <a:spcPct val="0"/>
              </a:spcBef>
              <a:spcAft>
                <a:spcPct val="35000"/>
              </a:spcAft>
            </a:pPr>
            <a:r>
              <a:rPr lang="en-GB" sz="1200">
                <a:solidFill>
                  <a:schemeClr val="tx2">
                    <a:lumMod val="85000"/>
                    <a:lumOff val="15000"/>
                  </a:schemeClr>
                </a:solidFill>
                <a:latin typeface="+mj-lt"/>
              </a:rPr>
              <a:t>(Identify, consolidate and contextualise findings across vulnerabilities and control weaknesses)</a:t>
            </a:r>
          </a:p>
        </p:txBody>
      </p:sp>
      <p:sp>
        <p:nvSpPr>
          <p:cNvPr id="27" name="Oval 26">
            <a:extLst>
              <a:ext uri="{FF2B5EF4-FFF2-40B4-BE49-F238E27FC236}">
                <a16:creationId xmlns:a16="http://schemas.microsoft.com/office/drawing/2014/main" id="{990F1587-41D8-ACA1-3023-CD77066EF9AD}"/>
              </a:ext>
            </a:extLst>
          </p:cNvPr>
          <p:cNvSpPr/>
          <p:nvPr/>
        </p:nvSpPr>
        <p:spPr>
          <a:xfrm>
            <a:off x="5903988" y="1662877"/>
            <a:ext cx="236083" cy="236083"/>
          </a:xfrm>
          <a:prstGeom prst="ellipse">
            <a:avLst/>
          </a:prstGeom>
          <a:solidFill>
            <a:srgbClr val="B28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85"/>
          </a:p>
        </p:txBody>
      </p:sp>
      <p:sp>
        <p:nvSpPr>
          <p:cNvPr id="28" name="Oval 27">
            <a:extLst>
              <a:ext uri="{FF2B5EF4-FFF2-40B4-BE49-F238E27FC236}">
                <a16:creationId xmlns:a16="http://schemas.microsoft.com/office/drawing/2014/main" id="{27D849E5-F143-6EAC-0C97-1E44D1697817}"/>
              </a:ext>
            </a:extLst>
          </p:cNvPr>
          <p:cNvSpPr/>
          <p:nvPr/>
        </p:nvSpPr>
        <p:spPr>
          <a:xfrm>
            <a:off x="7385031" y="3214174"/>
            <a:ext cx="236083" cy="236083"/>
          </a:xfrm>
          <a:prstGeom prst="ellipse">
            <a:avLst/>
          </a:prstGeom>
          <a:solidFill>
            <a:srgbClr val="7E91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85"/>
          </a:p>
        </p:txBody>
      </p:sp>
      <p:sp>
        <p:nvSpPr>
          <p:cNvPr id="29" name="Oval 28">
            <a:extLst>
              <a:ext uri="{FF2B5EF4-FFF2-40B4-BE49-F238E27FC236}">
                <a16:creationId xmlns:a16="http://schemas.microsoft.com/office/drawing/2014/main" id="{9AE83043-6649-AE2B-34F1-D9DFD0611749}"/>
              </a:ext>
            </a:extLst>
          </p:cNvPr>
          <p:cNvSpPr/>
          <p:nvPr/>
        </p:nvSpPr>
        <p:spPr>
          <a:xfrm>
            <a:off x="4336199" y="3238272"/>
            <a:ext cx="236083" cy="236083"/>
          </a:xfrm>
          <a:prstGeom prst="ellipse">
            <a:avLst/>
          </a:prstGeom>
          <a:solidFill>
            <a:srgbClr val="66D4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85"/>
          </a:p>
        </p:txBody>
      </p:sp>
      <p:sp>
        <p:nvSpPr>
          <p:cNvPr id="30" name="Oval 29">
            <a:extLst>
              <a:ext uri="{FF2B5EF4-FFF2-40B4-BE49-F238E27FC236}">
                <a16:creationId xmlns:a16="http://schemas.microsoft.com/office/drawing/2014/main" id="{E991900D-122A-51C2-3A1F-1CD47238796C}"/>
              </a:ext>
            </a:extLst>
          </p:cNvPr>
          <p:cNvSpPr/>
          <p:nvPr/>
        </p:nvSpPr>
        <p:spPr>
          <a:xfrm>
            <a:off x="5859917" y="4747843"/>
            <a:ext cx="236083" cy="236083"/>
          </a:xfrm>
          <a:prstGeom prst="ellipse">
            <a:avLst/>
          </a:prstGeom>
          <a:solidFill>
            <a:srgbClr val="92D3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85"/>
          </a:p>
        </p:txBody>
      </p:sp>
      <p:cxnSp>
        <p:nvCxnSpPr>
          <p:cNvPr id="35" name="Elbow Connector 34">
            <a:extLst>
              <a:ext uri="{FF2B5EF4-FFF2-40B4-BE49-F238E27FC236}">
                <a16:creationId xmlns:a16="http://schemas.microsoft.com/office/drawing/2014/main" id="{1D9C645B-E902-87B6-46EE-5D389A97A0B0}"/>
              </a:ext>
            </a:extLst>
          </p:cNvPr>
          <p:cNvCxnSpPr>
            <a:cxnSpLocks/>
            <a:endCxn id="27" idx="0"/>
          </p:cNvCxnSpPr>
          <p:nvPr/>
        </p:nvCxnSpPr>
        <p:spPr>
          <a:xfrm rot="10800000" flipV="1">
            <a:off x="6022030" y="1340438"/>
            <a:ext cx="1061522" cy="322439"/>
          </a:xfrm>
          <a:prstGeom prst="bentConnector2">
            <a:avLst/>
          </a:prstGeom>
          <a:ln>
            <a:solidFill>
              <a:srgbClr val="B282E3"/>
            </a:solidFill>
            <a:prstDash val="dash"/>
          </a:ln>
        </p:spPr>
        <p:style>
          <a:lnRef idx="1">
            <a:schemeClr val="accent1"/>
          </a:lnRef>
          <a:fillRef idx="0">
            <a:schemeClr val="accent1"/>
          </a:fillRef>
          <a:effectRef idx="0">
            <a:schemeClr val="accent1"/>
          </a:effectRef>
          <a:fontRef idx="minor">
            <a:schemeClr val="tx1"/>
          </a:fontRef>
        </p:style>
      </p:cxnSp>
      <p:cxnSp>
        <p:nvCxnSpPr>
          <p:cNvPr id="37" name="Elbow Connector 36">
            <a:extLst>
              <a:ext uri="{FF2B5EF4-FFF2-40B4-BE49-F238E27FC236}">
                <a16:creationId xmlns:a16="http://schemas.microsoft.com/office/drawing/2014/main" id="{96CA3AFD-742C-0132-A4A7-C61A5B98047A}"/>
              </a:ext>
            </a:extLst>
          </p:cNvPr>
          <p:cNvCxnSpPr>
            <a:cxnSpLocks/>
            <a:endCxn id="63" idx="0"/>
          </p:cNvCxnSpPr>
          <p:nvPr/>
        </p:nvCxnSpPr>
        <p:spPr>
          <a:xfrm>
            <a:off x="3478717" y="3108297"/>
            <a:ext cx="973402" cy="100883"/>
          </a:xfrm>
          <a:prstGeom prst="bentConnector2">
            <a:avLst/>
          </a:prstGeom>
          <a:ln>
            <a:solidFill>
              <a:srgbClr val="66D4DB"/>
            </a:solidFill>
            <a:prstDash val="dash"/>
          </a:ln>
        </p:spPr>
        <p:style>
          <a:lnRef idx="1">
            <a:schemeClr val="accent1"/>
          </a:lnRef>
          <a:fillRef idx="0">
            <a:schemeClr val="accent1"/>
          </a:fillRef>
          <a:effectRef idx="0">
            <a:schemeClr val="accent1"/>
          </a:effectRef>
          <a:fontRef idx="minor">
            <a:schemeClr val="tx1"/>
          </a:fontRef>
        </p:style>
      </p:cxnSp>
      <p:cxnSp>
        <p:nvCxnSpPr>
          <p:cNvPr id="40" name="Elbow Connector 39">
            <a:extLst>
              <a:ext uri="{FF2B5EF4-FFF2-40B4-BE49-F238E27FC236}">
                <a16:creationId xmlns:a16="http://schemas.microsoft.com/office/drawing/2014/main" id="{63BFA10A-B1AA-4FA5-B183-84036292D809}"/>
              </a:ext>
            </a:extLst>
          </p:cNvPr>
          <p:cNvCxnSpPr>
            <a:cxnSpLocks/>
            <a:endCxn id="61" idx="2"/>
          </p:cNvCxnSpPr>
          <p:nvPr/>
        </p:nvCxnSpPr>
        <p:spPr>
          <a:xfrm rot="10800000">
            <a:off x="7505194" y="3485796"/>
            <a:ext cx="1271364" cy="92533"/>
          </a:xfrm>
          <a:prstGeom prst="bentConnector2">
            <a:avLst/>
          </a:prstGeom>
          <a:ln>
            <a:solidFill>
              <a:srgbClr val="7E91DE"/>
            </a:solidFill>
            <a:prstDash val="dash"/>
          </a:ln>
        </p:spPr>
        <p:style>
          <a:lnRef idx="1">
            <a:schemeClr val="accent1"/>
          </a:lnRef>
          <a:fillRef idx="0">
            <a:schemeClr val="accent1"/>
          </a:fillRef>
          <a:effectRef idx="0">
            <a:schemeClr val="accent1"/>
          </a:effectRef>
          <a:fontRef idx="minor">
            <a:schemeClr val="tx1"/>
          </a:fontRef>
        </p:style>
      </p:cxnSp>
      <p:cxnSp>
        <p:nvCxnSpPr>
          <p:cNvPr id="41" name="Elbow Connector 40">
            <a:extLst>
              <a:ext uri="{FF2B5EF4-FFF2-40B4-BE49-F238E27FC236}">
                <a16:creationId xmlns:a16="http://schemas.microsoft.com/office/drawing/2014/main" id="{20A05E2A-091B-8AEC-313E-C2A3DE42B300}"/>
              </a:ext>
            </a:extLst>
          </p:cNvPr>
          <p:cNvCxnSpPr>
            <a:cxnSpLocks/>
            <a:endCxn id="30" idx="4"/>
          </p:cNvCxnSpPr>
          <p:nvPr/>
        </p:nvCxnSpPr>
        <p:spPr>
          <a:xfrm flipV="1">
            <a:off x="4746991" y="4983927"/>
            <a:ext cx="1230967" cy="372848"/>
          </a:xfrm>
          <a:prstGeom prst="bentConnector2">
            <a:avLst/>
          </a:prstGeom>
          <a:ln>
            <a:solidFill>
              <a:srgbClr val="92D3A7"/>
            </a:solidFill>
            <a:prstDash val="dash"/>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21041694-94B9-8D55-FF16-443D04473287}"/>
              </a:ext>
            </a:extLst>
          </p:cNvPr>
          <p:cNvSpPr txBox="1"/>
          <p:nvPr/>
        </p:nvSpPr>
        <p:spPr>
          <a:xfrm>
            <a:off x="5941145" y="1632255"/>
            <a:ext cx="155256" cy="291747"/>
          </a:xfrm>
          <a:prstGeom prst="rect">
            <a:avLst/>
          </a:prstGeom>
          <a:noFill/>
        </p:spPr>
        <p:txBody>
          <a:bodyPr wrap="square">
            <a:spAutoFit/>
          </a:bodyPr>
          <a:lstStyle/>
          <a:p>
            <a:pPr algn="ctr" defTabSz="746760">
              <a:lnSpc>
                <a:spcPct val="90000"/>
              </a:lnSpc>
              <a:spcBef>
                <a:spcPct val="0"/>
              </a:spcBef>
              <a:spcAft>
                <a:spcPct val="35000"/>
              </a:spcAft>
            </a:pPr>
            <a:r>
              <a:rPr lang="en-GB" sz="1440" b="1">
                <a:solidFill>
                  <a:schemeClr val="bg1"/>
                </a:solidFill>
              </a:rPr>
              <a:t>1</a:t>
            </a:r>
          </a:p>
        </p:txBody>
      </p:sp>
      <p:sp>
        <p:nvSpPr>
          <p:cNvPr id="61" name="TextBox 60">
            <a:extLst>
              <a:ext uri="{FF2B5EF4-FFF2-40B4-BE49-F238E27FC236}">
                <a16:creationId xmlns:a16="http://schemas.microsoft.com/office/drawing/2014/main" id="{8BAF09AE-CE00-D7C7-BB0A-E4C4D3168276}"/>
              </a:ext>
            </a:extLst>
          </p:cNvPr>
          <p:cNvSpPr txBox="1"/>
          <p:nvPr/>
        </p:nvSpPr>
        <p:spPr>
          <a:xfrm>
            <a:off x="7420921" y="3194048"/>
            <a:ext cx="168546" cy="291747"/>
          </a:xfrm>
          <a:prstGeom prst="rect">
            <a:avLst/>
          </a:prstGeom>
          <a:noFill/>
        </p:spPr>
        <p:txBody>
          <a:bodyPr wrap="square">
            <a:spAutoFit/>
          </a:bodyPr>
          <a:lstStyle/>
          <a:p>
            <a:pPr algn="ctr" defTabSz="746760">
              <a:lnSpc>
                <a:spcPct val="90000"/>
              </a:lnSpc>
              <a:spcBef>
                <a:spcPct val="0"/>
              </a:spcBef>
              <a:spcAft>
                <a:spcPct val="35000"/>
              </a:spcAft>
            </a:pPr>
            <a:r>
              <a:rPr lang="en-GB" sz="1440" b="1">
                <a:solidFill>
                  <a:schemeClr val="bg1"/>
                </a:solidFill>
              </a:rPr>
              <a:t>2</a:t>
            </a:r>
          </a:p>
        </p:txBody>
      </p:sp>
      <p:sp>
        <p:nvSpPr>
          <p:cNvPr id="62" name="TextBox 61">
            <a:extLst>
              <a:ext uri="{FF2B5EF4-FFF2-40B4-BE49-F238E27FC236}">
                <a16:creationId xmlns:a16="http://schemas.microsoft.com/office/drawing/2014/main" id="{5202F93E-BEFB-4CF3-E056-549EF340A621}"/>
              </a:ext>
            </a:extLst>
          </p:cNvPr>
          <p:cNvSpPr txBox="1"/>
          <p:nvPr/>
        </p:nvSpPr>
        <p:spPr>
          <a:xfrm>
            <a:off x="5901312" y="4719765"/>
            <a:ext cx="155256" cy="291747"/>
          </a:xfrm>
          <a:prstGeom prst="rect">
            <a:avLst/>
          </a:prstGeom>
          <a:noFill/>
        </p:spPr>
        <p:txBody>
          <a:bodyPr wrap="square">
            <a:spAutoFit/>
          </a:bodyPr>
          <a:lstStyle/>
          <a:p>
            <a:pPr algn="ctr" defTabSz="746760">
              <a:lnSpc>
                <a:spcPct val="90000"/>
              </a:lnSpc>
              <a:spcBef>
                <a:spcPct val="0"/>
              </a:spcBef>
              <a:spcAft>
                <a:spcPct val="35000"/>
              </a:spcAft>
            </a:pPr>
            <a:r>
              <a:rPr lang="en-GB" sz="1440" b="1">
                <a:solidFill>
                  <a:schemeClr val="bg1"/>
                </a:solidFill>
              </a:rPr>
              <a:t>3</a:t>
            </a:r>
          </a:p>
        </p:txBody>
      </p:sp>
      <p:sp>
        <p:nvSpPr>
          <p:cNvPr id="63" name="TextBox 62">
            <a:extLst>
              <a:ext uri="{FF2B5EF4-FFF2-40B4-BE49-F238E27FC236}">
                <a16:creationId xmlns:a16="http://schemas.microsoft.com/office/drawing/2014/main" id="{653D13D3-58C0-7AD0-3E55-2B86E640735F}"/>
              </a:ext>
            </a:extLst>
          </p:cNvPr>
          <p:cNvSpPr txBox="1"/>
          <p:nvPr/>
        </p:nvSpPr>
        <p:spPr>
          <a:xfrm>
            <a:off x="4374491" y="3209180"/>
            <a:ext cx="155256" cy="291747"/>
          </a:xfrm>
          <a:prstGeom prst="rect">
            <a:avLst/>
          </a:prstGeom>
          <a:noFill/>
        </p:spPr>
        <p:txBody>
          <a:bodyPr wrap="square">
            <a:spAutoFit/>
          </a:bodyPr>
          <a:lstStyle/>
          <a:p>
            <a:pPr algn="ctr" defTabSz="746760">
              <a:lnSpc>
                <a:spcPct val="90000"/>
              </a:lnSpc>
              <a:spcBef>
                <a:spcPct val="0"/>
              </a:spcBef>
              <a:spcAft>
                <a:spcPct val="35000"/>
              </a:spcAft>
            </a:pPr>
            <a:r>
              <a:rPr lang="en-GB" sz="1440" b="1">
                <a:solidFill>
                  <a:schemeClr val="bg1"/>
                </a:solidFill>
              </a:rPr>
              <a:t>4</a:t>
            </a:r>
          </a:p>
        </p:txBody>
      </p:sp>
    </p:spTree>
    <p:extLst>
      <p:ext uri="{BB962C8B-B14F-4D97-AF65-F5344CB8AC3E}">
        <p14:creationId xmlns:p14="http://schemas.microsoft.com/office/powerpoint/2010/main" val="34780575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0C22A-6E55-F66A-6257-EAF2AD655B94}"/>
            </a:ext>
          </a:extLst>
        </p:cNvPr>
        <p:cNvGrpSpPr/>
        <p:nvPr/>
      </p:nvGrpSpPr>
      <p:grpSpPr>
        <a:xfrm>
          <a:off x="0" y="0"/>
          <a:ext cx="0" cy="0"/>
          <a:chOff x="0" y="0"/>
          <a:chExt cx="0" cy="0"/>
        </a:xfrm>
      </p:grpSpPr>
      <p:sp>
        <p:nvSpPr>
          <p:cNvPr id="28" name="Rectangle: Rounded Corners 87">
            <a:extLst>
              <a:ext uri="{FF2B5EF4-FFF2-40B4-BE49-F238E27FC236}">
                <a16:creationId xmlns:a16="http://schemas.microsoft.com/office/drawing/2014/main" id="{480E400D-C825-518C-DB11-E28ACFA41A21}"/>
              </a:ext>
            </a:extLst>
          </p:cNvPr>
          <p:cNvSpPr/>
          <p:nvPr/>
        </p:nvSpPr>
        <p:spPr>
          <a:xfrm>
            <a:off x="4370437" y="1739647"/>
            <a:ext cx="1435424" cy="2581531"/>
          </a:xfrm>
          <a:prstGeom prst="roundRect">
            <a:avLst>
              <a:gd name="adj" fmla="val 3021"/>
            </a:avLst>
          </a:prstGeom>
          <a:solidFill>
            <a:srgbClr val="E7E8EB">
              <a:alpha val="66667"/>
            </a:srgbClr>
          </a:solidFill>
          <a:ln>
            <a:noFill/>
          </a:ln>
        </p:spPr>
        <p:style>
          <a:lnRef idx="2">
            <a:schemeClr val="accent2">
              <a:shade val="50000"/>
            </a:schemeClr>
          </a:lnRef>
          <a:fillRef idx="1">
            <a:schemeClr val="accent2"/>
          </a:fillRef>
          <a:effectRef idx="0">
            <a:schemeClr val="accent2"/>
          </a:effectRef>
          <a:fontRef idx="minor">
            <a:schemeClr val="lt1"/>
          </a:fontRef>
        </p:style>
        <p:txBody>
          <a:bodyPr lIns="51995" tIns="25997" rIns="51995" bIns="25997" rtlCol="0" anchor="ctr"/>
          <a:lstStyle/>
          <a:p>
            <a:pPr algn="ctr"/>
            <a:endParaRPr lang="en-US" sz="486">
              <a:solidFill>
                <a:schemeClr val="tx1"/>
              </a:solidFill>
              <a:cs typeface="Calibri"/>
            </a:endParaRPr>
          </a:p>
        </p:txBody>
      </p:sp>
      <p:sp>
        <p:nvSpPr>
          <p:cNvPr id="1070" name="Rectangle 1069">
            <a:extLst>
              <a:ext uri="{FF2B5EF4-FFF2-40B4-BE49-F238E27FC236}">
                <a16:creationId xmlns:a16="http://schemas.microsoft.com/office/drawing/2014/main" id="{2C16B4F5-3E94-D33A-D3D7-A927C0E4C3D2}"/>
              </a:ext>
            </a:extLst>
          </p:cNvPr>
          <p:cNvSpPr/>
          <p:nvPr/>
        </p:nvSpPr>
        <p:spPr>
          <a:xfrm>
            <a:off x="2840818" y="4750890"/>
            <a:ext cx="7855169" cy="1559407"/>
          </a:xfrm>
          <a:prstGeom prst="rect">
            <a:avLst/>
          </a:prstGeom>
          <a:solidFill>
            <a:srgbClr val="E7E8EB">
              <a:alpha val="66667"/>
            </a:srgbClr>
          </a:solidFill>
          <a:ln>
            <a:no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38"/>
          </a:p>
        </p:txBody>
      </p:sp>
      <p:sp>
        <p:nvSpPr>
          <p:cNvPr id="21" name="Rectangle: Rounded Corners 87">
            <a:extLst>
              <a:ext uri="{FF2B5EF4-FFF2-40B4-BE49-F238E27FC236}">
                <a16:creationId xmlns:a16="http://schemas.microsoft.com/office/drawing/2014/main" id="{074373AE-435B-45A2-18C8-0F9DDC6C77EE}"/>
              </a:ext>
            </a:extLst>
          </p:cNvPr>
          <p:cNvSpPr/>
          <p:nvPr/>
        </p:nvSpPr>
        <p:spPr>
          <a:xfrm>
            <a:off x="2950043" y="5894707"/>
            <a:ext cx="7583474" cy="258649"/>
          </a:xfrm>
          <a:prstGeom prst="roundRect">
            <a:avLst>
              <a:gd name="adj" fmla="val 0"/>
            </a:avLst>
          </a:prstGeom>
          <a:solidFill>
            <a:srgbClr val="FFFFFF"/>
          </a:solidFill>
          <a:ln w="6350">
            <a:solidFill>
              <a:srgbClr val="0BAAE9"/>
            </a:solidFill>
          </a:ln>
        </p:spPr>
        <p:style>
          <a:lnRef idx="2">
            <a:schemeClr val="accent2">
              <a:shade val="50000"/>
            </a:schemeClr>
          </a:lnRef>
          <a:fillRef idx="1">
            <a:schemeClr val="accent2"/>
          </a:fillRef>
          <a:effectRef idx="0">
            <a:schemeClr val="accent2"/>
          </a:effectRef>
          <a:fontRef idx="minor">
            <a:schemeClr val="lt1"/>
          </a:fontRef>
        </p:style>
        <p:txBody>
          <a:bodyPr lIns="51995" tIns="25997" rIns="51995" bIns="25997" rtlCol="0" anchor="ctr"/>
          <a:lstStyle/>
          <a:p>
            <a:pPr algn="ctr"/>
            <a:r>
              <a:rPr lang="en-US" sz="486">
                <a:solidFill>
                  <a:schemeClr val="tx1"/>
                </a:solidFill>
                <a:cs typeface="Calibri"/>
              </a:rPr>
              <a:t>d</a:t>
            </a:r>
          </a:p>
        </p:txBody>
      </p:sp>
      <p:sp>
        <p:nvSpPr>
          <p:cNvPr id="20" name="Rectangle: Rounded Corners 87">
            <a:extLst>
              <a:ext uri="{FF2B5EF4-FFF2-40B4-BE49-F238E27FC236}">
                <a16:creationId xmlns:a16="http://schemas.microsoft.com/office/drawing/2014/main" id="{EABA326B-A3B8-E98B-6ECC-FF37FC333054}"/>
              </a:ext>
            </a:extLst>
          </p:cNvPr>
          <p:cNvSpPr/>
          <p:nvPr/>
        </p:nvSpPr>
        <p:spPr>
          <a:xfrm>
            <a:off x="2937341" y="5152928"/>
            <a:ext cx="7583474" cy="258649"/>
          </a:xfrm>
          <a:prstGeom prst="roundRect">
            <a:avLst>
              <a:gd name="adj" fmla="val 0"/>
            </a:avLst>
          </a:prstGeom>
          <a:solidFill>
            <a:schemeClr val="bg1"/>
          </a:solidFill>
          <a:ln w="6350">
            <a:solidFill>
              <a:srgbClr val="169FB2"/>
            </a:solidFill>
          </a:ln>
        </p:spPr>
        <p:style>
          <a:lnRef idx="2">
            <a:schemeClr val="accent2">
              <a:shade val="50000"/>
            </a:schemeClr>
          </a:lnRef>
          <a:fillRef idx="1">
            <a:schemeClr val="accent2"/>
          </a:fillRef>
          <a:effectRef idx="0">
            <a:schemeClr val="accent2"/>
          </a:effectRef>
          <a:fontRef idx="minor">
            <a:schemeClr val="lt1"/>
          </a:fontRef>
        </p:style>
        <p:txBody>
          <a:bodyPr lIns="51995" tIns="25997" rIns="51995" bIns="25997" rtlCol="0" anchor="ctr"/>
          <a:lstStyle/>
          <a:p>
            <a:pPr algn="ctr"/>
            <a:endParaRPr lang="en-US" sz="486">
              <a:solidFill>
                <a:schemeClr val="tx1"/>
              </a:solidFill>
              <a:cs typeface="Calibri"/>
            </a:endParaRPr>
          </a:p>
        </p:txBody>
      </p:sp>
      <p:sp>
        <p:nvSpPr>
          <p:cNvPr id="11" name="Rectangle: Rounded Corners 87">
            <a:extLst>
              <a:ext uri="{FF2B5EF4-FFF2-40B4-BE49-F238E27FC236}">
                <a16:creationId xmlns:a16="http://schemas.microsoft.com/office/drawing/2014/main" id="{04FC7E5A-6BE8-5860-36A2-074AC18116C5}"/>
              </a:ext>
            </a:extLst>
          </p:cNvPr>
          <p:cNvSpPr/>
          <p:nvPr/>
        </p:nvSpPr>
        <p:spPr>
          <a:xfrm>
            <a:off x="9186540" y="1736405"/>
            <a:ext cx="1435424" cy="2571225"/>
          </a:xfrm>
          <a:prstGeom prst="roundRect">
            <a:avLst>
              <a:gd name="adj" fmla="val 2158"/>
            </a:avLst>
          </a:prstGeom>
          <a:solidFill>
            <a:srgbClr val="E7E8EB">
              <a:alpha val="66667"/>
            </a:srgbClr>
          </a:solidFill>
          <a:ln>
            <a:noFill/>
          </a:ln>
        </p:spPr>
        <p:style>
          <a:lnRef idx="2">
            <a:schemeClr val="accent2">
              <a:shade val="50000"/>
            </a:schemeClr>
          </a:lnRef>
          <a:fillRef idx="1">
            <a:schemeClr val="accent2"/>
          </a:fillRef>
          <a:effectRef idx="0">
            <a:schemeClr val="accent2"/>
          </a:effectRef>
          <a:fontRef idx="minor">
            <a:schemeClr val="lt1"/>
          </a:fontRef>
        </p:style>
        <p:txBody>
          <a:bodyPr lIns="51995" tIns="25997" rIns="51995" bIns="25997" rtlCol="0" anchor="ctr"/>
          <a:lstStyle/>
          <a:p>
            <a:pPr algn="ctr"/>
            <a:endParaRPr lang="en-US" sz="486">
              <a:solidFill>
                <a:schemeClr val="tx1"/>
              </a:solidFill>
              <a:cs typeface="Calibri"/>
            </a:endParaRPr>
          </a:p>
        </p:txBody>
      </p:sp>
      <p:sp>
        <p:nvSpPr>
          <p:cNvPr id="6" name="Rectangle: Rounded Corners 87">
            <a:extLst>
              <a:ext uri="{FF2B5EF4-FFF2-40B4-BE49-F238E27FC236}">
                <a16:creationId xmlns:a16="http://schemas.microsoft.com/office/drawing/2014/main" id="{81D3DB0F-14DD-14A2-55CC-BF23016D4F3A}"/>
              </a:ext>
            </a:extLst>
          </p:cNvPr>
          <p:cNvSpPr/>
          <p:nvPr/>
        </p:nvSpPr>
        <p:spPr>
          <a:xfrm>
            <a:off x="7588921" y="1740241"/>
            <a:ext cx="1435424" cy="2571225"/>
          </a:xfrm>
          <a:prstGeom prst="roundRect">
            <a:avLst>
              <a:gd name="adj" fmla="val 2158"/>
            </a:avLst>
          </a:prstGeom>
          <a:solidFill>
            <a:srgbClr val="E7E8EB">
              <a:alpha val="66667"/>
            </a:srgbClr>
          </a:solidFill>
          <a:ln>
            <a:noFill/>
          </a:ln>
        </p:spPr>
        <p:style>
          <a:lnRef idx="2">
            <a:schemeClr val="accent2">
              <a:shade val="50000"/>
            </a:schemeClr>
          </a:lnRef>
          <a:fillRef idx="1">
            <a:schemeClr val="accent2"/>
          </a:fillRef>
          <a:effectRef idx="0">
            <a:schemeClr val="accent2"/>
          </a:effectRef>
          <a:fontRef idx="minor">
            <a:schemeClr val="lt1"/>
          </a:fontRef>
        </p:style>
        <p:txBody>
          <a:bodyPr lIns="51995" tIns="25997" rIns="51995" bIns="25997" rtlCol="0" anchor="ctr"/>
          <a:lstStyle/>
          <a:p>
            <a:pPr algn="ctr"/>
            <a:endParaRPr lang="en-US" sz="486">
              <a:solidFill>
                <a:schemeClr val="tx1"/>
              </a:solidFill>
              <a:cs typeface="Calibri"/>
            </a:endParaRPr>
          </a:p>
        </p:txBody>
      </p:sp>
      <p:sp>
        <p:nvSpPr>
          <p:cNvPr id="2" name="Title 1">
            <a:extLst>
              <a:ext uri="{FF2B5EF4-FFF2-40B4-BE49-F238E27FC236}">
                <a16:creationId xmlns:a16="http://schemas.microsoft.com/office/drawing/2014/main" id="{A440B0EF-ED1B-E467-A851-F674ACF518FD}"/>
              </a:ext>
            </a:extLst>
          </p:cNvPr>
          <p:cNvSpPr>
            <a:spLocks noGrp="1"/>
          </p:cNvSpPr>
          <p:nvPr>
            <p:ph type="title"/>
          </p:nvPr>
        </p:nvSpPr>
        <p:spPr/>
        <p:txBody>
          <a:bodyPr lIns="0" tIns="0" rIns="0" bIns="0" anchor="t"/>
          <a:lstStyle/>
          <a:p>
            <a:r>
              <a:rPr lang="en-GB" sz="2200"/>
              <a:t>Data Fabric Powered Exposure Management</a:t>
            </a:r>
          </a:p>
        </p:txBody>
      </p:sp>
      <p:sp>
        <p:nvSpPr>
          <p:cNvPr id="1073" name="Slide Number Placeholder 2">
            <a:extLst>
              <a:ext uri="{FF2B5EF4-FFF2-40B4-BE49-F238E27FC236}">
                <a16:creationId xmlns:a16="http://schemas.microsoft.com/office/drawing/2014/main" id="{3167F624-3882-E99F-B4B6-2180236E30C6}"/>
              </a:ext>
            </a:extLst>
          </p:cNvPr>
          <p:cNvSpPr>
            <a:spLocks noGrp="1"/>
          </p:cNvSpPr>
          <p:nvPr>
            <p:ph type="sldNum" sz="quarter" idx="4"/>
          </p:nvPr>
        </p:nvSpPr>
        <p:spPr/>
        <p:txBody>
          <a:bodyPr/>
          <a:lstStyle/>
          <a:p>
            <a:r>
              <a:rPr lang="en-US"/>
              <a:t>&lt;  16</a:t>
            </a:r>
          </a:p>
        </p:txBody>
      </p:sp>
      <p:sp>
        <p:nvSpPr>
          <p:cNvPr id="26" name="Rectangle: Rounded Corners 87">
            <a:extLst>
              <a:ext uri="{FF2B5EF4-FFF2-40B4-BE49-F238E27FC236}">
                <a16:creationId xmlns:a16="http://schemas.microsoft.com/office/drawing/2014/main" id="{203C8253-CB8E-6800-8E12-814C4ABA8010}"/>
              </a:ext>
            </a:extLst>
          </p:cNvPr>
          <p:cNvSpPr/>
          <p:nvPr/>
        </p:nvSpPr>
        <p:spPr>
          <a:xfrm>
            <a:off x="2871288" y="1741990"/>
            <a:ext cx="1351062" cy="2565808"/>
          </a:xfrm>
          <a:prstGeom prst="roundRect">
            <a:avLst>
              <a:gd name="adj" fmla="val 3210"/>
            </a:avLst>
          </a:prstGeom>
          <a:solidFill>
            <a:srgbClr val="E7E8EB">
              <a:alpha val="66667"/>
            </a:srgbClr>
          </a:solidFill>
          <a:ln>
            <a:noFill/>
          </a:ln>
        </p:spPr>
        <p:style>
          <a:lnRef idx="2">
            <a:schemeClr val="accent2">
              <a:shade val="50000"/>
            </a:schemeClr>
          </a:lnRef>
          <a:fillRef idx="1">
            <a:schemeClr val="accent2"/>
          </a:fillRef>
          <a:effectRef idx="0">
            <a:schemeClr val="accent2"/>
          </a:effectRef>
          <a:fontRef idx="minor">
            <a:schemeClr val="lt1"/>
          </a:fontRef>
        </p:style>
        <p:txBody>
          <a:bodyPr lIns="51995" tIns="25997" rIns="51995" bIns="25997" rtlCol="0" anchor="ctr"/>
          <a:lstStyle/>
          <a:p>
            <a:pPr algn="ctr"/>
            <a:endParaRPr lang="en-US" sz="486">
              <a:solidFill>
                <a:schemeClr val="tx1"/>
              </a:solidFill>
              <a:cs typeface="Calibri"/>
            </a:endParaRPr>
          </a:p>
        </p:txBody>
      </p:sp>
      <p:sp>
        <p:nvSpPr>
          <p:cNvPr id="27" name="Rectangle: Rounded Corners 87">
            <a:extLst>
              <a:ext uri="{FF2B5EF4-FFF2-40B4-BE49-F238E27FC236}">
                <a16:creationId xmlns:a16="http://schemas.microsoft.com/office/drawing/2014/main" id="{ECCFD38B-4DC0-0D1D-8A2C-5ABA47F8ED89}"/>
              </a:ext>
            </a:extLst>
          </p:cNvPr>
          <p:cNvSpPr/>
          <p:nvPr/>
        </p:nvSpPr>
        <p:spPr>
          <a:xfrm>
            <a:off x="5988158" y="1730809"/>
            <a:ext cx="1435424" cy="2571225"/>
          </a:xfrm>
          <a:prstGeom prst="roundRect">
            <a:avLst>
              <a:gd name="adj" fmla="val 2158"/>
            </a:avLst>
          </a:prstGeom>
          <a:solidFill>
            <a:srgbClr val="E7E8EB">
              <a:alpha val="66667"/>
            </a:srgbClr>
          </a:solidFill>
          <a:ln>
            <a:noFill/>
          </a:ln>
        </p:spPr>
        <p:style>
          <a:lnRef idx="2">
            <a:schemeClr val="accent2">
              <a:shade val="50000"/>
            </a:schemeClr>
          </a:lnRef>
          <a:fillRef idx="1">
            <a:schemeClr val="accent2"/>
          </a:fillRef>
          <a:effectRef idx="0">
            <a:schemeClr val="accent2"/>
          </a:effectRef>
          <a:fontRef idx="minor">
            <a:schemeClr val="lt1"/>
          </a:fontRef>
        </p:style>
        <p:txBody>
          <a:bodyPr lIns="51995" tIns="25997" rIns="51995" bIns="25997" rtlCol="0" anchor="ctr"/>
          <a:lstStyle/>
          <a:p>
            <a:pPr algn="ctr"/>
            <a:endParaRPr lang="en-US" sz="486">
              <a:solidFill>
                <a:schemeClr val="tx1"/>
              </a:solidFill>
              <a:cs typeface="Calibri"/>
            </a:endParaRPr>
          </a:p>
        </p:txBody>
      </p:sp>
      <p:sp>
        <p:nvSpPr>
          <p:cNvPr id="67" name="Rectangle: Rounded Corners 87">
            <a:extLst>
              <a:ext uri="{FF2B5EF4-FFF2-40B4-BE49-F238E27FC236}">
                <a16:creationId xmlns:a16="http://schemas.microsoft.com/office/drawing/2014/main" id="{1543E4EF-2653-19EE-6A06-F492A5D72628}"/>
              </a:ext>
            </a:extLst>
          </p:cNvPr>
          <p:cNvSpPr/>
          <p:nvPr/>
        </p:nvSpPr>
        <p:spPr>
          <a:xfrm>
            <a:off x="2769400" y="3786437"/>
            <a:ext cx="7973496" cy="430028"/>
          </a:xfrm>
          <a:prstGeom prst="roundRect">
            <a:avLst>
              <a:gd name="adj" fmla="val 8799"/>
            </a:avLst>
          </a:prstGeom>
          <a:solidFill>
            <a:srgbClr val="B282E3">
              <a:alpha val="23922"/>
            </a:srgbClr>
          </a:solidFill>
          <a:ln w="6350">
            <a:solidFill>
              <a:srgbClr val="B282E3"/>
            </a:solidFill>
            <a:prstDash val="sysDash"/>
          </a:ln>
        </p:spPr>
        <p:style>
          <a:lnRef idx="2">
            <a:schemeClr val="accent2">
              <a:shade val="50000"/>
            </a:schemeClr>
          </a:lnRef>
          <a:fillRef idx="1">
            <a:schemeClr val="accent2"/>
          </a:fillRef>
          <a:effectRef idx="0">
            <a:schemeClr val="accent2"/>
          </a:effectRef>
          <a:fontRef idx="minor">
            <a:schemeClr val="lt1"/>
          </a:fontRef>
        </p:style>
        <p:txBody>
          <a:bodyPr lIns="51995" tIns="25997" rIns="51995" bIns="25997" rtlCol="0" anchor="ctr"/>
          <a:lstStyle/>
          <a:p>
            <a:pPr algn="ctr"/>
            <a:r>
              <a:rPr lang="en-US" sz="892" b="1">
                <a:solidFill>
                  <a:schemeClr val="tx1"/>
                </a:solidFill>
              </a:rPr>
              <a:t>DISCOVER</a:t>
            </a:r>
          </a:p>
        </p:txBody>
      </p:sp>
      <p:sp>
        <p:nvSpPr>
          <p:cNvPr id="107" name="TextBox 106">
            <a:extLst>
              <a:ext uri="{FF2B5EF4-FFF2-40B4-BE49-F238E27FC236}">
                <a16:creationId xmlns:a16="http://schemas.microsoft.com/office/drawing/2014/main" id="{C3A503E0-60FD-F111-0A9D-655CC386D5BE}"/>
              </a:ext>
            </a:extLst>
          </p:cNvPr>
          <p:cNvSpPr txBox="1"/>
          <p:nvPr/>
        </p:nvSpPr>
        <p:spPr>
          <a:xfrm>
            <a:off x="2967851" y="1994116"/>
            <a:ext cx="1217290" cy="229615"/>
          </a:xfrm>
          <a:prstGeom prst="rect">
            <a:avLst/>
          </a:prstGeom>
          <a:noFill/>
        </p:spPr>
        <p:txBody>
          <a:bodyPr wrap="square">
            <a:spAutoFit/>
          </a:bodyPr>
          <a:lstStyle/>
          <a:p>
            <a:pPr algn="ctr"/>
            <a:r>
              <a:rPr lang="en-GB" sz="892" b="1"/>
              <a:t>Device Exposure</a:t>
            </a:r>
          </a:p>
        </p:txBody>
      </p:sp>
      <p:sp>
        <p:nvSpPr>
          <p:cNvPr id="108" name="TextBox 107">
            <a:extLst>
              <a:ext uri="{FF2B5EF4-FFF2-40B4-BE49-F238E27FC236}">
                <a16:creationId xmlns:a16="http://schemas.microsoft.com/office/drawing/2014/main" id="{C7EAC1B7-F533-02F9-9E3A-15C9D3D76087}"/>
              </a:ext>
            </a:extLst>
          </p:cNvPr>
          <p:cNvSpPr txBox="1"/>
          <p:nvPr/>
        </p:nvSpPr>
        <p:spPr>
          <a:xfrm>
            <a:off x="6113063" y="1985631"/>
            <a:ext cx="1217290" cy="229615"/>
          </a:xfrm>
          <a:prstGeom prst="rect">
            <a:avLst/>
          </a:prstGeom>
          <a:noFill/>
        </p:spPr>
        <p:txBody>
          <a:bodyPr wrap="square">
            <a:spAutoFit/>
          </a:bodyPr>
          <a:lstStyle/>
          <a:p>
            <a:pPr algn="ctr"/>
            <a:r>
              <a:rPr lang="en-GB" sz="892" b="1"/>
              <a:t>Identity Exposure </a:t>
            </a:r>
          </a:p>
        </p:txBody>
      </p:sp>
      <p:sp>
        <p:nvSpPr>
          <p:cNvPr id="109" name="TextBox 108">
            <a:extLst>
              <a:ext uri="{FF2B5EF4-FFF2-40B4-BE49-F238E27FC236}">
                <a16:creationId xmlns:a16="http://schemas.microsoft.com/office/drawing/2014/main" id="{ED0B133E-A43C-1BD3-6068-3F22BDF07940}"/>
              </a:ext>
            </a:extLst>
          </p:cNvPr>
          <p:cNvSpPr txBox="1"/>
          <p:nvPr/>
        </p:nvSpPr>
        <p:spPr>
          <a:xfrm>
            <a:off x="4512353" y="1975264"/>
            <a:ext cx="1217290" cy="229615"/>
          </a:xfrm>
          <a:prstGeom prst="rect">
            <a:avLst/>
          </a:prstGeom>
          <a:noFill/>
        </p:spPr>
        <p:txBody>
          <a:bodyPr wrap="square">
            <a:spAutoFit/>
          </a:bodyPr>
          <a:lstStyle/>
          <a:p>
            <a:pPr algn="ctr"/>
            <a:r>
              <a:rPr lang="en-GB" sz="892" b="1"/>
              <a:t>Cloud Exposure</a:t>
            </a:r>
          </a:p>
        </p:txBody>
      </p:sp>
      <p:pic>
        <p:nvPicPr>
          <p:cNvPr id="114" name="Picture 113">
            <a:extLst>
              <a:ext uri="{FF2B5EF4-FFF2-40B4-BE49-F238E27FC236}">
                <a16:creationId xmlns:a16="http://schemas.microsoft.com/office/drawing/2014/main" id="{073D6583-C6FF-71AF-6D13-50977E181244}"/>
              </a:ext>
            </a:extLst>
          </p:cNvPr>
          <p:cNvPicPr>
            <a:picLocks noChangeAspect="1"/>
          </p:cNvPicPr>
          <p:nvPr/>
        </p:nvPicPr>
        <p:blipFill>
          <a:blip r:embed="rId3"/>
          <a:stretch>
            <a:fillRect/>
          </a:stretch>
        </p:blipFill>
        <p:spPr>
          <a:xfrm>
            <a:off x="6621564" y="1783480"/>
            <a:ext cx="194280" cy="193792"/>
          </a:xfrm>
          <a:prstGeom prst="rect">
            <a:avLst/>
          </a:prstGeom>
        </p:spPr>
      </p:pic>
      <p:pic>
        <p:nvPicPr>
          <p:cNvPr id="116" name="Picture 2" descr="Searching data in database - Free interface icons">
            <a:extLst>
              <a:ext uri="{FF2B5EF4-FFF2-40B4-BE49-F238E27FC236}">
                <a16:creationId xmlns:a16="http://schemas.microsoft.com/office/drawing/2014/main" id="{E155108C-75D3-0121-471A-6C42D0CD4A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1570" y="1793118"/>
            <a:ext cx="174516" cy="174516"/>
          </a:xfrm>
          <a:prstGeom prst="rect">
            <a:avLst/>
          </a:prstGeom>
          <a:noFill/>
          <a:extLst>
            <a:ext uri="{909E8E84-426E-40DD-AFC4-6F175D3DCCD1}">
              <a14:hiddenFill xmlns:a14="http://schemas.microsoft.com/office/drawing/2010/main">
                <a:solidFill>
                  <a:srgbClr val="FFFFFF"/>
                </a:solidFill>
              </a14:hiddenFill>
            </a:ext>
          </a:extLst>
        </p:spPr>
      </p:pic>
      <p:sp>
        <p:nvSpPr>
          <p:cNvPr id="119" name="TextBox 118">
            <a:extLst>
              <a:ext uri="{FF2B5EF4-FFF2-40B4-BE49-F238E27FC236}">
                <a16:creationId xmlns:a16="http://schemas.microsoft.com/office/drawing/2014/main" id="{277F5347-35CE-3F9C-76BD-8FB43AE96CFF}"/>
              </a:ext>
            </a:extLst>
          </p:cNvPr>
          <p:cNvSpPr txBox="1"/>
          <p:nvPr/>
        </p:nvSpPr>
        <p:spPr>
          <a:xfrm>
            <a:off x="6113063" y="5160870"/>
            <a:ext cx="1217290" cy="229615"/>
          </a:xfrm>
          <a:prstGeom prst="rect">
            <a:avLst/>
          </a:prstGeom>
          <a:noFill/>
        </p:spPr>
        <p:txBody>
          <a:bodyPr wrap="square">
            <a:spAutoFit/>
          </a:bodyPr>
          <a:lstStyle/>
          <a:p>
            <a:pPr algn="ctr"/>
            <a:r>
              <a:rPr lang="en-GB" sz="892" b="1"/>
              <a:t>Knowledge Graph</a:t>
            </a:r>
          </a:p>
        </p:txBody>
      </p:sp>
      <p:sp>
        <p:nvSpPr>
          <p:cNvPr id="120" name="TextBox 119">
            <a:extLst>
              <a:ext uri="{FF2B5EF4-FFF2-40B4-BE49-F238E27FC236}">
                <a16:creationId xmlns:a16="http://schemas.microsoft.com/office/drawing/2014/main" id="{3F166A38-14D4-3CC6-92AF-9C8C0BCE259D}"/>
              </a:ext>
            </a:extLst>
          </p:cNvPr>
          <p:cNvSpPr txBox="1"/>
          <p:nvPr/>
        </p:nvSpPr>
        <p:spPr>
          <a:xfrm>
            <a:off x="6113063" y="5905365"/>
            <a:ext cx="1217290" cy="229615"/>
          </a:xfrm>
          <a:prstGeom prst="rect">
            <a:avLst/>
          </a:prstGeom>
          <a:noFill/>
        </p:spPr>
        <p:txBody>
          <a:bodyPr wrap="square">
            <a:spAutoFit/>
          </a:bodyPr>
          <a:lstStyle/>
          <a:p>
            <a:pPr algn="ctr"/>
            <a:r>
              <a:rPr lang="en-GB" sz="892" b="1"/>
              <a:t>Data Platform</a:t>
            </a:r>
          </a:p>
        </p:txBody>
      </p:sp>
      <p:sp>
        <p:nvSpPr>
          <p:cNvPr id="127" name="Rectangle 126">
            <a:extLst>
              <a:ext uri="{FF2B5EF4-FFF2-40B4-BE49-F238E27FC236}">
                <a16:creationId xmlns:a16="http://schemas.microsoft.com/office/drawing/2014/main" id="{70F39FCD-D895-347A-CE42-FA6A7FFE99E8}"/>
              </a:ext>
            </a:extLst>
          </p:cNvPr>
          <p:cNvSpPr/>
          <p:nvPr/>
        </p:nvSpPr>
        <p:spPr>
          <a:xfrm>
            <a:off x="2937341" y="4881915"/>
            <a:ext cx="1003583" cy="207856"/>
          </a:xfrm>
          <a:prstGeom prst="rect">
            <a:avLst/>
          </a:prstGeom>
          <a:ln w="6350">
            <a:solidFill>
              <a:srgbClr val="169FB2"/>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spcAft>
                <a:spcPts val="316"/>
              </a:spcAft>
            </a:pPr>
            <a:r>
              <a:rPr lang="en-GB" sz="810">
                <a:solidFill>
                  <a:srgbClr val="4D2E58"/>
                </a:solidFill>
                <a:latin typeface="Calibri Light" charset="0"/>
                <a:ea typeface="Calibri Light" charset="0"/>
                <a:cs typeface="Calibri Light" charset="0"/>
              </a:rPr>
              <a:t>Devices</a:t>
            </a:r>
          </a:p>
        </p:txBody>
      </p:sp>
      <p:sp>
        <p:nvSpPr>
          <p:cNvPr id="1024" name="Rectangle 1023">
            <a:extLst>
              <a:ext uri="{FF2B5EF4-FFF2-40B4-BE49-F238E27FC236}">
                <a16:creationId xmlns:a16="http://schemas.microsoft.com/office/drawing/2014/main" id="{6F58FD61-BDF4-2A03-C5D2-FD0D5DCBE8FA}"/>
              </a:ext>
            </a:extLst>
          </p:cNvPr>
          <p:cNvSpPr/>
          <p:nvPr/>
        </p:nvSpPr>
        <p:spPr>
          <a:xfrm>
            <a:off x="4002847" y="4882270"/>
            <a:ext cx="1003582" cy="210456"/>
          </a:xfrm>
          <a:prstGeom prst="rect">
            <a:avLst/>
          </a:prstGeom>
          <a:ln w="6350">
            <a:solidFill>
              <a:srgbClr val="169FB2"/>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spcAft>
                <a:spcPts val="316"/>
              </a:spcAft>
            </a:pPr>
            <a:r>
              <a:rPr lang="en-GB" sz="810">
                <a:solidFill>
                  <a:srgbClr val="4D2E58"/>
                </a:solidFill>
                <a:latin typeface="Calibri Light" charset="0"/>
                <a:ea typeface="Calibri Light" charset="0"/>
                <a:cs typeface="Calibri Light" charset="0"/>
              </a:rPr>
              <a:t>Cloud</a:t>
            </a:r>
          </a:p>
        </p:txBody>
      </p:sp>
      <p:sp>
        <p:nvSpPr>
          <p:cNvPr id="1025" name="Rectangle 1024">
            <a:extLst>
              <a:ext uri="{FF2B5EF4-FFF2-40B4-BE49-F238E27FC236}">
                <a16:creationId xmlns:a16="http://schemas.microsoft.com/office/drawing/2014/main" id="{EB745735-9404-BE42-E02D-A6A9D8C4D921}"/>
              </a:ext>
            </a:extLst>
          </p:cNvPr>
          <p:cNvSpPr/>
          <p:nvPr/>
        </p:nvSpPr>
        <p:spPr>
          <a:xfrm>
            <a:off x="8358307" y="4882270"/>
            <a:ext cx="1003582" cy="210456"/>
          </a:xfrm>
          <a:prstGeom prst="rect">
            <a:avLst/>
          </a:prstGeom>
          <a:ln w="6350">
            <a:solidFill>
              <a:srgbClr val="169FB2"/>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spcAft>
                <a:spcPts val="316"/>
              </a:spcAft>
            </a:pPr>
            <a:r>
              <a:rPr lang="en-GB" sz="810">
                <a:solidFill>
                  <a:srgbClr val="4D2E58"/>
                </a:solidFill>
                <a:latin typeface="Calibri Light" charset="0"/>
                <a:ea typeface="Calibri Light" charset="0"/>
                <a:cs typeface="Calibri Light" charset="0"/>
              </a:rPr>
              <a:t>Vulnerabilities</a:t>
            </a:r>
          </a:p>
        </p:txBody>
      </p:sp>
      <p:sp>
        <p:nvSpPr>
          <p:cNvPr id="1027" name="Rectangle 1026">
            <a:extLst>
              <a:ext uri="{FF2B5EF4-FFF2-40B4-BE49-F238E27FC236}">
                <a16:creationId xmlns:a16="http://schemas.microsoft.com/office/drawing/2014/main" id="{D3C89D07-0FBE-FA83-D548-721E7A0824EF}"/>
              </a:ext>
            </a:extLst>
          </p:cNvPr>
          <p:cNvSpPr/>
          <p:nvPr/>
        </p:nvSpPr>
        <p:spPr>
          <a:xfrm>
            <a:off x="7199361" y="4882270"/>
            <a:ext cx="1097024" cy="210456"/>
          </a:xfrm>
          <a:prstGeom prst="rect">
            <a:avLst/>
          </a:prstGeom>
          <a:ln w="6350">
            <a:solidFill>
              <a:srgbClr val="169FB2"/>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spcAft>
                <a:spcPts val="316"/>
              </a:spcAft>
            </a:pPr>
            <a:r>
              <a:rPr lang="en-GB" sz="810">
                <a:solidFill>
                  <a:srgbClr val="4D2E58"/>
                </a:solidFill>
                <a:latin typeface="Calibri Light" charset="0"/>
                <a:ea typeface="Calibri Light" charset="0"/>
                <a:cs typeface="Calibri Light" charset="0"/>
              </a:rPr>
              <a:t>Data</a:t>
            </a:r>
          </a:p>
        </p:txBody>
      </p:sp>
      <p:sp>
        <p:nvSpPr>
          <p:cNvPr id="1028" name="Rectangle 1027">
            <a:extLst>
              <a:ext uri="{FF2B5EF4-FFF2-40B4-BE49-F238E27FC236}">
                <a16:creationId xmlns:a16="http://schemas.microsoft.com/office/drawing/2014/main" id="{6F67EB1D-E00F-88E2-ACDB-4A043FA71ABD}"/>
              </a:ext>
            </a:extLst>
          </p:cNvPr>
          <p:cNvSpPr/>
          <p:nvPr/>
        </p:nvSpPr>
        <p:spPr>
          <a:xfrm>
            <a:off x="5068349" y="4882270"/>
            <a:ext cx="1003582" cy="210456"/>
          </a:xfrm>
          <a:prstGeom prst="rect">
            <a:avLst/>
          </a:prstGeom>
          <a:ln w="6350">
            <a:solidFill>
              <a:srgbClr val="169FB2"/>
            </a:solidFill>
            <a:prstDash val="sysDot"/>
          </a:ln>
        </p:spPr>
        <p:style>
          <a:lnRef idx="2">
            <a:schemeClr val="accent6"/>
          </a:lnRef>
          <a:fillRef idx="1">
            <a:schemeClr val="lt1"/>
          </a:fillRef>
          <a:effectRef idx="0">
            <a:schemeClr val="accent6"/>
          </a:effectRef>
          <a:fontRef idx="minor">
            <a:schemeClr val="dk1"/>
          </a:fontRef>
        </p:style>
        <p:txBody>
          <a:bodyPr lIns="74066" tIns="37033" rIns="74066" bIns="37033" rtlCol="0" anchor="ctr"/>
          <a:lstStyle/>
          <a:p>
            <a:pPr algn="ctr">
              <a:spcAft>
                <a:spcPts val="316"/>
              </a:spcAft>
            </a:pPr>
            <a:r>
              <a:rPr lang="en-GB" sz="810">
                <a:solidFill>
                  <a:srgbClr val="4D2E58"/>
                </a:solidFill>
                <a:latin typeface="Calibri Light"/>
                <a:ea typeface="Calibri Light" charset="0"/>
                <a:cs typeface="Calibri Light"/>
              </a:rPr>
              <a:t>Identity</a:t>
            </a:r>
            <a:endParaRPr lang="en-GB" sz="810">
              <a:solidFill>
                <a:srgbClr val="4D2E58"/>
              </a:solidFill>
              <a:latin typeface="Calibri Light"/>
              <a:ea typeface="Calibri Light" charset="0"/>
              <a:cs typeface="Calibri Light" charset="0"/>
            </a:endParaRPr>
          </a:p>
        </p:txBody>
      </p:sp>
      <p:sp>
        <p:nvSpPr>
          <p:cNvPr id="1029" name="Rectangle 1028">
            <a:extLst>
              <a:ext uri="{FF2B5EF4-FFF2-40B4-BE49-F238E27FC236}">
                <a16:creationId xmlns:a16="http://schemas.microsoft.com/office/drawing/2014/main" id="{248F40B6-C3C5-C79E-8990-E43CD15E6CDA}"/>
              </a:ext>
            </a:extLst>
          </p:cNvPr>
          <p:cNvSpPr/>
          <p:nvPr/>
        </p:nvSpPr>
        <p:spPr>
          <a:xfrm>
            <a:off x="6133856" y="4882270"/>
            <a:ext cx="1003582" cy="210456"/>
          </a:xfrm>
          <a:prstGeom prst="rect">
            <a:avLst/>
          </a:prstGeom>
          <a:ln w="6350">
            <a:solidFill>
              <a:srgbClr val="169FB2"/>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spcAft>
                <a:spcPts val="316"/>
              </a:spcAft>
            </a:pPr>
            <a:r>
              <a:rPr lang="en-GB" sz="810">
                <a:solidFill>
                  <a:srgbClr val="4D2E58"/>
                </a:solidFill>
                <a:latin typeface="Calibri Light" charset="0"/>
                <a:ea typeface="Calibri Light" charset="0"/>
                <a:cs typeface="Calibri Light" charset="0"/>
              </a:rPr>
              <a:t>Application</a:t>
            </a:r>
          </a:p>
        </p:txBody>
      </p:sp>
      <p:sp>
        <p:nvSpPr>
          <p:cNvPr id="1030" name="Rectangle 1029">
            <a:extLst>
              <a:ext uri="{FF2B5EF4-FFF2-40B4-BE49-F238E27FC236}">
                <a16:creationId xmlns:a16="http://schemas.microsoft.com/office/drawing/2014/main" id="{7D82EF0A-108C-C9C7-0BC7-CB33A64E1804}"/>
              </a:ext>
            </a:extLst>
          </p:cNvPr>
          <p:cNvSpPr/>
          <p:nvPr/>
        </p:nvSpPr>
        <p:spPr>
          <a:xfrm>
            <a:off x="9423812" y="4882270"/>
            <a:ext cx="1097024" cy="210456"/>
          </a:xfrm>
          <a:prstGeom prst="rect">
            <a:avLst/>
          </a:prstGeom>
          <a:ln w="6350">
            <a:solidFill>
              <a:srgbClr val="169FB2"/>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spcAft>
                <a:spcPts val="316"/>
              </a:spcAft>
            </a:pPr>
            <a:r>
              <a:rPr lang="en-GB" sz="810">
                <a:solidFill>
                  <a:srgbClr val="4D2E58"/>
                </a:solidFill>
                <a:latin typeface="Calibri Light" charset="0"/>
                <a:ea typeface="Calibri Light" charset="0"/>
                <a:cs typeface="Calibri Light" charset="0"/>
              </a:rPr>
              <a:t>Other Entities</a:t>
            </a:r>
          </a:p>
        </p:txBody>
      </p:sp>
      <p:pic>
        <p:nvPicPr>
          <p:cNvPr id="1032" name="Graphic 1031" descr="Cloud outline">
            <a:extLst>
              <a:ext uri="{FF2B5EF4-FFF2-40B4-BE49-F238E27FC236}">
                <a16:creationId xmlns:a16="http://schemas.microsoft.com/office/drawing/2014/main" id="{193416E8-BAF2-9593-C9B3-A0AE245DB96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09554" y="1719113"/>
            <a:ext cx="284822" cy="284822"/>
          </a:xfrm>
          <a:prstGeom prst="rect">
            <a:avLst/>
          </a:prstGeom>
        </p:spPr>
      </p:pic>
      <p:sp>
        <p:nvSpPr>
          <p:cNvPr id="1037" name="Rectangle 1036">
            <a:extLst>
              <a:ext uri="{FF2B5EF4-FFF2-40B4-BE49-F238E27FC236}">
                <a16:creationId xmlns:a16="http://schemas.microsoft.com/office/drawing/2014/main" id="{B8E52FD7-03B7-352E-D414-4325ACCEDCEB}"/>
              </a:ext>
            </a:extLst>
          </p:cNvPr>
          <p:cNvSpPr/>
          <p:nvPr/>
        </p:nvSpPr>
        <p:spPr>
          <a:xfrm>
            <a:off x="2950075" y="5619072"/>
            <a:ext cx="1448362" cy="209927"/>
          </a:xfrm>
          <a:prstGeom prst="rect">
            <a:avLst/>
          </a:prstGeom>
          <a:ln w="6350">
            <a:solidFill>
              <a:srgbClr val="0BAAE9"/>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spcAft>
                <a:spcPts val="316"/>
              </a:spcAft>
            </a:pPr>
            <a:r>
              <a:rPr lang="en-GB" sz="810">
                <a:solidFill>
                  <a:srgbClr val="4D2E58"/>
                </a:solidFill>
                <a:latin typeface="Calibri Light" charset="0"/>
                <a:ea typeface="Calibri Light" charset="0"/>
                <a:cs typeface="Calibri Light" charset="0"/>
              </a:rPr>
              <a:t>Integrations</a:t>
            </a:r>
          </a:p>
        </p:txBody>
      </p:sp>
      <p:sp>
        <p:nvSpPr>
          <p:cNvPr id="1038" name="Rectangle 1037">
            <a:extLst>
              <a:ext uri="{FF2B5EF4-FFF2-40B4-BE49-F238E27FC236}">
                <a16:creationId xmlns:a16="http://schemas.microsoft.com/office/drawing/2014/main" id="{00EDEAD5-9D8B-22EE-66C4-686FC86EE343}"/>
              </a:ext>
            </a:extLst>
          </p:cNvPr>
          <p:cNvSpPr/>
          <p:nvPr/>
        </p:nvSpPr>
        <p:spPr>
          <a:xfrm>
            <a:off x="4471049" y="5619072"/>
            <a:ext cx="1448362" cy="209927"/>
          </a:xfrm>
          <a:prstGeom prst="rect">
            <a:avLst/>
          </a:prstGeom>
          <a:ln w="6350">
            <a:solidFill>
              <a:srgbClr val="0BAAE9"/>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spcAft>
                <a:spcPts val="316"/>
              </a:spcAft>
            </a:pPr>
            <a:r>
              <a:rPr lang="en-GB" sz="810">
                <a:solidFill>
                  <a:srgbClr val="4D2E58"/>
                </a:solidFill>
                <a:latin typeface="Calibri Light" charset="0"/>
                <a:ea typeface="Calibri Light" charset="0"/>
                <a:cs typeface="Calibri Light" charset="0"/>
              </a:rPr>
              <a:t>Entity Resolution</a:t>
            </a:r>
          </a:p>
        </p:txBody>
      </p:sp>
      <p:sp>
        <p:nvSpPr>
          <p:cNvPr id="1039" name="Rectangle 1038">
            <a:extLst>
              <a:ext uri="{FF2B5EF4-FFF2-40B4-BE49-F238E27FC236}">
                <a16:creationId xmlns:a16="http://schemas.microsoft.com/office/drawing/2014/main" id="{4B93005A-5ACD-15E3-2A81-E1FBA4E10F13}"/>
              </a:ext>
            </a:extLst>
          </p:cNvPr>
          <p:cNvSpPr/>
          <p:nvPr/>
        </p:nvSpPr>
        <p:spPr>
          <a:xfrm>
            <a:off x="5992024" y="5620581"/>
            <a:ext cx="1448363" cy="209927"/>
          </a:xfrm>
          <a:prstGeom prst="rect">
            <a:avLst/>
          </a:prstGeom>
          <a:ln w="6350">
            <a:solidFill>
              <a:srgbClr val="0BAAE9"/>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spcAft>
                <a:spcPts val="316"/>
              </a:spcAft>
            </a:pPr>
            <a:r>
              <a:rPr lang="en-GB" sz="810">
                <a:solidFill>
                  <a:srgbClr val="4D2E58"/>
                </a:solidFill>
                <a:latin typeface="Calibri Light" charset="0"/>
                <a:ea typeface="Calibri Light" charset="0"/>
                <a:cs typeface="Calibri Light" charset="0"/>
              </a:rPr>
              <a:t>Data Generation</a:t>
            </a:r>
          </a:p>
        </p:txBody>
      </p:sp>
      <p:sp>
        <p:nvSpPr>
          <p:cNvPr id="1040" name="Rectangle 1039">
            <a:extLst>
              <a:ext uri="{FF2B5EF4-FFF2-40B4-BE49-F238E27FC236}">
                <a16:creationId xmlns:a16="http://schemas.microsoft.com/office/drawing/2014/main" id="{453F1E72-5972-33A0-2FE6-C83E24B590C3}"/>
              </a:ext>
            </a:extLst>
          </p:cNvPr>
          <p:cNvSpPr/>
          <p:nvPr/>
        </p:nvSpPr>
        <p:spPr>
          <a:xfrm>
            <a:off x="7527146" y="5620584"/>
            <a:ext cx="1448362" cy="209927"/>
          </a:xfrm>
          <a:prstGeom prst="rect">
            <a:avLst/>
          </a:prstGeom>
          <a:ln w="6350">
            <a:solidFill>
              <a:srgbClr val="0BAAE9"/>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spcAft>
                <a:spcPts val="316"/>
              </a:spcAft>
            </a:pPr>
            <a:r>
              <a:rPr lang="en-GB" sz="810">
                <a:solidFill>
                  <a:srgbClr val="4D2E58"/>
                </a:solidFill>
                <a:latin typeface="Calibri Light" charset="0"/>
                <a:ea typeface="Calibri Light" charset="0"/>
                <a:cs typeface="Calibri Light" charset="0"/>
              </a:rPr>
              <a:t>Analytics</a:t>
            </a:r>
          </a:p>
        </p:txBody>
      </p:sp>
      <p:sp>
        <p:nvSpPr>
          <p:cNvPr id="1041" name="Rectangle 1040">
            <a:extLst>
              <a:ext uri="{FF2B5EF4-FFF2-40B4-BE49-F238E27FC236}">
                <a16:creationId xmlns:a16="http://schemas.microsoft.com/office/drawing/2014/main" id="{BFCC6AF9-2020-5158-3642-4DF226D9ED36}"/>
              </a:ext>
            </a:extLst>
          </p:cNvPr>
          <p:cNvSpPr/>
          <p:nvPr/>
        </p:nvSpPr>
        <p:spPr>
          <a:xfrm>
            <a:off x="9068235" y="5619072"/>
            <a:ext cx="1452578" cy="209927"/>
          </a:xfrm>
          <a:prstGeom prst="rect">
            <a:avLst/>
          </a:prstGeom>
          <a:ln w="6350">
            <a:solidFill>
              <a:srgbClr val="0BAAE9"/>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spcAft>
                <a:spcPts val="316"/>
              </a:spcAft>
            </a:pPr>
            <a:r>
              <a:rPr lang="en-GB" sz="810">
                <a:solidFill>
                  <a:srgbClr val="4D2E58"/>
                </a:solidFill>
                <a:latin typeface="Calibri Light" charset="0"/>
                <a:ea typeface="Calibri Light" charset="0"/>
                <a:cs typeface="Calibri Light" charset="0"/>
              </a:rPr>
              <a:t>Risk Scoring</a:t>
            </a:r>
          </a:p>
        </p:txBody>
      </p:sp>
      <p:sp>
        <p:nvSpPr>
          <p:cNvPr id="1043" name="Text Placeholder 5">
            <a:extLst>
              <a:ext uri="{FF2B5EF4-FFF2-40B4-BE49-F238E27FC236}">
                <a16:creationId xmlns:a16="http://schemas.microsoft.com/office/drawing/2014/main" id="{42B1D645-DE8F-0549-B1E4-785A62A3B496}"/>
              </a:ext>
            </a:extLst>
          </p:cNvPr>
          <p:cNvSpPr txBox="1">
            <a:spLocks/>
          </p:cNvSpPr>
          <p:nvPr/>
        </p:nvSpPr>
        <p:spPr>
          <a:xfrm>
            <a:off x="881311" y="1709360"/>
            <a:ext cx="1482523" cy="238979"/>
          </a:xfrm>
          <a:prstGeom prst="rect">
            <a:avLst/>
          </a:prstGeom>
          <a:ln>
            <a:noFill/>
          </a:ln>
        </p:spPr>
        <p:txBody>
          <a:bodyPr lIns="113374" tIns="0" rIns="0" bIns="0" anchor="ctr"/>
          <a:lstStyle>
            <a:lvl1pPr marL="0" indent="0" algn="l" defTabSz="685800" rtl="0" eaLnBrk="1" latinLnBrk="0" hangingPunct="1">
              <a:lnSpc>
                <a:spcPct val="100000"/>
              </a:lnSpc>
              <a:spcBef>
                <a:spcPts val="0"/>
              </a:spcBef>
              <a:spcAft>
                <a:spcPts val="400"/>
              </a:spcAft>
              <a:buFont typeface="Arial" panose="020B0604020202020204" pitchFamily="34" charset="0"/>
              <a:buNone/>
              <a:defRPr sz="1200" b="0" i="0" kern="1200">
                <a:solidFill>
                  <a:schemeClr val="tx1"/>
                </a:solidFill>
                <a:latin typeface="Calibri Light" charset="0"/>
                <a:ea typeface="Calibri Light" charset="0"/>
                <a:cs typeface="Calibri Light" charset="0"/>
              </a:defRPr>
            </a:lvl1pPr>
            <a:lvl2pPr marL="504000" indent="-216000" algn="l" defTabSz="685800" rtl="0" eaLnBrk="1" latinLnBrk="0" hangingPunct="1">
              <a:lnSpc>
                <a:spcPct val="100000"/>
              </a:lnSpc>
              <a:spcBef>
                <a:spcPts val="0"/>
              </a:spcBef>
              <a:spcAft>
                <a:spcPts val="400"/>
              </a:spcAft>
              <a:buFont typeface="Arial" panose="020B0604020202020204" pitchFamily="34" charset="0"/>
              <a:buChar char="•"/>
              <a:defRPr sz="1050" b="0" i="0" kern="1200">
                <a:solidFill>
                  <a:schemeClr val="tx1"/>
                </a:solidFill>
                <a:latin typeface="Calibri Light" charset="0"/>
                <a:ea typeface="Calibri Light" charset="0"/>
                <a:cs typeface="Calibri Light" charset="0"/>
              </a:defRPr>
            </a:lvl2pPr>
            <a:lvl3pPr marL="792000" indent="-216000" algn="l" defTabSz="685800" rtl="0" eaLnBrk="1" latinLnBrk="0" hangingPunct="1">
              <a:lnSpc>
                <a:spcPct val="100000"/>
              </a:lnSpc>
              <a:spcBef>
                <a:spcPts val="0"/>
              </a:spcBef>
              <a:spcAft>
                <a:spcPts val="400"/>
              </a:spcAft>
              <a:buFont typeface="Arial" panose="020B0604020202020204" pitchFamily="34" charset="0"/>
              <a:buChar char="•"/>
              <a:defRPr sz="1050" b="0" i="0" kern="1200">
                <a:solidFill>
                  <a:schemeClr val="tx1"/>
                </a:solidFill>
                <a:latin typeface="Calibri Light" charset="0"/>
                <a:ea typeface="Calibri Light" charset="0"/>
                <a:cs typeface="Calibri Light" charset="0"/>
              </a:defRPr>
            </a:lvl3pPr>
            <a:lvl4pPr marL="1080000" indent="-216000" algn="l" defTabSz="685800" rtl="0" eaLnBrk="1" latinLnBrk="0" hangingPunct="1">
              <a:lnSpc>
                <a:spcPct val="100000"/>
              </a:lnSpc>
              <a:spcBef>
                <a:spcPts val="0"/>
              </a:spcBef>
              <a:spcAft>
                <a:spcPts val="400"/>
              </a:spcAft>
              <a:buFont typeface="Arial" panose="020B0604020202020204" pitchFamily="34" charset="0"/>
              <a:buChar char="•"/>
              <a:defRPr sz="1000" b="0" i="0" kern="1200">
                <a:solidFill>
                  <a:schemeClr val="tx1"/>
                </a:solidFill>
                <a:latin typeface="Calibri Light" charset="0"/>
                <a:ea typeface="Calibri Light" charset="0"/>
                <a:cs typeface="Calibri Light" charset="0"/>
              </a:defRPr>
            </a:lvl4pPr>
            <a:lvl5pPr marL="1368000" indent="-216000" algn="l" defTabSz="685800" rtl="0" eaLnBrk="1" latinLnBrk="0" hangingPunct="1">
              <a:lnSpc>
                <a:spcPct val="100000"/>
              </a:lnSpc>
              <a:spcBef>
                <a:spcPts val="0"/>
              </a:spcBef>
              <a:spcAft>
                <a:spcPts val="400"/>
              </a:spcAft>
              <a:buFont typeface="Arial" panose="020B0604020202020204" pitchFamily="34" charset="0"/>
              <a:buChar char="•"/>
              <a:defRPr sz="1000" b="0" i="0" kern="1200">
                <a:solidFill>
                  <a:schemeClr val="tx1"/>
                </a:solidFill>
                <a:latin typeface="Calibri Light" charset="0"/>
                <a:ea typeface="Calibri Light" charset="0"/>
                <a:cs typeface="Calibri Light"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972" b="1"/>
              <a:t>Exposure Management</a:t>
            </a:r>
            <a:endParaRPr lang="en-US" sz="972"/>
          </a:p>
        </p:txBody>
      </p:sp>
      <p:sp>
        <p:nvSpPr>
          <p:cNvPr id="1044" name="Text Placeholder 5">
            <a:extLst>
              <a:ext uri="{FF2B5EF4-FFF2-40B4-BE49-F238E27FC236}">
                <a16:creationId xmlns:a16="http://schemas.microsoft.com/office/drawing/2014/main" id="{A7B9BEC1-B602-EAF8-3224-CD6D5BEAB0D4}"/>
              </a:ext>
            </a:extLst>
          </p:cNvPr>
          <p:cNvSpPr txBox="1">
            <a:spLocks/>
          </p:cNvSpPr>
          <p:nvPr/>
        </p:nvSpPr>
        <p:spPr>
          <a:xfrm>
            <a:off x="892077" y="4621858"/>
            <a:ext cx="1771868" cy="828539"/>
          </a:xfrm>
          <a:prstGeom prst="rect">
            <a:avLst/>
          </a:prstGeom>
          <a:ln>
            <a:noFill/>
          </a:ln>
        </p:spPr>
        <p:txBody>
          <a:bodyPr lIns="113374" tIns="0" rIns="0" bIns="0" anchor="ctr"/>
          <a:lstStyle>
            <a:lvl1pPr marL="0" indent="0" algn="l" defTabSz="685800" rtl="0" eaLnBrk="1" latinLnBrk="0" hangingPunct="1">
              <a:lnSpc>
                <a:spcPct val="100000"/>
              </a:lnSpc>
              <a:spcBef>
                <a:spcPts val="0"/>
              </a:spcBef>
              <a:spcAft>
                <a:spcPts val="400"/>
              </a:spcAft>
              <a:buFont typeface="Arial" panose="020B0604020202020204" pitchFamily="34" charset="0"/>
              <a:buNone/>
              <a:defRPr sz="1200" b="0" i="0" kern="1200">
                <a:solidFill>
                  <a:schemeClr val="tx1"/>
                </a:solidFill>
                <a:latin typeface="Calibri Light" charset="0"/>
                <a:ea typeface="Calibri Light" charset="0"/>
                <a:cs typeface="Calibri Light" charset="0"/>
              </a:defRPr>
            </a:lvl1pPr>
            <a:lvl2pPr marL="504000" indent="-216000" algn="l" defTabSz="685800" rtl="0" eaLnBrk="1" latinLnBrk="0" hangingPunct="1">
              <a:lnSpc>
                <a:spcPct val="100000"/>
              </a:lnSpc>
              <a:spcBef>
                <a:spcPts val="0"/>
              </a:spcBef>
              <a:spcAft>
                <a:spcPts val="400"/>
              </a:spcAft>
              <a:buFont typeface="Arial" panose="020B0604020202020204" pitchFamily="34" charset="0"/>
              <a:buChar char="•"/>
              <a:defRPr sz="1050" b="0" i="0" kern="1200">
                <a:solidFill>
                  <a:schemeClr val="tx1"/>
                </a:solidFill>
                <a:latin typeface="Calibri Light" charset="0"/>
                <a:ea typeface="Calibri Light" charset="0"/>
                <a:cs typeface="Calibri Light" charset="0"/>
              </a:defRPr>
            </a:lvl2pPr>
            <a:lvl3pPr marL="792000" indent="-216000" algn="l" defTabSz="685800" rtl="0" eaLnBrk="1" latinLnBrk="0" hangingPunct="1">
              <a:lnSpc>
                <a:spcPct val="100000"/>
              </a:lnSpc>
              <a:spcBef>
                <a:spcPts val="0"/>
              </a:spcBef>
              <a:spcAft>
                <a:spcPts val="400"/>
              </a:spcAft>
              <a:buFont typeface="Arial" panose="020B0604020202020204" pitchFamily="34" charset="0"/>
              <a:buChar char="•"/>
              <a:defRPr sz="1050" b="0" i="0" kern="1200">
                <a:solidFill>
                  <a:schemeClr val="tx1"/>
                </a:solidFill>
                <a:latin typeface="Calibri Light" charset="0"/>
                <a:ea typeface="Calibri Light" charset="0"/>
                <a:cs typeface="Calibri Light" charset="0"/>
              </a:defRPr>
            </a:lvl3pPr>
            <a:lvl4pPr marL="1080000" indent="-216000" algn="l" defTabSz="685800" rtl="0" eaLnBrk="1" latinLnBrk="0" hangingPunct="1">
              <a:lnSpc>
                <a:spcPct val="100000"/>
              </a:lnSpc>
              <a:spcBef>
                <a:spcPts val="0"/>
              </a:spcBef>
              <a:spcAft>
                <a:spcPts val="400"/>
              </a:spcAft>
              <a:buFont typeface="Arial" panose="020B0604020202020204" pitchFamily="34" charset="0"/>
              <a:buChar char="•"/>
              <a:defRPr sz="1000" b="0" i="0" kern="1200">
                <a:solidFill>
                  <a:schemeClr val="tx1"/>
                </a:solidFill>
                <a:latin typeface="Calibri Light" charset="0"/>
                <a:ea typeface="Calibri Light" charset="0"/>
                <a:cs typeface="Calibri Light" charset="0"/>
              </a:defRPr>
            </a:lvl4pPr>
            <a:lvl5pPr marL="1368000" indent="-216000" algn="l" defTabSz="685800" rtl="0" eaLnBrk="1" latinLnBrk="0" hangingPunct="1">
              <a:lnSpc>
                <a:spcPct val="100000"/>
              </a:lnSpc>
              <a:spcBef>
                <a:spcPts val="0"/>
              </a:spcBef>
              <a:spcAft>
                <a:spcPts val="400"/>
              </a:spcAft>
              <a:buFont typeface="Arial" panose="020B0604020202020204" pitchFamily="34" charset="0"/>
              <a:buChar char="•"/>
              <a:defRPr sz="1000" b="0" i="0" kern="1200">
                <a:solidFill>
                  <a:schemeClr val="tx1"/>
                </a:solidFill>
                <a:latin typeface="Calibri Light" charset="0"/>
                <a:ea typeface="Calibri Light" charset="0"/>
                <a:cs typeface="Calibri Light"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972" b="1"/>
              <a:t>Data Fabric</a:t>
            </a:r>
          </a:p>
          <a:p>
            <a:r>
              <a:rPr lang="en-US" sz="972"/>
              <a:t>A consolidated data model of your estate</a:t>
            </a:r>
          </a:p>
        </p:txBody>
      </p:sp>
      <p:sp>
        <p:nvSpPr>
          <p:cNvPr id="1045" name="Text Placeholder 5">
            <a:extLst>
              <a:ext uri="{FF2B5EF4-FFF2-40B4-BE49-F238E27FC236}">
                <a16:creationId xmlns:a16="http://schemas.microsoft.com/office/drawing/2014/main" id="{2B5C905C-E513-7DD5-7813-DBF16E42BCE0}"/>
              </a:ext>
            </a:extLst>
          </p:cNvPr>
          <p:cNvSpPr txBox="1">
            <a:spLocks/>
          </p:cNvSpPr>
          <p:nvPr/>
        </p:nvSpPr>
        <p:spPr>
          <a:xfrm>
            <a:off x="905826" y="5492674"/>
            <a:ext cx="1571963" cy="786966"/>
          </a:xfrm>
          <a:prstGeom prst="rect">
            <a:avLst/>
          </a:prstGeom>
          <a:ln>
            <a:noFill/>
          </a:ln>
        </p:spPr>
        <p:txBody>
          <a:bodyPr lIns="113374" tIns="0" rIns="0" bIns="0" anchor="ctr"/>
          <a:lstStyle>
            <a:lvl1pPr marL="0" indent="0" algn="l" defTabSz="685800" rtl="0" eaLnBrk="1" latinLnBrk="0" hangingPunct="1">
              <a:lnSpc>
                <a:spcPct val="100000"/>
              </a:lnSpc>
              <a:spcBef>
                <a:spcPts val="0"/>
              </a:spcBef>
              <a:spcAft>
                <a:spcPts val="400"/>
              </a:spcAft>
              <a:buFont typeface="Arial" panose="020B0604020202020204" pitchFamily="34" charset="0"/>
              <a:buNone/>
              <a:defRPr sz="1200" b="0" i="0" kern="1200">
                <a:solidFill>
                  <a:schemeClr val="tx1"/>
                </a:solidFill>
                <a:latin typeface="Calibri Light" charset="0"/>
                <a:ea typeface="Calibri Light" charset="0"/>
                <a:cs typeface="Calibri Light" charset="0"/>
              </a:defRPr>
            </a:lvl1pPr>
            <a:lvl2pPr marL="504000" indent="-216000" algn="l" defTabSz="685800" rtl="0" eaLnBrk="1" latinLnBrk="0" hangingPunct="1">
              <a:lnSpc>
                <a:spcPct val="100000"/>
              </a:lnSpc>
              <a:spcBef>
                <a:spcPts val="0"/>
              </a:spcBef>
              <a:spcAft>
                <a:spcPts val="400"/>
              </a:spcAft>
              <a:buFont typeface="Arial" panose="020B0604020202020204" pitchFamily="34" charset="0"/>
              <a:buChar char="•"/>
              <a:defRPr sz="1050" b="0" i="0" kern="1200">
                <a:solidFill>
                  <a:schemeClr val="tx1"/>
                </a:solidFill>
                <a:latin typeface="Calibri Light" charset="0"/>
                <a:ea typeface="Calibri Light" charset="0"/>
                <a:cs typeface="Calibri Light" charset="0"/>
              </a:defRPr>
            </a:lvl2pPr>
            <a:lvl3pPr marL="792000" indent="-216000" algn="l" defTabSz="685800" rtl="0" eaLnBrk="1" latinLnBrk="0" hangingPunct="1">
              <a:lnSpc>
                <a:spcPct val="100000"/>
              </a:lnSpc>
              <a:spcBef>
                <a:spcPts val="0"/>
              </a:spcBef>
              <a:spcAft>
                <a:spcPts val="400"/>
              </a:spcAft>
              <a:buFont typeface="Arial" panose="020B0604020202020204" pitchFamily="34" charset="0"/>
              <a:buChar char="•"/>
              <a:defRPr sz="1050" b="0" i="0" kern="1200">
                <a:solidFill>
                  <a:schemeClr val="tx1"/>
                </a:solidFill>
                <a:latin typeface="Calibri Light" charset="0"/>
                <a:ea typeface="Calibri Light" charset="0"/>
                <a:cs typeface="Calibri Light" charset="0"/>
              </a:defRPr>
            </a:lvl3pPr>
            <a:lvl4pPr marL="1080000" indent="-216000" algn="l" defTabSz="685800" rtl="0" eaLnBrk="1" latinLnBrk="0" hangingPunct="1">
              <a:lnSpc>
                <a:spcPct val="100000"/>
              </a:lnSpc>
              <a:spcBef>
                <a:spcPts val="0"/>
              </a:spcBef>
              <a:spcAft>
                <a:spcPts val="400"/>
              </a:spcAft>
              <a:buFont typeface="Arial" panose="020B0604020202020204" pitchFamily="34" charset="0"/>
              <a:buChar char="•"/>
              <a:defRPr sz="1000" b="0" i="0" kern="1200">
                <a:solidFill>
                  <a:schemeClr val="tx1"/>
                </a:solidFill>
                <a:latin typeface="Calibri Light" charset="0"/>
                <a:ea typeface="Calibri Light" charset="0"/>
                <a:cs typeface="Calibri Light" charset="0"/>
              </a:defRPr>
            </a:lvl4pPr>
            <a:lvl5pPr marL="1368000" indent="-216000" algn="l" defTabSz="685800" rtl="0" eaLnBrk="1" latinLnBrk="0" hangingPunct="1">
              <a:lnSpc>
                <a:spcPct val="100000"/>
              </a:lnSpc>
              <a:spcBef>
                <a:spcPts val="0"/>
              </a:spcBef>
              <a:spcAft>
                <a:spcPts val="400"/>
              </a:spcAft>
              <a:buFont typeface="Arial" panose="020B0604020202020204" pitchFamily="34" charset="0"/>
              <a:buChar char="•"/>
              <a:defRPr sz="1000" b="0" i="0" kern="1200">
                <a:solidFill>
                  <a:schemeClr val="tx1"/>
                </a:solidFill>
                <a:latin typeface="Calibri Light" charset="0"/>
                <a:ea typeface="Calibri Light" charset="0"/>
                <a:cs typeface="Calibri Light"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972"/>
              <a:t>Environment and Data Agnostic Ingestion, Transformation and Storage</a:t>
            </a:r>
          </a:p>
        </p:txBody>
      </p:sp>
      <p:cxnSp>
        <p:nvCxnSpPr>
          <p:cNvPr id="1050" name="Straight Arrow Connector 1049">
            <a:extLst>
              <a:ext uri="{FF2B5EF4-FFF2-40B4-BE49-F238E27FC236}">
                <a16:creationId xmlns:a16="http://schemas.microsoft.com/office/drawing/2014/main" id="{E73EECD3-2E60-0B87-69BC-2BC8C771DE37}"/>
              </a:ext>
            </a:extLst>
          </p:cNvPr>
          <p:cNvCxnSpPr>
            <a:cxnSpLocks/>
          </p:cNvCxnSpPr>
          <p:nvPr/>
        </p:nvCxnSpPr>
        <p:spPr>
          <a:xfrm flipV="1">
            <a:off x="3551566" y="4404511"/>
            <a:ext cx="0" cy="128735"/>
          </a:xfrm>
          <a:prstGeom prst="straightConnector1">
            <a:avLst/>
          </a:prstGeom>
          <a:ln cap="rnd">
            <a:bevel/>
            <a:headEnd type="oval" w="sm" len="sm"/>
            <a:tailEnd type="oval"/>
          </a:ln>
        </p:spPr>
        <p:style>
          <a:lnRef idx="1">
            <a:schemeClr val="accent1"/>
          </a:lnRef>
          <a:fillRef idx="0">
            <a:schemeClr val="accent1"/>
          </a:fillRef>
          <a:effectRef idx="0">
            <a:schemeClr val="accent1"/>
          </a:effectRef>
          <a:fontRef idx="minor">
            <a:schemeClr val="tx1"/>
          </a:fontRef>
        </p:style>
      </p:cxnSp>
      <p:cxnSp>
        <p:nvCxnSpPr>
          <p:cNvPr id="1056" name="Straight Arrow Connector 1055">
            <a:extLst>
              <a:ext uri="{FF2B5EF4-FFF2-40B4-BE49-F238E27FC236}">
                <a16:creationId xmlns:a16="http://schemas.microsoft.com/office/drawing/2014/main" id="{3644E646-AC3D-42C9-B3DF-8EC58F831817}"/>
              </a:ext>
            </a:extLst>
          </p:cNvPr>
          <p:cNvCxnSpPr>
            <a:cxnSpLocks/>
          </p:cNvCxnSpPr>
          <p:nvPr/>
        </p:nvCxnSpPr>
        <p:spPr>
          <a:xfrm flipV="1">
            <a:off x="5120998" y="4404511"/>
            <a:ext cx="0" cy="128735"/>
          </a:xfrm>
          <a:prstGeom prst="straightConnector1">
            <a:avLst/>
          </a:prstGeom>
          <a:ln>
            <a:headEnd type="oval" w="sm" len="sm"/>
            <a:tailEnd type="oval"/>
          </a:ln>
        </p:spPr>
        <p:style>
          <a:lnRef idx="1">
            <a:schemeClr val="accent1"/>
          </a:lnRef>
          <a:fillRef idx="0">
            <a:schemeClr val="accent1"/>
          </a:fillRef>
          <a:effectRef idx="0">
            <a:schemeClr val="accent1"/>
          </a:effectRef>
          <a:fontRef idx="minor">
            <a:schemeClr val="tx1"/>
          </a:fontRef>
        </p:style>
      </p:cxnSp>
      <p:cxnSp>
        <p:nvCxnSpPr>
          <p:cNvPr id="1058" name="Straight Arrow Connector 1057">
            <a:extLst>
              <a:ext uri="{FF2B5EF4-FFF2-40B4-BE49-F238E27FC236}">
                <a16:creationId xmlns:a16="http://schemas.microsoft.com/office/drawing/2014/main" id="{7167F814-0DA2-CFF3-D9BE-C8531F888004}"/>
              </a:ext>
            </a:extLst>
          </p:cNvPr>
          <p:cNvCxnSpPr>
            <a:cxnSpLocks/>
          </p:cNvCxnSpPr>
          <p:nvPr/>
        </p:nvCxnSpPr>
        <p:spPr>
          <a:xfrm flipV="1">
            <a:off x="6694240" y="4404511"/>
            <a:ext cx="0" cy="128735"/>
          </a:xfrm>
          <a:prstGeom prst="straightConnector1">
            <a:avLst/>
          </a:prstGeom>
          <a:ln>
            <a:headEnd type="oval" w="sm" len="sm"/>
            <a:tailEnd type="oval"/>
          </a:ln>
        </p:spPr>
        <p:style>
          <a:lnRef idx="1">
            <a:schemeClr val="accent1"/>
          </a:lnRef>
          <a:fillRef idx="0">
            <a:schemeClr val="accent1"/>
          </a:fillRef>
          <a:effectRef idx="0">
            <a:schemeClr val="accent1"/>
          </a:effectRef>
          <a:fontRef idx="minor">
            <a:schemeClr val="tx1"/>
          </a:fontRef>
        </p:style>
      </p:cxnSp>
      <p:cxnSp>
        <p:nvCxnSpPr>
          <p:cNvPr id="1060" name="Straight Connector 1059">
            <a:extLst>
              <a:ext uri="{FF2B5EF4-FFF2-40B4-BE49-F238E27FC236}">
                <a16:creationId xmlns:a16="http://schemas.microsoft.com/office/drawing/2014/main" id="{51C657A4-6E98-A341-D097-AC6ACFA7546B}"/>
              </a:ext>
            </a:extLst>
          </p:cNvPr>
          <p:cNvCxnSpPr>
            <a:cxnSpLocks/>
          </p:cNvCxnSpPr>
          <p:nvPr/>
        </p:nvCxnSpPr>
        <p:spPr>
          <a:xfrm>
            <a:off x="3551566" y="4533245"/>
            <a:ext cx="6449218" cy="0"/>
          </a:xfrm>
          <a:prstGeom prst="line">
            <a:avLst/>
          </a:prstGeom>
          <a:ln w="10160"/>
        </p:spPr>
        <p:style>
          <a:lnRef idx="1">
            <a:schemeClr val="accent1"/>
          </a:lnRef>
          <a:fillRef idx="0">
            <a:schemeClr val="accent1"/>
          </a:fillRef>
          <a:effectRef idx="0">
            <a:schemeClr val="accent1"/>
          </a:effectRef>
          <a:fontRef idx="minor">
            <a:schemeClr val="tx1"/>
          </a:fontRef>
        </p:style>
      </p:cxnSp>
      <p:cxnSp>
        <p:nvCxnSpPr>
          <p:cNvPr id="1062" name="Straight Connector 1061">
            <a:extLst>
              <a:ext uri="{FF2B5EF4-FFF2-40B4-BE49-F238E27FC236}">
                <a16:creationId xmlns:a16="http://schemas.microsoft.com/office/drawing/2014/main" id="{32E779A2-ABB5-C085-A825-104476E5D5FA}"/>
              </a:ext>
            </a:extLst>
          </p:cNvPr>
          <p:cNvCxnSpPr>
            <a:cxnSpLocks/>
          </p:cNvCxnSpPr>
          <p:nvPr/>
        </p:nvCxnSpPr>
        <p:spPr>
          <a:xfrm>
            <a:off x="6695142" y="4533247"/>
            <a:ext cx="1700" cy="217645"/>
          </a:xfrm>
          <a:prstGeom prst="line">
            <a:avLst/>
          </a:prstGeom>
          <a:ln w="10160"/>
        </p:spPr>
        <p:style>
          <a:lnRef idx="1">
            <a:schemeClr val="accent1"/>
          </a:lnRef>
          <a:fillRef idx="0">
            <a:schemeClr val="accent1"/>
          </a:fillRef>
          <a:effectRef idx="0">
            <a:schemeClr val="accent1"/>
          </a:effectRef>
          <a:fontRef idx="minor">
            <a:schemeClr val="tx1"/>
          </a:fontRef>
        </p:style>
      </p:cxnSp>
      <p:sp>
        <p:nvSpPr>
          <p:cNvPr id="3" name="Rectangle: Rounded Corners 87">
            <a:extLst>
              <a:ext uri="{FF2B5EF4-FFF2-40B4-BE49-F238E27FC236}">
                <a16:creationId xmlns:a16="http://schemas.microsoft.com/office/drawing/2014/main" id="{0C65C5F6-6854-B2B6-3464-D9478549C51F}"/>
              </a:ext>
            </a:extLst>
          </p:cNvPr>
          <p:cNvSpPr/>
          <p:nvPr/>
        </p:nvSpPr>
        <p:spPr>
          <a:xfrm>
            <a:off x="2769400" y="3260549"/>
            <a:ext cx="7973496" cy="430027"/>
          </a:xfrm>
          <a:prstGeom prst="roundRect">
            <a:avLst>
              <a:gd name="adj" fmla="val 11732"/>
            </a:avLst>
          </a:prstGeom>
          <a:solidFill>
            <a:srgbClr val="7E91DE">
              <a:alpha val="23922"/>
            </a:srgbClr>
          </a:solidFill>
          <a:ln w="6350">
            <a:solidFill>
              <a:srgbClr val="7E91DE"/>
            </a:solidFill>
            <a:prstDash val="sysDash"/>
          </a:ln>
        </p:spPr>
        <p:style>
          <a:lnRef idx="2">
            <a:schemeClr val="accent2">
              <a:shade val="50000"/>
            </a:schemeClr>
          </a:lnRef>
          <a:fillRef idx="1">
            <a:schemeClr val="accent2"/>
          </a:fillRef>
          <a:effectRef idx="0">
            <a:schemeClr val="accent2"/>
          </a:effectRef>
          <a:fontRef idx="minor">
            <a:schemeClr val="lt1"/>
          </a:fontRef>
        </p:style>
        <p:txBody>
          <a:bodyPr lIns="51995" tIns="25997" rIns="51995" bIns="25997" rtlCol="0" anchor="ctr"/>
          <a:lstStyle/>
          <a:p>
            <a:pPr algn="ctr"/>
            <a:r>
              <a:rPr lang="en-US" sz="892" b="1">
                <a:solidFill>
                  <a:schemeClr val="tx1"/>
                </a:solidFill>
              </a:rPr>
              <a:t>ASSESS</a:t>
            </a:r>
          </a:p>
        </p:txBody>
      </p:sp>
      <p:sp>
        <p:nvSpPr>
          <p:cNvPr id="4" name="Rectangle: Rounded Corners 87">
            <a:extLst>
              <a:ext uri="{FF2B5EF4-FFF2-40B4-BE49-F238E27FC236}">
                <a16:creationId xmlns:a16="http://schemas.microsoft.com/office/drawing/2014/main" id="{4E4025C1-C064-1AEE-2341-8D3C6739A0E8}"/>
              </a:ext>
            </a:extLst>
          </p:cNvPr>
          <p:cNvSpPr/>
          <p:nvPr/>
        </p:nvSpPr>
        <p:spPr>
          <a:xfrm>
            <a:off x="2773418" y="2724402"/>
            <a:ext cx="7973496" cy="448314"/>
          </a:xfrm>
          <a:prstGeom prst="roundRect">
            <a:avLst>
              <a:gd name="adj" fmla="val 11253"/>
            </a:avLst>
          </a:prstGeom>
          <a:solidFill>
            <a:srgbClr val="92D4A7">
              <a:alpha val="24314"/>
            </a:srgbClr>
          </a:solidFill>
          <a:ln w="6350">
            <a:solidFill>
              <a:srgbClr val="738C84"/>
            </a:solidFill>
            <a:prstDash val="sysDash"/>
          </a:ln>
        </p:spPr>
        <p:style>
          <a:lnRef idx="2">
            <a:schemeClr val="accent2">
              <a:shade val="50000"/>
            </a:schemeClr>
          </a:lnRef>
          <a:fillRef idx="1">
            <a:schemeClr val="accent2"/>
          </a:fillRef>
          <a:effectRef idx="0">
            <a:schemeClr val="accent2"/>
          </a:effectRef>
          <a:fontRef idx="minor">
            <a:schemeClr val="lt1"/>
          </a:fontRef>
        </p:style>
        <p:txBody>
          <a:bodyPr lIns="51995" tIns="25997" rIns="51995" bIns="25997" rtlCol="0" anchor="ctr"/>
          <a:lstStyle/>
          <a:p>
            <a:pPr algn="ctr"/>
            <a:r>
              <a:rPr lang="en-US" sz="892" b="1">
                <a:solidFill>
                  <a:schemeClr val="tx1"/>
                </a:solidFill>
              </a:rPr>
              <a:t>PRIORITISE</a:t>
            </a:r>
          </a:p>
        </p:txBody>
      </p:sp>
      <p:sp>
        <p:nvSpPr>
          <p:cNvPr id="5" name="Text Placeholder 5">
            <a:extLst>
              <a:ext uri="{FF2B5EF4-FFF2-40B4-BE49-F238E27FC236}">
                <a16:creationId xmlns:a16="http://schemas.microsoft.com/office/drawing/2014/main" id="{E2F421F6-A83B-62C3-249E-0B0962939CBA}"/>
              </a:ext>
            </a:extLst>
          </p:cNvPr>
          <p:cNvSpPr txBox="1">
            <a:spLocks/>
          </p:cNvSpPr>
          <p:nvPr/>
        </p:nvSpPr>
        <p:spPr>
          <a:xfrm>
            <a:off x="874748" y="3820653"/>
            <a:ext cx="1798705" cy="372337"/>
          </a:xfrm>
          <a:prstGeom prst="rect">
            <a:avLst/>
          </a:prstGeom>
          <a:ln>
            <a:noFill/>
          </a:ln>
        </p:spPr>
        <p:txBody>
          <a:bodyPr lIns="113374" tIns="0" rIns="0" bIns="0" anchor="ctr"/>
          <a:lstStyle>
            <a:lvl1pPr marL="0" indent="0" algn="l" defTabSz="685800" rtl="0" eaLnBrk="1" latinLnBrk="0" hangingPunct="1">
              <a:lnSpc>
                <a:spcPct val="100000"/>
              </a:lnSpc>
              <a:spcBef>
                <a:spcPts val="0"/>
              </a:spcBef>
              <a:spcAft>
                <a:spcPts val="400"/>
              </a:spcAft>
              <a:buFont typeface="Arial" panose="020B0604020202020204" pitchFamily="34" charset="0"/>
              <a:buNone/>
              <a:defRPr sz="1200" b="0" i="0" kern="1200">
                <a:solidFill>
                  <a:schemeClr val="tx1"/>
                </a:solidFill>
                <a:latin typeface="Calibri Light" charset="0"/>
                <a:ea typeface="Calibri Light" charset="0"/>
                <a:cs typeface="Calibri Light" charset="0"/>
              </a:defRPr>
            </a:lvl1pPr>
            <a:lvl2pPr marL="504000" indent="-216000" algn="l" defTabSz="685800" rtl="0" eaLnBrk="1" latinLnBrk="0" hangingPunct="1">
              <a:lnSpc>
                <a:spcPct val="100000"/>
              </a:lnSpc>
              <a:spcBef>
                <a:spcPts val="0"/>
              </a:spcBef>
              <a:spcAft>
                <a:spcPts val="400"/>
              </a:spcAft>
              <a:buFont typeface="Arial" panose="020B0604020202020204" pitchFamily="34" charset="0"/>
              <a:buChar char="•"/>
              <a:defRPr sz="1050" b="0" i="0" kern="1200">
                <a:solidFill>
                  <a:schemeClr val="tx1"/>
                </a:solidFill>
                <a:latin typeface="Calibri Light" charset="0"/>
                <a:ea typeface="Calibri Light" charset="0"/>
                <a:cs typeface="Calibri Light" charset="0"/>
              </a:defRPr>
            </a:lvl2pPr>
            <a:lvl3pPr marL="792000" indent="-216000" algn="l" defTabSz="685800" rtl="0" eaLnBrk="1" latinLnBrk="0" hangingPunct="1">
              <a:lnSpc>
                <a:spcPct val="100000"/>
              </a:lnSpc>
              <a:spcBef>
                <a:spcPts val="0"/>
              </a:spcBef>
              <a:spcAft>
                <a:spcPts val="400"/>
              </a:spcAft>
              <a:buFont typeface="Arial" panose="020B0604020202020204" pitchFamily="34" charset="0"/>
              <a:buChar char="•"/>
              <a:defRPr sz="1050" b="0" i="0" kern="1200">
                <a:solidFill>
                  <a:schemeClr val="tx1"/>
                </a:solidFill>
                <a:latin typeface="Calibri Light" charset="0"/>
                <a:ea typeface="Calibri Light" charset="0"/>
                <a:cs typeface="Calibri Light" charset="0"/>
              </a:defRPr>
            </a:lvl3pPr>
            <a:lvl4pPr marL="1080000" indent="-216000" algn="l" defTabSz="685800" rtl="0" eaLnBrk="1" latinLnBrk="0" hangingPunct="1">
              <a:lnSpc>
                <a:spcPct val="100000"/>
              </a:lnSpc>
              <a:spcBef>
                <a:spcPts val="0"/>
              </a:spcBef>
              <a:spcAft>
                <a:spcPts val="400"/>
              </a:spcAft>
              <a:buFont typeface="Arial" panose="020B0604020202020204" pitchFamily="34" charset="0"/>
              <a:buChar char="•"/>
              <a:defRPr sz="1000" b="0" i="0" kern="1200">
                <a:solidFill>
                  <a:schemeClr val="tx1"/>
                </a:solidFill>
                <a:latin typeface="Calibri Light" charset="0"/>
                <a:ea typeface="Calibri Light" charset="0"/>
                <a:cs typeface="Calibri Light" charset="0"/>
              </a:defRPr>
            </a:lvl4pPr>
            <a:lvl5pPr marL="1368000" indent="-216000" algn="l" defTabSz="685800" rtl="0" eaLnBrk="1" latinLnBrk="0" hangingPunct="1">
              <a:lnSpc>
                <a:spcPct val="100000"/>
              </a:lnSpc>
              <a:spcBef>
                <a:spcPts val="0"/>
              </a:spcBef>
              <a:spcAft>
                <a:spcPts val="400"/>
              </a:spcAft>
              <a:buFont typeface="Arial" panose="020B0604020202020204" pitchFamily="34" charset="0"/>
              <a:buChar char="•"/>
              <a:defRPr sz="1000" b="0" i="0" kern="1200">
                <a:solidFill>
                  <a:schemeClr val="tx1"/>
                </a:solidFill>
                <a:latin typeface="Calibri Light" charset="0"/>
                <a:ea typeface="Calibri Light" charset="0"/>
                <a:cs typeface="Calibri Light"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972"/>
              <a:t>Full visibility and context across all attack surfaces</a:t>
            </a:r>
          </a:p>
        </p:txBody>
      </p:sp>
      <p:sp>
        <p:nvSpPr>
          <p:cNvPr id="7" name="TextBox 6">
            <a:extLst>
              <a:ext uri="{FF2B5EF4-FFF2-40B4-BE49-F238E27FC236}">
                <a16:creationId xmlns:a16="http://schemas.microsoft.com/office/drawing/2014/main" id="{AB785EDB-73AD-AD56-FF92-86502B07B8E6}"/>
              </a:ext>
            </a:extLst>
          </p:cNvPr>
          <p:cNvSpPr txBox="1"/>
          <p:nvPr/>
        </p:nvSpPr>
        <p:spPr>
          <a:xfrm>
            <a:off x="875944" y="3316369"/>
            <a:ext cx="1696364" cy="341102"/>
          </a:xfrm>
          <a:prstGeom prst="rect">
            <a:avLst/>
          </a:prstGeom>
          <a:ln>
            <a:noFill/>
          </a:ln>
        </p:spPr>
        <p:txBody>
          <a:bodyPr lIns="113374" tIns="0" rIns="0" bIns="0" anchor="ctr"/>
          <a:lstStyle>
            <a:defPPr>
              <a:defRPr lang="en-US"/>
            </a:defPPr>
            <a:lvl1pPr indent="0" defTabSz="685800">
              <a:lnSpc>
                <a:spcPct val="100000"/>
              </a:lnSpc>
              <a:spcBef>
                <a:spcPts val="0"/>
              </a:spcBef>
              <a:spcAft>
                <a:spcPts val="400"/>
              </a:spcAft>
              <a:buFont typeface="Arial" panose="020B0604020202020204" pitchFamily="34" charset="0"/>
              <a:buNone/>
              <a:defRPr sz="900" b="0" i="0">
                <a:latin typeface="Calibri Light" charset="0"/>
                <a:ea typeface="Calibri Light" charset="0"/>
                <a:cs typeface="Calibri Light" charset="0"/>
              </a:defRPr>
            </a:lvl1pPr>
            <a:lvl2pPr marL="504000" indent="-216000" defTabSz="685800">
              <a:lnSpc>
                <a:spcPct val="100000"/>
              </a:lnSpc>
              <a:spcBef>
                <a:spcPts val="0"/>
              </a:spcBef>
              <a:spcAft>
                <a:spcPts val="400"/>
              </a:spcAft>
              <a:buFont typeface="Arial" panose="020B0604020202020204" pitchFamily="34" charset="0"/>
              <a:buChar char="•"/>
              <a:defRPr sz="1050" b="0" i="0">
                <a:latin typeface="Calibri Light" charset="0"/>
                <a:ea typeface="Calibri Light" charset="0"/>
                <a:cs typeface="Calibri Light" charset="0"/>
              </a:defRPr>
            </a:lvl2pPr>
            <a:lvl3pPr marL="792000" indent="-216000" defTabSz="685800">
              <a:lnSpc>
                <a:spcPct val="100000"/>
              </a:lnSpc>
              <a:spcBef>
                <a:spcPts val="0"/>
              </a:spcBef>
              <a:spcAft>
                <a:spcPts val="400"/>
              </a:spcAft>
              <a:buFont typeface="Arial" panose="020B0604020202020204" pitchFamily="34" charset="0"/>
              <a:buChar char="•"/>
              <a:defRPr sz="1050" b="0" i="0">
                <a:latin typeface="Calibri Light" charset="0"/>
                <a:ea typeface="Calibri Light" charset="0"/>
                <a:cs typeface="Calibri Light" charset="0"/>
              </a:defRPr>
            </a:lvl3pPr>
            <a:lvl4pPr marL="1080000" indent="-216000" defTabSz="685800">
              <a:lnSpc>
                <a:spcPct val="100000"/>
              </a:lnSpc>
              <a:spcBef>
                <a:spcPts val="0"/>
              </a:spcBef>
              <a:spcAft>
                <a:spcPts val="400"/>
              </a:spcAft>
              <a:buFont typeface="Arial" panose="020B0604020202020204" pitchFamily="34" charset="0"/>
              <a:buChar char="•"/>
              <a:defRPr sz="1000" b="0" i="0">
                <a:latin typeface="Calibri Light" charset="0"/>
                <a:ea typeface="Calibri Light" charset="0"/>
                <a:cs typeface="Calibri Light" charset="0"/>
              </a:defRPr>
            </a:lvl4pPr>
            <a:lvl5pPr marL="1368000" indent="-216000" defTabSz="685800">
              <a:lnSpc>
                <a:spcPct val="100000"/>
              </a:lnSpc>
              <a:spcBef>
                <a:spcPts val="0"/>
              </a:spcBef>
              <a:spcAft>
                <a:spcPts val="400"/>
              </a:spcAft>
              <a:buFont typeface="Arial" panose="020B0604020202020204" pitchFamily="34" charset="0"/>
              <a:buChar char="•"/>
              <a:defRPr sz="1000" b="0" i="0">
                <a:latin typeface="Calibri Light" charset="0"/>
                <a:ea typeface="Calibri Light" charset="0"/>
                <a:cs typeface="Calibri Light" charset="0"/>
              </a:defRPr>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r>
              <a:rPr lang="en-GB" sz="1000">
                <a:solidFill>
                  <a:schemeClr val="tx2">
                    <a:lumMod val="85000"/>
                    <a:lumOff val="15000"/>
                  </a:schemeClr>
                </a:solidFill>
                <a:latin typeface="+mj-lt"/>
              </a:rPr>
              <a:t>Identify, consolidate and contextualise findings, </a:t>
            </a:r>
            <a:r>
              <a:rPr lang="en-GB" sz="972"/>
              <a:t>focus on what matters </a:t>
            </a:r>
          </a:p>
        </p:txBody>
      </p:sp>
      <p:sp>
        <p:nvSpPr>
          <p:cNvPr id="8" name="TextBox 7">
            <a:extLst>
              <a:ext uri="{FF2B5EF4-FFF2-40B4-BE49-F238E27FC236}">
                <a16:creationId xmlns:a16="http://schemas.microsoft.com/office/drawing/2014/main" id="{FBCA9519-FEE1-A8E6-B190-0563CF4D9146}"/>
              </a:ext>
            </a:extLst>
          </p:cNvPr>
          <p:cNvSpPr txBox="1"/>
          <p:nvPr/>
        </p:nvSpPr>
        <p:spPr>
          <a:xfrm>
            <a:off x="881311" y="2763840"/>
            <a:ext cx="1783398" cy="341102"/>
          </a:xfrm>
          <a:prstGeom prst="rect">
            <a:avLst/>
          </a:prstGeom>
          <a:ln>
            <a:noFill/>
          </a:ln>
        </p:spPr>
        <p:txBody>
          <a:bodyPr lIns="113374" tIns="0" rIns="0" bIns="0" anchor="ctr"/>
          <a:lstStyle>
            <a:defPPr>
              <a:defRPr lang="en-US"/>
            </a:defPPr>
            <a:lvl1pPr indent="0" defTabSz="685800">
              <a:lnSpc>
                <a:spcPct val="100000"/>
              </a:lnSpc>
              <a:spcBef>
                <a:spcPts val="0"/>
              </a:spcBef>
              <a:spcAft>
                <a:spcPts val="400"/>
              </a:spcAft>
              <a:buFont typeface="Arial" panose="020B0604020202020204" pitchFamily="34" charset="0"/>
              <a:buNone/>
              <a:defRPr sz="1000" b="0" i="0">
                <a:solidFill>
                  <a:schemeClr val="tx2">
                    <a:lumMod val="85000"/>
                    <a:lumOff val="15000"/>
                  </a:schemeClr>
                </a:solidFill>
                <a:latin typeface="+mj-lt"/>
                <a:ea typeface="Calibri Light" charset="0"/>
                <a:cs typeface="Calibri Light" charset="0"/>
              </a:defRPr>
            </a:lvl1pPr>
            <a:lvl2pPr marL="504000" indent="-216000" defTabSz="685800">
              <a:lnSpc>
                <a:spcPct val="100000"/>
              </a:lnSpc>
              <a:spcBef>
                <a:spcPts val="0"/>
              </a:spcBef>
              <a:spcAft>
                <a:spcPts val="400"/>
              </a:spcAft>
              <a:buFont typeface="Arial" panose="020B0604020202020204" pitchFamily="34" charset="0"/>
              <a:buChar char="•"/>
              <a:defRPr sz="1050" b="0" i="0">
                <a:latin typeface="Calibri Light" charset="0"/>
                <a:ea typeface="Calibri Light" charset="0"/>
                <a:cs typeface="Calibri Light" charset="0"/>
              </a:defRPr>
            </a:lvl2pPr>
            <a:lvl3pPr marL="792000" indent="-216000" defTabSz="685800">
              <a:lnSpc>
                <a:spcPct val="100000"/>
              </a:lnSpc>
              <a:spcBef>
                <a:spcPts val="0"/>
              </a:spcBef>
              <a:spcAft>
                <a:spcPts val="400"/>
              </a:spcAft>
              <a:buFont typeface="Arial" panose="020B0604020202020204" pitchFamily="34" charset="0"/>
              <a:buChar char="•"/>
              <a:defRPr sz="1050" b="0" i="0">
                <a:latin typeface="Calibri Light" charset="0"/>
                <a:ea typeface="Calibri Light" charset="0"/>
                <a:cs typeface="Calibri Light" charset="0"/>
              </a:defRPr>
            </a:lvl3pPr>
            <a:lvl4pPr marL="1080000" indent="-216000" defTabSz="685800">
              <a:lnSpc>
                <a:spcPct val="100000"/>
              </a:lnSpc>
              <a:spcBef>
                <a:spcPts val="0"/>
              </a:spcBef>
              <a:spcAft>
                <a:spcPts val="400"/>
              </a:spcAft>
              <a:buFont typeface="Arial" panose="020B0604020202020204" pitchFamily="34" charset="0"/>
              <a:buChar char="•"/>
              <a:defRPr sz="1000" b="0" i="0">
                <a:latin typeface="Calibri Light" charset="0"/>
                <a:ea typeface="Calibri Light" charset="0"/>
                <a:cs typeface="Calibri Light" charset="0"/>
              </a:defRPr>
            </a:lvl4pPr>
            <a:lvl5pPr marL="1368000" indent="-216000" defTabSz="685800">
              <a:lnSpc>
                <a:spcPct val="100000"/>
              </a:lnSpc>
              <a:spcBef>
                <a:spcPts val="0"/>
              </a:spcBef>
              <a:spcAft>
                <a:spcPts val="400"/>
              </a:spcAft>
              <a:buFont typeface="Arial" panose="020B0604020202020204" pitchFamily="34" charset="0"/>
              <a:buChar char="•"/>
              <a:defRPr sz="1000" b="0" i="0">
                <a:latin typeface="Calibri Light" charset="0"/>
                <a:ea typeface="Calibri Light" charset="0"/>
                <a:cs typeface="Calibri Light" charset="0"/>
              </a:defRPr>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r>
              <a:rPr lang="en-GB"/>
              <a:t>Prioritise Findings based on their overall contribution to Exposure </a:t>
            </a:r>
          </a:p>
        </p:txBody>
      </p:sp>
      <p:sp>
        <p:nvSpPr>
          <p:cNvPr id="12" name="TextBox 11">
            <a:extLst>
              <a:ext uri="{FF2B5EF4-FFF2-40B4-BE49-F238E27FC236}">
                <a16:creationId xmlns:a16="http://schemas.microsoft.com/office/drawing/2014/main" id="{FA71A8E3-DCC7-414E-B64F-471530A9FED7}"/>
              </a:ext>
            </a:extLst>
          </p:cNvPr>
          <p:cNvSpPr txBox="1"/>
          <p:nvPr/>
        </p:nvSpPr>
        <p:spPr>
          <a:xfrm>
            <a:off x="9311445" y="1968798"/>
            <a:ext cx="1217290" cy="229615"/>
          </a:xfrm>
          <a:prstGeom prst="rect">
            <a:avLst/>
          </a:prstGeom>
          <a:noFill/>
        </p:spPr>
        <p:txBody>
          <a:bodyPr wrap="square">
            <a:spAutoFit/>
          </a:bodyPr>
          <a:lstStyle/>
          <a:p>
            <a:pPr algn="ctr"/>
            <a:r>
              <a:rPr lang="en-GB" sz="892" b="1"/>
              <a:t>Data Exposure*  </a:t>
            </a:r>
          </a:p>
        </p:txBody>
      </p:sp>
      <p:pic>
        <p:nvPicPr>
          <p:cNvPr id="15" name="Graphic 14" descr="Database with solid fill">
            <a:extLst>
              <a:ext uri="{FF2B5EF4-FFF2-40B4-BE49-F238E27FC236}">
                <a16:creationId xmlns:a16="http://schemas.microsoft.com/office/drawing/2014/main" id="{FB253F13-5F19-FFD3-08CD-B192EFE3DC8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818127" y="1788955"/>
            <a:ext cx="233047" cy="233047"/>
          </a:xfrm>
          <a:prstGeom prst="rect">
            <a:avLst/>
          </a:prstGeom>
        </p:spPr>
      </p:pic>
      <p:cxnSp>
        <p:nvCxnSpPr>
          <p:cNvPr id="13" name="Straight Arrow Connector 12">
            <a:extLst>
              <a:ext uri="{FF2B5EF4-FFF2-40B4-BE49-F238E27FC236}">
                <a16:creationId xmlns:a16="http://schemas.microsoft.com/office/drawing/2014/main" id="{548E42E5-8C44-389E-3C2F-5E466B01ECB6}"/>
              </a:ext>
            </a:extLst>
          </p:cNvPr>
          <p:cNvCxnSpPr>
            <a:cxnSpLocks/>
          </p:cNvCxnSpPr>
          <p:nvPr/>
        </p:nvCxnSpPr>
        <p:spPr>
          <a:xfrm flipV="1">
            <a:off x="8380311" y="4405922"/>
            <a:ext cx="0" cy="128735"/>
          </a:xfrm>
          <a:prstGeom prst="straightConnector1">
            <a:avLst/>
          </a:prstGeom>
          <a:ln>
            <a:headEnd type="oval" w="sm" len="sm"/>
            <a:tailEnd type="oval"/>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4C4AC7B-3B77-F30A-AC5A-39286E9DF5CB}"/>
              </a:ext>
            </a:extLst>
          </p:cNvPr>
          <p:cNvCxnSpPr>
            <a:cxnSpLocks/>
          </p:cNvCxnSpPr>
          <p:nvPr/>
        </p:nvCxnSpPr>
        <p:spPr>
          <a:xfrm flipV="1">
            <a:off x="10000783" y="4397439"/>
            <a:ext cx="0" cy="128735"/>
          </a:xfrm>
          <a:prstGeom prst="straightConnector1">
            <a:avLst/>
          </a:prstGeom>
          <a:ln>
            <a:headEnd type="oval" w="sm" len="sm"/>
            <a:tailEnd type="ova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11AF830-5978-66A5-E80E-2995F4181092}"/>
              </a:ext>
            </a:extLst>
          </p:cNvPr>
          <p:cNvSpPr txBox="1"/>
          <p:nvPr/>
        </p:nvSpPr>
        <p:spPr>
          <a:xfrm>
            <a:off x="7807054" y="1985580"/>
            <a:ext cx="1217290" cy="229615"/>
          </a:xfrm>
          <a:prstGeom prst="rect">
            <a:avLst/>
          </a:prstGeom>
          <a:noFill/>
        </p:spPr>
        <p:txBody>
          <a:bodyPr wrap="square">
            <a:spAutoFit/>
          </a:bodyPr>
          <a:lstStyle/>
          <a:p>
            <a:pPr algn="ctr"/>
            <a:r>
              <a:rPr lang="en-GB" sz="892" b="1"/>
              <a:t>Application Exposure  </a:t>
            </a:r>
          </a:p>
        </p:txBody>
      </p:sp>
      <p:pic>
        <p:nvPicPr>
          <p:cNvPr id="17" name="Graphic 16" descr="Internet Of Things outline">
            <a:extLst>
              <a:ext uri="{FF2B5EF4-FFF2-40B4-BE49-F238E27FC236}">
                <a16:creationId xmlns:a16="http://schemas.microsoft.com/office/drawing/2014/main" id="{66B8ED1C-EDE6-161E-4948-94E2FE5DDE9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229368" y="1768114"/>
            <a:ext cx="257878" cy="257878"/>
          </a:xfrm>
          <a:prstGeom prst="rect">
            <a:avLst/>
          </a:prstGeom>
        </p:spPr>
      </p:pic>
      <p:sp>
        <p:nvSpPr>
          <p:cNvPr id="10" name="Rectangle: Rounded Corners 87">
            <a:extLst>
              <a:ext uri="{FF2B5EF4-FFF2-40B4-BE49-F238E27FC236}">
                <a16:creationId xmlns:a16="http://schemas.microsoft.com/office/drawing/2014/main" id="{6AA4D0D8-7DD9-5419-D240-1728D8326962}"/>
              </a:ext>
            </a:extLst>
          </p:cNvPr>
          <p:cNvSpPr/>
          <p:nvPr/>
        </p:nvSpPr>
        <p:spPr>
          <a:xfrm>
            <a:off x="2774988" y="2207498"/>
            <a:ext cx="7973496" cy="448314"/>
          </a:xfrm>
          <a:prstGeom prst="roundRect">
            <a:avLst>
              <a:gd name="adj" fmla="val 11253"/>
            </a:avLst>
          </a:prstGeom>
          <a:solidFill>
            <a:schemeClr val="accent6">
              <a:lumMod val="20000"/>
              <a:lumOff val="80000"/>
              <a:alpha val="23922"/>
            </a:schemeClr>
          </a:solidFill>
          <a:ln w="6350">
            <a:solidFill>
              <a:schemeClr val="accent6"/>
            </a:solidFill>
            <a:prstDash val="sysDash"/>
          </a:ln>
        </p:spPr>
        <p:style>
          <a:lnRef idx="2">
            <a:schemeClr val="accent2">
              <a:shade val="50000"/>
            </a:schemeClr>
          </a:lnRef>
          <a:fillRef idx="1">
            <a:schemeClr val="accent2"/>
          </a:fillRef>
          <a:effectRef idx="0">
            <a:schemeClr val="accent2"/>
          </a:effectRef>
          <a:fontRef idx="minor">
            <a:schemeClr val="lt1"/>
          </a:fontRef>
        </p:style>
        <p:txBody>
          <a:bodyPr lIns="46795" tIns="23398" rIns="46795" bIns="23398" rtlCol="0" anchor="ctr"/>
          <a:lstStyle/>
          <a:p>
            <a:pPr algn="ctr"/>
            <a:r>
              <a:rPr lang="en-US" sz="840" b="1">
                <a:solidFill>
                  <a:schemeClr val="tx2">
                    <a:lumMod val="85000"/>
                    <a:lumOff val="15000"/>
                  </a:schemeClr>
                </a:solidFill>
              </a:rPr>
              <a:t>REMEDIATE AND REPORT</a:t>
            </a:r>
          </a:p>
        </p:txBody>
      </p:sp>
      <p:sp>
        <p:nvSpPr>
          <p:cNvPr id="18" name="TextBox 17">
            <a:extLst>
              <a:ext uri="{FF2B5EF4-FFF2-40B4-BE49-F238E27FC236}">
                <a16:creationId xmlns:a16="http://schemas.microsoft.com/office/drawing/2014/main" id="{FDD6C69D-75DA-3E89-465C-5B16D0F3C6F9}"/>
              </a:ext>
            </a:extLst>
          </p:cNvPr>
          <p:cNvSpPr txBox="1"/>
          <p:nvPr/>
        </p:nvSpPr>
        <p:spPr>
          <a:xfrm>
            <a:off x="892077" y="2090071"/>
            <a:ext cx="1728905" cy="541110"/>
          </a:xfrm>
          <a:prstGeom prst="rect">
            <a:avLst/>
          </a:prstGeom>
          <a:ln>
            <a:noFill/>
          </a:ln>
        </p:spPr>
        <p:txBody>
          <a:bodyPr lIns="113374" tIns="0" rIns="0" bIns="0" anchor="ctr"/>
          <a:lstStyle>
            <a:defPPr>
              <a:defRPr lang="en-US"/>
            </a:defPPr>
            <a:lvl1pPr indent="0" defTabSz="685800">
              <a:lnSpc>
                <a:spcPct val="100000"/>
              </a:lnSpc>
              <a:spcBef>
                <a:spcPts val="0"/>
              </a:spcBef>
              <a:spcAft>
                <a:spcPts val="400"/>
              </a:spcAft>
              <a:buFont typeface="Arial" panose="020B0604020202020204" pitchFamily="34" charset="0"/>
              <a:buNone/>
              <a:defRPr sz="972" b="0" i="0">
                <a:latin typeface="Calibri Light" charset="0"/>
                <a:ea typeface="Calibri Light" charset="0"/>
                <a:cs typeface="Calibri Light" charset="0"/>
              </a:defRPr>
            </a:lvl1pPr>
            <a:lvl2pPr marL="504000" indent="-216000" defTabSz="685800">
              <a:lnSpc>
                <a:spcPct val="100000"/>
              </a:lnSpc>
              <a:spcBef>
                <a:spcPts val="0"/>
              </a:spcBef>
              <a:spcAft>
                <a:spcPts val="400"/>
              </a:spcAft>
              <a:buFont typeface="Arial" panose="020B0604020202020204" pitchFamily="34" charset="0"/>
              <a:buChar char="•"/>
              <a:defRPr sz="1050" b="0" i="0">
                <a:latin typeface="Calibri Light" charset="0"/>
                <a:ea typeface="Calibri Light" charset="0"/>
                <a:cs typeface="Calibri Light" charset="0"/>
              </a:defRPr>
            </a:lvl2pPr>
            <a:lvl3pPr marL="792000" indent="-216000" defTabSz="685800">
              <a:lnSpc>
                <a:spcPct val="100000"/>
              </a:lnSpc>
              <a:spcBef>
                <a:spcPts val="0"/>
              </a:spcBef>
              <a:spcAft>
                <a:spcPts val="400"/>
              </a:spcAft>
              <a:buFont typeface="Arial" panose="020B0604020202020204" pitchFamily="34" charset="0"/>
              <a:buChar char="•"/>
              <a:defRPr sz="1050" b="0" i="0">
                <a:latin typeface="Calibri Light" charset="0"/>
                <a:ea typeface="Calibri Light" charset="0"/>
                <a:cs typeface="Calibri Light" charset="0"/>
              </a:defRPr>
            </a:lvl3pPr>
            <a:lvl4pPr marL="1080000" indent="-216000" defTabSz="685800">
              <a:lnSpc>
                <a:spcPct val="100000"/>
              </a:lnSpc>
              <a:spcBef>
                <a:spcPts val="0"/>
              </a:spcBef>
              <a:spcAft>
                <a:spcPts val="400"/>
              </a:spcAft>
              <a:buFont typeface="Arial" panose="020B0604020202020204" pitchFamily="34" charset="0"/>
              <a:buChar char="•"/>
              <a:defRPr sz="1000" b="0" i="0">
                <a:latin typeface="Calibri Light" charset="0"/>
                <a:ea typeface="Calibri Light" charset="0"/>
                <a:cs typeface="Calibri Light" charset="0"/>
              </a:defRPr>
            </a:lvl4pPr>
            <a:lvl5pPr marL="1368000" indent="-216000" defTabSz="685800">
              <a:lnSpc>
                <a:spcPct val="100000"/>
              </a:lnSpc>
              <a:spcBef>
                <a:spcPts val="0"/>
              </a:spcBef>
              <a:spcAft>
                <a:spcPts val="400"/>
              </a:spcAft>
              <a:buFont typeface="Arial" panose="020B0604020202020204" pitchFamily="34" charset="0"/>
              <a:buChar char="•"/>
              <a:defRPr sz="1000" b="0" i="0">
                <a:latin typeface="Calibri Light" charset="0"/>
                <a:ea typeface="Calibri Light" charset="0"/>
                <a:cs typeface="Calibri Light" charset="0"/>
              </a:defRPr>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r>
              <a:rPr lang="en-GB"/>
              <a:t>Execute the most impactful campaigns, automate reporting of posture </a:t>
            </a:r>
          </a:p>
        </p:txBody>
      </p:sp>
      <p:sp>
        <p:nvSpPr>
          <p:cNvPr id="16" name="Rectangle 15">
            <a:extLst>
              <a:ext uri="{FF2B5EF4-FFF2-40B4-BE49-F238E27FC236}">
                <a16:creationId xmlns:a16="http://schemas.microsoft.com/office/drawing/2014/main" id="{C5B7571B-6F4A-FEB4-0F1B-7C5E8B26BE9A}"/>
              </a:ext>
            </a:extLst>
          </p:cNvPr>
          <p:cNvSpPr/>
          <p:nvPr/>
        </p:nvSpPr>
        <p:spPr>
          <a:xfrm>
            <a:off x="2848591" y="1017625"/>
            <a:ext cx="7773374" cy="474509"/>
          </a:xfrm>
          <a:prstGeom prst="rect">
            <a:avLst/>
          </a:prstGeom>
          <a:solidFill>
            <a:srgbClr val="E7E8EB">
              <a:alpha val="66667"/>
            </a:srgbClr>
          </a:solidFill>
          <a:ln>
            <a:no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38"/>
          </a:p>
        </p:txBody>
      </p:sp>
      <p:sp>
        <p:nvSpPr>
          <p:cNvPr id="19" name="Rectangle: Rounded Corners 87">
            <a:extLst>
              <a:ext uri="{FF2B5EF4-FFF2-40B4-BE49-F238E27FC236}">
                <a16:creationId xmlns:a16="http://schemas.microsoft.com/office/drawing/2014/main" id="{FEF39BF9-13A8-0245-988F-4B29DB17E1A5}"/>
              </a:ext>
            </a:extLst>
          </p:cNvPr>
          <p:cNvSpPr/>
          <p:nvPr/>
        </p:nvSpPr>
        <p:spPr>
          <a:xfrm>
            <a:off x="2937341" y="1128294"/>
            <a:ext cx="7583474" cy="258649"/>
          </a:xfrm>
          <a:prstGeom prst="roundRect">
            <a:avLst>
              <a:gd name="adj" fmla="val 0"/>
            </a:avLst>
          </a:prstGeom>
          <a:solidFill>
            <a:schemeClr val="bg1"/>
          </a:solidFill>
          <a:ln w="6350">
            <a:solidFill>
              <a:srgbClr val="169FB2"/>
            </a:solidFill>
          </a:ln>
        </p:spPr>
        <p:style>
          <a:lnRef idx="2">
            <a:schemeClr val="accent2">
              <a:shade val="50000"/>
            </a:schemeClr>
          </a:lnRef>
          <a:fillRef idx="1">
            <a:schemeClr val="accent2"/>
          </a:fillRef>
          <a:effectRef idx="0">
            <a:schemeClr val="accent2"/>
          </a:effectRef>
          <a:fontRef idx="minor">
            <a:schemeClr val="lt1"/>
          </a:fontRef>
        </p:style>
        <p:txBody>
          <a:bodyPr lIns="51995" tIns="25997" rIns="51995" bIns="25997" rtlCol="0" anchor="ctr"/>
          <a:lstStyle/>
          <a:p>
            <a:pPr algn="ctr"/>
            <a:r>
              <a:rPr lang="en-US" sz="900">
                <a:solidFill>
                  <a:schemeClr val="tx1"/>
                </a:solidFill>
                <a:cs typeface="Calibri"/>
              </a:rPr>
              <a:t>GEN AI ASSISTANT</a:t>
            </a:r>
          </a:p>
        </p:txBody>
      </p:sp>
      <p:sp>
        <p:nvSpPr>
          <p:cNvPr id="22" name="TextBox 21">
            <a:extLst>
              <a:ext uri="{FF2B5EF4-FFF2-40B4-BE49-F238E27FC236}">
                <a16:creationId xmlns:a16="http://schemas.microsoft.com/office/drawing/2014/main" id="{13154FA9-E263-ADE0-405B-FB7A8B663F68}"/>
              </a:ext>
            </a:extLst>
          </p:cNvPr>
          <p:cNvSpPr txBox="1"/>
          <p:nvPr/>
        </p:nvSpPr>
        <p:spPr>
          <a:xfrm>
            <a:off x="908557" y="951024"/>
            <a:ext cx="1728905" cy="541110"/>
          </a:xfrm>
          <a:prstGeom prst="rect">
            <a:avLst/>
          </a:prstGeom>
          <a:ln>
            <a:noFill/>
          </a:ln>
        </p:spPr>
        <p:txBody>
          <a:bodyPr lIns="113374" tIns="0" rIns="0" bIns="0" anchor="ctr"/>
          <a:lstStyle>
            <a:defPPr>
              <a:defRPr lang="en-US"/>
            </a:defPPr>
            <a:lvl1pPr indent="0" defTabSz="685800">
              <a:lnSpc>
                <a:spcPct val="100000"/>
              </a:lnSpc>
              <a:spcBef>
                <a:spcPts val="0"/>
              </a:spcBef>
              <a:spcAft>
                <a:spcPts val="400"/>
              </a:spcAft>
              <a:buFont typeface="Arial" panose="020B0604020202020204" pitchFamily="34" charset="0"/>
              <a:buNone/>
              <a:defRPr sz="972" b="0" i="0">
                <a:latin typeface="Calibri Light" charset="0"/>
                <a:ea typeface="Calibri Light" charset="0"/>
                <a:cs typeface="Calibri Light" charset="0"/>
              </a:defRPr>
            </a:lvl1pPr>
            <a:lvl2pPr marL="504000" indent="-216000" defTabSz="685800">
              <a:lnSpc>
                <a:spcPct val="100000"/>
              </a:lnSpc>
              <a:spcBef>
                <a:spcPts val="0"/>
              </a:spcBef>
              <a:spcAft>
                <a:spcPts val="400"/>
              </a:spcAft>
              <a:buFont typeface="Arial" panose="020B0604020202020204" pitchFamily="34" charset="0"/>
              <a:buChar char="•"/>
              <a:defRPr sz="1050" b="0" i="0">
                <a:latin typeface="Calibri Light" charset="0"/>
                <a:ea typeface="Calibri Light" charset="0"/>
                <a:cs typeface="Calibri Light" charset="0"/>
              </a:defRPr>
            </a:lvl2pPr>
            <a:lvl3pPr marL="792000" indent="-216000" defTabSz="685800">
              <a:lnSpc>
                <a:spcPct val="100000"/>
              </a:lnSpc>
              <a:spcBef>
                <a:spcPts val="0"/>
              </a:spcBef>
              <a:spcAft>
                <a:spcPts val="400"/>
              </a:spcAft>
              <a:buFont typeface="Arial" panose="020B0604020202020204" pitchFamily="34" charset="0"/>
              <a:buChar char="•"/>
              <a:defRPr sz="1050" b="0" i="0">
                <a:latin typeface="Calibri Light" charset="0"/>
                <a:ea typeface="Calibri Light" charset="0"/>
                <a:cs typeface="Calibri Light" charset="0"/>
              </a:defRPr>
            </a:lvl3pPr>
            <a:lvl4pPr marL="1080000" indent="-216000" defTabSz="685800">
              <a:lnSpc>
                <a:spcPct val="100000"/>
              </a:lnSpc>
              <a:spcBef>
                <a:spcPts val="0"/>
              </a:spcBef>
              <a:spcAft>
                <a:spcPts val="400"/>
              </a:spcAft>
              <a:buFont typeface="Arial" panose="020B0604020202020204" pitchFamily="34" charset="0"/>
              <a:buChar char="•"/>
              <a:defRPr sz="1000" b="0" i="0">
                <a:latin typeface="Calibri Light" charset="0"/>
                <a:ea typeface="Calibri Light" charset="0"/>
                <a:cs typeface="Calibri Light" charset="0"/>
              </a:defRPr>
            </a:lvl4pPr>
            <a:lvl5pPr marL="1368000" indent="-216000" defTabSz="685800">
              <a:lnSpc>
                <a:spcPct val="100000"/>
              </a:lnSpc>
              <a:spcBef>
                <a:spcPts val="0"/>
              </a:spcBef>
              <a:spcAft>
                <a:spcPts val="400"/>
              </a:spcAft>
              <a:buFont typeface="Arial" panose="020B0604020202020204" pitchFamily="34" charset="0"/>
              <a:buChar char="•"/>
              <a:defRPr sz="1000" b="0" i="0">
                <a:latin typeface="Calibri Light" charset="0"/>
                <a:ea typeface="Calibri Light" charset="0"/>
                <a:cs typeface="Calibri Light" charset="0"/>
              </a:defRPr>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r>
              <a:rPr lang="en-GB"/>
              <a:t>Democratise data access and exploration</a:t>
            </a:r>
          </a:p>
        </p:txBody>
      </p:sp>
    </p:spTree>
    <p:extLst>
      <p:ext uri="{BB962C8B-B14F-4D97-AF65-F5344CB8AC3E}">
        <p14:creationId xmlns:p14="http://schemas.microsoft.com/office/powerpoint/2010/main" val="41229008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FDBBC-C8DA-1A5C-B133-C1CDD5AAD14F}"/>
              </a:ext>
            </a:extLst>
          </p:cNvPr>
          <p:cNvSpPr>
            <a:spLocks noGrp="1"/>
          </p:cNvSpPr>
          <p:nvPr>
            <p:ph type="title"/>
          </p:nvPr>
        </p:nvSpPr>
        <p:spPr/>
        <p:txBody>
          <a:bodyPr/>
          <a:lstStyle/>
          <a:p>
            <a:r>
              <a:rPr lang="en-GB" sz="2150"/>
              <a:t>ADD FINDING STRUCTURE FOR SCORING</a:t>
            </a:r>
            <a:endParaRPr lang="en-GB"/>
          </a:p>
        </p:txBody>
      </p:sp>
    </p:spTree>
    <p:extLst>
      <p:ext uri="{BB962C8B-B14F-4D97-AF65-F5344CB8AC3E}">
        <p14:creationId xmlns:p14="http://schemas.microsoft.com/office/powerpoint/2010/main" val="37417483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42F9F-B4B2-3C0C-8229-3A1D035B927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D56CB39-3B72-1E9C-D750-C8AE93177434}"/>
              </a:ext>
            </a:extLst>
          </p:cNvPr>
          <p:cNvSpPr>
            <a:spLocks noGrp="1"/>
          </p:cNvSpPr>
          <p:nvPr>
            <p:ph type="body" sz="quarter" idx="10"/>
          </p:nvPr>
        </p:nvSpPr>
        <p:spPr/>
        <p:txBody>
          <a:bodyPr/>
          <a:lstStyle/>
          <a:p>
            <a:r>
              <a:rPr lang="en-GB">
                <a:solidFill>
                  <a:schemeClr val="bg1"/>
                </a:solidFill>
              </a:rPr>
              <a:t>Delivery Model</a:t>
            </a:r>
          </a:p>
        </p:txBody>
      </p:sp>
    </p:spTree>
    <p:extLst>
      <p:ext uri="{BB962C8B-B14F-4D97-AF65-F5344CB8AC3E}">
        <p14:creationId xmlns:p14="http://schemas.microsoft.com/office/powerpoint/2010/main" val="35750457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1434D-22D2-FE8E-60B6-9C033E6F11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1BBB24-98C9-C2EB-754B-69E0A052C03C}"/>
              </a:ext>
            </a:extLst>
          </p:cNvPr>
          <p:cNvSpPr>
            <a:spLocks noGrp="1"/>
          </p:cNvSpPr>
          <p:nvPr>
            <p:ph type="title"/>
          </p:nvPr>
        </p:nvSpPr>
        <p:spPr/>
        <p:txBody>
          <a:bodyPr/>
          <a:lstStyle/>
          <a:p>
            <a:r>
              <a:rPr lang="en-GB"/>
              <a:t>Typical Delivery Approach</a:t>
            </a:r>
          </a:p>
        </p:txBody>
      </p:sp>
      <p:sp>
        <p:nvSpPr>
          <p:cNvPr id="5" name="Text Placeholder 4">
            <a:extLst>
              <a:ext uri="{FF2B5EF4-FFF2-40B4-BE49-F238E27FC236}">
                <a16:creationId xmlns:a16="http://schemas.microsoft.com/office/drawing/2014/main" id="{B97C7772-EE76-EB9A-A652-F5F6B8E39882}"/>
              </a:ext>
            </a:extLst>
          </p:cNvPr>
          <p:cNvSpPr>
            <a:spLocks noGrp="1"/>
          </p:cNvSpPr>
          <p:nvPr>
            <p:ph type="body" sz="quarter" idx="12"/>
          </p:nvPr>
        </p:nvSpPr>
        <p:spPr/>
        <p:txBody>
          <a:bodyPr/>
          <a:lstStyle/>
          <a:p>
            <a:endParaRPr lang="en-GB"/>
          </a:p>
        </p:txBody>
      </p:sp>
      <p:graphicFrame>
        <p:nvGraphicFramePr>
          <p:cNvPr id="7" name="Diagram 6">
            <a:extLst>
              <a:ext uri="{FF2B5EF4-FFF2-40B4-BE49-F238E27FC236}">
                <a16:creationId xmlns:a16="http://schemas.microsoft.com/office/drawing/2014/main" id="{B1677DBD-5349-5FAC-64F3-6044FEA4E401}"/>
              </a:ext>
            </a:extLst>
          </p:cNvPr>
          <p:cNvGraphicFramePr/>
          <p:nvPr/>
        </p:nvGraphicFramePr>
        <p:xfrm>
          <a:off x="670984" y="950709"/>
          <a:ext cx="10850032" cy="42788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Oval 7">
            <a:extLst>
              <a:ext uri="{FF2B5EF4-FFF2-40B4-BE49-F238E27FC236}">
                <a16:creationId xmlns:a16="http://schemas.microsoft.com/office/drawing/2014/main" id="{8F4CEDA2-B1A6-0A31-F6E5-011C58899BAA}"/>
              </a:ext>
            </a:extLst>
          </p:cNvPr>
          <p:cNvSpPr/>
          <p:nvPr/>
        </p:nvSpPr>
        <p:spPr>
          <a:xfrm>
            <a:off x="1647302" y="4228201"/>
            <a:ext cx="1433594" cy="85426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Data </a:t>
            </a:r>
          </a:p>
          <a:p>
            <a:pPr algn="ctr"/>
            <a:r>
              <a:rPr lang="en-GB">
                <a:solidFill>
                  <a:schemeClr val="tx1"/>
                </a:solidFill>
              </a:rPr>
              <a:t>I have</a:t>
            </a:r>
          </a:p>
        </p:txBody>
      </p:sp>
      <p:sp>
        <p:nvSpPr>
          <p:cNvPr id="9" name="Oval 8">
            <a:extLst>
              <a:ext uri="{FF2B5EF4-FFF2-40B4-BE49-F238E27FC236}">
                <a16:creationId xmlns:a16="http://schemas.microsoft.com/office/drawing/2014/main" id="{96E5CD07-1676-6918-6D6D-E563488F2BC8}"/>
              </a:ext>
            </a:extLst>
          </p:cNvPr>
          <p:cNvSpPr/>
          <p:nvPr/>
        </p:nvSpPr>
        <p:spPr>
          <a:xfrm>
            <a:off x="534905" y="4228201"/>
            <a:ext cx="1433594" cy="85426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Problems </a:t>
            </a:r>
          </a:p>
          <a:p>
            <a:pPr algn="ctr"/>
            <a:r>
              <a:rPr lang="en-GB">
                <a:solidFill>
                  <a:schemeClr val="tx1"/>
                </a:solidFill>
              </a:rPr>
              <a:t>I have</a:t>
            </a:r>
          </a:p>
        </p:txBody>
      </p:sp>
      <p:sp>
        <p:nvSpPr>
          <p:cNvPr id="12" name="Arrow: Right 11">
            <a:extLst>
              <a:ext uri="{FF2B5EF4-FFF2-40B4-BE49-F238E27FC236}">
                <a16:creationId xmlns:a16="http://schemas.microsoft.com/office/drawing/2014/main" id="{8A6794D0-B9FB-2001-FCD5-7D32D056DA25}"/>
              </a:ext>
            </a:extLst>
          </p:cNvPr>
          <p:cNvSpPr/>
          <p:nvPr/>
        </p:nvSpPr>
        <p:spPr>
          <a:xfrm rot="16200000">
            <a:off x="1545112" y="4867835"/>
            <a:ext cx="502545" cy="1613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D5B495C8-88EC-D9A2-6BA7-EAFB9B1C2F91}"/>
              </a:ext>
            </a:extLst>
          </p:cNvPr>
          <p:cNvSpPr/>
          <p:nvPr/>
        </p:nvSpPr>
        <p:spPr>
          <a:xfrm>
            <a:off x="1220702" y="5120776"/>
            <a:ext cx="1181099" cy="307705"/>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a:t>Start Here</a:t>
            </a:r>
          </a:p>
        </p:txBody>
      </p:sp>
      <p:sp>
        <p:nvSpPr>
          <p:cNvPr id="25" name="Right Brace 24">
            <a:extLst>
              <a:ext uri="{FF2B5EF4-FFF2-40B4-BE49-F238E27FC236}">
                <a16:creationId xmlns:a16="http://schemas.microsoft.com/office/drawing/2014/main" id="{C1EC82B0-053D-B073-F4F3-87655331EB50}"/>
              </a:ext>
            </a:extLst>
          </p:cNvPr>
          <p:cNvSpPr/>
          <p:nvPr/>
        </p:nvSpPr>
        <p:spPr>
          <a:xfrm rot="16200000">
            <a:off x="2919346" y="-450561"/>
            <a:ext cx="250959" cy="474768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6" name="TextBox 25">
            <a:extLst>
              <a:ext uri="{FF2B5EF4-FFF2-40B4-BE49-F238E27FC236}">
                <a16:creationId xmlns:a16="http://schemas.microsoft.com/office/drawing/2014/main" id="{147D5AEF-B05D-27F7-23B8-A4C4394DAF8D}"/>
              </a:ext>
            </a:extLst>
          </p:cNvPr>
          <p:cNvSpPr txBox="1"/>
          <p:nvPr/>
        </p:nvSpPr>
        <p:spPr>
          <a:xfrm>
            <a:off x="2209133" y="1542710"/>
            <a:ext cx="2403094" cy="184666"/>
          </a:xfrm>
          <a:prstGeom prst="rect">
            <a:avLst/>
          </a:prstGeom>
          <a:noFill/>
        </p:spPr>
        <p:txBody>
          <a:bodyPr wrap="none" lIns="0" tIns="0" rIns="0" bIns="0" rtlCol="0">
            <a:spAutoFit/>
          </a:bodyPr>
          <a:lstStyle/>
          <a:p>
            <a:r>
              <a:rPr lang="en-GB" sz="1200" b="1">
                <a:latin typeface="Calibri Light" charset="0"/>
                <a:ea typeface="Calibri Light" charset="0"/>
                <a:cs typeface="Calibri Light" charset="0"/>
              </a:rPr>
              <a:t>~ 1-2 Months (largely client dependent)</a:t>
            </a:r>
          </a:p>
        </p:txBody>
      </p:sp>
      <p:sp>
        <p:nvSpPr>
          <p:cNvPr id="27" name="Arrow: Circular 26">
            <a:extLst>
              <a:ext uri="{FF2B5EF4-FFF2-40B4-BE49-F238E27FC236}">
                <a16:creationId xmlns:a16="http://schemas.microsoft.com/office/drawing/2014/main" id="{9C9CFEB8-194F-F042-442F-E18D18D9171A}"/>
              </a:ext>
            </a:extLst>
          </p:cNvPr>
          <p:cNvSpPr/>
          <p:nvPr/>
        </p:nvSpPr>
        <p:spPr>
          <a:xfrm>
            <a:off x="8731082" y="2154767"/>
            <a:ext cx="494453" cy="461434"/>
          </a:xfrm>
          <a:prstGeom prst="circular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9" name="Arrow: Circular 28">
            <a:extLst>
              <a:ext uri="{FF2B5EF4-FFF2-40B4-BE49-F238E27FC236}">
                <a16:creationId xmlns:a16="http://schemas.microsoft.com/office/drawing/2014/main" id="{B1335641-282D-EA9C-C3D9-6B2BDB8816FE}"/>
              </a:ext>
            </a:extLst>
          </p:cNvPr>
          <p:cNvSpPr/>
          <p:nvPr/>
        </p:nvSpPr>
        <p:spPr>
          <a:xfrm rot="10800000">
            <a:off x="8731082" y="2192867"/>
            <a:ext cx="494453" cy="461434"/>
          </a:xfrm>
          <a:prstGeom prst="circular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1" name="Right Brace 30">
            <a:extLst>
              <a:ext uri="{FF2B5EF4-FFF2-40B4-BE49-F238E27FC236}">
                <a16:creationId xmlns:a16="http://schemas.microsoft.com/office/drawing/2014/main" id="{C2621578-5DFE-6D2A-A459-C1F6F6F272D5}"/>
              </a:ext>
            </a:extLst>
          </p:cNvPr>
          <p:cNvSpPr/>
          <p:nvPr/>
        </p:nvSpPr>
        <p:spPr>
          <a:xfrm rot="16200000">
            <a:off x="8880804" y="-591451"/>
            <a:ext cx="253341" cy="502708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2" name="TextBox 31">
            <a:extLst>
              <a:ext uri="{FF2B5EF4-FFF2-40B4-BE49-F238E27FC236}">
                <a16:creationId xmlns:a16="http://schemas.microsoft.com/office/drawing/2014/main" id="{967D02D2-BA23-2273-D8E8-7ADC27DCC6DF}"/>
              </a:ext>
            </a:extLst>
          </p:cNvPr>
          <p:cNvSpPr txBox="1"/>
          <p:nvPr/>
        </p:nvSpPr>
        <p:spPr>
          <a:xfrm>
            <a:off x="7136086" y="1525963"/>
            <a:ext cx="3747933" cy="184666"/>
          </a:xfrm>
          <a:prstGeom prst="rect">
            <a:avLst/>
          </a:prstGeom>
          <a:noFill/>
        </p:spPr>
        <p:txBody>
          <a:bodyPr wrap="square" lIns="0" tIns="0" rIns="0" bIns="0" rtlCol="0">
            <a:spAutoFit/>
          </a:bodyPr>
          <a:lstStyle/>
          <a:p>
            <a:pPr algn="ctr"/>
            <a:r>
              <a:rPr lang="en-GB" sz="1200" b="1">
                <a:latin typeface="Calibri Light" charset="0"/>
                <a:ea typeface="Calibri Light" charset="0"/>
                <a:cs typeface="Calibri Light" charset="0"/>
              </a:rPr>
              <a:t>~ 2 Months onwards (dependent on breadth of data sources)</a:t>
            </a:r>
          </a:p>
        </p:txBody>
      </p:sp>
      <p:sp>
        <p:nvSpPr>
          <p:cNvPr id="3" name="TextBox 2">
            <a:extLst>
              <a:ext uri="{FF2B5EF4-FFF2-40B4-BE49-F238E27FC236}">
                <a16:creationId xmlns:a16="http://schemas.microsoft.com/office/drawing/2014/main" id="{B145CF9A-92ED-DB02-68A8-CA9854A3A047}"/>
              </a:ext>
            </a:extLst>
          </p:cNvPr>
          <p:cNvSpPr txBox="1"/>
          <p:nvPr/>
        </p:nvSpPr>
        <p:spPr>
          <a:xfrm>
            <a:off x="4224205" y="822610"/>
            <a:ext cx="3747933" cy="184666"/>
          </a:xfrm>
          <a:prstGeom prst="rect">
            <a:avLst/>
          </a:prstGeom>
          <a:noFill/>
        </p:spPr>
        <p:txBody>
          <a:bodyPr wrap="square" lIns="0" tIns="0" rIns="0" bIns="0" rtlCol="0">
            <a:spAutoFit/>
          </a:bodyPr>
          <a:lstStyle/>
          <a:p>
            <a:pPr algn="ctr"/>
            <a:r>
              <a:rPr lang="en-GB" sz="1200" b="1">
                <a:latin typeface="Calibri Light" charset="0"/>
                <a:ea typeface="Calibri Light" charset="0"/>
                <a:cs typeface="Calibri Light" charset="0"/>
              </a:rPr>
              <a:t>~ 3 Months to initial release </a:t>
            </a:r>
          </a:p>
        </p:txBody>
      </p:sp>
      <p:sp>
        <p:nvSpPr>
          <p:cNvPr id="4" name="Right Brace 3">
            <a:extLst>
              <a:ext uri="{FF2B5EF4-FFF2-40B4-BE49-F238E27FC236}">
                <a16:creationId xmlns:a16="http://schemas.microsoft.com/office/drawing/2014/main" id="{B74249C8-E062-953A-10D3-EA2B26A9DB6C}"/>
              </a:ext>
            </a:extLst>
          </p:cNvPr>
          <p:cNvSpPr/>
          <p:nvPr/>
        </p:nvSpPr>
        <p:spPr>
          <a:xfrm rot="16200000">
            <a:off x="5965219" y="-4183334"/>
            <a:ext cx="261562" cy="1085003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7050345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57A83-682B-4FD2-4B55-019A4452EE7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63E22BA-96EC-F651-764C-025BA43367A1}"/>
              </a:ext>
            </a:extLst>
          </p:cNvPr>
          <p:cNvSpPr>
            <a:spLocks noGrp="1"/>
          </p:cNvSpPr>
          <p:nvPr>
            <p:ph type="body" sz="quarter" idx="10"/>
          </p:nvPr>
        </p:nvSpPr>
        <p:spPr/>
        <p:txBody>
          <a:bodyPr/>
          <a:lstStyle/>
          <a:p>
            <a:r>
              <a:rPr lang="en-GB" b="0">
                <a:solidFill>
                  <a:schemeClr val="bg1"/>
                </a:solidFill>
              </a:rPr>
              <a:t>Case Studies</a:t>
            </a:r>
          </a:p>
        </p:txBody>
      </p:sp>
    </p:spTree>
    <p:extLst>
      <p:ext uri="{BB962C8B-B14F-4D97-AF65-F5344CB8AC3E}">
        <p14:creationId xmlns:p14="http://schemas.microsoft.com/office/powerpoint/2010/main" val="1217103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THINKCELLPRESENTATIONDONOTDELETE" val="&lt;?xml version=&quot;1.0&quot; encoding=&quot;UTF-16&quot; standalone=&quot;yes&quot;?&gt;&lt;root reqver=&quot;28224&quot;&gt;&lt;version val=&quot;3572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4&quot;&gt;&lt;elem m_fUsage=&quot;3.66742638120747477259E+00&quot;&gt;&lt;m_msothmcolidx val=&quot;0&quot;/&gt;&lt;m_rgb r=&quot;59&quot; g=&quot;59&quot; b=&quot;59&quot;/&gt;&lt;/elem&gt;&lt;elem m_fUsage=&quot;2.78046537639950441800E+00&quot;&gt;&lt;m_msothmcolidx val=&quot;0&quot;/&gt;&lt;m_rgb r=&quot;06&quot; g=&quot;0B&quot; b=&quot;25&quot;/&gt;&lt;/elem&gt;&lt;elem m_fUsage=&quot;2.23209809585355367645E+00&quot;&gt;&lt;m_msothmcolidx val=&quot;0&quot;/&gt;&lt;m_rgb r=&quot;63&quot; g=&quot;60&quot; b=&quot;D8&quot;/&gt;&lt;/elem&gt;&lt;elem m_fUsage=&quot;9.38152042447694678451E-01&quot;&gt;&lt;m_msothmcolidx val=&quot;0&quot;/&gt;&lt;m_rgb r=&quot;A6&quot; g=&quot;A6&quot; b=&quot;A6&quot;/&gt;&lt;/elem&gt;&lt;elem m_fUsage=&quot;1.63967812865785600440E-01&quot;&gt;&lt;m_msothmcolidx val=&quot;0&quot;/&gt;&lt;m_rgb r=&quot;D7&quot; g=&quot;D6&quot; b=&quot;F2&quot;/&gt;&lt;/elem&gt;&lt;elem m_fUsage=&quot;9.24865752059652601602E-02&quot;&gt;&lt;m_msothmcolidx val=&quot;0&quot;/&gt;&lt;m_rgb r=&quot;F1&quot; g=&quot;F1&quot; b=&quot;FF&quot;/&gt;&lt;/elem&gt;&lt;elem m_fUsage=&quot;7.97664430768725701837E-02&quot;&gt;&lt;m_msothmcolidx val=&quot;0&quot;/&gt;&lt;m_rgb r=&quot;0A&quot; g=&quot;0A&quot; b=&quot;0A&quot;/&gt;&lt;/elem&gt;&lt;elem m_fUsage=&quot;1.82480036314007498799E-02&quot;&gt;&lt;m_msothmcolidx val=&quot;0&quot;/&gt;&lt;m_rgb r=&quot;F2&quot; g=&quot;F2&quot; b=&quot;F2&quot;/&gt;&lt;/elem&gt;&lt;elem m_fUsage=&quot;4.40268420491518163579E-03&quot;&gt;&lt;m_msothmcolidx val=&quot;0&quot;/&gt;&lt;m_rgb r=&quot;1C&quot; g=&quot;06&quot; b=&quot;42&quot;/&gt;&lt;/elem&gt;&lt;elem m_fUsage=&quot;3.72303224522803170859E-03&quot;&gt;&lt;m_msothmcolidx val=&quot;0&quot;/&gt;&lt;m_rgb r=&quot;D4&quot; g=&quot;E1&quot; b=&quot;01&quot;/&gt;&lt;/elem&gt;&lt;elem m_fUsage=&quot;3.41568843344306795340E-03&quot;&gt;&lt;m_msothmcolidx val=&quot;0&quot;/&gt;&lt;m_rgb r=&quot;00&quot; g=&quot;90&quot; b=&quot;FC&quot;/&gt;&lt;/elem&gt;&lt;elem m_fUsage=&quot;2.73892744995341171077E-03&quot;&gt;&lt;m_msothmcolidx val=&quot;0&quot;/&gt;&lt;m_rgb r=&quot;26&quot; g=&quot;26&quot; b=&quot;26&quot;/&gt;&lt;/elem&gt;&lt;elem m_fUsage=&quot;2.62962955116796074512E-03&quot;&gt;&lt;m_msothmcolidx val=&quot;0&quot;/&gt;&lt;m_rgb r=&quot;82&quot; g=&quot;FF&quot; b=&quot;68&quot;/&gt;&lt;/elem&gt;&lt;elem m_fUsage=&quot;2.46503470495807071317E-03&quot;&gt;&lt;m_msothmcolidx val=&quot;0&quot;/&gt;&lt;m_rgb r=&quot;4F&quot; g=&quot;FA&quot; b=&quot;FC&quot;/&gt;&lt;/elem&gt;&lt;elem m_fUsage=&quot;1.82320684249249738255E-03&quot;&gt;&lt;m_msothmcolidx val=&quot;0&quot;/&gt;&lt;m_rgb r=&quot;00&quot; g=&quot;2C&quot; b=&quot;C9&quot;/&gt;&lt;/elem&gt;&lt;elem m_fUsage=&quot;1.79701029991443349265E-03&quot;&gt;&lt;m_msothmcolidx val=&quot;0&quot;/&gt;&lt;m_rgb r=&quot;77&quot; g=&quot;CD&quot; b=&quot;D6&quot;/&gt;&lt;/elem&gt;&lt;elem m_fUsage=&quot;1.61730926992299014339E-03&quot;&gt;&lt;m_msothmcolidx val=&quot;0&quot;/&gt;&lt;m_rgb r=&quot;76&quot; g=&quot;B6&quot; b=&quot;A6&quot;/&gt;&lt;/elem&gt;&lt;elem m_fUsage=&quot;1.45557834293069112905E-03&quot;&gt;&lt;m_msothmcolidx val=&quot;0&quot;/&gt;&lt;m_rgb r=&quot;88&quot; g=&quot;82&quot; b=&quot;C7&quot;/&gt;&lt;/elem&gt;&lt;elem m_fUsage=&quot;1.31002050863762210288E-03&quot;&gt;&lt;m_msothmcolidx val=&quot;0&quot;/&gt;&lt;m_rgb r=&quot;78&quot; g=&quot;A3&quot; b=&quot;F5&quot;/&gt;&lt;/elem&gt;&lt;elem m_fUsage=&quot;8.68844201949461193539E-06&quot;&gt;&lt;m_msothmcolidx val=&quot;0&quot;/&gt;&lt;m_rgb r=&quot;D2&quot; g=&quot;E8&quot; b=&quot;FA&quot;/&gt;&lt;/elem&gt;&lt;elem m_fUsage=&quot;5.24031078959297589804E-07&quot;&gt;&lt;m_msothmcolidx val=&quot;0&quot;/&gt;&lt;m_rgb r=&quot;DD&quot; g=&quot;E4&quot; b=&quot;FF&quot;/&gt;&lt;/elem&gt;&lt;elem m_fUsage=&quot;4.36223253020203343021E-07&quot;&gt;&lt;m_msothmcolidx val=&quot;0&quot;/&gt;&lt;m_rgb r=&quot;E5&quot; g=&quot;D9&quot; b=&quot;FB&quot;/&gt;&lt;/elem&gt;&lt;elem m_fUsage=&quot;3.92600927718183019307E-07&quot;&gt;&lt;m_msothmcolidx val=&quot;0&quot;/&gt;&lt;m_rgb r=&quot;A7&quot; g=&quot;7D&quot; b=&quot;F3&quot;/&gt;&lt;/elem&gt;&lt;elem m_fUsage=&quot;3.30976403502673229173E-07&quot;&gt;&lt;m_msothmcolidx val=&quot;0&quot;/&gt;&lt;m_rgb r=&quot;CF&quot; g=&quot;DA&quot; b=&quot;EB&quot;/&gt;&lt;/elem&gt;&lt;/m_vecMRU&gt;&lt;/m_mruColor&gt;&lt;m_eweekdayFirstOfWeek val=&quot;1&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T6MHJ_U_8ZMrXCOUZSML0A"/>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T6MHJ_U_8ZMrXCOUZSML0A"/>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T6MHJ_U_8ZMrXCOUZSML0A"/>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T6MHJ_U_8ZMrXCOUZSML0A"/>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T6MHJ_U_8ZMrXCOUZSML0A"/>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T6MHJ_U_8ZMrXCOUZSML0A"/>
</p:tagLst>
</file>

<file path=ppt/tags/tag22.xml><?xml version="1.0" encoding="utf-8"?>
<p:tagLst xmlns:a="http://schemas.openxmlformats.org/drawingml/2006/main" xmlns:r="http://schemas.openxmlformats.org/officeDocument/2006/relationships" xmlns:p="http://schemas.openxmlformats.org/presentationml/2006/main">
  <p:tag name="MM_SLIDE_TYPE" val="6"/>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T6MHJ_U_8ZMrXCOUZSML0A"/>
</p:tagLst>
</file>

<file path=ppt/tags/tag25.xml><?xml version="1.0" encoding="utf-8"?>
<p:tagLst xmlns:a="http://schemas.openxmlformats.org/drawingml/2006/main" xmlns:r="http://schemas.openxmlformats.org/officeDocument/2006/relationships" xmlns:p="http://schemas.openxmlformats.org/presentationml/2006/main">
  <p:tag name="MM_SLIDE_TYPE" val="6"/>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T6MHJ_U_8ZMrXCOUZSML0A"/>
</p:tagLst>
</file>

<file path=ppt/tags/tag28.xml><?xml version="1.0" encoding="utf-8"?>
<p:tagLst xmlns:a="http://schemas.openxmlformats.org/drawingml/2006/main" xmlns:r="http://schemas.openxmlformats.org/officeDocument/2006/relationships" xmlns:p="http://schemas.openxmlformats.org/presentationml/2006/main">
  <p:tag name="MM_SLIDE_TYPE" val="6"/>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T6MHJ_U_8ZMrXCOUZSML0A"/>
</p:tagLst>
</file>

<file path=ppt/tags/tag31.xml><?xml version="1.0" encoding="utf-8"?>
<p:tagLst xmlns:a="http://schemas.openxmlformats.org/drawingml/2006/main" xmlns:r="http://schemas.openxmlformats.org/officeDocument/2006/relationships" xmlns:p="http://schemas.openxmlformats.org/presentationml/2006/main">
  <p:tag name="MM_SLIDE_TYPE" val="6"/>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T6MHJ_U_8ZMrXCOUZSML0A"/>
</p:tagLst>
</file>

<file path=ppt/tags/tag34.xml><?xml version="1.0" encoding="utf-8"?>
<p:tagLst xmlns:a="http://schemas.openxmlformats.org/drawingml/2006/main" xmlns:r="http://schemas.openxmlformats.org/officeDocument/2006/relationships" xmlns:p="http://schemas.openxmlformats.org/presentationml/2006/main">
  <p:tag name="MM_SLIDE_TYPE" val="6"/>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T6MHJ_U_8ZMrXCOUZSML0A"/>
</p:tagLst>
</file>

<file path=ppt/tags/tag40.xml><?xml version="1.0" encoding="utf-8"?>
<p:tagLst xmlns:a="http://schemas.openxmlformats.org/drawingml/2006/main" xmlns:r="http://schemas.openxmlformats.org/officeDocument/2006/relationships" xmlns:p="http://schemas.openxmlformats.org/presentationml/2006/main">
  <p:tag name="MM_SLIDE_TYPE" val="6"/>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T6MHJ_U_8ZMrXCOUZSML0A"/>
</p:tagLst>
</file>

<file path=ppt/tags/tag43.xml><?xml version="1.0" encoding="utf-8"?>
<p:tagLst xmlns:a="http://schemas.openxmlformats.org/drawingml/2006/main" xmlns:r="http://schemas.openxmlformats.org/officeDocument/2006/relationships" xmlns:p="http://schemas.openxmlformats.org/presentationml/2006/main">
  <p:tag name="MM_SLIDE_TYPE" val="6"/>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9">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lumMod val="20000"/>
            <a:lumOff val="80000"/>
          </a:schemeClr>
        </a:solidFill>
      </a:spPr>
      <a:bodyPr rtlCol="0" anchor="ctr"/>
      <a:lstStyle>
        <a:defPPr algn="ctr">
          <a:defRPr sz="1200" dirty="0" smtClean="0">
            <a:solidFill>
              <a:srgbClr val="C00000"/>
            </a:solidFill>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200" dirty="0" smtClean="0">
            <a:latin typeface="+mj-lt"/>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pt theme">
  <a:themeElements>
    <a:clrScheme name="Prevalent AI 18-04">
      <a:dk1>
        <a:srgbClr val="372355"/>
      </a:dk1>
      <a:lt1>
        <a:srgbClr val="FFFFFF"/>
      </a:lt1>
      <a:dk2>
        <a:srgbClr val="000000"/>
      </a:dk2>
      <a:lt2>
        <a:srgbClr val="E9E8EC"/>
      </a:lt2>
      <a:accent1>
        <a:srgbClr val="4D2E58"/>
      </a:accent1>
      <a:accent2>
        <a:srgbClr val="81718F"/>
      </a:accent2>
      <a:accent3>
        <a:srgbClr val="959AA8"/>
      </a:accent3>
      <a:accent4>
        <a:srgbClr val="C4C6CE"/>
      </a:accent4>
      <a:accent5>
        <a:srgbClr val="BB4728"/>
      </a:accent5>
      <a:accent6>
        <a:srgbClr val="D25B30"/>
      </a:accent6>
      <a:hlink>
        <a:srgbClr val="000000"/>
      </a:hlink>
      <a:folHlink>
        <a:srgbClr val="EAE9ED"/>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defRPr sz="1200">
            <a:latin typeface="Calibri Light" charset="0"/>
            <a:ea typeface="Calibri Light" charset="0"/>
            <a:cs typeface="Calibri Light" charset="0"/>
          </a:defRPr>
        </a:defPPr>
      </a:lstStyle>
    </a:txDef>
  </a:objectDefaults>
  <a:extraClrSchemeLst/>
  <a:extLst>
    <a:ext uri="{05A4C25C-085E-4340-85A3-A5531E510DB2}">
      <thm15:themeFamily xmlns:thm15="http://schemas.microsoft.com/office/thememl/2012/main" name="ppt theme" id="{E4D444F6-B4F2-44BD-B46A-61BB6E3446BC}" vid="{472F33FA-7C14-4E1C-9710-D320E877F85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 dockstate="right" visibility="0" width="525"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EBEC733A-3D46-49E5-88AD-3F8192BE96C6}">
  <we:reference id="36907bf5-2c4b-4ebb-b2d8-8ed6acad83c2" version="1.0.0.0" store="\\americasgc.com\netlogon\Addins" storeType="Filesystem"/>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F751C6D0-5CD2-4DC5-957C-90CEC10591FA}">
  <we:reference id="WA200010001" version="1.0.0.0" store="Omex" storeType="OMEX"/>
  <we:alternateReferences>
    <we:reference id="WA200010001" version="1.0.0.0" store="WA200010001" storeType="OMEX"/>
  </we:alternateReferences>
  <we:properties>
    <we:property name="claude.fileId" value="&quot;89022577-32b6-4c2e-b9ad-5585835a8524&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_rels/item76.xml.rels><?xml version="1.0" encoding="UTF-8" standalone="yes"?>
<Relationships xmlns="http://schemas.openxmlformats.org/package/2006/relationships"><Relationship Id="rId1" Type="http://schemas.openxmlformats.org/officeDocument/2006/relationships/customXmlProps" Target="itemProps76.xml"/></Relationships>
</file>

<file path=customXml/_rels/item77.xml.rels><?xml version="1.0" encoding="UTF-8" standalone="yes"?>
<Relationships xmlns="http://schemas.openxmlformats.org/package/2006/relationships"><Relationship Id="rId1" Type="http://schemas.openxmlformats.org/officeDocument/2006/relationships/customXmlProps" Target="itemProps77.xml"/></Relationships>
</file>

<file path=customXml/_rels/item78.xml.rels><?xml version="1.0" encoding="UTF-8" standalone="yes"?>
<Relationships xmlns="http://schemas.openxmlformats.org/package/2006/relationships"><Relationship Id="rId1" Type="http://schemas.openxmlformats.org/officeDocument/2006/relationships/customXmlProps" Target="itemProps78.xml"/></Relationships>
</file>

<file path=customXml/_rels/item79.xml.rels><?xml version="1.0" encoding="UTF-8" standalone="yes"?>
<Relationships xmlns="http://schemas.openxmlformats.org/package/2006/relationships"><Relationship Id="rId1" Type="http://schemas.openxmlformats.org/officeDocument/2006/relationships/customXmlProps" Target="itemProps79.xml"/></Relationships>
</file>

<file path=customXml/_rels/item80.xml.rels><?xml version="1.0" encoding="UTF-8" standalone="yes"?>
<Relationships xmlns="http://schemas.openxmlformats.org/package/2006/relationships"><Relationship Id="rId1" Type="http://schemas.openxmlformats.org/officeDocument/2006/relationships/customXmlProps" Target="itemProps80.xml"/></Relationships>
</file>

<file path=customXml/_rels/item81.xml.rels><?xml version="1.0" encoding="UTF-8" standalone="yes"?>
<Relationships xmlns="http://schemas.openxmlformats.org/package/2006/relationships"><Relationship Id="rId1" Type="http://schemas.openxmlformats.org/officeDocument/2006/relationships/customXmlProps" Target="itemProps81.xml"/></Relationships>
</file>

<file path=customXml/_rels/item82.xml.rels><?xml version="1.0" encoding="UTF-8" standalone="yes"?>
<Relationships xmlns="http://schemas.openxmlformats.org/package/2006/relationships"><Relationship Id="rId1" Type="http://schemas.openxmlformats.org/officeDocument/2006/relationships/customXmlProps" Target="itemProps82.xml"/></Relationships>
</file>

<file path=customXml/_rels/item83.xml.rels><?xml version="1.0" encoding="UTF-8" standalone="yes"?>
<Relationships xmlns="http://schemas.openxmlformats.org/package/2006/relationships"><Relationship Id="rId1" Type="http://schemas.openxmlformats.org/officeDocument/2006/relationships/customXmlProps" Target="itemProps83.xml"/></Relationships>
</file>

<file path=customXml/_rels/item84.xml.rels><?xml version="1.0" encoding="UTF-8" standalone="yes"?>
<Relationships xmlns="http://schemas.openxmlformats.org/package/2006/relationships"><Relationship Id="rId1" Type="http://schemas.openxmlformats.org/officeDocument/2006/relationships/customXmlProps" Target="itemProps84.xml"/></Relationships>
</file>

<file path=customXml/_rels/item85.xml.rels><?xml version="1.0" encoding="UTF-8" standalone="yes"?>
<Relationships xmlns="http://schemas.openxmlformats.org/package/2006/relationships"><Relationship Id="rId1" Type="http://schemas.openxmlformats.org/officeDocument/2006/relationships/customXmlProps" Target="itemProps85.xml"/></Relationships>
</file>

<file path=customXml/_rels/item86.xml.rels><?xml version="1.0" encoding="UTF-8" standalone="yes"?>
<Relationships xmlns="http://schemas.openxmlformats.org/package/2006/relationships"><Relationship Id="rId1" Type="http://schemas.openxmlformats.org/officeDocument/2006/relationships/customXmlProps" Target="itemProps86.xml"/></Relationships>
</file>

<file path=customXml/_rels/item87.xml.rels><?xml version="1.0" encoding="UTF-8" standalone="yes"?>
<Relationships xmlns="http://schemas.openxmlformats.org/package/2006/relationships"><Relationship Id="rId1" Type="http://schemas.openxmlformats.org/officeDocument/2006/relationships/customXmlProps" Target="itemProps87.xml"/></Relationships>
</file>

<file path=customXml/_rels/item88.xml.rels><?xml version="1.0" encoding="UTF-8" standalone="yes"?>
<Relationships xmlns="http://schemas.openxmlformats.org/package/2006/relationships"><Relationship Id="rId1" Type="http://schemas.openxmlformats.org/officeDocument/2006/relationships/customXmlProps" Target="itemProps88.xml"/></Relationships>
</file>

<file path=customXml/_rels/item89.xml.rels><?xml version="1.0" encoding="UTF-8" standalone="yes"?>
<Relationships xmlns="http://schemas.openxmlformats.org/package/2006/relationships"><Relationship Id="rId1" Type="http://schemas.openxmlformats.org/officeDocument/2006/relationships/customXmlProps" Target="itemProps89.xml"/></Relationships>
</file>

<file path=customXml/_rels/item90.xml.rels><?xml version="1.0" encoding="UTF-8" standalone="yes"?>
<Relationships xmlns="http://schemas.openxmlformats.org/package/2006/relationships"><Relationship Id="rId1" Type="http://schemas.openxmlformats.org/officeDocument/2006/relationships/customXmlProps" Target="itemProps90.xml"/></Relationships>
</file>

<file path=customXml/_rels/item91.xml.rels><?xml version="1.0" encoding="UTF-8" standalone="yes"?>
<Relationships xmlns="http://schemas.openxmlformats.org/package/2006/relationships"><Relationship Id="rId1" Type="http://schemas.openxmlformats.org/officeDocument/2006/relationships/customXmlProps" Target="itemProps91.xml"/></Relationships>
</file>

<file path=customXml/_rels/item92.xml.rels><?xml version="1.0" encoding="UTF-8" standalone="yes"?>
<Relationships xmlns="http://schemas.openxmlformats.org/package/2006/relationships"><Relationship Id="rId1" Type="http://schemas.openxmlformats.org/officeDocument/2006/relationships/customXmlProps" Target="itemProps92.xml"/></Relationships>
</file>

<file path=customXml/_rels/item93.xml.rels><?xml version="1.0" encoding="UTF-8" standalone="yes"?>
<Relationships xmlns="http://schemas.openxmlformats.org/package/2006/relationships"><Relationship Id="rId1" Type="http://schemas.openxmlformats.org/officeDocument/2006/relationships/customXmlProps" Target="itemProps93.xml"/></Relationships>
</file>

<file path=customXml/_rels/item94.xml.rels><?xml version="1.0" encoding="UTF-8" standalone="yes"?>
<Relationships xmlns="http://schemas.openxmlformats.org/package/2006/relationships"><Relationship Id="rId1" Type="http://schemas.openxmlformats.org/officeDocument/2006/relationships/customXmlProps" Target="itemProps94.xml"/></Relationships>
</file>

<file path=customXml/_rels/item95.xml.rels><?xml version="1.0" encoding="UTF-8" standalone="yes"?>
<Relationships xmlns="http://schemas.openxmlformats.org/package/2006/relationships"><Relationship Id="rId1" Type="http://schemas.openxmlformats.org/officeDocument/2006/relationships/customXmlProps" Target="itemProps95.xml"/></Relationships>
</file>

<file path=customXml/_rels/item96.xml.rels><?xml version="1.0" encoding="UTF-8" standalone="yes"?>
<Relationships xmlns="http://schemas.openxmlformats.org/package/2006/relationships"><Relationship Id="rId1" Type="http://schemas.openxmlformats.org/officeDocument/2006/relationships/customXmlProps" Target="itemProps96.xml"/></Relationships>
</file>

<file path=customXml/_rels/item97.xml.rels><?xml version="1.0" encoding="UTF-8" standalone="yes"?>
<Relationships xmlns="http://schemas.openxmlformats.org/package/2006/relationships"><Relationship Id="rId1" Type="http://schemas.openxmlformats.org/officeDocument/2006/relationships/customXmlProps" Target="itemProps97.xml"/></Relationships>
</file>

<file path=customXml/_rels/item98.xml.rels><?xml version="1.0" encoding="UTF-8" standalone="yes"?>
<Relationships xmlns="http://schemas.openxmlformats.org/package/2006/relationships"><Relationship Id="rId1" Type="http://schemas.openxmlformats.org/officeDocument/2006/relationships/customXmlProps" Target="itemProps98.xml"/></Relationships>
</file>

<file path=customXml/_rels/item99.xml.rels><?xml version="1.0" encoding="UTF-8" standalone="yes"?>
<Relationships xmlns="http://schemas.openxmlformats.org/package/2006/relationships"><Relationship Id="rId1" Type="http://schemas.openxmlformats.org/officeDocument/2006/relationships/customXmlProps" Target="itemProps99.xml"/></Relationships>
</file>

<file path=customXml/_rels/item100.xml.rels><?xml version="1.0" encoding="UTF-8" standalone="yes"?>
<Relationships xmlns="http://schemas.openxmlformats.org/package/2006/relationships"><Relationship Id="rId1" Type="http://schemas.openxmlformats.org/officeDocument/2006/relationships/customXmlProps" Target="itemProps100.xml"/></Relationships>
</file>

<file path=customXml/_rels/item101.xml.rels><?xml version="1.0" encoding="UTF-8" standalone="yes"?>
<Relationships xmlns="http://schemas.openxmlformats.org/package/2006/relationships"><Relationship Id="rId1" Type="http://schemas.openxmlformats.org/officeDocument/2006/relationships/customXmlProps" Target="itemProps101.xml"/></Relationships>
</file>

<file path=customXml/_rels/item102.xml.rels><?xml version="1.0" encoding="UTF-8" standalone="yes"?>
<Relationships xmlns="http://schemas.openxmlformats.org/package/2006/relationships"><Relationship Id="rId1" Type="http://schemas.openxmlformats.org/officeDocument/2006/relationships/customXmlProps" Target="itemProps102.xml"/></Relationships>
</file>

<file path=customXml/_rels/item103.xml.rels><?xml version="1.0" encoding="UTF-8" standalone="yes"?>
<Relationships xmlns="http://schemas.openxmlformats.org/package/2006/relationships"><Relationship Id="rId1" Type="http://schemas.openxmlformats.org/officeDocument/2006/relationships/customXmlProps" Target="itemProps103.xml"/></Relationships>
</file>

<file path=customXml/_rels/item104.xml.rels><?xml version="1.0" encoding="UTF-8" standalone="yes"?>
<Relationships xmlns="http://schemas.openxmlformats.org/package/2006/relationships"><Relationship Id="rId1" Type="http://schemas.openxmlformats.org/officeDocument/2006/relationships/customXmlProps" Target="itemProps104.xml"/></Relationships>
</file>

<file path=customXml/_rels/item105.xml.rels><?xml version="1.0" encoding="UTF-8" standalone="yes"?>
<Relationships xmlns="http://schemas.openxmlformats.org/package/2006/relationships"><Relationship Id="rId1" Type="http://schemas.openxmlformats.org/officeDocument/2006/relationships/customXmlProps" Target="itemProps105.xml"/></Relationships>
</file>

<file path=customXml/_rels/item106.xml.rels><?xml version="1.0" encoding="UTF-8" standalone="yes"?>
<Relationships xmlns="http://schemas.openxmlformats.org/package/2006/relationships"><Relationship Id="rId1" Type="http://schemas.openxmlformats.org/officeDocument/2006/relationships/customXmlProps" Target="itemProps106.xml"/></Relationships>
</file>

<file path=customXml/_rels/item107.xml.rels><?xml version="1.0" encoding="UTF-8" standalone="yes"?>
<Relationships xmlns="http://schemas.openxmlformats.org/package/2006/relationships"><Relationship Id="rId1" Type="http://schemas.openxmlformats.org/officeDocument/2006/relationships/customXmlProps" Target="itemProps107.xml"/></Relationships>
</file>

<file path=customXml/_rels/item108.xml.rels><?xml version="1.0" encoding="UTF-8" standalone="yes"?>
<Relationships xmlns="http://schemas.openxmlformats.org/package/2006/relationships"><Relationship Id="rId1" Type="http://schemas.openxmlformats.org/officeDocument/2006/relationships/customXmlProps" Target="itemProps108.xml"/></Relationships>
</file>

<file path=customXml/_rels/item109.xml.rels><?xml version="1.0" encoding="UTF-8" standalone="yes"?>
<Relationships xmlns="http://schemas.openxmlformats.org/package/2006/relationships"><Relationship Id="rId1" Type="http://schemas.openxmlformats.org/officeDocument/2006/relationships/customXmlProps" Target="itemProps109.xml"/></Relationships>
</file>

<file path=customXml/_rels/item110.xml.rels><?xml version="1.0" encoding="UTF-8" standalone="yes"?>
<Relationships xmlns="http://schemas.openxmlformats.org/package/2006/relationships"><Relationship Id="rId1" Type="http://schemas.openxmlformats.org/officeDocument/2006/relationships/customXmlProps" Target="itemProps110.xml"/></Relationships>
</file>

<file path=customXml/_rels/item111.xml.rels><?xml version="1.0" encoding="UTF-8" standalone="yes"?>
<Relationships xmlns="http://schemas.openxmlformats.org/package/2006/relationships"><Relationship Id="rId1" Type="http://schemas.openxmlformats.org/officeDocument/2006/relationships/customXmlProps" Target="itemProps111.xml"/></Relationships>
</file>

<file path=customXml/_rels/item112.xml.rels><?xml version="1.0" encoding="UTF-8" standalone="yes"?>
<Relationships xmlns="http://schemas.openxmlformats.org/package/2006/relationships"><Relationship Id="rId1" Type="http://schemas.openxmlformats.org/officeDocument/2006/relationships/customXmlProps" Target="itemProps112.xml"/></Relationships>
</file>

<file path=customXml/_rels/item113.xml.rels><?xml version="1.0" encoding="UTF-8" standalone="yes"?>
<Relationships xmlns="http://schemas.openxmlformats.org/package/2006/relationships"><Relationship Id="rId1" Type="http://schemas.openxmlformats.org/officeDocument/2006/relationships/customXmlProps" Target="itemProps113.xml"/></Relationships>
</file>

<file path=customXml/_rels/item114.xml.rels><?xml version="1.0" encoding="UTF-8" standalone="yes"?>
<Relationships xmlns="http://schemas.openxmlformats.org/package/2006/relationships"><Relationship Id="rId1" Type="http://schemas.openxmlformats.org/officeDocument/2006/relationships/customXmlProps" Target="itemProps114.xml"/></Relationships>
</file>

<file path=customXml/_rels/item115.xml.rels><?xml version="1.0" encoding="UTF-8" standalone="yes"?>
<Relationships xmlns="http://schemas.openxmlformats.org/package/2006/relationships"><Relationship Id="rId1" Type="http://schemas.openxmlformats.org/officeDocument/2006/relationships/customXmlProps" Target="itemProps115.xml"/></Relationships>
</file>

<file path=customXml/_rels/item116.xml.rels><?xml version="1.0" encoding="UTF-8" standalone="yes"?>
<Relationships xmlns="http://schemas.openxmlformats.org/package/2006/relationships"><Relationship Id="rId1" Type="http://schemas.openxmlformats.org/officeDocument/2006/relationships/customXmlProps" Target="itemProps116.xml"/></Relationships>
</file>

<file path=customXml/_rels/item117.xml.rels><?xml version="1.0" encoding="UTF-8" standalone="yes"?>
<Relationships xmlns="http://schemas.openxmlformats.org/package/2006/relationships"><Relationship Id="rId1" Type="http://schemas.openxmlformats.org/officeDocument/2006/relationships/customXmlProps" Target="itemProps117.xml"/></Relationships>
</file>

<file path=customXml/item1.xml>��
</file>

<file path=customXml/item2.xml>��
</file>

<file path=customXml/item3.xml>��
</file>

<file path=customXml/item4.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4f13e1c8-40a9-4213-b369-b1bd096025ff">
      <Terms xmlns="http://schemas.microsoft.com/office/infopath/2007/PartnerControls"/>
    </lcf76f155ced4ddcb4097134ff3c332f>
    <TaxCatchAll xmlns="50b4b0f7-67da-44ec-acc1-354403535a64" xsi:nil="true"/>
    <SharedWithUsers xmlns="50b4b0f7-67da-44ec-acc1-354403535a64">
      <UserInfo>
        <DisplayName/>
        <AccountId xsi:nil="true"/>
        <AccountType/>
      </UserInfo>
    </SharedWithUsers>
  </documentManagement>
</p:properties>
</file>

<file path=customXml/item5.xml>��
</file>

<file path=customXml/item6.xml>��
</file>

<file path=customXml/item7.xml>��
</file>

<file path=customXml/item8.xml>��
</file>

<file path=customXml/item9.xml>��
</file>

<file path=customXml/item10.xml>��
</file>

<file path=customXml/item11.xml>��
</file>

<file path=customXml/item12.xml>��
</file>

<file path=customXml/item13.xml>��
</file>

<file path=customXml/item14.xml>��
</file>

<file path=customXml/item15.xml>��
</file>

<file path=customXml/item16.xml>��
</file>

<file path=customXml/item17.xml>��
</file>

<file path=customXml/item18.xml>��
</file>

<file path=customXml/item19.xml>��
</file>

<file path=customXml/item20.xml>��
</file>

<file path=customXml/item21.xml>��
</file>

<file path=customXml/item22.xml>��
</file>

<file path=customXml/item23.xml>��
</file>

<file path=customXml/item24.xml>��
</file>

<file path=customXml/item25.xml>��
</file>

<file path=customXml/item26.xml>��
</file>

<file path=customXml/item27.xml>��
</file>

<file path=customXml/item28.xml>��
</file>

<file path=customXml/item29.xml>��
</file>

<file path=customXml/item30.xml>��
</file>

<file path=customXml/item31.xml>��
</file>

<file path=customXml/item32.xml>��
</file>

<file path=customXml/item33.xml>��
</file>

<file path=customXml/item34.xml>��
</file>

<file path=customXml/item35.xml>��
</file>

<file path=customXml/item36.xml>��
</file>

<file path=customXml/item37.xml>��
</file>

<file path=customXml/item38.xml>��
</file>

<file path=customXml/item39.xml>��
</file>

<file path=customXml/item40.xml>��
</file>

<file path=customXml/item41.xml>��
</file>

<file path=customXml/item42.xml>��
</file>

<file path=customXml/item43.xml>��
</file>

<file path=customXml/item44.xml>��
</file>

<file path=customXml/item45.xml>��
</file>

<file path=customXml/item46.xml>��
</file>

<file path=customXml/item47.xml>��
</file>

<file path=customXml/item48.xml>��
</file>

<file path=customXml/item49.xml>��
</file>

<file path=customXml/item50.xml>��
</file>

<file path=customXml/item51.xml>��
</file>

<file path=customXml/item52.xml>��
</file>

<file path=customXml/item53.xml>��
</file>

<file path=customXml/item54.xml><?xml version="1.0" encoding="utf-8"?>
<?mso-contentType ?>
<FormTemplates xmlns="http://schemas.microsoft.com/sharepoint/v3/contenttype/forms">
  <Display>DocumentLibraryForm</Display>
  <Edit>DocumentLibraryForm</Edit>
  <New>DocumentLibraryForm</New>
</FormTemplates>
</file>

<file path=customXml/item55.xml>��
</file>

<file path=customXml/item56.xml>��
</file>

<file path=customXml/item57.xml>��
</file>

<file path=customXml/item58.xml>��
</file>

<file path=customXml/item59.xml>��
</file>

<file path=customXml/item60.xml>��
</file>

<file path=customXml/item61.xml>��
</file>

<file path=customXml/item62.xml>��
</file>

<file path=customXml/item63.xml>��
</file>

<file path=customXml/item64.xml>��
</file>

<file path=customXml/item65.xml>��
</file>

<file path=customXml/item66.xml>��
</file>

<file path=customXml/item67.xml>��
</file>

<file path=customXml/item68.xml>��
</file>

<file path=customXml/item69.xml>��
</file>

<file path=customXml/item70.xml>��
</file>

<file path=customXml/item71.xml>��
</file>

<file path=customXml/item72.xml>��
</file>

<file path=customXml/item73.xml>��
</file>

<file path=customXml/item74.xml>��
</file>

<file path=customXml/item75.xml>��
</file>

<file path=customXml/item76.xml>��
</file>

<file path=customXml/item77.xml>��
</file>

<file path=customXml/item78.xml>��
</file>

<file path=customXml/item79.xml>��
</file>

<file path=customXml/item80.xml>��
</file>

<file path=customXml/item81.xml>��
</file>

<file path=customXml/item82.xml>��
</file>

<file path=customXml/item83.xml>��
</file>

<file path=customXml/item84.xml>��
</file>

<file path=customXml/item85.xml><?xml version="1.0" encoding="utf-8"?>
<ct:contentTypeSchema xmlns:ct="http://schemas.microsoft.com/office/2006/metadata/contentType" xmlns:ma="http://schemas.microsoft.com/office/2006/metadata/properties/metaAttributes" ct:_="" ma:_="" ma:contentTypeName="Document" ma:contentTypeID="0x0101009DC20B2BEC42184B9B09B4DCB75AE854" ma:contentTypeVersion="16" ma:contentTypeDescription="Create a new document." ma:contentTypeScope="" ma:versionID="6d647af67586286d4a74a343d310fee0">
  <xsd:schema xmlns:xsd="http://www.w3.org/2001/XMLSchema" xmlns:xs="http://www.w3.org/2001/XMLSchema" xmlns:p="http://schemas.microsoft.com/office/2006/metadata/properties" xmlns:ns1="http://schemas.microsoft.com/sharepoint/v3" xmlns:ns2="4f13e1c8-40a9-4213-b369-b1bd096025ff" xmlns:ns3="50b4b0f7-67da-44ec-acc1-354403535a64" targetNamespace="http://schemas.microsoft.com/office/2006/metadata/properties" ma:root="true" ma:fieldsID="aa8c1d2e302c938ff7bc1cdfc1864556" ns1:_="" ns2:_="" ns3:_="">
    <xsd:import namespace="http://schemas.microsoft.com/sharepoint/v3"/>
    <xsd:import namespace="4f13e1c8-40a9-4213-b369-b1bd096025ff"/>
    <xsd:import namespace="50b4b0f7-67da-44ec-acc1-354403535a6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f13e1c8-40a9-4213-b369-b1bd096025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8986d67-a85e-41b2-b7e6-ba90d8c4bedf"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0b4b0f7-67da-44ec-acc1-354403535a6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a98ffa60-c56c-44d9-a4ae-309767b1b618}" ma:internalName="TaxCatchAll" ma:showField="CatchAllData" ma:web="50b4b0f7-67da-44ec-acc1-354403535a6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86.xml>��
</file>

<file path=customXml/item87.xml>��
</file>

<file path=customXml/item88.xml>��
</file>

<file path=customXml/item89.xml>��
</file>

<file path=customXml/item90.xml>��
</file>

<file path=customXml/item91.xml>��
</file>

<file path=customXml/item92.xml>��
</file>

<file path=customXml/item93.xml>��
</file>

<file path=customXml/item94.xml>��
</file>

<file path=customXml/item95.xml>��
</file>

<file path=customXml/item96.xml>��
</file>

<file path=customXml/item97.xml>��
</file>

<file path=customXml/item98.xml>��
</file>

<file path=customXml/item99.xml>��
</file>

<file path=customXml/item100.xml>��
</file>

<file path=customXml/item101.xml>��
</file>

<file path=customXml/item102.xml>��
</file>

<file path=customXml/item103.xml>��
</file>

<file path=customXml/item104.xml>��
</file>

<file path=customXml/item105.xml>��
</file>

<file path=customXml/item106.xml>��
</file>

<file path=customXml/item107.xml>��
</file>

<file path=customXml/item108.xml>��
</file>

<file path=customXml/item109.xml>��
</file>

<file path=customXml/item110.xml>��
</file>

<file path=customXml/item111.xml>��
</file>

<file path=customXml/item112.xml>��
</file>

<file path=customXml/item113.xml>��
</file>

<file path=customXml/item114.xml>��
</file>

<file path=customXml/item115.xml>��
</file>

<file path=customXml/item116.xml>��
</file>

<file path=customXml/item117.xml>��
</file>

<file path=customXml/itemProps1.xml><?xml version="1.0" encoding="utf-8"?>
<ds:datastoreItem xmlns:ds="http://schemas.openxmlformats.org/officeDocument/2006/customXml" ds:itemID="{F7712A6C-BA10-4668-994E-83517DFCD253}">
  <ds:schemaRefs>
    <ds:schemaRef ds:uri="http://www.w3.org/2001/XMLSchema"/>
    <ds:schemaRef ds:uri="pb-wrapper"/>
  </ds:schemaRefs>
</ds:datastoreItem>
</file>

<file path=customXml/itemProps2.xml><?xml version="1.0" encoding="utf-8"?>
<ds:datastoreItem xmlns:ds="http://schemas.openxmlformats.org/officeDocument/2006/customXml" ds:itemID="{89E93B8F-D768-41E9-AA10-E2AB67C8F660}">
  <ds:schemaRefs>
    <ds:schemaRef ds:uri="http://www.w3.org/2001/XMLSchema"/>
    <ds:schemaRef ds:uri="pb-wrapper"/>
  </ds:schemaRefs>
</ds:datastoreItem>
</file>

<file path=customXml/itemProps3.xml><?xml version="1.0" encoding="utf-8"?>
<ds:datastoreItem xmlns:ds="http://schemas.openxmlformats.org/officeDocument/2006/customXml" ds:itemID="{EE66E8AF-C8E9-4B92-8A8F-0FC7A78C8505}">
  <ds:schemaRefs>
    <ds:schemaRef ds:uri="http://www.w3.org/2001/XMLSchema"/>
    <ds:schemaRef ds:uri="pb-wrapper"/>
  </ds:schemaRefs>
</ds:datastoreItem>
</file>

<file path=customXml/itemProps4.xml><?xml version="1.0" encoding="utf-8"?>
<ds:datastoreItem xmlns:ds="http://schemas.openxmlformats.org/officeDocument/2006/customXml" ds:itemID="{68780F13-A779-4913-9582-18AA57C7C4EC}">
  <ds:schemaRefs>
    <ds:schemaRef ds:uri="50b4b0f7-67da-44ec-acc1-354403535a64"/>
    <ds:schemaRef ds:uri="http://schemas.microsoft.com/office/2006/metadata/properties"/>
    <ds:schemaRef ds:uri="http://schemas.microsoft.com/office/2006/documentManagement/types"/>
    <ds:schemaRef ds:uri="http://purl.org/dc/elements/1.1/"/>
    <ds:schemaRef ds:uri="http://purl.org/dc/terms/"/>
    <ds:schemaRef ds:uri="http://schemas.microsoft.com/sharepoint/v3"/>
    <ds:schemaRef ds:uri="http://purl.org/dc/dcmitype/"/>
    <ds:schemaRef ds:uri="http://schemas.microsoft.com/office/infopath/2007/PartnerControls"/>
    <ds:schemaRef ds:uri="http://www.w3.org/XML/1998/namespace"/>
    <ds:schemaRef ds:uri="http://schemas.openxmlformats.org/package/2006/metadata/core-properties"/>
    <ds:schemaRef ds:uri="4f13e1c8-40a9-4213-b369-b1bd096025ff"/>
  </ds:schemaRefs>
</ds:datastoreItem>
</file>

<file path=customXml/itemProps5.xml><?xml version="1.0" encoding="utf-8"?>
<ds:datastoreItem xmlns:ds="http://schemas.openxmlformats.org/officeDocument/2006/customXml" ds:itemID="{B047E67A-D01C-4B87-AE07-AB72261D09FC}">
  <ds:schemaRefs>
    <ds:schemaRef ds:uri="http://www.w3.org/2001/XMLSchema"/>
    <ds:schemaRef ds:uri="pb-wrapper"/>
  </ds:schemaRefs>
</ds:datastoreItem>
</file>

<file path=customXml/itemProps6.xml><?xml version="1.0" encoding="utf-8"?>
<ds:datastoreItem xmlns:ds="http://schemas.openxmlformats.org/officeDocument/2006/customXml" ds:itemID="{6175645C-98FF-470F-9CF9-1E5DC9F283C3}">
  <ds:schemaRefs>
    <ds:schemaRef ds:uri="http://www.w3.org/2001/XMLSchema"/>
    <ds:schemaRef ds:uri="pb-wrapper"/>
  </ds:schemaRefs>
</ds:datastoreItem>
</file>

<file path=customXml/itemProps7.xml><?xml version="1.0" encoding="utf-8"?>
<ds:datastoreItem xmlns:ds="http://schemas.openxmlformats.org/officeDocument/2006/customXml" ds:itemID="{D0C728FF-3BD8-4B1F-9177-38DA5F71717C}">
  <ds:schemaRefs>
    <ds:schemaRef ds:uri="http://www.w3.org/2001/XMLSchema"/>
    <ds:schemaRef ds:uri="pb-wrapper"/>
  </ds:schemaRefs>
</ds:datastoreItem>
</file>

<file path=customXml/itemProps8.xml><?xml version="1.0" encoding="utf-8"?>
<ds:datastoreItem xmlns:ds="http://schemas.openxmlformats.org/officeDocument/2006/customXml" ds:itemID="{77DD9860-13C1-4B7B-940E-4CDF46C0E0DC}">
  <ds:schemaRefs>
    <ds:schemaRef ds:uri="http://www.w3.org/2001/XMLSchema"/>
    <ds:schemaRef ds:uri="pb-wrapper"/>
  </ds:schemaRefs>
</ds:datastoreItem>
</file>

<file path=customXml/itemProps9.xml><?xml version="1.0" encoding="utf-8"?>
<ds:datastoreItem xmlns:ds="http://schemas.openxmlformats.org/officeDocument/2006/customXml" ds:itemID="{FD7EB55F-1FBF-45A8-B5A3-7D23D5C0DC97}">
  <ds:schemaRefs>
    <ds:schemaRef ds:uri="http://www.w3.org/2001/XMLSchema"/>
    <ds:schemaRef ds:uri="pb-wrapper"/>
  </ds:schemaRefs>
</ds:datastoreItem>
</file>

<file path=customXml/itemProps10.xml><?xml version="1.0" encoding="utf-8"?>
<ds:datastoreItem xmlns:ds="http://schemas.openxmlformats.org/officeDocument/2006/customXml" ds:itemID="{3DE87272-3D02-44BA-91ED-07683197AF8E}">
  <ds:schemaRefs>
    <ds:schemaRef ds:uri="http://www.w3.org/2001/XMLSchema"/>
    <ds:schemaRef ds:uri="pb-wrapper"/>
  </ds:schemaRefs>
</ds:datastoreItem>
</file>

<file path=customXml/itemProps11.xml><?xml version="1.0" encoding="utf-8"?>
<ds:datastoreItem xmlns:ds="http://schemas.openxmlformats.org/officeDocument/2006/customXml" ds:itemID="{80E75742-C176-4B43-8580-032627E77239}">
  <ds:schemaRefs>
    <ds:schemaRef ds:uri="http://www.w3.org/2001/XMLSchema"/>
    <ds:schemaRef ds:uri="pb-wrapper"/>
  </ds:schemaRefs>
</ds:datastoreItem>
</file>

<file path=customXml/itemProps12.xml><?xml version="1.0" encoding="utf-8"?>
<ds:datastoreItem xmlns:ds="http://schemas.openxmlformats.org/officeDocument/2006/customXml" ds:itemID="{DED386D7-8EA7-4E14-B1B4-58174A0336DD}">
  <ds:schemaRefs>
    <ds:schemaRef ds:uri="http://www.w3.org/2001/XMLSchema"/>
    <ds:schemaRef ds:uri="pb-wrapper"/>
  </ds:schemaRefs>
</ds:datastoreItem>
</file>

<file path=customXml/itemProps13.xml><?xml version="1.0" encoding="utf-8"?>
<ds:datastoreItem xmlns:ds="http://schemas.openxmlformats.org/officeDocument/2006/customXml" ds:itemID="{C5211A86-E86A-4E97-ACF9-73309ECC89F9}">
  <ds:schemaRefs>
    <ds:schemaRef ds:uri="http://www.w3.org/2001/XMLSchema"/>
    <ds:schemaRef ds:uri="pb-wrapper"/>
  </ds:schemaRefs>
</ds:datastoreItem>
</file>

<file path=customXml/itemProps14.xml><?xml version="1.0" encoding="utf-8"?>
<ds:datastoreItem xmlns:ds="http://schemas.openxmlformats.org/officeDocument/2006/customXml" ds:itemID="{B6B234AF-C1CD-4566-8201-D18E230AB5D3}">
  <ds:schemaRefs>
    <ds:schemaRef ds:uri="http://www.w3.org/2001/XMLSchema"/>
    <ds:schemaRef ds:uri="pb-wrapper"/>
  </ds:schemaRefs>
</ds:datastoreItem>
</file>

<file path=customXml/itemProps15.xml><?xml version="1.0" encoding="utf-8"?>
<ds:datastoreItem xmlns:ds="http://schemas.openxmlformats.org/officeDocument/2006/customXml" ds:itemID="{202B069A-82DF-434A-8CB9-2D28F3CF368F}">
  <ds:schemaRefs>
    <ds:schemaRef ds:uri="http://www.w3.org/2001/XMLSchema"/>
    <ds:schemaRef ds:uri="pb-wrapper"/>
  </ds:schemaRefs>
</ds:datastoreItem>
</file>

<file path=customXml/itemProps16.xml><?xml version="1.0" encoding="utf-8"?>
<ds:datastoreItem xmlns:ds="http://schemas.openxmlformats.org/officeDocument/2006/customXml" ds:itemID="{FE83DA2D-F197-4BD8-9228-159A6B0F1A4D}">
  <ds:schemaRefs>
    <ds:schemaRef ds:uri="http://www.w3.org/2001/XMLSchema"/>
    <ds:schemaRef ds:uri="pb-wrapper"/>
  </ds:schemaRefs>
</ds:datastoreItem>
</file>

<file path=customXml/itemProps17.xml><?xml version="1.0" encoding="utf-8"?>
<ds:datastoreItem xmlns:ds="http://schemas.openxmlformats.org/officeDocument/2006/customXml" ds:itemID="{1EB1C490-61BD-4A0D-B85F-665CF6030199}">
  <ds:schemaRefs>
    <ds:schemaRef ds:uri="http://www.w3.org/2001/XMLSchema"/>
    <ds:schemaRef ds:uri="pb-wrapper"/>
  </ds:schemaRefs>
</ds:datastoreItem>
</file>

<file path=customXml/itemProps18.xml><?xml version="1.0" encoding="utf-8"?>
<ds:datastoreItem xmlns:ds="http://schemas.openxmlformats.org/officeDocument/2006/customXml" ds:itemID="{DD57CE18-83B8-4BFA-A93C-A87DC4F6CCC8}">
  <ds:schemaRefs>
    <ds:schemaRef ds:uri="http://www.w3.org/2001/XMLSchema"/>
    <ds:schemaRef ds:uri="pb-wrapper"/>
  </ds:schemaRefs>
</ds:datastoreItem>
</file>

<file path=customXml/itemProps19.xml><?xml version="1.0" encoding="utf-8"?>
<ds:datastoreItem xmlns:ds="http://schemas.openxmlformats.org/officeDocument/2006/customXml" ds:itemID="{F93FD4A8-2C06-4245-A714-8188F51BED16}">
  <ds:schemaRefs>
    <ds:schemaRef ds:uri="http://www.w3.org/2001/XMLSchema"/>
    <ds:schemaRef ds:uri="pb-wrapper"/>
  </ds:schemaRefs>
</ds:datastoreItem>
</file>

<file path=customXml/itemProps20.xml><?xml version="1.0" encoding="utf-8"?>
<ds:datastoreItem xmlns:ds="http://schemas.openxmlformats.org/officeDocument/2006/customXml" ds:itemID="{7844203B-C040-401C-AC7E-028F2B4BED9B}">
  <ds:schemaRefs>
    <ds:schemaRef ds:uri="http://www.w3.org/2001/XMLSchema"/>
    <ds:schemaRef ds:uri="pb-wrapper"/>
  </ds:schemaRefs>
</ds:datastoreItem>
</file>

<file path=customXml/itemProps21.xml><?xml version="1.0" encoding="utf-8"?>
<ds:datastoreItem xmlns:ds="http://schemas.openxmlformats.org/officeDocument/2006/customXml" ds:itemID="{93BBB243-F8FC-4944-A2B8-4B9E44755457}">
  <ds:schemaRefs>
    <ds:schemaRef ds:uri="http://www.w3.org/2001/XMLSchema"/>
    <ds:schemaRef ds:uri="pb-wrapper"/>
  </ds:schemaRefs>
</ds:datastoreItem>
</file>

<file path=customXml/itemProps22.xml><?xml version="1.0" encoding="utf-8"?>
<ds:datastoreItem xmlns:ds="http://schemas.openxmlformats.org/officeDocument/2006/customXml" ds:itemID="{FDF7E501-9105-4243-9857-B8465BF511B6}">
  <ds:schemaRefs>
    <ds:schemaRef ds:uri="http://www.w3.org/2001/XMLSchema"/>
    <ds:schemaRef ds:uri="pb-wrapper"/>
  </ds:schemaRefs>
</ds:datastoreItem>
</file>

<file path=customXml/itemProps23.xml><?xml version="1.0" encoding="utf-8"?>
<ds:datastoreItem xmlns:ds="http://schemas.openxmlformats.org/officeDocument/2006/customXml" ds:itemID="{FEC9BE0B-0D5F-49CC-BA6E-8337BD52B0F7}">
  <ds:schemaRefs>
    <ds:schemaRef ds:uri="http://www.w3.org/2001/XMLSchema"/>
    <ds:schemaRef ds:uri="pb-wrapper"/>
  </ds:schemaRefs>
</ds:datastoreItem>
</file>

<file path=customXml/itemProps24.xml><?xml version="1.0" encoding="utf-8"?>
<ds:datastoreItem xmlns:ds="http://schemas.openxmlformats.org/officeDocument/2006/customXml" ds:itemID="{5374878B-DFC5-443D-B177-395B72B4E992}">
  <ds:schemaRefs>
    <ds:schemaRef ds:uri="http://www.w3.org/2001/XMLSchema"/>
    <ds:schemaRef ds:uri="pb-wrapper"/>
  </ds:schemaRefs>
</ds:datastoreItem>
</file>

<file path=customXml/itemProps25.xml><?xml version="1.0" encoding="utf-8"?>
<ds:datastoreItem xmlns:ds="http://schemas.openxmlformats.org/officeDocument/2006/customXml" ds:itemID="{57E0349B-7EBC-4E60-A525-F78AB818B5E3}">
  <ds:schemaRefs>
    <ds:schemaRef ds:uri="http://www.w3.org/2001/XMLSchema"/>
    <ds:schemaRef ds:uri="pb-wrapper"/>
  </ds:schemaRefs>
</ds:datastoreItem>
</file>

<file path=customXml/itemProps26.xml><?xml version="1.0" encoding="utf-8"?>
<ds:datastoreItem xmlns:ds="http://schemas.openxmlformats.org/officeDocument/2006/customXml" ds:itemID="{ABC9A531-5A69-4412-8D80-ACD09860B05A}">
  <ds:schemaRefs>
    <ds:schemaRef ds:uri="http://www.w3.org/2001/XMLSchema"/>
    <ds:schemaRef ds:uri="pb-wrapper"/>
  </ds:schemaRefs>
</ds:datastoreItem>
</file>

<file path=customXml/itemProps27.xml><?xml version="1.0" encoding="utf-8"?>
<ds:datastoreItem xmlns:ds="http://schemas.openxmlformats.org/officeDocument/2006/customXml" ds:itemID="{7641BFEF-504B-4FD4-95A3-1306A34CF963}">
  <ds:schemaRefs>
    <ds:schemaRef ds:uri="http://www.w3.org/2001/XMLSchema"/>
    <ds:schemaRef ds:uri="pb-wrapper"/>
  </ds:schemaRefs>
</ds:datastoreItem>
</file>

<file path=customXml/itemProps28.xml><?xml version="1.0" encoding="utf-8"?>
<ds:datastoreItem xmlns:ds="http://schemas.openxmlformats.org/officeDocument/2006/customXml" ds:itemID="{613A2394-B3F9-476A-85F2-3083646A8769}">
  <ds:schemaRefs>
    <ds:schemaRef ds:uri="http://www.w3.org/2001/XMLSchema"/>
    <ds:schemaRef ds:uri="pb-wrapper"/>
  </ds:schemaRefs>
</ds:datastoreItem>
</file>

<file path=customXml/itemProps29.xml><?xml version="1.0" encoding="utf-8"?>
<ds:datastoreItem xmlns:ds="http://schemas.openxmlformats.org/officeDocument/2006/customXml" ds:itemID="{CC9931E7-DD28-44C4-9BDB-7C1B4D0DB7BD}">
  <ds:schemaRefs>
    <ds:schemaRef ds:uri="http://www.w3.org/2001/XMLSchema"/>
    <ds:schemaRef ds:uri="pb-wrapper"/>
  </ds:schemaRefs>
</ds:datastoreItem>
</file>

<file path=customXml/itemProps30.xml><?xml version="1.0" encoding="utf-8"?>
<ds:datastoreItem xmlns:ds="http://schemas.openxmlformats.org/officeDocument/2006/customXml" ds:itemID="{E4AAF2F7-E267-49A9-9667-5893E4B2206A}">
  <ds:schemaRefs>
    <ds:schemaRef ds:uri="http://www.w3.org/2001/XMLSchema"/>
    <ds:schemaRef ds:uri="pb-wrapper"/>
  </ds:schemaRefs>
</ds:datastoreItem>
</file>

<file path=customXml/itemProps31.xml><?xml version="1.0" encoding="utf-8"?>
<ds:datastoreItem xmlns:ds="http://schemas.openxmlformats.org/officeDocument/2006/customXml" ds:itemID="{5937AE42-F664-44E4-8E36-3F4B42786175}">
  <ds:schemaRefs>
    <ds:schemaRef ds:uri="http://www.w3.org/2001/XMLSchema"/>
    <ds:schemaRef ds:uri="pb-wrapper"/>
  </ds:schemaRefs>
</ds:datastoreItem>
</file>

<file path=customXml/itemProps32.xml><?xml version="1.0" encoding="utf-8"?>
<ds:datastoreItem xmlns:ds="http://schemas.openxmlformats.org/officeDocument/2006/customXml" ds:itemID="{8292E092-F912-4130-8035-A54143CC33C7}">
  <ds:schemaRefs>
    <ds:schemaRef ds:uri="http://www.w3.org/2001/XMLSchema"/>
    <ds:schemaRef ds:uri="pb-wrapper"/>
  </ds:schemaRefs>
</ds:datastoreItem>
</file>

<file path=customXml/itemProps33.xml><?xml version="1.0" encoding="utf-8"?>
<ds:datastoreItem xmlns:ds="http://schemas.openxmlformats.org/officeDocument/2006/customXml" ds:itemID="{95228733-D166-46E8-9A21-C806DDB7A6F7}">
  <ds:schemaRefs>
    <ds:schemaRef ds:uri="http://www.w3.org/2001/XMLSchema"/>
    <ds:schemaRef ds:uri="pb-wrapper"/>
  </ds:schemaRefs>
</ds:datastoreItem>
</file>

<file path=customXml/itemProps34.xml><?xml version="1.0" encoding="utf-8"?>
<ds:datastoreItem xmlns:ds="http://schemas.openxmlformats.org/officeDocument/2006/customXml" ds:itemID="{D9F74605-6815-498C-ADA1-8AFFDC98D4FD}">
  <ds:schemaRefs>
    <ds:schemaRef ds:uri="http://www.w3.org/2001/XMLSchema"/>
    <ds:schemaRef ds:uri="pb-wrapper"/>
  </ds:schemaRefs>
</ds:datastoreItem>
</file>

<file path=customXml/itemProps35.xml><?xml version="1.0" encoding="utf-8"?>
<ds:datastoreItem xmlns:ds="http://schemas.openxmlformats.org/officeDocument/2006/customXml" ds:itemID="{FE88CC75-84B0-4E9B-8B1D-E5D39E1F529C}">
  <ds:schemaRefs>
    <ds:schemaRef ds:uri="http://www.w3.org/2001/XMLSchema"/>
    <ds:schemaRef ds:uri="pb-wrapper"/>
  </ds:schemaRefs>
</ds:datastoreItem>
</file>

<file path=customXml/itemProps36.xml><?xml version="1.0" encoding="utf-8"?>
<ds:datastoreItem xmlns:ds="http://schemas.openxmlformats.org/officeDocument/2006/customXml" ds:itemID="{5C6BCEFA-5B5B-4A84-8DDD-E3C44B0CBA11}">
  <ds:schemaRefs>
    <ds:schemaRef ds:uri="http://www.w3.org/2001/XMLSchema"/>
    <ds:schemaRef ds:uri="pb-wrapper"/>
  </ds:schemaRefs>
</ds:datastoreItem>
</file>

<file path=customXml/itemProps37.xml><?xml version="1.0" encoding="utf-8"?>
<ds:datastoreItem xmlns:ds="http://schemas.openxmlformats.org/officeDocument/2006/customXml" ds:itemID="{3E721C3B-CEB9-4861-B9EF-B141034FA1EF}">
  <ds:schemaRefs>
    <ds:schemaRef ds:uri="http://www.w3.org/2001/XMLSchema"/>
    <ds:schemaRef ds:uri="pb-wrapper"/>
  </ds:schemaRefs>
</ds:datastoreItem>
</file>

<file path=customXml/itemProps38.xml><?xml version="1.0" encoding="utf-8"?>
<ds:datastoreItem xmlns:ds="http://schemas.openxmlformats.org/officeDocument/2006/customXml" ds:itemID="{64F58480-3BEC-473A-8115-E83FB655D9F3}">
  <ds:schemaRefs>
    <ds:schemaRef ds:uri="http://www.w3.org/2001/XMLSchema"/>
    <ds:schemaRef ds:uri="pb-wrapper"/>
  </ds:schemaRefs>
</ds:datastoreItem>
</file>

<file path=customXml/itemProps39.xml><?xml version="1.0" encoding="utf-8"?>
<ds:datastoreItem xmlns:ds="http://schemas.openxmlformats.org/officeDocument/2006/customXml" ds:itemID="{273B0EE9-87E0-483D-B6D0-2FAEAB454DAD}">
  <ds:schemaRefs>
    <ds:schemaRef ds:uri="http://www.w3.org/2001/XMLSchema"/>
    <ds:schemaRef ds:uri="pb-wrapper"/>
  </ds:schemaRefs>
</ds:datastoreItem>
</file>

<file path=customXml/itemProps40.xml><?xml version="1.0" encoding="utf-8"?>
<ds:datastoreItem xmlns:ds="http://schemas.openxmlformats.org/officeDocument/2006/customXml" ds:itemID="{DCBDD882-81C5-4CC1-AC7A-D60D22779706}">
  <ds:schemaRefs>
    <ds:schemaRef ds:uri="http://www.w3.org/2001/XMLSchema"/>
    <ds:schemaRef ds:uri="pb-wrapper"/>
  </ds:schemaRefs>
</ds:datastoreItem>
</file>

<file path=customXml/itemProps41.xml><?xml version="1.0" encoding="utf-8"?>
<ds:datastoreItem xmlns:ds="http://schemas.openxmlformats.org/officeDocument/2006/customXml" ds:itemID="{46BBDE4B-B60D-4FB0-86E2-3B05F127CFFD}">
  <ds:schemaRefs>
    <ds:schemaRef ds:uri="http://www.w3.org/2001/XMLSchema"/>
    <ds:schemaRef ds:uri="pb-wrapper"/>
  </ds:schemaRefs>
</ds:datastoreItem>
</file>

<file path=customXml/itemProps42.xml><?xml version="1.0" encoding="utf-8"?>
<ds:datastoreItem xmlns:ds="http://schemas.openxmlformats.org/officeDocument/2006/customXml" ds:itemID="{5A5E96D6-049F-4263-862E-A7B03708688F}">
  <ds:schemaRefs>
    <ds:schemaRef ds:uri="http://www.w3.org/2001/XMLSchema"/>
    <ds:schemaRef ds:uri="pb-wrapper"/>
  </ds:schemaRefs>
</ds:datastoreItem>
</file>

<file path=customXml/itemProps43.xml><?xml version="1.0" encoding="utf-8"?>
<ds:datastoreItem xmlns:ds="http://schemas.openxmlformats.org/officeDocument/2006/customXml" ds:itemID="{6B207DBD-71A4-4E8D-96B0-6A772F5640D7}">
  <ds:schemaRefs>
    <ds:schemaRef ds:uri="http://www.w3.org/2001/XMLSchema"/>
    <ds:schemaRef ds:uri="pb-wrapper"/>
  </ds:schemaRefs>
</ds:datastoreItem>
</file>

<file path=customXml/itemProps44.xml><?xml version="1.0" encoding="utf-8"?>
<ds:datastoreItem xmlns:ds="http://schemas.openxmlformats.org/officeDocument/2006/customXml" ds:itemID="{B7A7230B-ACC3-4150-8285-48D807266775}">
  <ds:schemaRefs>
    <ds:schemaRef ds:uri="http://www.w3.org/2001/XMLSchema"/>
    <ds:schemaRef ds:uri="pb-wrapper"/>
  </ds:schemaRefs>
</ds:datastoreItem>
</file>

<file path=customXml/itemProps45.xml><?xml version="1.0" encoding="utf-8"?>
<ds:datastoreItem xmlns:ds="http://schemas.openxmlformats.org/officeDocument/2006/customXml" ds:itemID="{2C81F259-A41B-4896-ADD5-C0930EFB3B84}">
  <ds:schemaRefs>
    <ds:schemaRef ds:uri="http://www.w3.org/2001/XMLSchema"/>
    <ds:schemaRef ds:uri="pb-wrapper"/>
  </ds:schemaRefs>
</ds:datastoreItem>
</file>

<file path=customXml/itemProps46.xml><?xml version="1.0" encoding="utf-8"?>
<ds:datastoreItem xmlns:ds="http://schemas.openxmlformats.org/officeDocument/2006/customXml" ds:itemID="{602A4780-E5BD-4F0F-A778-3FEC9B307FF3}">
  <ds:schemaRefs>
    <ds:schemaRef ds:uri="http://www.w3.org/2001/XMLSchema"/>
    <ds:schemaRef ds:uri="pb-wrapper"/>
  </ds:schemaRefs>
</ds:datastoreItem>
</file>

<file path=customXml/itemProps47.xml><?xml version="1.0" encoding="utf-8"?>
<ds:datastoreItem xmlns:ds="http://schemas.openxmlformats.org/officeDocument/2006/customXml" ds:itemID="{6A860028-3307-4B6B-ABE0-81709059037A}">
  <ds:schemaRefs>
    <ds:schemaRef ds:uri="http://www.w3.org/2001/XMLSchema"/>
    <ds:schemaRef ds:uri="pb-wrapper"/>
  </ds:schemaRefs>
</ds:datastoreItem>
</file>

<file path=customXml/itemProps48.xml><?xml version="1.0" encoding="utf-8"?>
<ds:datastoreItem xmlns:ds="http://schemas.openxmlformats.org/officeDocument/2006/customXml" ds:itemID="{0E34B9CD-5DB5-4B5B-99BD-288DB20F3560}">
  <ds:schemaRefs>
    <ds:schemaRef ds:uri="http://www.w3.org/2001/XMLSchema"/>
    <ds:schemaRef ds:uri="pb-wrapper"/>
  </ds:schemaRefs>
</ds:datastoreItem>
</file>

<file path=customXml/itemProps49.xml><?xml version="1.0" encoding="utf-8"?>
<ds:datastoreItem xmlns:ds="http://schemas.openxmlformats.org/officeDocument/2006/customXml" ds:itemID="{C510E35E-4C6D-4D0F-AC4D-B9C8240CE102}">
  <ds:schemaRefs>
    <ds:schemaRef ds:uri="http://www.w3.org/2001/XMLSchema"/>
    <ds:schemaRef ds:uri="pb-wrapper"/>
  </ds:schemaRefs>
</ds:datastoreItem>
</file>

<file path=customXml/itemProps50.xml><?xml version="1.0" encoding="utf-8"?>
<ds:datastoreItem xmlns:ds="http://schemas.openxmlformats.org/officeDocument/2006/customXml" ds:itemID="{A1BBCCF0-5193-4DEC-AB0B-9685D8AE7B77}">
  <ds:schemaRefs>
    <ds:schemaRef ds:uri="http://www.w3.org/2001/XMLSchema"/>
    <ds:schemaRef ds:uri="pb-wrapper"/>
  </ds:schemaRefs>
</ds:datastoreItem>
</file>

<file path=customXml/itemProps51.xml><?xml version="1.0" encoding="utf-8"?>
<ds:datastoreItem xmlns:ds="http://schemas.openxmlformats.org/officeDocument/2006/customXml" ds:itemID="{2B043F16-4EFF-45E6-9130-6CE2DEAA68FB}">
  <ds:schemaRefs>
    <ds:schemaRef ds:uri="http://www.w3.org/2001/XMLSchema"/>
    <ds:schemaRef ds:uri="pb-wrapper"/>
  </ds:schemaRefs>
</ds:datastoreItem>
</file>

<file path=customXml/itemProps52.xml><?xml version="1.0" encoding="utf-8"?>
<ds:datastoreItem xmlns:ds="http://schemas.openxmlformats.org/officeDocument/2006/customXml" ds:itemID="{1DEF5C90-56EB-4739-BBD6-066C3F5A5FB0}">
  <ds:schemaRefs>
    <ds:schemaRef ds:uri="http://www.w3.org/2001/XMLSchema"/>
    <ds:schemaRef ds:uri="pb-wrapper"/>
  </ds:schemaRefs>
</ds:datastoreItem>
</file>

<file path=customXml/itemProps53.xml><?xml version="1.0" encoding="utf-8"?>
<ds:datastoreItem xmlns:ds="http://schemas.openxmlformats.org/officeDocument/2006/customXml" ds:itemID="{9F6D8240-C7A8-448C-8531-86C2EDD181F8}">
  <ds:schemaRefs>
    <ds:schemaRef ds:uri="http://www.w3.org/2001/XMLSchema"/>
    <ds:schemaRef ds:uri="pb-wrapper"/>
  </ds:schemaRefs>
</ds:datastoreItem>
</file>

<file path=customXml/itemProps54.xml><?xml version="1.0" encoding="utf-8"?>
<ds:datastoreItem xmlns:ds="http://schemas.openxmlformats.org/officeDocument/2006/customXml" ds:itemID="{3D93F732-A8F1-4CC2-9FF2-3668A0034BED}">
  <ds:schemaRefs>
    <ds:schemaRef ds:uri="http://schemas.microsoft.com/sharepoint/v3/contenttype/forms"/>
  </ds:schemaRefs>
</ds:datastoreItem>
</file>

<file path=customXml/itemProps55.xml><?xml version="1.0" encoding="utf-8"?>
<ds:datastoreItem xmlns:ds="http://schemas.openxmlformats.org/officeDocument/2006/customXml" ds:itemID="{F0F36037-6601-48F5-B356-E082C40A36FB}">
  <ds:schemaRefs>
    <ds:schemaRef ds:uri="http://www.w3.org/2001/XMLSchema"/>
    <ds:schemaRef ds:uri="pb-wrapper"/>
  </ds:schemaRefs>
</ds:datastoreItem>
</file>

<file path=customXml/itemProps56.xml><?xml version="1.0" encoding="utf-8"?>
<ds:datastoreItem xmlns:ds="http://schemas.openxmlformats.org/officeDocument/2006/customXml" ds:itemID="{7A71BE1D-9D12-44A3-8C21-69F75EB62E74}">
  <ds:schemaRefs>
    <ds:schemaRef ds:uri="http://www.w3.org/2001/XMLSchema"/>
    <ds:schemaRef ds:uri="pb-wrapper"/>
  </ds:schemaRefs>
</ds:datastoreItem>
</file>

<file path=customXml/itemProps57.xml><?xml version="1.0" encoding="utf-8"?>
<ds:datastoreItem xmlns:ds="http://schemas.openxmlformats.org/officeDocument/2006/customXml" ds:itemID="{C680549C-D301-44D5-9695-C56BEAC54A3A}">
  <ds:schemaRefs>
    <ds:schemaRef ds:uri="http://www.w3.org/2001/XMLSchema"/>
    <ds:schemaRef ds:uri="pb-wrapper"/>
  </ds:schemaRefs>
</ds:datastoreItem>
</file>

<file path=customXml/itemProps58.xml><?xml version="1.0" encoding="utf-8"?>
<ds:datastoreItem xmlns:ds="http://schemas.openxmlformats.org/officeDocument/2006/customXml" ds:itemID="{0BF0D344-C8A6-4DF6-A4F6-293A8D1F44E6}">
  <ds:schemaRefs>
    <ds:schemaRef ds:uri="http://www.w3.org/2001/XMLSchema"/>
    <ds:schemaRef ds:uri="pb-wrapper"/>
  </ds:schemaRefs>
</ds:datastoreItem>
</file>

<file path=customXml/itemProps59.xml><?xml version="1.0" encoding="utf-8"?>
<ds:datastoreItem xmlns:ds="http://schemas.openxmlformats.org/officeDocument/2006/customXml" ds:itemID="{C8C1AF28-6DEC-4AF7-8402-C1586A2A0ED5}">
  <ds:schemaRefs>
    <ds:schemaRef ds:uri="http://www.w3.org/2001/XMLSchema"/>
    <ds:schemaRef ds:uri="pb-wrapper"/>
  </ds:schemaRefs>
</ds:datastoreItem>
</file>

<file path=customXml/itemProps60.xml><?xml version="1.0" encoding="utf-8"?>
<ds:datastoreItem xmlns:ds="http://schemas.openxmlformats.org/officeDocument/2006/customXml" ds:itemID="{BFF707C3-99F6-401D-8811-CBEF3020EC88}">
  <ds:schemaRefs>
    <ds:schemaRef ds:uri="http://www.w3.org/2001/XMLSchema"/>
    <ds:schemaRef ds:uri="pb-wrapper"/>
  </ds:schemaRefs>
</ds:datastoreItem>
</file>

<file path=customXml/itemProps61.xml><?xml version="1.0" encoding="utf-8"?>
<ds:datastoreItem xmlns:ds="http://schemas.openxmlformats.org/officeDocument/2006/customXml" ds:itemID="{8F597424-52F3-4E53-9922-34170F04AC0D}">
  <ds:schemaRefs>
    <ds:schemaRef ds:uri="http://www.w3.org/2001/XMLSchema"/>
    <ds:schemaRef ds:uri="pb-wrapper"/>
  </ds:schemaRefs>
</ds:datastoreItem>
</file>

<file path=customXml/itemProps62.xml><?xml version="1.0" encoding="utf-8"?>
<ds:datastoreItem xmlns:ds="http://schemas.openxmlformats.org/officeDocument/2006/customXml" ds:itemID="{ECEC0153-32AD-4671-8A07-9D70BF544E75}">
  <ds:schemaRefs>
    <ds:schemaRef ds:uri="http://www.w3.org/2001/XMLSchema"/>
    <ds:schemaRef ds:uri="pb-wrapper"/>
  </ds:schemaRefs>
</ds:datastoreItem>
</file>

<file path=customXml/itemProps63.xml><?xml version="1.0" encoding="utf-8"?>
<ds:datastoreItem xmlns:ds="http://schemas.openxmlformats.org/officeDocument/2006/customXml" ds:itemID="{59FF184F-818F-42F3-964E-F2629C5DE5E8}">
  <ds:schemaRefs>
    <ds:schemaRef ds:uri="http://www.w3.org/2001/XMLSchema"/>
    <ds:schemaRef ds:uri="pb-wrapper"/>
  </ds:schemaRefs>
</ds:datastoreItem>
</file>

<file path=customXml/itemProps64.xml><?xml version="1.0" encoding="utf-8"?>
<ds:datastoreItem xmlns:ds="http://schemas.openxmlformats.org/officeDocument/2006/customXml" ds:itemID="{135A2E66-76B4-4467-B732-EAFB847C6595}">
  <ds:schemaRefs>
    <ds:schemaRef ds:uri="http://www.w3.org/2001/XMLSchema"/>
    <ds:schemaRef ds:uri="pb-wrapper"/>
  </ds:schemaRefs>
</ds:datastoreItem>
</file>

<file path=customXml/itemProps65.xml><?xml version="1.0" encoding="utf-8"?>
<ds:datastoreItem xmlns:ds="http://schemas.openxmlformats.org/officeDocument/2006/customXml" ds:itemID="{DD3D1635-75EA-43AE-8CE8-26F680D95FA2}">
  <ds:schemaRefs>
    <ds:schemaRef ds:uri="http://www.w3.org/2001/XMLSchema"/>
    <ds:schemaRef ds:uri="pb-wrapper"/>
  </ds:schemaRefs>
</ds:datastoreItem>
</file>

<file path=customXml/itemProps66.xml><?xml version="1.0" encoding="utf-8"?>
<ds:datastoreItem xmlns:ds="http://schemas.openxmlformats.org/officeDocument/2006/customXml" ds:itemID="{B16936D8-1F62-41D9-A48B-11350DD7ED32}">
  <ds:schemaRefs>
    <ds:schemaRef ds:uri="http://www.w3.org/2001/XMLSchema"/>
    <ds:schemaRef ds:uri="pb-wrapper"/>
  </ds:schemaRefs>
</ds:datastoreItem>
</file>

<file path=customXml/itemProps67.xml><?xml version="1.0" encoding="utf-8"?>
<ds:datastoreItem xmlns:ds="http://schemas.openxmlformats.org/officeDocument/2006/customXml" ds:itemID="{98A923B6-6CAD-4892-8E39-7022EE08C7C7}">
  <ds:schemaRefs>
    <ds:schemaRef ds:uri="http://www.w3.org/2001/XMLSchema"/>
    <ds:schemaRef ds:uri="pb-wrapper"/>
  </ds:schemaRefs>
</ds:datastoreItem>
</file>

<file path=customXml/itemProps68.xml><?xml version="1.0" encoding="utf-8"?>
<ds:datastoreItem xmlns:ds="http://schemas.openxmlformats.org/officeDocument/2006/customXml" ds:itemID="{08784DF9-1C0D-4803-8553-CF901FFE741C}">
  <ds:schemaRefs>
    <ds:schemaRef ds:uri="http://www.w3.org/2001/XMLSchema"/>
    <ds:schemaRef ds:uri="pb-wrapper"/>
  </ds:schemaRefs>
</ds:datastoreItem>
</file>

<file path=customXml/itemProps69.xml><?xml version="1.0" encoding="utf-8"?>
<ds:datastoreItem xmlns:ds="http://schemas.openxmlformats.org/officeDocument/2006/customXml" ds:itemID="{3F1BB04E-832C-4131-AC8D-7A9D1371982A}">
  <ds:schemaRefs>
    <ds:schemaRef ds:uri="http://www.w3.org/2001/XMLSchema"/>
    <ds:schemaRef ds:uri="pb-wrapper"/>
  </ds:schemaRefs>
</ds:datastoreItem>
</file>

<file path=customXml/itemProps70.xml><?xml version="1.0" encoding="utf-8"?>
<ds:datastoreItem xmlns:ds="http://schemas.openxmlformats.org/officeDocument/2006/customXml" ds:itemID="{B5AC93DA-A1BB-446C-9DE2-73614AF9BDD1}">
  <ds:schemaRefs>
    <ds:schemaRef ds:uri="http://www.w3.org/2001/XMLSchema"/>
    <ds:schemaRef ds:uri="pb-wrapper"/>
  </ds:schemaRefs>
</ds:datastoreItem>
</file>

<file path=customXml/itemProps71.xml><?xml version="1.0" encoding="utf-8"?>
<ds:datastoreItem xmlns:ds="http://schemas.openxmlformats.org/officeDocument/2006/customXml" ds:itemID="{28EE4999-13CF-4E5A-A975-6981A7CA0A69}">
  <ds:schemaRefs>
    <ds:schemaRef ds:uri="http://www.w3.org/2001/XMLSchema"/>
    <ds:schemaRef ds:uri="pb-wrapper"/>
  </ds:schemaRefs>
</ds:datastoreItem>
</file>

<file path=customXml/itemProps72.xml><?xml version="1.0" encoding="utf-8"?>
<ds:datastoreItem xmlns:ds="http://schemas.openxmlformats.org/officeDocument/2006/customXml" ds:itemID="{C1D74AE9-2171-418F-BF82-DA9DCCC5DF9A}">
  <ds:schemaRefs>
    <ds:schemaRef ds:uri="http://www.w3.org/2001/XMLSchema"/>
    <ds:schemaRef ds:uri="pb-wrapper"/>
  </ds:schemaRefs>
</ds:datastoreItem>
</file>

<file path=customXml/itemProps73.xml><?xml version="1.0" encoding="utf-8"?>
<ds:datastoreItem xmlns:ds="http://schemas.openxmlformats.org/officeDocument/2006/customXml" ds:itemID="{A771B443-D9DB-46A0-8638-48F9D5A657C3}">
  <ds:schemaRefs>
    <ds:schemaRef ds:uri="http://www.w3.org/2001/XMLSchema"/>
    <ds:schemaRef ds:uri="pb-wrapper"/>
  </ds:schemaRefs>
</ds:datastoreItem>
</file>

<file path=customXml/itemProps74.xml><?xml version="1.0" encoding="utf-8"?>
<ds:datastoreItem xmlns:ds="http://schemas.openxmlformats.org/officeDocument/2006/customXml" ds:itemID="{05D2B320-F565-49CA-A0FF-B14C85FEC92E}">
  <ds:schemaRefs>
    <ds:schemaRef ds:uri="http://www.w3.org/2001/XMLSchema"/>
    <ds:schemaRef ds:uri="pb-wrapper"/>
  </ds:schemaRefs>
</ds:datastoreItem>
</file>

<file path=customXml/itemProps75.xml><?xml version="1.0" encoding="utf-8"?>
<ds:datastoreItem xmlns:ds="http://schemas.openxmlformats.org/officeDocument/2006/customXml" ds:itemID="{5E850392-750A-46DA-A3DE-81B88EFF2B6E}">
  <ds:schemaRefs>
    <ds:schemaRef ds:uri="http://www.w3.org/2001/XMLSchema"/>
    <ds:schemaRef ds:uri="pb-wrapper"/>
  </ds:schemaRefs>
</ds:datastoreItem>
</file>

<file path=customXml/itemProps76.xml><?xml version="1.0" encoding="utf-8"?>
<ds:datastoreItem xmlns:ds="http://schemas.openxmlformats.org/officeDocument/2006/customXml" ds:itemID="{CDC171DE-1B10-44F5-B418-053CA02344E0}">
  <ds:schemaRefs>
    <ds:schemaRef ds:uri="http://www.w3.org/2001/XMLSchema"/>
    <ds:schemaRef ds:uri="pb-wrapper"/>
  </ds:schemaRefs>
</ds:datastoreItem>
</file>

<file path=customXml/itemProps77.xml><?xml version="1.0" encoding="utf-8"?>
<ds:datastoreItem xmlns:ds="http://schemas.openxmlformats.org/officeDocument/2006/customXml" ds:itemID="{30C7E7F4-80AF-4A8B-9E1D-25E3B0D0A205}">
  <ds:schemaRefs>
    <ds:schemaRef ds:uri="http://www.w3.org/2001/XMLSchema"/>
    <ds:schemaRef ds:uri="pb-wrapper"/>
  </ds:schemaRefs>
</ds:datastoreItem>
</file>

<file path=customXml/itemProps78.xml><?xml version="1.0" encoding="utf-8"?>
<ds:datastoreItem xmlns:ds="http://schemas.openxmlformats.org/officeDocument/2006/customXml" ds:itemID="{A7AD51FB-2BC6-4578-83C7-24110D0B8F69}">
  <ds:schemaRefs>
    <ds:schemaRef ds:uri="http://www.w3.org/2001/XMLSchema"/>
    <ds:schemaRef ds:uri="pb-wrapper"/>
  </ds:schemaRefs>
</ds:datastoreItem>
</file>

<file path=customXml/itemProps79.xml><?xml version="1.0" encoding="utf-8"?>
<ds:datastoreItem xmlns:ds="http://schemas.openxmlformats.org/officeDocument/2006/customXml" ds:itemID="{A445F7CA-C617-415D-A505-17F41135DDEC}">
  <ds:schemaRefs>
    <ds:schemaRef ds:uri="http://www.w3.org/2001/XMLSchema"/>
    <ds:schemaRef ds:uri="pb-wrapper"/>
  </ds:schemaRefs>
</ds:datastoreItem>
</file>

<file path=customXml/itemProps80.xml><?xml version="1.0" encoding="utf-8"?>
<ds:datastoreItem xmlns:ds="http://schemas.openxmlformats.org/officeDocument/2006/customXml" ds:itemID="{F8AA09C1-157E-4956-9B2B-0C2DFD77A458}">
  <ds:schemaRefs>
    <ds:schemaRef ds:uri="http://www.w3.org/2001/XMLSchema"/>
    <ds:schemaRef ds:uri="pb-wrapper"/>
  </ds:schemaRefs>
</ds:datastoreItem>
</file>

<file path=customXml/itemProps81.xml><?xml version="1.0" encoding="utf-8"?>
<ds:datastoreItem xmlns:ds="http://schemas.openxmlformats.org/officeDocument/2006/customXml" ds:itemID="{644E0DC5-2244-4F85-8A27-92F3C02D43BF}">
  <ds:schemaRefs>
    <ds:schemaRef ds:uri="http://www.w3.org/2001/XMLSchema"/>
    <ds:schemaRef ds:uri="pb-wrapper"/>
  </ds:schemaRefs>
</ds:datastoreItem>
</file>

<file path=customXml/itemProps82.xml><?xml version="1.0" encoding="utf-8"?>
<ds:datastoreItem xmlns:ds="http://schemas.openxmlformats.org/officeDocument/2006/customXml" ds:itemID="{B39BCA62-C1E1-487F-BA6F-1F3FAAF2D061}">
  <ds:schemaRefs>
    <ds:schemaRef ds:uri="http://www.w3.org/2001/XMLSchema"/>
    <ds:schemaRef ds:uri="pb-wrapper"/>
  </ds:schemaRefs>
</ds:datastoreItem>
</file>

<file path=customXml/itemProps83.xml><?xml version="1.0" encoding="utf-8"?>
<ds:datastoreItem xmlns:ds="http://schemas.openxmlformats.org/officeDocument/2006/customXml" ds:itemID="{CAE39F80-D2F5-4C13-9008-D742506C334C}">
  <ds:schemaRefs>
    <ds:schemaRef ds:uri="http://www.w3.org/2001/XMLSchema"/>
    <ds:schemaRef ds:uri="pb-wrapper"/>
  </ds:schemaRefs>
</ds:datastoreItem>
</file>

<file path=customXml/itemProps84.xml><?xml version="1.0" encoding="utf-8"?>
<ds:datastoreItem xmlns:ds="http://schemas.openxmlformats.org/officeDocument/2006/customXml" ds:itemID="{1656FD4E-35A0-413D-96CF-409A9534FBE5}">
  <ds:schemaRefs>
    <ds:schemaRef ds:uri="http://www.w3.org/2001/XMLSchema"/>
    <ds:schemaRef ds:uri="pb-wrapper"/>
  </ds:schemaRefs>
</ds:datastoreItem>
</file>

<file path=customXml/itemProps85.xml><?xml version="1.0" encoding="utf-8"?>
<ds:datastoreItem xmlns:ds="http://schemas.openxmlformats.org/officeDocument/2006/customXml" ds:itemID="{E6EDEFD0-3352-4CCE-872C-5498A40180D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f13e1c8-40a9-4213-b369-b1bd096025ff"/>
    <ds:schemaRef ds:uri="50b4b0f7-67da-44ec-acc1-354403535a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86.xml><?xml version="1.0" encoding="utf-8"?>
<ds:datastoreItem xmlns:ds="http://schemas.openxmlformats.org/officeDocument/2006/customXml" ds:itemID="{E531B45C-94E9-4347-B496-F409375A29BA}">
  <ds:schemaRefs>
    <ds:schemaRef ds:uri="http://www.w3.org/2001/XMLSchema"/>
    <ds:schemaRef ds:uri="pb-wrapper"/>
  </ds:schemaRefs>
</ds:datastoreItem>
</file>

<file path=customXml/itemProps87.xml><?xml version="1.0" encoding="utf-8"?>
<ds:datastoreItem xmlns:ds="http://schemas.openxmlformats.org/officeDocument/2006/customXml" ds:itemID="{500D5B4B-53CF-47D1-B6C3-8A0B324348E1}">
  <ds:schemaRefs>
    <ds:schemaRef ds:uri="http://www.w3.org/2001/XMLSchema"/>
    <ds:schemaRef ds:uri="pb-wrapper"/>
  </ds:schemaRefs>
</ds:datastoreItem>
</file>

<file path=customXml/itemProps88.xml><?xml version="1.0" encoding="utf-8"?>
<ds:datastoreItem xmlns:ds="http://schemas.openxmlformats.org/officeDocument/2006/customXml" ds:itemID="{CA335F86-749D-4FD6-9BFA-CF7BE0DF8383}">
  <ds:schemaRefs>
    <ds:schemaRef ds:uri="http://www.w3.org/2001/XMLSchema"/>
    <ds:schemaRef ds:uri="pb-wrapper"/>
  </ds:schemaRefs>
</ds:datastoreItem>
</file>

<file path=customXml/itemProps89.xml><?xml version="1.0" encoding="utf-8"?>
<ds:datastoreItem xmlns:ds="http://schemas.openxmlformats.org/officeDocument/2006/customXml" ds:itemID="{9746E98A-05B4-43F0-9282-05EA9D8422AE}">
  <ds:schemaRefs>
    <ds:schemaRef ds:uri="http://www.w3.org/2001/XMLSchema"/>
    <ds:schemaRef ds:uri="pb-wrapper"/>
  </ds:schemaRefs>
</ds:datastoreItem>
</file>

<file path=customXml/itemProps90.xml><?xml version="1.0" encoding="utf-8"?>
<ds:datastoreItem xmlns:ds="http://schemas.openxmlformats.org/officeDocument/2006/customXml" ds:itemID="{04367381-31E6-480E-BEEC-05558A7A7362}">
  <ds:schemaRefs>
    <ds:schemaRef ds:uri="http://www.w3.org/2001/XMLSchema"/>
    <ds:schemaRef ds:uri="pb-wrapper"/>
  </ds:schemaRefs>
</ds:datastoreItem>
</file>

<file path=customXml/itemProps91.xml><?xml version="1.0" encoding="utf-8"?>
<ds:datastoreItem xmlns:ds="http://schemas.openxmlformats.org/officeDocument/2006/customXml" ds:itemID="{42A929A6-63D5-4FC9-B70A-CB703275162E}">
  <ds:schemaRefs>
    <ds:schemaRef ds:uri="http://www.w3.org/2001/XMLSchema"/>
    <ds:schemaRef ds:uri="pb-wrapper"/>
  </ds:schemaRefs>
</ds:datastoreItem>
</file>

<file path=customXml/itemProps92.xml><?xml version="1.0" encoding="utf-8"?>
<ds:datastoreItem xmlns:ds="http://schemas.openxmlformats.org/officeDocument/2006/customXml" ds:itemID="{A0645945-7083-4A4C-82E5-66CCDBE5C346}">
  <ds:schemaRefs>
    <ds:schemaRef ds:uri="http://www.w3.org/2001/XMLSchema"/>
    <ds:schemaRef ds:uri="pb-wrapper"/>
  </ds:schemaRefs>
</ds:datastoreItem>
</file>

<file path=customXml/itemProps93.xml><?xml version="1.0" encoding="utf-8"?>
<ds:datastoreItem xmlns:ds="http://schemas.openxmlformats.org/officeDocument/2006/customXml" ds:itemID="{D0E211E8-CECA-4554-9B01-E8B279DAA9CC}">
  <ds:schemaRefs>
    <ds:schemaRef ds:uri="http://www.w3.org/2001/XMLSchema"/>
    <ds:schemaRef ds:uri="pb-wrapper"/>
  </ds:schemaRefs>
</ds:datastoreItem>
</file>

<file path=customXml/itemProps94.xml><?xml version="1.0" encoding="utf-8"?>
<ds:datastoreItem xmlns:ds="http://schemas.openxmlformats.org/officeDocument/2006/customXml" ds:itemID="{22F99B51-9FA1-4AD9-85CB-F0117DEDD6D9}">
  <ds:schemaRefs>
    <ds:schemaRef ds:uri="http://www.w3.org/2001/XMLSchema"/>
    <ds:schemaRef ds:uri="pb-wrapper"/>
  </ds:schemaRefs>
</ds:datastoreItem>
</file>

<file path=customXml/itemProps95.xml><?xml version="1.0" encoding="utf-8"?>
<ds:datastoreItem xmlns:ds="http://schemas.openxmlformats.org/officeDocument/2006/customXml" ds:itemID="{1D1BA060-C721-4F64-AC62-FC4E8FAA5436}">
  <ds:schemaRefs>
    <ds:schemaRef ds:uri="http://www.w3.org/2001/XMLSchema"/>
    <ds:schemaRef ds:uri="pb-wrapper"/>
  </ds:schemaRefs>
</ds:datastoreItem>
</file>

<file path=customXml/itemProps96.xml><?xml version="1.0" encoding="utf-8"?>
<ds:datastoreItem xmlns:ds="http://schemas.openxmlformats.org/officeDocument/2006/customXml" ds:itemID="{6ACE0DF2-8B69-4C46-A044-867A68063B58}">
  <ds:schemaRefs>
    <ds:schemaRef ds:uri="http://www.w3.org/2001/XMLSchema"/>
    <ds:schemaRef ds:uri="pb-wrapper"/>
  </ds:schemaRefs>
</ds:datastoreItem>
</file>

<file path=customXml/itemProps97.xml><?xml version="1.0" encoding="utf-8"?>
<ds:datastoreItem xmlns:ds="http://schemas.openxmlformats.org/officeDocument/2006/customXml" ds:itemID="{E7963AAC-6F54-44A9-8097-68278917C0BF}">
  <ds:schemaRefs>
    <ds:schemaRef ds:uri="http://www.w3.org/2001/XMLSchema"/>
    <ds:schemaRef ds:uri="pb-wrapper"/>
  </ds:schemaRefs>
</ds:datastoreItem>
</file>

<file path=customXml/itemProps98.xml><?xml version="1.0" encoding="utf-8"?>
<ds:datastoreItem xmlns:ds="http://schemas.openxmlformats.org/officeDocument/2006/customXml" ds:itemID="{F2023A5C-D2AF-45A2-A1C3-F8F7793CD1EF}">
  <ds:schemaRefs>
    <ds:schemaRef ds:uri="http://www.w3.org/2001/XMLSchema"/>
    <ds:schemaRef ds:uri="pb-wrapper"/>
  </ds:schemaRefs>
</ds:datastoreItem>
</file>

<file path=customXml/itemProps99.xml><?xml version="1.0" encoding="utf-8"?>
<ds:datastoreItem xmlns:ds="http://schemas.openxmlformats.org/officeDocument/2006/customXml" ds:itemID="{AED55962-9703-4A65-8EBF-EADCA9411FBD}">
  <ds:schemaRefs>
    <ds:schemaRef ds:uri="http://www.w3.org/2001/XMLSchema"/>
    <ds:schemaRef ds:uri="pb-wrapper"/>
  </ds:schemaRefs>
</ds:datastoreItem>
</file>

<file path=customXml/itemProps100.xml><?xml version="1.0" encoding="utf-8"?>
<ds:datastoreItem xmlns:ds="http://schemas.openxmlformats.org/officeDocument/2006/customXml" ds:itemID="{8190FCDD-188E-4B02-839D-51C0076A784F}">
  <ds:schemaRefs>
    <ds:schemaRef ds:uri="http://www.w3.org/2001/XMLSchema"/>
    <ds:schemaRef ds:uri="pb-wrapper"/>
  </ds:schemaRefs>
</ds:datastoreItem>
</file>

<file path=customXml/itemProps101.xml><?xml version="1.0" encoding="utf-8"?>
<ds:datastoreItem xmlns:ds="http://schemas.openxmlformats.org/officeDocument/2006/customXml" ds:itemID="{B6568635-9AC8-468D-8414-CE15EB5A6535}">
  <ds:schemaRefs>
    <ds:schemaRef ds:uri="http://www.w3.org/2001/XMLSchema"/>
    <ds:schemaRef ds:uri="pb-wrapper"/>
  </ds:schemaRefs>
</ds:datastoreItem>
</file>

<file path=customXml/itemProps102.xml><?xml version="1.0" encoding="utf-8"?>
<ds:datastoreItem xmlns:ds="http://schemas.openxmlformats.org/officeDocument/2006/customXml" ds:itemID="{312B44CE-7952-4654-962D-687F5E455DEC}">
  <ds:schemaRefs>
    <ds:schemaRef ds:uri="http://www.w3.org/2001/XMLSchema"/>
    <ds:schemaRef ds:uri="pb-wrapper"/>
  </ds:schemaRefs>
</ds:datastoreItem>
</file>

<file path=customXml/itemProps103.xml><?xml version="1.0" encoding="utf-8"?>
<ds:datastoreItem xmlns:ds="http://schemas.openxmlformats.org/officeDocument/2006/customXml" ds:itemID="{8CA4558E-8076-4920-8386-F52DEF82E855}">
  <ds:schemaRefs>
    <ds:schemaRef ds:uri="http://www.w3.org/2001/XMLSchema"/>
    <ds:schemaRef ds:uri="pb-wrapper"/>
  </ds:schemaRefs>
</ds:datastoreItem>
</file>

<file path=customXml/itemProps104.xml><?xml version="1.0" encoding="utf-8"?>
<ds:datastoreItem xmlns:ds="http://schemas.openxmlformats.org/officeDocument/2006/customXml" ds:itemID="{C9B9939A-C4D6-43DD-BC31-08FD7F6ACFFE}">
  <ds:schemaRefs>
    <ds:schemaRef ds:uri="http://www.w3.org/2001/XMLSchema"/>
    <ds:schemaRef ds:uri="pb-wrapper"/>
  </ds:schemaRefs>
</ds:datastoreItem>
</file>

<file path=customXml/itemProps105.xml><?xml version="1.0" encoding="utf-8"?>
<ds:datastoreItem xmlns:ds="http://schemas.openxmlformats.org/officeDocument/2006/customXml" ds:itemID="{4B0F7D96-5ED3-496F-BD10-1AA1FC9ED91C}">
  <ds:schemaRefs>
    <ds:schemaRef ds:uri="http://www.w3.org/2001/XMLSchema"/>
    <ds:schemaRef ds:uri="pb-wrapper"/>
  </ds:schemaRefs>
</ds:datastoreItem>
</file>

<file path=customXml/itemProps106.xml><?xml version="1.0" encoding="utf-8"?>
<ds:datastoreItem xmlns:ds="http://schemas.openxmlformats.org/officeDocument/2006/customXml" ds:itemID="{BCBB6799-84F3-428B-80B8-8F266358A209}">
  <ds:schemaRefs>
    <ds:schemaRef ds:uri="http://www.w3.org/2001/XMLSchema"/>
    <ds:schemaRef ds:uri="pb-wrapper"/>
  </ds:schemaRefs>
</ds:datastoreItem>
</file>

<file path=customXml/itemProps107.xml><?xml version="1.0" encoding="utf-8"?>
<ds:datastoreItem xmlns:ds="http://schemas.openxmlformats.org/officeDocument/2006/customXml" ds:itemID="{068742E6-319C-4A97-822D-A02C8406DDD4}">
  <ds:schemaRefs>
    <ds:schemaRef ds:uri="http://www.w3.org/2001/XMLSchema"/>
    <ds:schemaRef ds:uri="pb-wrapper"/>
  </ds:schemaRefs>
</ds:datastoreItem>
</file>

<file path=customXml/itemProps108.xml><?xml version="1.0" encoding="utf-8"?>
<ds:datastoreItem xmlns:ds="http://schemas.openxmlformats.org/officeDocument/2006/customXml" ds:itemID="{4411D646-71AA-4A17-B952-7040920928F8}">
  <ds:schemaRefs>
    <ds:schemaRef ds:uri="http://www.w3.org/2001/XMLSchema"/>
    <ds:schemaRef ds:uri="pb-wrapper"/>
  </ds:schemaRefs>
</ds:datastoreItem>
</file>

<file path=customXml/itemProps109.xml><?xml version="1.0" encoding="utf-8"?>
<ds:datastoreItem xmlns:ds="http://schemas.openxmlformats.org/officeDocument/2006/customXml" ds:itemID="{23BFBA5C-03D8-4FE8-841D-6F47735579C6}">
  <ds:schemaRefs>
    <ds:schemaRef ds:uri="http://www.w3.org/2001/XMLSchema"/>
    <ds:schemaRef ds:uri="pb-wrapper"/>
  </ds:schemaRefs>
</ds:datastoreItem>
</file>

<file path=customXml/itemProps110.xml><?xml version="1.0" encoding="utf-8"?>
<ds:datastoreItem xmlns:ds="http://schemas.openxmlformats.org/officeDocument/2006/customXml" ds:itemID="{BCF00861-1514-4D08-B38C-E6F74F30B3B4}">
  <ds:schemaRefs>
    <ds:schemaRef ds:uri="http://www.w3.org/2001/XMLSchema"/>
    <ds:schemaRef ds:uri="pb-wrapper"/>
  </ds:schemaRefs>
</ds:datastoreItem>
</file>

<file path=customXml/itemProps111.xml><?xml version="1.0" encoding="utf-8"?>
<ds:datastoreItem xmlns:ds="http://schemas.openxmlformats.org/officeDocument/2006/customXml" ds:itemID="{AEAE1F78-5AE5-4E60-BB9F-6948306D081C}">
  <ds:schemaRefs>
    <ds:schemaRef ds:uri="http://www.w3.org/2001/XMLSchema"/>
    <ds:schemaRef ds:uri="pb-wrapper"/>
  </ds:schemaRefs>
</ds:datastoreItem>
</file>

<file path=customXml/itemProps112.xml><?xml version="1.0" encoding="utf-8"?>
<ds:datastoreItem xmlns:ds="http://schemas.openxmlformats.org/officeDocument/2006/customXml" ds:itemID="{0AE4C8A3-F6E3-4C22-BBD9-A9750D584D0F}">
  <ds:schemaRefs>
    <ds:schemaRef ds:uri="http://www.w3.org/2001/XMLSchema"/>
    <ds:schemaRef ds:uri="pb-wrapper"/>
  </ds:schemaRefs>
</ds:datastoreItem>
</file>

<file path=customXml/itemProps113.xml><?xml version="1.0" encoding="utf-8"?>
<ds:datastoreItem xmlns:ds="http://schemas.openxmlformats.org/officeDocument/2006/customXml" ds:itemID="{6BAC7F2B-524A-4127-8973-489ADD86B0AA}">
  <ds:schemaRefs>
    <ds:schemaRef ds:uri="http://www.w3.org/2001/XMLSchema"/>
    <ds:schemaRef ds:uri="pb-wrapper"/>
  </ds:schemaRefs>
</ds:datastoreItem>
</file>

<file path=customXml/itemProps114.xml><?xml version="1.0" encoding="utf-8"?>
<ds:datastoreItem xmlns:ds="http://schemas.openxmlformats.org/officeDocument/2006/customXml" ds:itemID="{4E089A53-6E6E-485D-B5B1-39B99DF53628}">
  <ds:schemaRefs>
    <ds:schemaRef ds:uri="http://www.w3.org/2001/XMLSchema"/>
    <ds:schemaRef ds:uri="pb-wrapper"/>
  </ds:schemaRefs>
</ds:datastoreItem>
</file>

<file path=customXml/itemProps115.xml><?xml version="1.0" encoding="utf-8"?>
<ds:datastoreItem xmlns:ds="http://schemas.openxmlformats.org/officeDocument/2006/customXml" ds:itemID="{2BFB67A6-5074-482F-B17B-43E7584E7D02}">
  <ds:schemaRefs>
    <ds:schemaRef ds:uri="http://www.w3.org/2001/XMLSchema"/>
    <ds:schemaRef ds:uri="pb-wrapper"/>
  </ds:schemaRefs>
</ds:datastoreItem>
</file>

<file path=customXml/itemProps116.xml><?xml version="1.0" encoding="utf-8"?>
<ds:datastoreItem xmlns:ds="http://schemas.openxmlformats.org/officeDocument/2006/customXml" ds:itemID="{5A599C80-DA6F-4D27-9B14-8BD652089B1F}">
  <ds:schemaRefs>
    <ds:schemaRef ds:uri="http://www.w3.org/2001/XMLSchema"/>
    <ds:schemaRef ds:uri="pb-wrapper"/>
  </ds:schemaRefs>
</ds:datastoreItem>
</file>

<file path=customXml/itemProps117.xml><?xml version="1.0" encoding="utf-8"?>
<ds:datastoreItem xmlns:ds="http://schemas.openxmlformats.org/officeDocument/2006/customXml" ds:itemID="{5C307F79-EEDA-4FDE-86D7-DC0B52E81F06}">
  <ds:schemaRefs>
    <ds:schemaRef ds:uri="http://www.w3.org/2001/XMLSchema"/>
    <ds:schemaRef ds:uri="pb-wrapper"/>
  </ds:schemaRefs>
</ds:datastoreItem>
</file>

<file path=docProps/app.xml><?xml version="1.0" encoding="utf-8"?>
<Properties xmlns="http://schemas.openxmlformats.org/officeDocument/2006/extended-properties" xmlns:vt="http://schemas.openxmlformats.org/officeDocument/2006/docPropsVTypes">
  <Template/>
  <TotalTime>3316</TotalTime>
  <Words>7676</Words>
  <Application>Microsoft Office PowerPoint</Application>
  <PresentationFormat>Widescreen</PresentationFormat>
  <Paragraphs>1029</Paragraphs>
  <Slides>56</Slides>
  <Notes>28</Notes>
  <HiddenSlides>2</HiddenSlides>
  <MMClips>0</MMClips>
  <ScaleCrop>false</ScaleCrop>
  <HeadingPairs>
    <vt:vector size="4" baseType="variant">
      <vt:variant>
        <vt:lpstr>Theme</vt:lpstr>
      </vt:variant>
      <vt:variant>
        <vt:i4>2</vt:i4>
      </vt:variant>
      <vt:variant>
        <vt:lpstr>Slide Titles</vt:lpstr>
      </vt:variant>
      <vt:variant>
        <vt:i4>56</vt:i4>
      </vt:variant>
    </vt:vector>
  </HeadingPairs>
  <TitlesOfParts>
    <vt:vector size="58" baseType="lpstr">
      <vt:lpstr>1_Office Theme</vt:lpstr>
      <vt:lpstr>1_ppt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Global Payments Company – Visibility and Automation</vt:lpstr>
      <vt:lpstr>Global Cosmetics and Beauty Company – Data Driven Resilience and Cost reduction</vt:lpstr>
      <vt:lpstr>Global Outsourcing Leader – From Complexity to Visibility</vt:lpstr>
      <vt:lpstr>Leading International Bank – Significant Cost and Risk Reduction </vt:lpstr>
      <vt:lpstr>Global Top 5 Bank – CISO Data Fabric</vt:lpstr>
      <vt:lpstr>PowerPoint Presentation</vt:lpstr>
      <vt:lpstr>PowerPoint Presentation</vt:lpstr>
      <vt:lpstr>PowerPoint Presentation</vt:lpstr>
      <vt:lpstr>PowerPoint Presentation</vt:lpstr>
      <vt:lpstr>PowerPoint Presentation</vt:lpstr>
      <vt:lpstr>PowerPoint Presentation</vt:lpstr>
      <vt:lpstr>Leading International Bank – Significant Cost and Risk Reduction </vt:lpstr>
      <vt:lpstr>One Platform for all Cyber Workloads</vt:lpstr>
      <vt:lpstr>PAI Data Fabric &amp; Databricks - SIEM Cost Reduction Deep Dive</vt:lpstr>
      <vt:lpstr>Approach for SIEM Cost Reduction</vt:lpstr>
      <vt:lpstr>PowerPoint Presentation</vt:lpstr>
      <vt:lpstr>PowerPoint Presentation</vt:lpstr>
      <vt:lpstr>PowerPoint Presentation</vt:lpstr>
      <vt:lpstr>PowerPoint Presentation</vt:lpstr>
      <vt:lpstr>Knowledge Graph</vt:lpstr>
      <vt:lpstr>PowerPoint Presentation</vt:lpstr>
      <vt:lpstr>Traditional Vulnerability Management cannot keep up</vt:lpstr>
      <vt:lpstr>Exposure Management – Consolidating related cyber solutions</vt:lpstr>
      <vt:lpstr>Prevalent AI Exposure Management Process</vt:lpstr>
      <vt:lpstr>Data Fabric Powered Exposure Management</vt:lpstr>
      <vt:lpstr>ADD FINDING STRUCTURE FOR SCORING</vt:lpstr>
      <vt:lpstr>PowerPoint Presentation</vt:lpstr>
      <vt:lpstr>Typical Delivery Approach</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Joyce, Tommy</dc:creator>
  <cp:lastModifiedBy>Tom Ward</cp:lastModifiedBy>
  <cp:revision>23</cp:revision>
  <cp:lastPrinted>2025-06-13T12:23:45Z</cp:lastPrinted>
  <dcterms:created xsi:type="dcterms:W3CDTF">2022-09-08T15:43:58Z</dcterms:created>
  <dcterms:modified xsi:type="dcterms:W3CDTF">2026-05-29T04:00:21Z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0x0101009DC20B2BEC42184B9B09B4DCB75AE854</vt:lpwstr>
  </property>
  <property fmtid="{D5CDD505-2E9C-101B-9397-08002B2CF9AE}" pid="3" name="MediaServiceImageTags">
    <vt:lpwstr/>
  </property>
  <property fmtid="{D5CDD505-2E9C-101B-9397-08002B2CF9AE}" pid="4" name="Order">
    <vt:lpwstr>49600.0000000000</vt:lpwstr>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xd_Signature">
    <vt:lpwstr/>
  </property>
</Properties>
</file>